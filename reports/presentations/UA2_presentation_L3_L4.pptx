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273B6E38-208E-8CF1-CFD7-E5DE95D00328}">
          <p14:sldIdLst>
            <p14:sldId id="256"/>
          </p14:sldIdLst>
        </p14:section>
        <p14:section name="1 · Données, état des lieux et nettoyage" id="{284C213F-8BA3-C4E7-9653-12D8F773C237}">
          <p14:sldIdLst>
            <p14:sldId id="257"/>
            <p14:sldId id="258"/>
            <p14:sldId id="259"/>
            <p14:sldId id="260"/>
            <p14:sldId id="261"/>
            <p14:sldId id="262"/>
            <p14:sldId id="263"/>
            <p14:sldId id="264"/>
            <p14:sldId id="265"/>
            <p14:sldId id="266"/>
            <p14:sldId id="267"/>
            <p14:sldId id="268"/>
            <p14:sldId id="269"/>
          </p14:sldIdLst>
        </p14:section>
        <p14:section name="2 · Q1 : pourquoi les ventes ont chuté" id="{4CA7D8F1-97C9-3BAA-89AD-FFD6F00D8986}">
          <p14:sldIdLst>
            <p14:sldId id="270"/>
            <p14:sldId id="271"/>
            <p14:sldId id="272"/>
            <p14:sldId id="273"/>
            <p14:sldId id="274"/>
            <p14:sldId id="275"/>
            <p14:sldId id="276"/>
            <p14:sldId id="277"/>
            <p14:sldId id="278"/>
            <p14:sldId id="279"/>
          </p14:sldIdLst>
        </p14:section>
        <p14:section name="3 · Q1 : facteurs de performance et rentabilité" id="{EAAFC02A-4572-A5F5-0D3D-62B0E8620EE4}">
          <p14:sldIdLst>
            <p14:sldId id="280"/>
            <p14:sldId id="281"/>
            <p14:sldId id="282"/>
            <p14:sldId id="283"/>
            <p14:sldId id="284"/>
            <p14:sldId id="285"/>
            <p14:sldId id="286"/>
            <p14:sldId id="287"/>
            <p14:sldId id="288"/>
            <p14:sldId id="289"/>
            <p14:sldId id="290"/>
            <p14:sldId id="291"/>
          </p14:sldIdLst>
        </p14:section>
        <p14:section name="4 · Q2 et Q5 : promotions et remises" id="{079207C1-9C5C-4193-2B34-767C0273F623}">
          <p14:sldIdLst>
            <p14:sldId id="292"/>
            <p14:sldId id="293"/>
            <p14:sldId id="294"/>
            <p14:sldId id="295"/>
            <p14:sldId id="296"/>
            <p14:sldId id="297"/>
            <p14:sldId id="298"/>
            <p14:sldId id="299"/>
            <p14:sldId id="300"/>
            <p14:sldId id="301"/>
            <p14:sldId id="302"/>
          </p14:sldIdLst>
        </p14:section>
        <p14:section name="5 · Q3 et Q4 : retours, synthèse et suite" id="{62549DA8-7C17-2D0B-F2EA-59CCD63F4D22}">
          <p14:sldIdLst>
            <p14:sldId id="303"/>
            <p14:sldId id="304"/>
            <p14:sldId id="305"/>
            <p14:sldId id="306"/>
            <p14:sldId id="307"/>
            <p14:sldId id="308"/>
            <p14:sldId id="309"/>
            <p14:sldId id="310"/>
            <p14:sldId id="311"/>
            <p14:sldId id="312"/>
            <p14:sldId id="31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6667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Achraf Chihab
Bonjour. Nous présentons aujourd'hui les livrables 3 et 4 du projet 4, réunis en une seule présentation : comment nous sommes passés des données brutes à des données propres, puis ce que ces données répondent à nos cinq questions de recherche, sur trois exercices, de 2019 à 2021.
La présentation dure 50 minutes, en cinq blocs, présentés par quatre orateurs. Les questions sont gardées pour la fin.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Achraf Chihab
Je rappelle d'abord les cinq questions de recherche, parce que toute la présentation est organisée autour d'elles.
Le plan suit un ordre logique plutôt que l'ordre des numéros. Après mon bloc sur les données, Q1 occupe deux blocs, parce que c'est la question la plus riche : Barnabe explique pourquoi les ventes ont chuté, puis Yacine présente les facteurs de performance et la rentabilité après charges. Mouncif traite ensuite les quatre autres questions : Q2 et Q5 ensemble, promotions et remises, puis Q3 et Q4 sur les retours. Yacine termine avec la synthèse et la suite.
Un changement important depuis la version du 7 octobre : l'étude porte maintenant sur trois exercices. 2019 est l'exercice de référence, 2020 l'exercice de bascule, et 2021 l'exercice étudié, c'est-à-dire la situation à régler.
Les parties prédictive et prescriptive ne sont pas présentées aujourd'hui : elles feront l'objet de la prochaine présentation.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Achraf Chihab
Depuis le cadrage, nous avons mené plusieurs collectes supplémentaires dans la base Contoso, toutes avec l'accord du professeur. Deux concernent les ventes elles-mêmes.
Première collecte : les ventes complètes. Les six fichiers fournis ne contenaient que cinq catégories de produits sur huit et les trimestres 1 à 3. Ce n'était pas un échantillon mais un sous-périmètre : les 144 874 lignes fournies se retrouvent toutes dans la base, à l'identique. Elles ne couvraient que 37 % du chiffre d'affaires, et la première catégorie de l'entreprise, Home Appliances, avec 32,7 %, n'y était pas.
Deuxième collecte : l'exercice 2019. Sans point de comparaison, rien ne disait si l'état de 2021 était normal ou le résultat d'une dégradation. Le périmètre de l'énoncé reste 2020 et 2021 ; 2019 sert d'année de référence. Le graphique le montre : en gris, 2019, avec 959,6 millions de dollars, puis 769,2 millions en 2020 et 697,4 millions en 2021.
Au total : 715 291 lignes, 56 boutiques, 2 516 produits, 1 096 jours, et 2 426,1 millions de dollars de chiffre d'affaires brut.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Achraf Chihab
Trois autres tables de faits ont été extraites pour nos 56 boutiques.
Les charges, d'abord, le plan stratégique : pour chaque boutique et chaque mois, les frais généraux, la publicité et les impôts. C'est ce qui permet de passer de la marge à la rentabilité. La preuve que cette table décrit nos boutiques : ses ventes sont égales aux nôtres au cent près, boutique par boutique et mois par mois, sur 1 979 mois-boutiques.
Le stock donne un relevé chaque dimanche. Attention : c'est un relevé partiel. En 2021, plus d'un couple magasin-produit vendu sur quatre n'a aucun relevé de l'année. Il prouve qu'un produit est présent, jamais qu'il est absent.
Les ventes en ligne détaillées sont la seule table avec un client et une commande. Elles ne recoupent pas nos montants, l'écart change de sens selon l'année, donc on ne les additionne jamais. Mais elles nous donnent le type de client : particulier ou entreprise.
Enfin le contexte : jours fériés et sévérité du COVID-19, par pays et par jour. Nous y avons vérifié le décalage de douze ans : 94,43 % des ventes en promotion tombent dans leur période, contre 5,64 % avec onze ans.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Achraf Chihab
Voici le schéma complet des données. Au cadrage, nous avions un flocon autour d'une seule table de faits, les ventes. Nous en avons maintenant quatre, au centre : les ventes, notre référence, au jour ; les charges du plan stratégique, au mois ; le stock, un relevé chaque dimanche ; et les ventes en ligne détaillées, la seule table qui identifie les clients.
Au-dessus de chaque table, ses dimensions propres : promotion, canal et contexte pour les ventes ; compte et scénario pour les charges ; client et promotion pour les ventes en ligne. Le stock n'en a pas.
En dessous, les trois dimensions partagées par les quatre tables : le calendrier, la boutique et le produit. Le flocon se voit sur deux branches : la boutique est reliée à sa géographie, le produit à sa sous-catégorie puis à sa catégorie. Les charges ne connaissent le produit qu'au niveau de la catégorie.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Achraf Chihab
Les autres tables de faits ne peuvent pas devenir des colonnes des ventes, parce qu'elles n'ont pas le même niveau de détail : un loyer mensuel ou un stock hebdomadaire n'appartient à aucune vente. Le modèle devient donc une constellation : quatre tables de faits reliées par leurs dimensions partagées.
La conséquence pratique : on ne joint jamais deux tables de faits ligne à ligne. On les ramène d'abord au même niveau, et le niveau commun le plus fin est le mois. C'est la table commune des ventes et des charges, par boutique et par mois.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Achraf Chihab
Avant de parler de nettoyage, voici l'état des données brutes, table par table, avant toute transformation. Je ne lis pas le tableau, je donne ce qu'il faut en retenir.
Un : aucun doublon, dans aucune table, ni ligne répétée ni clé répétée. Les douze fichiers de ventes couvrent chacun exactement le trimestre annoncé.
Deux : les valeurs manquantes sont presque toutes normales. Une boutique ouverte n'a pas de date de fermeture, une ligne de niveau pays n'a pas de ville. Une seule nous concerne vraiment : l'effectif d'un de nos magasins.
Trois : les fichiers de ventes arrivent en texte. Ils sont convertis une seule fois, par un module commun, et aucune valeur n'a échoué à la conversion.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Achraf Chihab
Deuxième partie du tableau : les tables ajoutées par nos collectes.
Les charges et leurs dimensions sont complètes : aucune valeur manquante, aucun doublon. Le stock et les ventes en ligne détaillées arrivent au format Parquet, déjà typés, sans vide ni doublon.
Deux tables ne sont pas retenues pour les ventes, parce qu'elles ne s'y rattachent pas : les clients, car les ventes n'ont aucune clé client, et les employés, car la table n'a aucune clé vers une boutique. Cette absence limite ce que nous pouvons conclure, j'y reviens à la fin.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Achraf Chihab
Le diagnostic porte sur les ventes jointes à leurs dimensions : 715 291 lignes et 45 colonnes. Il observe et compte, sans rien modifier. Chaque contrôle est inscrit dans un registre avec une gravité : 33 ne trouvent rien, 11 sont des particularités à connaître, 5 demandent une correction évidente et 7 une décision de l'équipe.
L'anomalie la plus étendue est aussi la plus banale : des espaces en trop, qui font exister 15 marques au lieu de 11.
La plus importante pour l'analyse est le coût total : sur les lignes avec retour, la source le calcule de plusieurs façons, sans règle stable. L'écart cumulé est de 11,4 millions de dollars. Comme le coût sert à calculer la marge, on ne pouvait pas le laisser tel quel.
L'ajout de 2019 a fait apparaître de nouveaux cas : 29 712 ventes de janvier rattachées à une promotion hors période, et 189 ventes datées avant l'ouverture du magasin.
Enfin, être en promotion ne veut pas dire recevoir une remise : une vente sur cinq est en promotion sans aucune unité remisée, et une promotion à 20 % donne en moyenne 5,82 % de remise réelle.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Achraf Chihab
Notre principe : toucher le moins possible aux données. Aucune ligne n'est supprimée, aucun montant n'est modifié, et chaque modification laisse une trace.
Huit règles. N1 retire les espaces en trop, dans toutes les colonnes texte. N2 supprime deux colonnes sans information. N3, N4 et N8 ne corrigent rien : elles ajoutent un indicateur, pour que chaque analyse puisse inclure ou exclure ces lignes. N5 est purement technique. N6 et N7 sont les deux seules qui modifient une valeur, je les détaille juste après.
Pourquoi autant de prudence ? Parce que nos totaux sont égaux au plan stratégique au cent près. Supprimer ou modifier un montant aurait cassé cette égalité, qui est notre preuve que les données sont complètes.
Le coût total, lui, n'est pas corrigé : nous recalculons à côté trois coûts homogènes, brut, du retour et net, avec une formule unique appliquée à toutes les lignes.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Achraf Chihab
Trois règles ont demandé une vraie enquête, parce qu'il n'y a pas d'équipe métier à interroger.
N6 : sur 2 331 lignes, on remise plus d'unités qu'on n'en vend. Des unités offertes ? Non, le coût ne porte que sur les unités vendues. Un pack « une achetée, une offerte » ? Non, on trouve 3 pour 2, 4 pour 3, 7 pour 6. Il reste l'erreur : la quantité remisée prend les valeurs 0 à 4 quelle que soit la vente. Nous la ramenons à la quantité vendue, sans toucher aux montants.
N7 : l'effectif de Contoso Cheshire Store est vide. L'idée naturelle était de le déduire de la masse salariale. Testée sur 53 magasins, elle fait 55 % d'erreur moyenne, contre 46 % pour une simple médiane. Raison : la masse salariale ne dit presque rien de l'effectif. Lisbonne et Strasbourg ont la même masse salariale, pour 95 et 10 employés. Nous retenons la médiane de douze magasins britanniques de même surface : 29 employés. L'autre méthode aurait donné 31.
N8 : 189 ventes de 2019 sont datées avant l'ouverture de six magasins. Pour le Product Owner, c'est la date d'ouverture qui est fausse. Nous gardons les lignes et les signalons, pour compter correctement les mois d'activité.</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Achraf Chihab
Avant d'écrire la table propre, le notebook prouve que le nettoyage a fait ce qui était prévu, et rien d'autre. Si un seul contrôle échoue, rien n'est écrit. Les 29 contrôles réussissent.
Même nombre de lignes, mêmes identifiants. Les neuf mesures sont conformes : huit sont identiques ligne par ligne, et la neuvième, la quantité remisée, n'a changé que là où la règle N6 devait la corriger, sur les 2 331 lignes prévues, et nulle part ailleurs. C'est exactement le résultat attendu. Le chiffre d'affaires total est identique à la source.
Le même principe s'applique aux étapes suivantes : 12 contrôles sur les variables, 12 sur les charges et la table commune. Et chaque correction est tracée dans un journal de 24 entrées.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Achraf Chihab
Dernière étape du diagnostic. Les données sont très propres sur le plan comptable. Nous avons donc posé une autre question : ressemblent-elles aux ventes d'un vrai commerce ?
Cinq tests. Il n'y a ni client ni ticket : une ligne est le cumul d'une journée. Aucune ligne d'une seule unité, même pour un produit à plus de 1 000 dollars. Aucun prix ne change en trois ans. Chaque jour de la semaine pèse pareil. Et les ventes ne réagissent pas au COVID-19 : sur le graphique, la baisse des magasins est déjà de 43,2 % en janvier 2020, quand l'indice de sévérité vaut 1 sur 100. Ces ventes datent en réalité de 2007 à 2009.
Conclusion : le jeu de données est généré. Il est cohérent sur le plan comptable, mais il ne reflète pas un comportement d'achat au niveau d'une ligne.
C'est la seule fois que nous le disons. Dans la suite, nous lisons ces données comme celles d'une entreprise réelle : les montants sont complets et cohérents, et les budgets, les lancements et les promotions sont analysés comme des décisions de l'entreprise. La chute des ventes est donc un fait à expliquer par l'assortiment, la clientèle et les charges, pas par la pandémie.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Achraf Chihab
Ces constats fixent ce que le projet peut conclure. Ce tableau a été mis à jour avec ce que les analyses ont réellement pu faire.
On peut conclure sur le chiffre d'affaires, la marge et le résultat par boutique, produit et période, sur les trois exercices ; sur l'usure et le renouvellement du catalogue, qui est l'axe central de la chute des ventes ; et sur le coût des remises, de la publicité et des retours.
Certaines questions ne reçoivent qu'une réponse partielle : la clientèle en ligne, l'effet d'une promotion, l'effet d'une remise sur la taille d'une ligne.
D'autres ne peuvent pas recevoir de réponse : l'effet de la publicité, puisque chaque boutique reçoit le même budget ; l'effet du prix, qui ne change jamais ; le panier et la fidélité ; les ruptures ; l'effectif optimal ; la cause des retours.
Nous considérons ces « non » comme des résultats. Prouver qu'une question n'a pas de réponse vaut mieux qu'une réponse fragile. Mes collègues vont appliquer cette grille question par question, en commençant par la découverte centrale du projet : pourquoi les ventes ont chuté. Je passe la parole à Barnabe.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Barnabe Landry Evouna
Merci Achraf. Je présente la découverte centrale du projet : pourquoi les ventes des magasins ont chuté de près de moitié entre 2019 et 2021, alors que la boutique en ligne progresse.
Je vous donne d'abord le fil, en une phrase : ce ne sont pas les clients qui ont cessé d'acheter, c'est l'assortiment qui a vieilli. L'entreprise lance de moins en moins de nouveaux produits, chaque produit trouve de moins en moins d'acheteurs dans chaque magasin, et les clients professionnels de la boutique en ligne partent quand les nouveautés s'épuisent.
Ce n'est pas un résultat évident, alors je vais le démontrer pas à pas, en sept étapes, chacune avec ses chiffres. Nous regardons le problème du côté de l'offre : ce que l'entreprise met en vente.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Barnabe Landry Evouna
Première étape : décrire précisément ce qui baisse, avant de chercher une cause.
De 2019 à 2021, le chiffre d'affaires brut des magasins passe de 519,5 à 266,8 millions de dollars : moins 48,6 %. Pendant ce temps, la boutique en ligne progresse de 6,6 % et le revendeur recule de 14,2 %.
Regardez la ligne du prix moyen : il baisse dans les trois canaux, et même davantage en ligne, moins 33 %. Ce n'est donc pas lui qui sépare les magasins de la boutique en ligne. Ce qui les sépare, ce sont les unités : moins 37,5 % en magasin, plus 59,7 % en ligne. Le recul des magasins est un recul de volume.
Et la baisse est générale. Entre le 5e et le 95e centile, les 48 magasins ouverts les deux années perdent entre 50,9 % et 56,2 % de leur chiffre d'affaires. Il n'y a que deux exceptions, Moscow No.2 et Cambridge. Chaque mois de 2021 recule de 42 % à 58 % par rapport au même mois de 2019, et toutes les catégories reculent plus en magasin qu'en ligne.
Une cause qui toucherait un magasin, une région ou une saison ne donnerait pas cette uniformité. Ce que nous cherchons agit sur tout le réseau de magasins, et d'abord sur le nombre d'unités vendues.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Barnabe Landry Evouna
Deuxième étape, la première explication qui vient à l'esprit : les clients achètent moins cher.
C'est vrai. Le prix catalogue d'un produit ne change jamais sur la période, donc si le prix moyen d'une unité vendue baisse, c'est que les clients choisissent d'autres produits, moins chers. Pour le mesurer proprement, nous classons chaque produit dans sa sous-catégorie selon son prix : on compare un téléviseur à des téléviseurs, pas à un câble.
En magasin, les 20 % de produits les moins chers de leur sous-catégorie passent de 20,3 % à 27,0 % des unités vendues, et les plus chers de 18,4 % à 14,3 %. Sur les mêmes 1 815 produits vendus en 2019 et en 2021, le glissement est encore plus net : de 15,0 % à 25,1 %. Ce n'est donc pas un effet du changement de catalogue.
Ce n'est pas non plus un effet des restrictions sanitaires : le glissement avance par marches, chaque mois de janvier, et la première marche, en janvier 2020, précède la pandémie. Pays par pays, la corrélation avec la sévérité des restrictions est nulle : plus 0,02.
Mais voici le point important : ce glissement est identique en magasin, en ligne et chez le revendeur. Il fait baisser le chiffre d'affaires partout, mais il n'explique pas pourquoi les magasins perdent la moitié de leurs ventes pendant que la boutique en ligne progresse. Il faut chercher ailleurs.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Barnabe Landry Evouna
Troisième étape, notre première hypothèse : le catalogue se renouvelle moins, et ce sont les nouveautés qui faisaient les ventes.
Le fait d'abord. Chaque produit a une date de mise en vente. En 2019, l'entreprise lance 552 produits. En 2020, 429. En 2021, 272 seulement : moins 51 %. Et le dernier lancement date du 21 juillet 2021 : il n'y a plus aucune nouveauté au second semestre.
Ensuite, ce que cela pèse. Nous séparons les ventes des magasins selon l'âge du produit vendu. En 2019, les nouveautés de l'année font 201,9 millions, 39 % des ventes des magasins. En 2021, 28 millions, 10 % seulement. Ce recul de 173,9 millions représente à lui seul 69 % de la chute. Les produits lancés l'année précédente en ajoutent 51 %. Les produits plus anciens, eux, progressent de 35 % et compensent 20 %.
Je précise que c'est une décomposition comptable : elle dit où se trouve la baisse, pas encore ce qui l'a causée. Mais elle montre que la chute des magasins est d'abord une chute des nouveautés.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Barnabe Landry Evouna
Cette figure montre la même décomposition pour les magasins, à gauche, et pour la boutique en ligne, à droite. En orange, les nouveautés de l'année.
Les nouveautés reculent aussi en ligne : de 97,6 à 34,7 millions, moins 64 %. La différence est dans le vert foncé, les produits plus anciens : en ligne, ils progressent de 158 % et compensent largement. En magasin, de 35 % seulement.
Une précision : les magasins ne perdent pas plus sur les nouveautés que sur le reste. Le rapport entre les ventes des magasins et celles de la boutique en ligne baisse dans la même proportion pour tous les âges de produits : de 2,07 à 0,81 pour les nouveautés, de 1,97 à 1,03 pour les produits anciens.
Donc notre première hypothèse est retenue : moins de nouveautés, c'est la principale composante de la chute. Mais elle ne suffit pas à expliquer l'écart entre les deux canaux. Pourquoi les magasins ne compensent-ils pas avec le reste du catalogue ? C'est l'étape suivante.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Barnabe Landry Evouna
Quatrième étape, notre deuxième hypothèse : un magasin vend de moins en moins de produits différents.
Le chiffre d'affaires d'un magasin est la somme de ce que rapporte chaque produit qu'il vend au moins une fois dans l'année. Il ne peut baisser que de deux façons : il vend moins de produits différents, ou chaque produit y rapporte moins. Un magasin vendait 1 508 produits différents en 2019, il n'en vend plus que 979 en 2021, un tiers de moins. Et la chute se partage presque à égalité : 51 % viennent des produits qui ne se vendent plus, 49 % de ce que rapporte un produit qui se vend encore.
Voici la comparaison décisive, c'est le cœur de la démonstration. Nous suivons les 1 813 mêmes produits, vendus en ligne chacune des trois années : leur demande existe donc sur toute la période. En ligne, ils perdent 26 %. En magasin, 62 %.
Pourquoi cet écart ? Regardez les deux dernières lignes. Là où le produit se vend encore, il recule de 28 % par magasin : presque comme en ligne. La demande pour ce produit baisse donc de la même façon dans les deux canaux. Ce qui est propre aux magasins, c'est le nombre de magasins qui le vendent : 39,8 en moyenne en 2019, 21,1 en 2021. De 83 % des magasins à 40 %.
Deuxième hypothèse retenue : c'est la réduction du nombre de produits vendus par magasin qui fait l'écart avec la boutique en ligne.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Barnabe Landry Evouna
Cinquième étape, la plus délicate. Un produit qui ne fait aucune vente dans un magasin pendant l'année peut être dans deux situations.
Branche A, le stock dormant : le produit est en rayon, mais personne ne l'achète. Branche B, l'assortiment réduit : le produit n'est pas en rayon, parce qu'il a été retiré, jamais référencé, ou qu'il est en rupture.
Nous ne voyons pas les rayons, seulement les ventes. Et la table de stock ne tranche pas : ses relevés tombent presque toujours là où il y a des ventes. Seulement 11 % des couples relevés en 2021 n'ont aucune vente, alors qu'on en attendrait 56 %.
Mais les deux branches ne laissent pas les mêmes traces dans les ventes. L'outil, c'est la rotation : combien de fois un produit se vend dans un magasin en un an. Si les ventes arrivent au hasard, la probabilité de n'en faire aucune dans l'année se calcule avec la loi de Poisson, celle des événements rares. Un exemple : un produit qui fait 0,6 ligne de vente par magasin et par an reste invendu dans 55 % des magasins, alors qu'il est en rayon partout.
Or la rotation s'effondre : 2,49 lignes par magasin et par an en 2019, 0,89 en 2020, 0,57 en 2021. Un produit qui tourne aussi peu peut être absent des ventes sans être absent du rayon. Reste à savoir ce que montrent les données.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Barnabe Landry Evouna
Nous avons cherché quatre traces. Chaque point de la figure regroupe 5 % des produits d'une année ; la courbe est ce qu'on attend si le produit est en rayon dans tous les magasins.
Indice 1 : en 2021, avec une rotation de 0,57, un produit présent partout resterait invendu dans 58,6 % des magasins. On observe 58,9 %. Les points tombent sur la courbe, chaque année, à un point isolé près en 2021.
Indice 2 : si le produit n'était proposé que dans certains magasins, ses ventes seraient concentrées. L'indice vaut 1, c'est-à-dire le hasard, les trois années ; il vaudrait 1,38 si le produit n'était proposé que dans 60 % des magasins.
Indice 3 : pas de concentration par pays non plus, donc pas de retraits ou de ruptures régionaux.
Indice 4 : parmi les couples sans vente en 2020, 41,7 % se vendent en 2021, pour 41,9 % prévus si le produit était resté en rayon. Un produit retiré ne reviendrait pas aussi souvent.
Verdict : le stock dormant reçoit un indice favorable. L'assortiment réduit n'est pas soutenu, mais il n'est pas exclu : un retrait réparti au hasard sur le réseau ne laisserait aucune trace. La proportion exacte reste ouverte, faute d'inventaire complet. En clair : l'assortiment vieillit, et une part croissante des références dort en rayon.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Barnabe Landry Evouna
Sixième étape : la boutique en ligne. Elle progresse, mais elle a son propre problème.
La table des ventes en ligne détaillées est la seule qui identifie les clients. Ses montants ne recoupent pas ceux de la table des ventes : on l'utilise pour les tendances, et ses chiffres ne s'additionnent pas avec les autres. Nous comptons une entreprise comme cliente active si elle passe au moins 10 commandes ou 100 000 dollars d'achats dans l'année.
Les 16 clientes historiques, actives en 2019, achètent 169 millions en 2019, 86,6 millions en 2020, et 0,1 million en 2021. Une seule des 16 est encore active. En 2021, ce sont les nouvelles clientes qui font 91 % du détail des ventes en ligne. Mais elles se renouvellent elles aussi : les clientes arrivées en 2020 divisent leurs achats par trois l'année suivante.
Regardez la dernière colonne. Les comptes historiques consacraient 40,5 % de leurs achats aux nouveautés en 2019, puis 17,4 % en 2020, puis ils partent. Les clientes de 2020 suivent le même chemin : de 22,8 % à 4,7 %.
Notre interprétation métier, qui reste une hypothèse : une entreprise cherche un fournisseur qui suit tout son parc. Quand les nouveautés s'épuisent, elle ne réduit pas ses achats peu à peu, elle part en bloc. C'est ce tout ou rien qu'on observe.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Barnabe Landry Evouna
Dernière étape. Nous ne pouvons pas dire, magasin par magasin, si un produit non vendu était en rayon. Mais il n'est pas nécessaire de le savoir pour décider, parce que les deux branches conduisent à la même stratégie.
Si c'est du stock dormant, le magasin porte des produits qui ne tournent plus. Il faut libérer ce stock, par transfert vers la boutique en ligne ou le revendeur, retour fournisseur ou déstockage, mais pas par la remise, qui ne fait pas bouger les volumes en magasin, Mouncif le montrera. Et réinvestir la place et l'argent dans de nouvelles références.
Si c'est un assortiment réduit, le produit ou sa nouvelle version n'est pas en rayon. Il faut mettre les nouveautés en rayon : un article absent ne se vend pas, quelle que soit la demande.
Les deux branches ne s'opposent pas, elles se complètent : moins de produits qui dorment, plus de produits récents en rayon. Et c'est aussi la condition pour garder les clients professionnels de la boutique en ligne. D'où une seule stratégie, renouveler l'assortiment, en trois volets : revenir au rythme de lancement de 2019, remettre les nouveautés en rayon dans les magasins, libérer le stock dormant.
Un message de priorité pour la suite : les promotions, les remises et les retours, que l'on attendait comme les grands sujets du projet, pèsent bien moins que ce non-renouvellement de l'assortiment, la perte des grands comptes en ligne et la hausse des frais généraux.
Ces trois volets sont chiffrés dans la partie rentabilité. Je passe la parole à Yacine, qui va mesurer les facteurs de performance et ce qu'il reste de ces ventes une fois les charges payées.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Yacine Lezoul
Merci Barnabe. Barnabe a expliqué pourquoi les ventes ont chuté. Je reprends Q1 telle qu'elle est posée : quels facteurs font la performance des ventes, et qui gagne vraiment de l'argent une fois les charges payées.
Les ordres de grandeur d'abord. Le chiffre d'affaires net passe de 945,4 millions en 2019 à 759,1 millions en 2020, puis 688,2 millions en 2021 : moins 27,2 % en deux exercices. La marge suit exactement, et le taux de marge ne bouge pas : 56,1 %, 56,1 %, 56,3 %. La baisse ne vient donc ni des prix d'achat ni d'une guerre des prix. On vend moins, à marge égale.
Le chiffre d'affaires, c'est le nombre de lignes, fois les unités par ligne, fois le prix moyen. Et les deux exercices ne racontent pas la même histoire. 2020 est une année de volume : moins 38,7 % de lignes, prix presque inchangé. 2021 est une année de prix : les unités remontent de 17 %, mais le prix moyen chute de 22,5 %. C'est la descente en gamme dont a parlé Barnabe.
Par canal, deux trajectoires opposées. Les magasins perdent presque la moitié de leur chiffre d'affaires, moins 48,6 %. La boutique en ligne progresse de 6,7 %. Le revendeur recule de 14,1 %. En 2021, la boutique en ligne vend plus que les 54 magasins réunis. Ce qui distingue les magasins, ce n'est pas le panier, qui évolue pareil partout, c'est la perte de lignes : moins 65,5 %, contre moins 21,3 % en ligne.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Yacine Lezoul
Premier facteur : le temps. On retrouve le même calendrier chaque année, simplement à un niveau plus bas. Janvier est le mois le plus faible les trois exercices, à un indice de 69 à 75 pour 100 en moyenne. Le printemps et l'été sont au-dessus. Et il n'y a pas de pic de fin d'année : octobre à décembre restent sous la moyenne, les trois années.
Les profils mensuels ne s'écartent que de 5,5 à 7,4 points d'un exercice à l'autre. Autrement dit, la baisse est un changement de niveau, pas un changement de saison : aucun mois n'explique à lui seul la chute.
Le jour de la semaine ne joue pas : chaque jour fait entre 14,20 et 14,36 % du chiffre d'affaires. Les jours fériés non plus : corrélation de moins 0,011 sur 55 428 jours-magasins. Il n'y a donc pas de levier calendaire à attendre, comme ouvrir le dimanche.
Deuxième facteur : la boutique. Les magasins se ressemblent énormément. La moitié d'entre eux se tient à moins de 2 % de la médiane, chaque année. Deux exceptions : Moscow No.2, le seul magasin qui progresse, plus 23,6 %, et Cambridge, qui recule moins que les autres. Par pays, tous les magasins font entre 4,6 et 5,1 millions en 2021, sauf la Russie, tirée par Moscow No.2. Et ni la surface ni l'effectif n'expliquent les ventes : corrélations de moins 0,14 et plus 0,01.</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Yacine Lezoul
Troisième facteur : les produits.
Trois catégories font 78,4 % des ventes sur les trois exercices : l'électroménager, les ordinateurs et les appareils photo. La baisse vient surtout des appareils photo, moins 50,9 % en deux ans, qui font à eux seuls 45 % de la baisse. C'est pourtant la grande catégorie au taux de marge le plus élevé, 59,8 % en 2019. Les ordinateurs, eux, repartent en 2021, plus 15,5 %, et deviennent la première catégorie.
Sur le graphique de droite, regardez le taux de marge : il bouge de moins de trois points dans chaque catégorie. La catégorie fixe le niveau de marge, pas son évolution.
La gamme, en revanche, fixe la marge : 48,9 % en économique, 54 % en standard, 65,5 % en luxe. Et la part de l'économique double, de 10,6 % à 21,6 % du chiffre d'affaires, au détriment du standard. Le luxe garde sa part. Le taux de marge global reste donc stable, mais le montant par unité s'effondre : il faut cinq produits économiques pour faire le chiffre d'affaires d'un produit standard.
Enfin, pas de produit vedette. En 2021, 80 % des ventes sont faites par 44 % des produits, et le premier produit ne pèse que 0,4 %. La performance tient à la largeur et au renouvellement de l'assortiment, ce qui rejoint ce qu'a montré Barnabe. La marque, elle, ne fait pas la marge : 53 à 58,7 % selon les onze marques.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Yacine Lezoul
Pour classer ces facteurs, nous mesurons la part de la variation que chacun explique à lui seul, l'êta carré, à deux niveaux.
Au niveau d'une ligne de vente : qu'est-ce qui fait qu'une vente rapporte plus qu'une autre ? Le produit, à 86,1 %. Son prix unitaire, à lui seul, 77,6 %. La sous-catégorie 58,6 %, la gamme 28,7 %. Et tout en bas : la boutique, le type de boutique, le pays, moins de 1 % ; le jour férié et le jour de la semaine, zéro. Ce que rapporte une vente dépend presque entièrement de ce qu'on vend, pas d'où ni de quand.
Au niveau d'un magasin, un mois donné, la réponse change. C'est l'année qui explique le plus, 69,7 %, et 79 % sans Moscow No.2. Autrement dit, ce qui compte, c'est ce qui change pour toute l'entreprise en même temps, et le chapitre précédent a montré que c'est l'assortiment. Le magasin lui-même n'explique plus que 4,3 % sans Moscow No.2.
Et dans le chiffre d'affaires d'un magasin, c'est le nombre de lignes qui explique 76,2 %, contre 5,5 % pour le montant par ligne. Un magasin vend plus parce qu'il vend plus souvent, c'est-à-dire parce que plus de ses produits trouvent un acheteur.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Yacine Lezoul
L'êta carré convient aux facteurs à catégories. Pour les variables numériques, nous avons calculé les corrélations au niveau magasin et mois, sur 1 824 observations. Je donne ici les coefficients de Spearman.
Trois enseignements.
Premier, et c'est le plus important : le montant des frais généraux ne suit presque pas les ventes, plus 0,22. Donc, quand les ventes baissent, leur poids explose : le taux de frais généraux est corrélé à moins 0,81 avec le chiffre d'affaires et à moins 0,55 avec le résultat. C'est exactement ce qui transforme une baisse de ventes en déficit. Je vais le chiffrer dans un instant.
Deuxième : vendre plus cher rapporte plus. Le prix moyen par unité est lié au résultat à plus 0,37. La descente en gamme pèse donc aussi sur le résultat.
Troisième : la part des lignes en promotion va avec moins de résultat, moins 0,44. Mais ce n'est pas la promotion qui le fait baisser : à mois égal, la corrélation tombe à moins 0,02. Les promotions tombent simplement pendant les mois où le résultat est bas. Mouncif y reviendra.
Enfin, à mois égal, la sévérité locale du COVID-19 n'a aucun lien avec les ventes d'un magasin : moins 0,031. Le taux de retour, la surface, l'effectif et les jours fériés n'ont pas de lien non plus.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Yacine Lezoul
Passons à la rentabilité. Grâce au plan stratégique, nous retirons les frais généraux et la publicité de chaque boutique.
Pour l'entreprise, le résultat d'exploitation passe de 290,7 millions en 2019 à 184,6 puis 141,7 millions en 2021 : il est divisé par deux, mais il reste largement positif. Notez une chose : pendant que le chiffre d'affaires baisse de 27 %, les frais généraux augmentent de 17 %, de 155 à 181,3 millions. La publicité, elle, baisse de 24 %.
Par canal, la boutique en ligne garde environ 100 millions de résultat les trois années, le revendeur passe de 70,4 à 52,6 millions. Les magasins, eux, passent de 121,6 millions de bénéfice à 13 millions, puis à une perte de 10,8 millions.
Le chiffre qui résume tout : en 2019, 48 magasins bénéficiaires sur 48. En 2020, 43 sur 51. En 2021, 4 sur 53.
Et pourtant, le taux de marge des magasins ne bouge pas, 56,1 à 56,4 %. Ce sont les charges qui changent de poids : les frais généraux passent de 16,4 % à 36,8 % de leur chiffre d'affaires, la publicité de 16 à 23,5 %.
Dernier point : les frais généraux augmentent aussi en ligne, plus 22,6 % pour des ventes en hausse de 6,7 %. La hausse des frais généraux est donc une décision prise pour toute l'entreprise, pas une dérive propre aux magasins.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Yacine Lezoul
Ce graphique décompose le passage du résultat des magasins de 2019 à 2021 en trois mouvements : la marge perdue avec les ventes, qui relève du marché, et deux décisions de gestion, les frais généraux et la publicité.
La baisse des ventes explique l'essentiel : 139,2 millions de marge perdue en deux exercices, dont 114,4 millions dès 2020.
Mais les deux décisions vont en sens contraire. Réduire la publicité a amorti la perte de 19,8 millions. Augmenter les frais généraux l'a aggravée de 12,9 millions : 9,1 millions sur les 48 magasins ouverts depuis 2019, et 3,8 millions pour les magasins ouverts en 2020.
Et voici le point clé : ces 12,9 millions de hausse dépassent le déficit de 2021, qui est de 10,8 millions. À frais généraux de 2019, les magasins seraient encore à l'équilibre, plus 2,1 millions, alors que leurs ventes ont été divisées par deux.</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Yacine Lezoul
Parlons de la publicité. Chaque boutique reçoit le même budget chaque mois. Ce budget passe de 1,54 million par boutique en 2019 à 1,17 million en 2021 : moins 24,3 %, appliqué à l'identique dans chaque campagne et dans chaque canal. Mais il baisse moins vite que les ventes des magasins.
Ce que la coupe a rapporté : avec le budget de 2019, les magasins perdraient 30,5 millions en 2021. Avec celui de 2020, 19 millions. La coupe a ramené leur déficit à 10,8 millions.
La question naturelle : est-ce que les ventes suivent la publicité ? Comme le budget est le même partout, on ne peut pas comparer un magasin soutenu à un magasin moins soutenu. Nous avons donc posé quatre tests indirects, chacun décrivant la trace que laisserait la publicité si elle faisait vendre.
Test A : les mois avec et sans campagne reculent pareil, moins 48 et moins 47,4 %. Test B : la même coupe donne trois évolutions opposées selon les canaux. Test C : la publicité baisse de 24,2 % dans chaque catégorie, mais les ventes des magasins vont de moins 72,2 % à plus 24,6 %. Test D : il y a bien une corrélation avec le mois suivant, mais elle porte la tendance commune, publicité et ventes baissant toutes deux. Non concluant.
Conclusion honnête : la coupe n'a laissé aucune trace mesurable et a amélioré le résultat de 19,8 millions. Mais cela ne prouve pas que la publicité est inutile. Pour trancher, il faut un test piloté, avec des magasins témoins à budget maintenu.</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Yacine Lezoul
Quand les magasins perdent-ils de l'argent ? Toujours les mêmes mois : janvier, février et mars, les trois exercices. En 2021 : moins 12,4, moins 15,3 et moins 15,8 millions. C'est le trimestre où est engagée la publicité des Fêtes, 44,5 millions en 2021, soit 69 % du budget. Et aucune dépense n'est engagée d'octobre à décembre. Même en 2021, les magasins sont bénéficiaires d'octobre à décembre, plus 10,7 millions.
D'où une question à poser au marketing : la publicité des Fêtes est-elle payée après les fêtes, ou réellement diffusée de janvier à mars ? Dans le second cas, le calendrier est à revoir.
Deuxième point, la règle de répartition. Chaque boutique reçoit 1,17 million, alors que la boutique en ligne vend 55 fois plus qu'un magasin. Nous avons simulé la répartition du même budget total en proportion des ventes, soit 9,3 % des ventes de chaque boutique. Le résultat de l'entreprise ne change pas, 141,7 millions. Mais les magasins passent de moins 10,8 à plus 26,5 millions, et plus aucun n'est déficitaire : on passe de 49 à 0.
Ce n'est pas un gain, c'est une question d'imputation. Mais elle est essentielle : avant de juger, et a fortiori de fermer, un magasin « déficitaire », il faut lui imputer la publicité qui le sert réellement.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Yacine Lezoul
Regardons les frais généraux compte par compte, sur les 48 magasins ouverts depuis 2019, pour comparer des magasins identiques.
Les ventes de ces 48 magasins passent de 509,8 à 245,4 millions : moins 43,4 %, puis moins 14,9 %. Pendant ce temps, le personnel augmente de 8 % par an, l'administration de 15 % par an, c'est le compte qui progresse le plus, l'informatique de 8 % par an. Et cela dans les 48 magasins, sans exception. Ce sont des budgets décidés chaque exercice, et ils ont été décidés à la hausse alors que les ventes reculaient. Le personnel passe de 4,3 % à 10,5 % des ventes.
Les loyers sont presque stables : ils sont engagés par des baux. L'énergie progresse de 8 % par an : c'est une dépense subie, liée aux prix. Seuls les autres charges et les impôts suivent les ventes.
Une piste de réflexion : regrouper l'administration et l'informatique dans un seul bureau par pays, pour les cinq pays qui ont plusieurs magasins. Selon la part réellement économisable, 20, 30 ou 40 %, le gain serait de 4,4 à 8,8 millions par an. C'est aux gens du métier de dire quelle part est réaliste. Et attention : cette piste recoupe le retour des mêmes comptes au montant de 2019, les deux ne s'additionnent pas.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Yacine Lezoul
Deux chiffres servent de base à tous nos calculs.
Le premier : ce que rapporte un dollar de vente. Quand un magasin vend un dollar de moins, il perd sa marge, mais il ne paie plus les charges qui suivent les ventes, environ 1,1 %. Les autres frais généraux et la publicité ne baissent pas avec les ventes. Résultat : un dollar de vente rapporte 0,552 dollar de résultat, pareil dans les trois canaux. Toute vente perdue coûte 55 cents, toute vente regagnée en rapporte autant. Mouncif l'utilisera aussi.
Le second : le seuil de rentabilité. C'est le chiffre d'affaires qui couvre les charges fixes. Pour le magasin déficitaire médian, il est de 5,46 millions, pour 4,84 millions de ventes. Il lui manque 0,62 million, soit 12,5 % de ventes en plus. C'est moins que ce qu'il a perdu sur le seul exercice 2021, moins 14,9 %.
Qui sont les quatre bénéficiaires ? Ils ne sont pas plus gros : leur chiffre d'affaires médian est même un peu plus faible. Ce qui les distingue, c'est le poids des frais généraux : 20 % de leurs ventes, contre 39 % pour les déficitaires. Ils y arrivent par deux voies : des ventes qui ont résisté, Moscow No.2 et Cambridge, ou des charges fixées sur leur activité actuelle, Berlin et Marseille, ouverts en 2020.
Ce sont exactement nos deux familles de leviers : regagner des ventes, et recaler les charges sur les ventes.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Yacine Lezoul
Voici tous les leviers chiffrés sur l'exercice 2021, en gain de résultat par an. Pour rappel, le résultat d'exploitation est de 141,7 millions.
En tête, et de loin, le renouvellement de l'assortiment : revenir au rythme de lancement de 2019, 552 nouveautés au lieu de 272, rapporterait 46,1 millions par an. Remettre les nouveautés dans les magasins, 3,8 millions de plus. Attention, c'est un gain brut : le coût de conception et de lancement n'est pas dans nos données.
Ensuite les charges : ramener personnel, administration et informatique au montant de 2019 rapporte 9,2 millions, sans aucun risque sur les ventes. Puis la publicité : la baisser de 10 % rapporte 6,2 millions, mais c'est le levier le plus incertain. À moins 20 %, les magasins reviennent juste à l'équilibre si les ventes tiennent, et le gain disparaît au-delà de 8,5 % de ventes perdues.
Par famille, sans double compte, l'ensemble vaut 77,3 millions par an, en ordre de grandeur.
À côté, le stock dormant : 59 % des couples magasin et produit n'ont aucune vente en 2021, soit 180,2 millions de stock estimé au coût. En récupérer le quart, la moitié ou les trois quarts libérerait 45, 90 ou 135 millions de trésorerie, une seule fois, et pas par la remise.
Le message de priorité est clair. Promotions, remises et retours ne sont pas les problèmes prioritaires : 8,4 et 2,6 millions. Leur poids est bien plus faible que le non-renouvellement de l'assortiment, la hausse des frais généraux et la perte des grands comptes en ligne que Barnabe a présentée.
Ma réponse à Q1 : la performance d'une vente dépend du produit, celle d'un magasin du nombre de ventes, et la rentabilité se joue après la marge, sur des charges qui ne suivent pas les ventes.
Pour voir précisément ce que valent les promotions et les remises, je passe la parole à Mouncif.</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Mouncif Bouchachi
Merci Yacine. Je traite les quatre questions qui restent, en commençant par les deux sur les promotions : Q2, leur effet sur les ventes, et Q5, le niveau de remise qui maximise la marge. Je finirai par les retours, Q3 et Q4.
Je commence par situer le sujet. En 2021, les remises coûtent 13,7 millions au résultat, et le levier qu'elles offrent en magasin vaut 5,4 millions. C'est réel, mais c'est bien moins que le renouvellement de l'assortiment, 46,1 millions, ou les frais généraux, 9,2 millions. Les promotions ne sont pas un problème prioritaire. Je le redirai à la fin de ces deux questions.
Comment sont-elles distribuées ? Un seul calendrier, le même en 2019, 2020 et 2021 : 20 % d'octobre à janvier pour les Fêtes, 7 % au printemps, rien de mai à juillet, 10 % à la rentrée. Neuf mois sur douze sont en promotion, et 74,5 % des lignes sont vendues sous promotion.
La promotion est générale : un mois donné, tous les produits, toutes les catégories et les trois canaux sont sous le même taux. Elle ne cible ni les nouveautés ni une gamme : 71 % à 77 % de lignes en promotion partout. Une seule exception : le magasin de Cambridge, qui suit un calendrier nord-américain.
Dernier point : le taux affiché n'est pas le taux réel. La remise ne porte que sur quelques unités d'une ligne. Une promotion « à 20 % » coûte en réalité 5,07 % du montant sur les trois exercices, 4,70 % en 2021.</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Mouncif Bouchachi
Voici le piège. Pour mesurer l'effet d'une promotion, il faut un groupe témoin : des produits ou des magasins qui, au même moment, n'en ont pas. Ici, il n'y en a presque pas. Savoir qu'on est à 20 %, c'est savoir qu'on est entre octobre et janvier.
Regardez la comparaison directe. Les jours de promotion à 20 %, le chiffre d'affaires par jour est plus bas de 23,6 % que les jours sans promotion : 1,82 million contre 2,38. Le constat tient chaque exercice et dans chaque canal.
Est-ce que cela veut dire que les promotions font baisser les ventes ? On ne peut pas le dire. Les mois à 20 % sont aussi les plus faibles de l'année : indice de saisonnalité de 86, 83 puis 86, contre 106, 111 puis 116 pour les mois sans promotion. On compare mai à juillet au reste de l'année.
Remarquez aussi une chose : le nombre de lignes par jour ne bouge presque pas, de 618 à 659. Ce qui change, c'est la taille des lignes.
Un seul fait est solide : rien, dans les chiffres bruts, ne montre que les promotions font vendre davantage. Il faut donc des comparaisons qui neutralisent la saison.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Mouncif Bouchachi
Premier angle : regarder ce qui se passe au moment où la promotion change. Elle change quatre fois par an, toujours un 1er du mois. Pour chaque boutique, on compare les 14 jours avant et les 14 jours après. En 28 jours, la saison ne change pas d'un coup.
Sur le graphique, en rouge, les dates où le taux monte : les ventes reculent, aux six dates et dans les trois canaux, de 10,9 % en moyenne. En vert foncé, les dates où le taux baisse : les ventes repartent, de 23,8 %, surtout au 1er février, quand la promotion à 20 % s'arrête.
Et pour vérifier que ce n'est pas un simple effet de début de mois, nous avons refait le calcul sur les 21 premiers du mois sans changement de taux : c'est le placebo, en gris clair. Les ventes ne bougent pas, plus 0,1 % en moyenne.
Le lien d'ensemble est négatif : plus le taux monte, plus les ventes baissent, avec une corrélation de moins 0,50, sous le seuil corrigé.
La limite : si une saison commerciale commençait chaque année le même jour que la promotion, cet angle ne la verrait pas. C'est pour cela qu'il en faut un deuxième.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Mouncif Bouchachi
Deuxième angle : le magasin de Cambridge. Certains mois, il a une autre promotion que les autres, au même moment de l'année. Si la promotion a un effet, Cambridge doit s'écarter des autres ces mois-là.
En juillet, il a 10 % et les autres rien : il ne vend pas plus, il recule par rapport à son écart habituel les trois années. En octobre, c'est l'inverse : il n'a rien, les autres passent à 20 %, et il vend nettement mieux que d'habitude les trois années. En février, les autres sortent de la promotion à 20 % et bondissent ; Cambridge, soumis à la même saison, ne bondit pas. Donc le rebond de février n'est pas un effet de la saison : il accompagne la fin de la promotion à 20 %.
Cet angle n'est qu'un indice : c'est un seul magasin, et il ne peut pas être significatif après correction, par construction.
Troisième angle : à produit, mois et canal égaux, on compare les lignes remisées aux autres. En magasin, une ligne remisée ne contient pas plus d'unités : l'écart médian est nul les trois exercices. En ligne et chez le revendeur, la ligne remisée est plus grosse, mais une partie de ce lien est mécanique. J'y reviens dans Q5.</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Mouncif Bouchachi
Le bloc précédent a montré une corrélation de moins 0,44 entre la part des lignes en promotion et le résultat d'un magasin, en laissant ouvert le sens de la cause. Nous l'avons tranché.
D'abord, la part en promotion ne varie que d'un mois à l'autre : le mois explique 97,4 % de sa variation, le magasin 0,1 %. Aucun magasin ne reçoit plus de promotions qu'un autre.
Ensuite, à mois égal, le lien disparaît : moins 0,02, c'est le bas du graphique de droite.
La corrélation est donc faite par le calendrier, de deux façons. À gauche : janvier, février et mars, les trois mois déficitaires des magasins, sont des mois de promotion et concentrent la publicité, 346 à 409 milliers de dollars par magasin et par mois. Sans la publicité, la corrélation tombe déjà à moins 0,21. Et la promotion à 20 % tombe sur les mois faibles de l'année.
Conclusion : on ne perd pas d'argent parce qu'on fait des promotions. On fait des promotions quand le résultat est bas.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Mouncif Bouchachi
Si le gain n'est pas démontré, le coût, lui, est certain. En 2021, les remises valent 13,9 millions, soit 2 % du chiffre d'affaires, et 13,7 millions au résultat une fois déduites les autres charges, dont 5,4 millions en magasin.
Le graphique donne la hausse des ventes qu'il faudrait pour que chaque promotion se paie. Les seuils sont bas, de 1,5 % à 9,2 %. Pour la promotion à 20 % en magasin, il faudrait 9,2 % de ventes en plus. Les losanges rouges montrent ce qu'on observe au début de la promotion : moins 11,1 %. On est du mauvais côté.
Pour garder les proportions : en magasin, la publicité coûte 11,3 fois les remises en 2021, 61,9 millions contre 5,5.
Réponse à Q2 : l'effet sur les ventes n'est pas démontré, et les indices vont contre. Les ventes reculent quand la promotion se renforce et repartent quand elle s'arrête. Sur les données disponibles, les remises sont un coût sans contrepartie mesurable.
Interprétation métier, que nous présentons comme une hypothèse : une remise générale, neuf mois sur douze, devient le prix normal et ne crée plus le sentiment de faire une affaire.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Mouncif Bouchachi
Q5 demande quel niveau de remise maximise la marge. Les données ne dessinent pas de courbe : il n'existe que trois niveaux, 7, 10 et 20 %, et chacun est attaché à une saison, la même les trois exercices. Comparer deux niveaux, c'est comparer deux saisons. Le même piège.
Nous répondons donc à une question plus solide : à produit égal et à mois égal, une ligne remisée contient-elle plus d'unités, rapporte-t-elle plus de marge, et cela dépend-il du niveau ?
Quelques repères. Une remise porte toujours sur très peu d'unités : 1 à 4 dans plus de 9 cas sur 10, 2,9 en moyenne, quel que soit le niveau. Le niveau à 20 % fait à lui seul 70 à 72 % du coût des remises chaque exercice.
Le graphique montre que les remises des magasins ont fondu, de 12,4 à 5,5 millions, pendant que leur résultat perdait 132,4 millions. Les remises n'expliquent donc pas la dégradation des magasins.
Enfin, magasin par magasin, à magasin et mois constants, un magasin qui remise plus de lignes que d'habitude ne vend pas plus que d'habitude : aucune corrélation ne dépasse 0,13, et aucune n'est positive avec la marge.</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Mouncif Bouchachi
Regardons maintenant l'intérieur d'une ligne. Pour un même produit, un même mois et un même canal, on compare les lignes remisées aux autres : seule la remise change. La question : les unités remisées s'ajoutent-elles à ce qui aurait été acheté, ou remplacent-elles des unités qui auraient été payées au plein tarif ?
Le panneau de droite, les magasins : une ligne remisée contient autant d'unités qu'une ligne sans remise, chaque exercice. En 2021, 16,7 contre 17,0. Les unités remisées remplacent une pour une des unités au plein tarif : 98 %, 107 % puis 113 % de remplacement. La remise ne fait pas acheter plus, elle fait payer moins cher. La marge d'une ligne remisée est plus basse de 7,1 à 8,4 % selon l'exercice, et la ligne remisée ne rapporte davantage que dans 15 % des cas.
En ligne et chez le revendeur, c'est différent : la ligne remisée est nettement plus grosse, de 19 à 45 % d'unités selon le canal et l'exercice, et elle rapporte plus en moyenne. Mais deux lectures restent possibles, et les données ne les départagent pas : soit la remise pousse un acheteur, souvent un professionnel, à commander plus ; soit les grosses commandes obtiennent plus facilement une remise. Dans le premier cas, la remise crée de la marge ; dans le second, elle en coûte.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Mouncif Bouchachi
Et le niveau de remise, puisque c'est la question posée ?
En magasin, le niveau compte, et dans le mauvais sens. Pour le produit médian, la ligne remisée perd 3,6 % de marge à 7 %, 6,1 % à 10 % et 11,5 % à 20 %. Le niveau ne change rien aux unités, il ne change que le prix cédé. Et aucune famille de produits ne fait exception : dans les trois gammes, les deux âges et les huit catégories, la ligne remisée perd de la marge.
En ligne et chez le revendeur, la ligne remisée est plus grosse à tous les niveaux, mais pas plus grosse à 20 % qu'à 7 ou 10 %, alors qu'une remise à 20 % coûte deux à trois fois plus cher par unité. Résultat : le niveau à 20 % est celui qui rapporte le moins, plus 23,6 % en ligne contre 39,1 % à 10 %.
Une réserve : chaque niveau tombe à une saison. Ces écarts sont mesurés à produit égal, pas à saison égale. C'est un indice.
Retenez ceci : le niveau à 20 %, qui fait 70 à 72 % du coût des remises, n'est le meilleur dans aucun canal et aucun exercice.</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Mouncif Bouchachi
Comme nous ne savons pas si les unités en plus viennent de la remise, chaque décision est chiffrée deux fois sur 2021.
Lecture A : sans remise, les lignes resteraient les mêmes ; on récupère le montant des remises. Lecture B, la plus favorable à la remise : sans remise, la ligne ressemblerait à une ligne non remisée du même produit, le même mois.
Quand les deux lectures donnent le même signe, la décision est sûre. Quand elles s'opposent, il faut un essai.
En magasin, supprimer les remises rapporte 5,4 millions en lecture A et 6,1 millions en lecture B. Gain dans les deux cas. Nous ne prouvons pas que la remise n'a aucun effet : nous montrons que, même dans la lecture la plus favorable à la remise, la décision reste la même. Le gain ne disparaîtrait que si les ventes des magasins en période de promotion reculaient de 5,2 % du seul fait de l'absence de remise.
En ligne, supprimer donne entre plus 5,2 et moins 18,6 millions ; chez le revendeur, entre plus 3,1 et moins 7,4. L'écart est trop grand pour décider. Plafonner à 10 % donne en revanche le même signe dans les deux lectures, de 2,9 à 5,8 millions : c'est une piste, à tester.</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Mouncif Bouchachi
Je résume les deux réponses.
Q2 : les promotions ne font pas vendre plus. Aucun angle ne le montre, et les ventes reculent même quand la promotion se renforce. Leur coût, lui, est certain : 13,7 millions au résultat en 2021.
Q5 : en magasin, le niveau qui maximise la marge est l'absence de remise. En ligne, 10 %, en tout cas pas 20 %. Chez le revendeur, 7 %, en tout cas pas 20 %. Mais hors magasins, que la remise soit la cause des grosses lignes reste ouvert.
Nos recommandations. Un : arrêter les remises dans les magasins, de 5,4 à 6,1 millions par an. C'est le même levier en Q2 et en Q5, compté une seule fois. C'est aussi le test : si les ventes tiennent, il est confirmé, et sinon on le verra en quelques semaines. Deux : en ligne et chez le revendeur, ne rien supprimer sans essai, et essayer un plafond à 10 % sur une partie des produits, avec un groupe témoin. Trois : repenser la promotion plutôt que la reconduire : ciblée par canal, limitée dans le temps, mesurée avec un témoin.
Et je reviens au message de départ. Ce levier est réel, mais il ne rend pas les magasins bénéficiaires à lui seul, et il pèse bien moins que le renouvellement de l'assortiment, 46,1 millions, ou les frais généraux, 9,2 millions. Les promotions et les remises ne sont pas le problème prioritaire.
Il reste les retours, Q3 et Q4.</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Mouncif Bouchachi
J'en viens aux retours, Q3 et Q4.
Je commence par dire ce que pèsent les retours, parce que cela donne le cadre : en 2021, ils coûtent 5,34 millions de marge, soit 3,8 % du résultat d'exploitation. C'est un sujet réel, mais secondaire.
À quoi ressemble un retour ? Il est fréquent mais petit. Une ligne de vente sur sept a un retour, 14,5 % en 2021. Et quand il y a retour, il porte sur une seule unité dans 97,3 % des cas, alors qu'une ligne compte en moyenne 14 unités.
Sur les trois exercices, la fréquence ne bouge pas : 14,4 % en 2019, 14,7 % en 2020, 14,5 % en 2021. Le graphique le montre mois par mois, sur 36 mois : aucune saison, et deux niveaux. La boutique en ligne et le revendeur sont autour de 15 à 18 %, les magasins autour de 12 %.
Ce qui baisse, c'est le coût, et il baisse avec les ventes : la marge perdue passe de 8,0 millions en 2019 à 5,3 millions en 2021, moins 33 %, pour un chiffre d'affaires en baisse de 27 %.
Une hypothèse à connaître : la marge perdue suppose que l'article retourné revient en stock et se revend. Si ce n'est pas le cas, le coût réel est plus élevé, au plus le montant remboursé, 9,2 millions en 2021.</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Mouncif Bouchachi
Avant de chercher des patterns, il a fallu choisir la bonne mesure, et c'est un vrai point de méthode.
La mesure intuitive est le taux en unités : unités retournées divisées par unités vendues. Mais comme un retour porte presque toujours sur une seule unité, ce taux dépend surtout de la taille de la ligne. Pour le même événement, une ligne de 40 unités avec un retour donne 2,5 %, une ligne de 8 unités donne 12,5 %. Sur le graphique de gauche : 3,02 % pour les lignes de 1 à 5 unités, 0,13 % au-delà de 50.
Le piège est concret. Le taux en unités a été divisé par deux entre 2019 et 2021, de 1,39 % à 0,70 %. On croirait à une forte amélioration. Elle vient seulement de lignes deux fois plus grosses : 10,7 puis 21,3 unités par ligne.
À droite, la fréquence, c'est-à-dire la part des lignes avec retour. En magasin, elle ne dépend pas de la taille de la ligne. En ligne et chez le revendeur, elle monte au-delà de 12 unités, jusqu'à près de 25 %. Une hypothèse métier : une grosse ligne en ligne réunit sans doute plusieurs commandes du jour.
Nous avons donc retenu la fréquence pour savoir qui retourne le plus souvent, et la marge perdue pour savoir ce que cela coûte. Le taux en unités n'est jamais utilisé pour comparer.</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Mouncif Bouchachi
Avec la bonne mesure, que trouve-t-on ? Aucun pattern, et c'est le résultat.
Nous avons testé chaque facteur : catégorie, gamme, marque, mois, jour, année, promotion, âge du produit. Aucun n'atteint même le seuil d'un petit effet. Les trois mouvements établis dans la chute des ventes, le vieillissement de l'assortiment, la descente en gamme et le passage vers la boutique en ligne, n'augmentent pas le coût des retours. La pandémie ne joue pas non plus.
Par produit, c'est le graphique en entonnoir. Chaque point est un produit, et les courbes donnent les limites de ce que produirait le hasard seul. 14 produits sur 2 516 dépassent trois écarts-types, contre 7 attendus par hasard. Les plus hauts affichent jusqu'à 32 % de retours, mais sur 46 à 336 lignes : ce ne sont pas de mauvais produits, ce sont de petits produits.
Pour les magasins, il y a des écarts réels une année, mais ils ne se répètent pas : un magasin aux retours fréquents une année ne l'est pas l'année suivante. La corrélation de rang d'un exercice à l'autre est proche de zéro.
Ce qui varie, ce n'est pas la fréquence, c'est le coût. Trois catégories, Home Appliances, Computers et Cameras, font 81,4 % de la marge perdue de 2021, à une fréquence ordinaire. Cinq sous-catégories font la moitié du coût, avec Laptops et Washers &amp; Dryers en tête. Sur les 32 sous-catégories, la marge perdue suit le prix, avec une corrélation de 0,87.
Réponse à Q3 : il n'y a pas de pattern. Les retours sont un bruit de fond, et leur coût suit le prix des produits.</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Mouncif Bouchachi
Q4 : les remises augmentent-elles les retours ?
Selon le taux annoncé, aucune progression : 14,6 % de lignes avec retour sans promotion, 14,3 % à 7 %, 14,6 % à 10 %, 14,5 % à 20 %.
Selon que la ligne a reçu une remise, c'est le graphique. En magasin, rien : 12,6 % dans les trois cas. En ligne et chez le revendeur, les lignes remisées ont un peu plus de retours.
Est-ce la remise, ou encore la taille des lignes ? Nous avons contrôlé par une régression logistique, canal par canal : à taille de ligne, catégorie, gamme, mois et année identiques. En ligne, le rapport de cotes de la remise est de 1,24 : la probabilité de retour passe de 15,6 à 18,6 %, plus 3 points. Chez le revendeur, de 14,5 à 17,1 %. En magasin, rien de significatif.
Réponse à Q4 : oui, il existe un lien, en ligne et chez le revendeur seulement. Mais l'enjeu financier est faible : même si la remise causait tout cet écart, cela ferait au plus 0,31 million de marge perdue en 2021. Une hypothèse métier : en ligne, un achat déclenché par la remise, sans voir le produit, déçoit plus souvent à la réception. Sans motif de retour, nous ne pouvons pas le vérifier.
Dernier résultat : avec toutes les variables, la prédiction d'un retour atteint une aire sous la courbe de 0,565, et 0,510 en magasin, à peine mieux que le hasard. Il n'y a pas de signal à prédire. Les retours sont donc un levier secondaire : en éviter la moitié rapporterait au plus 2,62 millions. Je passe la parole à Yacine pour la synthèse et la suite.</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Yacine Lezoul
Merci Mouncif. Voici maintenant les cinq réponses réunies, sur les trois exercices.
Q1, les facteurs de performance. Au niveau d'une vente, c'est le produit et son prix qui comptent. Au niveau d'un magasin, c'est le nombre de ventes, qui fait 76 % du chiffre d'affaires d'un mois. Et d'un exercice à l'autre, ce qui change pour toute l'entreprise, c'est l'assortiment, qui vieillit faute de nouveautés. La boutique, le pays, le jour et la promotion ne sont pas des facteurs de performance. La rentabilité se joue ensuite sur les décisions de charges.
Q2, les promotions : aucun gain de ventes démontré, et les indices vont même contre. Le coût, lui, est certain : 13,9 millions de remises en 2021.
Q3, les retours : aucun pattern. Une ligne sur sept, une seule unité, partout et tout le temps.
Q4, remises et retours : oui en ligne et chez le revendeur, environ 3 points, non en magasin. Sans portée financière.
Q5, les niveaux de remise : aucune remise en magasin, où elle est un coût sans contrepartie. En ligne et chez le revendeur, un niveau plus bas que 20 %, à confirmer par un essai. Le niveau à 20 % n'est le meilleur dans aucun canal.</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Yacine Lezoul
C'est le message principal du projet. Les promotions, les remises et les retours, que l'on attendait comme les grands sujets, ne sont pas les problèmes prioritaires. Le tableau classe les problèmes par ordre de poids.
En tête, l'assortiment non renouvelé. Les lancements sont passés de 552 à 429 puis à 272. Les nouveautés de l'année portent 69 % de la chute des ventes des magasins, et chaque produit se vend dans deux fois moins de magasins. Revenir au rythme de lancement de 2019 vaudrait 46,1 millions de gain brut.
Ensuite, la perte des grands comptes en ligne : les achats des entreprises clientes historiques passent de 169 millions à 86,6 millions, puis à 0,1 million. Ces chiffres viennent d'une autre table et ne s'additionnent pas avec les nôtres, mais la tendance est nette, et elle est liée à l'assortiment.
Puis la hausse des frais généraux : plus 26,3 millions en deux exercices, dont 12,9 millions en magasin, plus que leur déficit de 2021. Revenir au niveau de 2019 sur le personnel, l'administration et l'informatique rapporterait 9,2 millions.
Viennent ensuite la publicité des magasins, 61,9 millions sans effet mesurable sur les ventes. Puis les remises : celles des magasins ont même baissé de 6,9 millions depuis 2019, pendant que leur résultat perdait 132,4 millions. Et enfin les retours, 2,62 millions au plus.
Remises en magasin et retours réunis valent 8 millions par an, moins d'un cinquième du seul levier sur l'assortiment. Ils restent utiles, mais ils n'expliquent pas la dégradation et ne la régleront pas.</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Yacine Lezoul
Nous recommandons deux actions principales, complémentaires : la première rend des ventes aux magasins, la seconde les rend rentables au niveau de ventes actuel.
Un, traiter la cause : renouveler l'assortiment. Revenir au rythme de lancement de 2019, soit 46,1 millions de gain brut par an, avant le coût des lancements. Mettre les nouveautés en rayon et en avant dans tous les magasins, 3,8 millions. Et libérer le stock qui ne tourne pas par transfert vers la boutique en ligne, retour fournisseur ou déstockage, et non par la remise : 45 à 135 millions de trésorerie, une fois. C'est aussi la condition pour garder les entreprises clientes de la boutique en ligne.
Deux, traiter la conséquence : recaler les charges sur les ventes. Annuler les hausses de personnel, d'administration et d'informatique, 4,8 millions dès l'exercice suivant et 9,2 millions pour revenir à 2019. Baisser la publicité des magasins de 10 %, 6,2 millions, avec un test piloté. Ces mesures suffisent à rendre les magasins bénéficiaires, plus 4,6 millions, sans attendre le retour des ventes.
Et trois mesures secondaires. Arrêter les remises en magasin, 5,42 millions, en commençant par la promotion à 20 % d'octobre à janvier. Tester, sans généraliser, un plafond de remise à 10 % en ligne et chez le revendeur, avec un groupe témoin. Et ne pas faire des retours une priorité : si une action est menée, la cibler sur les appareils chers, et collecter le motif de chaque retour.</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Yacine Lezoul
Avant de décider, plusieurs points sont à valider avec les gens du métier. Le coût de conception et de lancement d'une nouveauté, qui réduit le gain brut du premier levier. La valeur du stock dormant, estimée à partir de relevés partiels : il faut un inventaire. La part de l'administration et de l'informatique réellement économisable par un regroupement par pays. La date réelle de diffusion de la publicité des Fêtes. L'objectif commercial des promotions. Et la possibilité de faire des essais pilotés. Pour les retours : les articles retournés sont-ils revendus à plein prix, et quels sont les frais de traitement ?
Et les limites que nous assumons. Une ligne est un cumul journalier, sans client ni ticket : on ne mesure ni panier ni fidélité. Ce qui ne varie pas ne se mesure pas : la publicité et le calendrier des promotions sont les mêmes partout, leur effet ne peut pas être isolé sans essai. Le stock est un relevé partiel. Les ventes en ligne détaillées ne recoupent pas nos montants. Les gains des leviers sont des ordres de grandeur qui ne s'additionnent pas exactement. Et avec trois exercices, une tendance repose sur deux comparaisons.
C'est pourquoi plusieurs recommandations se terminent par « à tester » : nous donnons une direction et un ordre de grandeur, pas une certitude.</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Yacine Lezoul
Ces résultats ont changé le travail lui-même.
Les notebooks d'abord, depuis la version du 7 octobre. Tous passent à trois exercices, parce que 2019 sert de référence : c'est le seul exercice où tous les magasins ouverts toute l'année gagnaient de l'argent. Le notebook des charges est lu année par année, parce que la moyenne cachait la bascule. Deux notebooks sont nouveaux : le 05c, sur le stock et les ventes en ligne détaillées, et le 06b, sur la cause de la chute des ventes, qui méritait son propre notebook. Le 06 est recadré sur la rentabilité, et les 07, 08 et 09 sont mis en cohérence.
Le backlog ensuite. Ce que je présente est une proposition de version 4, à valider par le Product Owner. Les sprints et les dates de remise ne changent pas. La collecte et la cause de la baisse du chiffre d'affaires sont terminées. Le risque de retour est clos, puisque la prédiction ne fait pas mieux que le hasard. La prévision des ventes est maintenue, mais selon le nombre de nouveautés lancées, sur 36 mois. Le modèle des charges est reformulé : les charges sont des décisions, il devient un compte de résultat selon les budgets choisis. Et nous proposons une nouvelle user story : repérer tôt une entreprise cliente qui réduit ses achats.</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Yacine Lezoul
Pour la prochaine unité, il reste les parties prédictive et prescriptive.
Six travaux. Prévoir les ventes de 2022 selon le nombre de nouveautés lancées, avec une fourchette. Repérer les entreprises clientes qui risquent de partir. Une typologie des magasins. Les priorités de renouvellement : dans quelles sous-catégories lancer des nouveautés en premier. Un simulateur de scénarios. Et un plan d'essais : quels magasins ou produits tester, et combien de temps.
Deux tableaux de bord reprendront ces résultats, l'un dans Power BI, l'autre en application Streamlit, avec les mêmes quatre pages.
Et trois précautions. Prévoir n'est pas simuler : un modèle prévoira les ventes, mais il ne dira pas ce qui se passerait si l'on changeait la publicité ou les promotions. Avec trois exercices, chaque prévision sera comparée à une référence naïve. Et nous raisonnerons sur les charges de personnel, pas sur le nombre d'employés.</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 Yacine Lezoul
Pour conclure en une phrase : les premiers leviers sont l'assortiment et les charges ; les promotions, les remises et les retours viennent ensuite.
Merci de votre attention. Toute l'équipe est prête à répondre à vos questions.</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2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2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2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2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32E"/>
        </a:solidFill>
        <a:effectLst/>
      </p:bgPr>
    </p:bg>
    <p:spTree>
      <p:nvGrpSpPr>
        <p:cNvPr id="1" name=""/>
        <p:cNvGrpSpPr/>
        <p:nvPr/>
      </p:nvGrpSpPr>
      <p:grpSpPr>
        <a:xfrm>
          <a:off x="0" y="0"/>
          <a:ext cx="0" cy="0"/>
          <a:chOff x="0" y="0"/>
          <a:chExt cx="0" cy="0"/>
        </a:xfrm>
      </p:grpSpPr>
      <p:sp>
        <p:nvSpPr>
          <p:cNvPr id="2" name="Text 0"/>
          <p:cNvSpPr/>
          <p:nvPr/>
        </p:nvSpPr>
        <p:spPr>
          <a:xfrm>
            <a:off x="731520" y="1188720"/>
            <a:ext cx="10058400" cy="365760"/>
          </a:xfrm>
          <a:prstGeom prst="rect">
            <a:avLst/>
          </a:prstGeom>
          <a:noFill/>
          <a:ln/>
        </p:spPr>
        <p:txBody>
          <a:bodyPr wrap="square" lIns="0" tIns="0" rIns="0" bIns="0" rtlCol="0" anchor="ctr"/>
          <a:lstStyle/>
          <a:p>
            <a:pPr marL="0" indent="0">
              <a:buNone/>
            </a:pPr>
            <a:r>
              <a:rPr lang="en-US" sz="1400" b="1" kern="0" spc="100" dirty="0">
                <a:solidFill>
                  <a:srgbClr val="E9A23B"/>
                </a:solidFill>
                <a:latin typeface="Calibri" pitchFamily="34" charset="0"/>
                <a:ea typeface="Calibri" pitchFamily="34" charset="-122"/>
                <a:cs typeface="Calibri" pitchFamily="34" charset="-120"/>
              </a:rPr>
              <a:t>PROJET 4 · UNITÉ D'APPRENTISSAGE 2</a:t>
            </a:r>
            <a:endParaRPr lang="en-US" sz="1400" dirty="0"/>
          </a:p>
        </p:txBody>
      </p:sp>
      <p:sp>
        <p:nvSpPr>
          <p:cNvPr id="3" name="Text 1"/>
          <p:cNvSpPr/>
          <p:nvPr/>
        </p:nvSpPr>
        <p:spPr>
          <a:xfrm>
            <a:off x="731520" y="1691640"/>
            <a:ext cx="1078992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Du brut au propre, du propre aux réponses</a:t>
            </a:r>
            <a:endParaRPr lang="en-US" sz="4400" dirty="0"/>
          </a:p>
        </p:txBody>
      </p:sp>
      <p:sp>
        <p:nvSpPr>
          <p:cNvPr id="4" name="Text 2"/>
          <p:cNvSpPr/>
          <p:nvPr/>
        </p:nvSpPr>
        <p:spPr>
          <a:xfrm>
            <a:off x="731520" y="2743200"/>
            <a:ext cx="10789920" cy="457200"/>
          </a:xfrm>
          <a:prstGeom prst="rect">
            <a:avLst/>
          </a:prstGeom>
          <a:noFill/>
          <a:ln/>
        </p:spPr>
        <p:txBody>
          <a:bodyPr wrap="square" lIns="0" tIns="0" rIns="0" bIns="0" rtlCol="0" anchor="ctr"/>
          <a:lstStyle/>
          <a:p>
            <a:pPr marL="0" indent="0">
              <a:buNone/>
            </a:pPr>
            <a:r>
              <a:rPr lang="en-US" sz="2000" dirty="0">
                <a:solidFill>
                  <a:srgbClr val="CFE0DA"/>
                </a:solidFill>
                <a:latin typeface="Calibri" pitchFamily="34" charset="0"/>
                <a:ea typeface="Calibri" pitchFamily="34" charset="-122"/>
                <a:cs typeface="Calibri" pitchFamily="34" charset="-120"/>
              </a:rPr>
              <a:t>Diagnostic, nettoyage et analyse des données de vente et de retours · Livrables 3 et 4</a:t>
            </a:r>
            <a:endParaRPr lang="en-US" sz="2000" dirty="0"/>
          </a:p>
        </p:txBody>
      </p:sp>
      <p:sp>
        <p:nvSpPr>
          <p:cNvPr id="5" name="Text 3"/>
          <p:cNvSpPr/>
          <p:nvPr/>
        </p:nvSpPr>
        <p:spPr>
          <a:xfrm>
            <a:off x="731520" y="4114800"/>
            <a:ext cx="10789920" cy="73152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Yacine Lezoul (Product Owner) · Achraf Chihab (Scrum Master)</a:t>
            </a:r>
            <a:endParaRPr lang="en-US" sz="1500" dirty="0"/>
          </a:p>
          <a:p>
            <a:pPr marL="0" indent="0">
              <a:buNone/>
            </a:pPr>
            <a:r>
              <a:rPr lang="en-US" sz="1500" dirty="0">
                <a:solidFill>
                  <a:srgbClr val="FFFFFF"/>
                </a:solidFill>
                <a:latin typeface="Calibri" pitchFamily="34" charset="0"/>
                <a:ea typeface="Calibri" pitchFamily="34" charset="-122"/>
                <a:cs typeface="Calibri" pitchFamily="34" charset="-120"/>
              </a:rPr>
              <a:t>Barnabe Landry Evouna · Mouncif Bouchachi</a:t>
            </a:r>
            <a:endParaRPr lang="en-US" sz="1500" dirty="0"/>
          </a:p>
        </p:txBody>
      </p:sp>
      <p:sp>
        <p:nvSpPr>
          <p:cNvPr id="6" name="Text 4"/>
          <p:cNvSpPr/>
          <p:nvPr/>
        </p:nvSpPr>
        <p:spPr>
          <a:xfrm>
            <a:off x="731520" y="5852160"/>
            <a:ext cx="10789920" cy="320040"/>
          </a:xfrm>
          <a:prstGeom prst="rect">
            <a:avLst/>
          </a:prstGeom>
          <a:noFill/>
          <a:ln/>
        </p:spPr>
        <p:txBody>
          <a:bodyPr wrap="square" lIns="0" tIns="0" rIns="0" bIns="0" rtlCol="0" anchor="ctr"/>
          <a:lstStyle/>
          <a:p>
            <a:pPr marL="0" indent="0">
              <a:buNone/>
            </a:pPr>
            <a:r>
              <a:rPr lang="en-US" sz="1300" dirty="0">
                <a:solidFill>
                  <a:srgbClr val="9DB8AF"/>
                </a:solidFill>
                <a:latin typeface="Calibri" pitchFamily="34" charset="0"/>
                <a:ea typeface="Calibri" pitchFamily="34" charset="-122"/>
                <a:cs typeface="Calibri" pitchFamily="34" charset="-120"/>
              </a:rPr>
              <a:t>Cours : Projet analyse de données · Professeur : Tinninnan Soro · Science des données appliquées, Collège La Cité · octobre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Achraf Chihab</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1 · DONNÉES, ÉTAT DES LIEUX ET NETTOYAGE</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Cinq questions, cinq blocs, trois exercices</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Achraf Chihab</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2</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212080" cy="3621024"/>
        </p:xfrm>
        <a:graphic>
          <a:graphicData uri="http://schemas.openxmlformats.org/drawingml/2006/table">
            <a:tbl>
              <a:tblPr/>
              <a:tblGrid>
                <a:gridCol w="521208">
                  <a:extLst>
                    <a:ext uri="{9D8B030D-6E8A-4147-A177-3AD203B41FA5}">
                      <a16:colId xmlns:a16="http://schemas.microsoft.com/office/drawing/2014/main" val="20000"/>
                    </a:ext>
                  </a:extLst>
                </a:gridCol>
                <a:gridCol w="4690872">
                  <a:extLst>
                    <a:ext uri="{9D8B030D-6E8A-4147-A177-3AD203B41FA5}">
                      <a16:colId xmlns:a16="http://schemas.microsoft.com/office/drawing/2014/main" val="20001"/>
                    </a:ext>
                  </a:extLst>
                </a:gridCol>
              </a:tblGrid>
              <a:tr h="603504">
                <a:tc>
                  <a:txBody>
                    <a:bodyPr/>
                    <a:lstStyle/>
                    <a:p>
                      <a:pPr marL="0" indent="0" algn="l">
                        <a:buNone/>
                      </a:pP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Question de recherche</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603504">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Q1</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Quels sont les facteurs déterminants de la performance des ventes (boutique, produit, promotion)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3504">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Q2</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Quel est l'effet des promotions sur les ventes, et à quel coût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603504">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Q3</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Quels sont les patterns de retour de produits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03504">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Q4</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Existe-t-il une corrélation entre les remises et le taux de retour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4"/>
                  </a:ext>
                </a:extLst>
              </a:tr>
              <a:tr h="603504">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Q5</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Quels niveaux de remise maximisent la marge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10" name="Table 1"/>
          <p:cNvGraphicFramePr>
            <a:graphicFrameLocks noGrp="1"/>
          </p:cNvGraphicFramePr>
          <p:nvPr>
            <p:extLst>
              <p:ext uri="{D42A27DB-BD31-4B8C-83A1-F6EECF244321}">
                <p14:modId xmlns:p14="http://schemas.microsoft.com/office/powerpoint/2010/main" val="1579011935"/>
              </p:ext>
            </p:extLst>
          </p:nvPr>
        </p:nvGraphicFramePr>
        <p:xfrm>
          <a:off x="5989320" y="1463040"/>
          <a:ext cx="5623560" cy="3621024"/>
        </p:xfrm>
        <a:graphic>
          <a:graphicData uri="http://schemas.openxmlformats.org/drawingml/2006/table">
            <a:tbl>
              <a:tblPr/>
              <a:tblGrid>
                <a:gridCol w="505663">
                  <a:extLst>
                    <a:ext uri="{9D8B030D-6E8A-4147-A177-3AD203B41FA5}">
                      <a16:colId xmlns:a16="http://schemas.microsoft.com/office/drawing/2014/main" val="20000"/>
                    </a:ext>
                  </a:extLst>
                </a:gridCol>
                <a:gridCol w="3374136">
                  <a:extLst>
                    <a:ext uri="{9D8B030D-6E8A-4147-A177-3AD203B41FA5}">
                      <a16:colId xmlns:a16="http://schemas.microsoft.com/office/drawing/2014/main" val="20001"/>
                    </a:ext>
                  </a:extLst>
                </a:gridCol>
                <a:gridCol w="1743761">
                  <a:extLst>
                    <a:ext uri="{9D8B030D-6E8A-4147-A177-3AD203B41FA5}">
                      <a16:colId xmlns:a16="http://schemas.microsoft.com/office/drawing/2014/main" val="20002"/>
                    </a:ext>
                  </a:extLst>
                </a:gridCol>
              </a:tblGrid>
              <a:tr h="603504">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Bloc</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Contenu</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Orateur</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603504">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Données, état des lieux, nettoyage</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Achraf Chihab</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3504">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Q1 : pourquoi les ventes ont chuté</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Barnabe Landry Evouna</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603504">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Q1 : facteurs et rentabilité après charges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Yacine Lezoul</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03504">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Q2 et Q5 promotions et remises, Q3 et Q4 retours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Mouncif Bouchachi</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4"/>
                  </a:ext>
                </a:extLst>
              </a:tr>
              <a:tr h="603504">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Synthèse, recommandations et suite</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Yacine Lezoul</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2" name="Shape 7"/>
          <p:cNvSpPr/>
          <p:nvPr/>
        </p:nvSpPr>
        <p:spPr>
          <a:xfrm>
            <a:off x="548640" y="5440680"/>
            <a:ext cx="11064240" cy="548640"/>
          </a:xfrm>
          <a:prstGeom prst="rect">
            <a:avLst/>
          </a:prstGeom>
          <a:solidFill>
            <a:srgbClr val="EAF2EF"/>
          </a:solidFill>
          <a:ln w="12700">
            <a:solidFill>
              <a:srgbClr val="EAF2EF"/>
            </a:solidFill>
            <a:prstDash val="solid"/>
          </a:ln>
        </p:spPr>
        <p:txBody>
          <a:bodyPr/>
          <a:lstStyle/>
          <a:p>
            <a:endParaRPr lang="en-US"/>
          </a:p>
        </p:txBody>
      </p:sp>
      <p:sp>
        <p:nvSpPr>
          <p:cNvPr id="13" name="Shape 8"/>
          <p:cNvSpPr/>
          <p:nvPr/>
        </p:nvSpPr>
        <p:spPr>
          <a:xfrm>
            <a:off x="548640" y="5440680"/>
            <a:ext cx="73152" cy="548640"/>
          </a:xfrm>
          <a:prstGeom prst="rect">
            <a:avLst/>
          </a:prstGeom>
          <a:solidFill>
            <a:srgbClr val="E9A23B"/>
          </a:solidFill>
          <a:ln w="12700">
            <a:solidFill>
              <a:srgbClr val="E9A23B"/>
            </a:solidFill>
            <a:prstDash val="solid"/>
          </a:ln>
        </p:spPr>
        <p:txBody>
          <a:bodyPr/>
          <a:lstStyle/>
          <a:p>
            <a:endParaRPr lang="en-US"/>
          </a:p>
        </p:txBody>
      </p:sp>
      <p:sp>
        <p:nvSpPr>
          <p:cNvPr id="14" name="Text 9"/>
          <p:cNvSpPr/>
          <p:nvPr/>
        </p:nvSpPr>
        <p:spPr>
          <a:xfrm>
            <a:off x="777240" y="5440680"/>
            <a:ext cx="10698480" cy="548640"/>
          </a:xfrm>
          <a:prstGeom prst="rect">
            <a:avLst/>
          </a:prstGeom>
          <a:noFill/>
          <a:ln/>
        </p:spPr>
        <p:txBody>
          <a:bodyPr wrap="square" lIns="0" tIns="0" rIns="0" bIns="0" rtlCol="0" anchor="ctr"/>
          <a:lstStyle/>
          <a:p>
            <a:pPr marL="0" indent="0">
              <a:buNone/>
            </a:pPr>
            <a:r>
              <a:rPr lang="en-US" sz="1500" b="1" dirty="0">
                <a:solidFill>
                  <a:srgbClr val="17332E"/>
                </a:solidFill>
                <a:latin typeface="Calibri" pitchFamily="34" charset="0"/>
                <a:ea typeface="Calibri" pitchFamily="34" charset="-122"/>
                <a:cs typeface="Calibri" pitchFamily="34" charset="-120"/>
              </a:rPr>
              <a:t>Trois exercices</a:t>
            </a:r>
            <a:r>
              <a:rPr lang="en-US" sz="1500" dirty="0">
                <a:solidFill>
                  <a:srgbClr val="17332E"/>
                </a:solidFill>
                <a:latin typeface="Calibri" pitchFamily="34" charset="0"/>
                <a:ea typeface="Calibri" pitchFamily="34" charset="-122"/>
                <a:cs typeface="Calibri" pitchFamily="34" charset="-120"/>
              </a:rPr>
              <a:t> : 2019, référence · 2020, bascule · </a:t>
            </a:r>
            <a:r>
              <a:rPr lang="en-US" sz="1500" b="1" dirty="0">
                <a:solidFill>
                  <a:srgbClr val="17332E"/>
                </a:solidFill>
                <a:latin typeface="Calibri" pitchFamily="34" charset="0"/>
                <a:ea typeface="Calibri" pitchFamily="34" charset="-122"/>
                <a:cs typeface="Calibri" pitchFamily="34" charset="-120"/>
              </a:rPr>
              <a:t>2021, l'exercice étudié</a:t>
            </a:r>
            <a:r>
              <a:rPr lang="en-US" sz="1500" dirty="0">
                <a:solidFill>
                  <a:srgbClr val="17332E"/>
                </a:solidFill>
                <a:latin typeface="Calibri" pitchFamily="34" charset="0"/>
                <a:ea typeface="Calibri" pitchFamily="34" charset="-122"/>
                <a:cs typeface="Calibri" pitchFamily="34" charset="-120"/>
              </a:rPr>
              <a:t>. Prédictif et prescriptif : prochaine présentation.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Achraf Chihab</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1 · DONNÉES, ÉTAT DES LIEUX ET NETTOYAGE</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Les ventes complètes et l'exercice 2019 : de 144 874 à 715 291 lignes</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Achraf Chihab</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3</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4572000" cy="1152144"/>
        </p:xfrm>
        <a:graphic>
          <a:graphicData uri="http://schemas.openxmlformats.org/drawingml/2006/table">
            <a:tbl>
              <a:tblPr/>
              <a:tblGrid>
                <a:gridCol w="15544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384048">
                <a:tc>
                  <a:txBody>
                    <a:bodyPr/>
                    <a:lstStyle/>
                    <a:p>
                      <a:pPr marL="0" indent="0" algn="l">
                        <a:buNone/>
                      </a:pP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2019</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2020</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2021</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384048">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Lignes de vente</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339 057</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207 700</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168 534</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CA brut</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959,6 M$</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769,2 M$</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697,4 M$</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bl>
          </a:graphicData>
        </a:graphic>
      </p:graphicFrame>
      <p:sp>
        <p:nvSpPr>
          <p:cNvPr id="11" name="Shape 7"/>
          <p:cNvSpPr/>
          <p:nvPr/>
        </p:nvSpPr>
        <p:spPr>
          <a:xfrm>
            <a:off x="548640" y="2788920"/>
            <a:ext cx="4572000" cy="2697480"/>
          </a:xfrm>
          <a:prstGeom prst="rect">
            <a:avLst/>
          </a:prstGeom>
          <a:solidFill>
            <a:srgbClr val="EAF2EF"/>
          </a:solidFill>
          <a:ln w="9525">
            <a:solidFill>
              <a:srgbClr val="CFE0DA"/>
            </a:solidFill>
            <a:prstDash val="solid"/>
          </a:ln>
        </p:spPr>
        <p:txBody>
          <a:bodyPr/>
          <a:lstStyle/>
          <a:p>
            <a:endParaRPr lang="en-US"/>
          </a:p>
        </p:txBody>
      </p:sp>
      <p:sp>
        <p:nvSpPr>
          <p:cNvPr id="12" name="Text 8"/>
          <p:cNvSpPr/>
          <p:nvPr/>
        </p:nvSpPr>
        <p:spPr>
          <a:xfrm>
            <a:off x="731520" y="2898648"/>
            <a:ext cx="4206240" cy="411480"/>
          </a:xfrm>
          <a:prstGeom prst="rect">
            <a:avLst/>
          </a:prstGeom>
          <a:noFill/>
          <a:ln/>
        </p:spPr>
        <p:txBody>
          <a:bodyPr wrap="square" lIns="0" tIns="0" rIns="0" bIns="0" rtlCol="0" anchor="ctr"/>
          <a:lstStyle/>
          <a:p>
            <a:pPr marL="0" indent="0">
              <a:buNone/>
            </a:pPr>
            <a:r>
              <a:rPr lang="en-US" sz="1700" b="1" dirty="0">
                <a:solidFill>
                  <a:srgbClr val="17332E"/>
                </a:solidFill>
                <a:latin typeface="Cambria" pitchFamily="34" charset="0"/>
                <a:ea typeface="Cambria" pitchFamily="34" charset="-122"/>
                <a:cs typeface="Cambria" pitchFamily="34" charset="-120"/>
              </a:rPr>
              <a:t>Fichiers fournis : un sous-périmètre</a:t>
            </a:r>
            <a:endParaRPr lang="en-US" sz="1700" dirty="0"/>
          </a:p>
        </p:txBody>
      </p:sp>
      <p:sp>
        <p:nvSpPr>
          <p:cNvPr id="13" name="Text 9"/>
          <p:cNvSpPr/>
          <p:nvPr/>
        </p:nvSpPr>
        <p:spPr>
          <a:xfrm>
            <a:off x="731520" y="3383280"/>
            <a:ext cx="4206240" cy="2011680"/>
          </a:xfrm>
          <a:prstGeom prst="rect">
            <a:avLst/>
          </a:prstGeom>
          <a:noFill/>
          <a:ln/>
        </p:spPr>
        <p:txBody>
          <a:bodyPr wrap="square" lIns="0" tIns="0" rIns="0" bIns="0" rtlCol="0" anchor="t"/>
          <a:lstStyle/>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b="1" dirty="0">
                <a:solidFill>
                  <a:srgbClr val="1F2A28"/>
                </a:solidFill>
                <a:latin typeface="Calibri" pitchFamily="34" charset="0"/>
                <a:ea typeface="Calibri" pitchFamily="34" charset="-122"/>
                <a:cs typeface="Calibri" pitchFamily="34" charset="-120"/>
              </a:rPr>
              <a:t>5</a:t>
            </a:r>
            <a:r>
              <a:rPr lang="en-US" sz="1300" dirty="0">
                <a:solidFill>
                  <a:srgbClr val="1F2A28"/>
                </a:solidFill>
                <a:latin typeface="Calibri" pitchFamily="34" charset="0"/>
                <a:ea typeface="Calibri" pitchFamily="34" charset="-122"/>
                <a:cs typeface="Calibri" pitchFamily="34" charset="-120"/>
              </a:rPr>
              <a:t> catégories sur 8, trimestres </a:t>
            </a:r>
            <a:r>
              <a:rPr lang="en-US" sz="1300" b="1" dirty="0">
                <a:solidFill>
                  <a:srgbClr val="1F2A28"/>
                </a:solidFill>
                <a:latin typeface="Calibri" pitchFamily="34" charset="0"/>
                <a:ea typeface="Calibri" pitchFamily="34" charset="-122"/>
                <a:cs typeface="Calibri" pitchFamily="34" charset="-120"/>
              </a:rPr>
              <a:t>1 à 3</a:t>
            </a:r>
            <a:r>
              <a:rPr lang="en-US" sz="1300" dirty="0">
                <a:solidFill>
                  <a:srgbClr val="1F2A28"/>
                </a:solidFill>
                <a:latin typeface="Calibri" pitchFamily="34" charset="0"/>
                <a:ea typeface="Calibri" pitchFamily="34" charset="-122"/>
                <a:cs typeface="Calibri" pitchFamily="34" charset="-120"/>
              </a:rPr>
              <a:t> seulement</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Couvraient </a:t>
            </a:r>
            <a:r>
              <a:rPr lang="en-US" sz="1300" b="1" dirty="0">
                <a:solidFill>
                  <a:srgbClr val="1F2A28"/>
                </a:solidFill>
                <a:latin typeface="Calibri" pitchFamily="34" charset="0"/>
                <a:ea typeface="Calibri" pitchFamily="34" charset="-122"/>
                <a:cs typeface="Calibri" pitchFamily="34" charset="-120"/>
              </a:rPr>
              <a:t>37 %</a:t>
            </a:r>
            <a:r>
              <a:rPr lang="en-US" sz="1300" dirty="0">
                <a:solidFill>
                  <a:srgbClr val="1F2A28"/>
                </a:solidFill>
                <a:latin typeface="Calibri" pitchFamily="34" charset="0"/>
                <a:ea typeface="Calibri" pitchFamily="34" charset="-122"/>
                <a:cs typeface="Calibri" pitchFamily="34" charset="-120"/>
              </a:rPr>
              <a:t> du CA de 2020 et 2021</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Home Appliances (32,7 % du CA) absente</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Les 144 874 lignes se retrouvent à l'identique</a:t>
            </a:r>
            <a:endParaRPr lang="en-US" sz="1300" dirty="0"/>
          </a:p>
        </p:txBody>
      </p:sp>
      <p:pic>
        <p:nvPicPr>
          <p:cNvPr id="14" name="Image 0" descr="/tmp/claude-0/complet/reports/figures/00_ca_mensuel.png"/>
          <p:cNvPicPr>
            <a:picLocks noChangeAspect="1"/>
          </p:cNvPicPr>
          <p:nvPr/>
        </p:nvPicPr>
        <p:blipFill>
          <a:blip r:embed="rId3"/>
          <a:stretch>
            <a:fillRect/>
          </a:stretch>
        </p:blipFill>
        <p:spPr>
          <a:xfrm>
            <a:off x="5349240" y="2104460"/>
            <a:ext cx="6263640" cy="2740519"/>
          </a:xfrm>
          <a:prstGeom prst="rect">
            <a:avLst/>
          </a:prstGeom>
        </p:spPr>
      </p:pic>
      <p:sp>
        <p:nvSpPr>
          <p:cNvPr id="15" name="Shape 10"/>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6" name="Shape 11"/>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17" name="Text 12"/>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Périmètre : </a:t>
            </a:r>
            <a:r>
              <a:rPr lang="en-US" sz="1500" b="1" dirty="0">
                <a:solidFill>
                  <a:srgbClr val="17332E"/>
                </a:solidFill>
                <a:latin typeface="Calibri" pitchFamily="34" charset="0"/>
                <a:ea typeface="Calibri" pitchFamily="34" charset="-122"/>
                <a:cs typeface="Calibri" pitchFamily="34" charset="-120"/>
              </a:rPr>
              <a:t>715 291 lignes</a:t>
            </a:r>
            <a:r>
              <a:rPr lang="en-US" sz="1500" dirty="0">
                <a:solidFill>
                  <a:srgbClr val="17332E"/>
                </a:solidFill>
                <a:latin typeface="Calibri" pitchFamily="34" charset="0"/>
                <a:ea typeface="Calibri" pitchFamily="34" charset="-122"/>
                <a:cs typeface="Calibri" pitchFamily="34" charset="-120"/>
              </a:rPr>
              <a:t>, 56 boutiques, 17 pays, 2 516 produits, 1 096 jours, </a:t>
            </a:r>
            <a:r>
              <a:rPr lang="en-US" sz="1500" b="1" dirty="0">
                <a:solidFill>
                  <a:srgbClr val="17332E"/>
                </a:solidFill>
                <a:latin typeface="Calibri" pitchFamily="34" charset="0"/>
                <a:ea typeface="Calibri" pitchFamily="34" charset="-122"/>
                <a:cs typeface="Calibri" pitchFamily="34" charset="-120"/>
              </a:rPr>
              <a:t>2 426,1 M$</a:t>
            </a:r>
            <a:r>
              <a:rPr lang="en-US" sz="1500" dirty="0">
                <a:solidFill>
                  <a:srgbClr val="17332E"/>
                </a:solidFill>
                <a:latin typeface="Calibri" pitchFamily="34" charset="0"/>
                <a:ea typeface="Calibri" pitchFamily="34" charset="-122"/>
                <a:cs typeface="Calibri" pitchFamily="34" charset="-120"/>
              </a:rPr>
              <a:t> de CA brut.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Achraf Chihab</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1 · DONNÉES, ÉTAT DES LIEUX ET NETTOYAGE</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Trois autres tables de faits, et le contexte de chaque vente</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Achraf Chihab</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4</a:t>
            </a:r>
            <a:endParaRPr lang="en-US" sz="1000" dirty="0"/>
          </a:p>
        </p:txBody>
      </p:sp>
      <p:sp>
        <p:nvSpPr>
          <p:cNvPr id="10" name="Shape 7"/>
          <p:cNvSpPr/>
          <p:nvPr/>
        </p:nvSpPr>
        <p:spPr>
          <a:xfrm>
            <a:off x="548640" y="1463040"/>
            <a:ext cx="2633472" cy="4023360"/>
          </a:xfrm>
          <a:prstGeom prst="rect">
            <a:avLst/>
          </a:prstGeom>
          <a:solidFill>
            <a:srgbClr val="EAF2EF"/>
          </a:solidFill>
          <a:ln w="9525">
            <a:solidFill>
              <a:srgbClr val="CFE0DA"/>
            </a:solidFill>
            <a:prstDash val="solid"/>
          </a:ln>
        </p:spPr>
        <p:txBody>
          <a:bodyPr/>
          <a:lstStyle/>
          <a:p>
            <a:endParaRPr lang="en-US"/>
          </a:p>
        </p:txBody>
      </p:sp>
      <p:sp>
        <p:nvSpPr>
          <p:cNvPr id="11" name="Text 8"/>
          <p:cNvSpPr/>
          <p:nvPr/>
        </p:nvSpPr>
        <p:spPr>
          <a:xfrm>
            <a:off x="731520" y="1572768"/>
            <a:ext cx="2267712" cy="411480"/>
          </a:xfrm>
          <a:prstGeom prst="rect">
            <a:avLst/>
          </a:prstGeom>
          <a:noFill/>
          <a:ln/>
        </p:spPr>
        <p:txBody>
          <a:bodyPr wrap="square" lIns="0" tIns="0" rIns="0" bIns="0" rtlCol="0" anchor="ctr"/>
          <a:lstStyle/>
          <a:p>
            <a:pPr marL="0" indent="0">
              <a:buNone/>
            </a:pPr>
            <a:r>
              <a:rPr lang="en-US" sz="1600" b="1" dirty="0">
                <a:solidFill>
                  <a:srgbClr val="17332E"/>
                </a:solidFill>
                <a:latin typeface="Cambria" pitchFamily="34" charset="0"/>
                <a:ea typeface="Cambria" pitchFamily="34" charset="-122"/>
                <a:cs typeface="Cambria" pitchFamily="34" charset="-120"/>
              </a:rPr>
              <a:t>Charges</a:t>
            </a:r>
            <a:endParaRPr lang="en-US" sz="1600" dirty="0"/>
          </a:p>
        </p:txBody>
      </p:sp>
      <p:sp>
        <p:nvSpPr>
          <p:cNvPr id="12" name="Text 9"/>
          <p:cNvSpPr/>
          <p:nvPr/>
        </p:nvSpPr>
        <p:spPr>
          <a:xfrm>
            <a:off x="731520" y="2057400"/>
            <a:ext cx="2267712" cy="3337560"/>
          </a:xfrm>
          <a:prstGeom prst="rect">
            <a:avLst/>
          </a:prstGeom>
          <a:noFill/>
          <a:ln/>
        </p:spPr>
        <p:txBody>
          <a:bodyPr wrap="square" lIns="0" tIns="0" rIns="0" bIns="0" rtlCol="0" anchor="t"/>
          <a:lstStyle/>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Plan stratégique : </a:t>
            </a:r>
            <a:r>
              <a:rPr lang="en-US" sz="1300" b="1" dirty="0">
                <a:solidFill>
                  <a:srgbClr val="1F2A28"/>
                </a:solidFill>
                <a:latin typeface="Calibri" pitchFamily="34" charset="0"/>
                <a:ea typeface="Calibri" pitchFamily="34" charset="-122"/>
                <a:cs typeface="Calibri" pitchFamily="34" charset="-120"/>
              </a:rPr>
              <a:t>533 370</a:t>
            </a:r>
            <a:r>
              <a:rPr lang="en-US" sz="1300" dirty="0">
                <a:solidFill>
                  <a:srgbClr val="1F2A28"/>
                </a:solidFill>
                <a:latin typeface="Calibri" pitchFamily="34" charset="0"/>
                <a:ea typeface="Calibri" pitchFamily="34" charset="-122"/>
                <a:cs typeface="Calibri" pitchFamily="34" charset="-120"/>
              </a:rPr>
              <a:t> lignes</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Frais généraux, publicité, impôts, par boutique et par mois</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Ventes égales aux nôtres </a:t>
            </a:r>
            <a:r>
              <a:rPr lang="en-US" sz="1300" b="1" dirty="0">
                <a:solidFill>
                  <a:srgbClr val="1F2A28"/>
                </a:solidFill>
                <a:latin typeface="Calibri" pitchFamily="34" charset="0"/>
                <a:ea typeface="Calibri" pitchFamily="34" charset="-122"/>
                <a:cs typeface="Calibri" pitchFamily="34" charset="-120"/>
              </a:rPr>
              <a:t>au cent près</a:t>
            </a:r>
            <a:endParaRPr lang="en-US" sz="1300" dirty="0"/>
          </a:p>
        </p:txBody>
      </p:sp>
      <p:sp>
        <p:nvSpPr>
          <p:cNvPr id="13" name="Shape 10"/>
          <p:cNvSpPr/>
          <p:nvPr/>
        </p:nvSpPr>
        <p:spPr>
          <a:xfrm>
            <a:off x="3355848" y="1463040"/>
            <a:ext cx="2633472" cy="4023360"/>
          </a:xfrm>
          <a:prstGeom prst="rect">
            <a:avLst/>
          </a:prstGeom>
          <a:solidFill>
            <a:srgbClr val="EAF2EF"/>
          </a:solidFill>
          <a:ln w="9525">
            <a:solidFill>
              <a:srgbClr val="CFE0DA"/>
            </a:solidFill>
            <a:prstDash val="solid"/>
          </a:ln>
        </p:spPr>
        <p:txBody>
          <a:bodyPr/>
          <a:lstStyle/>
          <a:p>
            <a:endParaRPr lang="en-US"/>
          </a:p>
        </p:txBody>
      </p:sp>
      <p:sp>
        <p:nvSpPr>
          <p:cNvPr id="14" name="Text 11"/>
          <p:cNvSpPr/>
          <p:nvPr/>
        </p:nvSpPr>
        <p:spPr>
          <a:xfrm>
            <a:off x="3538728" y="1572768"/>
            <a:ext cx="2267712" cy="411480"/>
          </a:xfrm>
          <a:prstGeom prst="rect">
            <a:avLst/>
          </a:prstGeom>
          <a:noFill/>
          <a:ln/>
        </p:spPr>
        <p:txBody>
          <a:bodyPr wrap="square" lIns="0" tIns="0" rIns="0" bIns="0" rtlCol="0" anchor="ctr"/>
          <a:lstStyle/>
          <a:p>
            <a:pPr marL="0" indent="0">
              <a:buNone/>
            </a:pPr>
            <a:r>
              <a:rPr lang="en-US" sz="1600" b="1" dirty="0">
                <a:solidFill>
                  <a:srgbClr val="17332E"/>
                </a:solidFill>
                <a:latin typeface="Cambria" pitchFamily="34" charset="0"/>
                <a:ea typeface="Cambria" pitchFamily="34" charset="-122"/>
                <a:cs typeface="Cambria" pitchFamily="34" charset="-120"/>
              </a:rPr>
              <a:t>Stock</a:t>
            </a:r>
            <a:endParaRPr lang="en-US" sz="1600" dirty="0"/>
          </a:p>
        </p:txBody>
      </p:sp>
      <p:sp>
        <p:nvSpPr>
          <p:cNvPr id="15" name="Text 12"/>
          <p:cNvSpPr/>
          <p:nvPr/>
        </p:nvSpPr>
        <p:spPr>
          <a:xfrm>
            <a:off x="3538728" y="2057400"/>
            <a:ext cx="2267712" cy="3337560"/>
          </a:xfrm>
          <a:prstGeom prst="rect">
            <a:avLst/>
          </a:prstGeom>
          <a:noFill/>
          <a:ln/>
        </p:spPr>
        <p:txBody>
          <a:bodyPr wrap="square" lIns="0" tIns="0" rIns="0" bIns="0" rtlCol="0" anchor="t"/>
          <a:lstStyle/>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b="1" dirty="0">
                <a:solidFill>
                  <a:srgbClr val="1F2A28"/>
                </a:solidFill>
                <a:latin typeface="Calibri" pitchFamily="34" charset="0"/>
                <a:ea typeface="Calibri" pitchFamily="34" charset="-122"/>
                <a:cs typeface="Calibri" pitchFamily="34" charset="-120"/>
              </a:rPr>
              <a:t>1 517 688</a:t>
            </a:r>
            <a:r>
              <a:rPr lang="en-US" sz="1300" dirty="0">
                <a:solidFill>
                  <a:srgbClr val="1F2A28"/>
                </a:solidFill>
                <a:latin typeface="Calibri" pitchFamily="34" charset="0"/>
                <a:ea typeface="Calibri" pitchFamily="34" charset="-122"/>
                <a:cs typeface="Calibri" pitchFamily="34" charset="-120"/>
              </a:rPr>
              <a:t> relevés du dimanche</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Relevé </a:t>
            </a:r>
            <a:r>
              <a:rPr lang="en-US" sz="1300" b="1" dirty="0">
                <a:solidFill>
                  <a:srgbClr val="1F2A28"/>
                </a:solidFill>
                <a:latin typeface="Calibri" pitchFamily="34" charset="0"/>
                <a:ea typeface="Calibri" pitchFamily="34" charset="-122"/>
                <a:cs typeface="Calibri" pitchFamily="34" charset="-120"/>
              </a:rPr>
              <a:t>partiel</a:t>
            </a:r>
            <a:r>
              <a:rPr lang="en-US" sz="1300" dirty="0">
                <a:solidFill>
                  <a:srgbClr val="1F2A28"/>
                </a:solidFill>
                <a:latin typeface="Calibri" pitchFamily="34" charset="0"/>
                <a:ea typeface="Calibri" pitchFamily="34" charset="-122"/>
                <a:cs typeface="Calibri" pitchFamily="34" charset="-120"/>
              </a:rPr>
              <a:t> : 27,3 % des couples vendus en 2021 sans aucun relevé</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Prouve une présence, jamais une absence</a:t>
            </a:r>
            <a:endParaRPr lang="en-US" sz="1300" dirty="0"/>
          </a:p>
        </p:txBody>
      </p:sp>
      <p:sp>
        <p:nvSpPr>
          <p:cNvPr id="16" name="Shape 13"/>
          <p:cNvSpPr/>
          <p:nvPr/>
        </p:nvSpPr>
        <p:spPr>
          <a:xfrm>
            <a:off x="6163056" y="1463040"/>
            <a:ext cx="2633472" cy="4023360"/>
          </a:xfrm>
          <a:prstGeom prst="rect">
            <a:avLst/>
          </a:prstGeom>
          <a:solidFill>
            <a:srgbClr val="EAF2EF"/>
          </a:solidFill>
          <a:ln w="9525">
            <a:solidFill>
              <a:srgbClr val="CFE0DA"/>
            </a:solidFill>
            <a:prstDash val="solid"/>
          </a:ln>
        </p:spPr>
        <p:txBody>
          <a:bodyPr/>
          <a:lstStyle/>
          <a:p>
            <a:endParaRPr lang="en-US"/>
          </a:p>
        </p:txBody>
      </p:sp>
      <p:sp>
        <p:nvSpPr>
          <p:cNvPr id="17" name="Text 14"/>
          <p:cNvSpPr/>
          <p:nvPr/>
        </p:nvSpPr>
        <p:spPr>
          <a:xfrm>
            <a:off x="6345936" y="1572768"/>
            <a:ext cx="2267712" cy="411480"/>
          </a:xfrm>
          <a:prstGeom prst="rect">
            <a:avLst/>
          </a:prstGeom>
          <a:noFill/>
          <a:ln/>
        </p:spPr>
        <p:txBody>
          <a:bodyPr wrap="square" lIns="0" tIns="0" rIns="0" bIns="0" rtlCol="0" anchor="ctr"/>
          <a:lstStyle/>
          <a:p>
            <a:pPr marL="0" indent="0">
              <a:buNone/>
            </a:pPr>
            <a:r>
              <a:rPr lang="en-US" sz="1600" b="1" dirty="0">
                <a:solidFill>
                  <a:srgbClr val="17332E"/>
                </a:solidFill>
                <a:latin typeface="Cambria" pitchFamily="34" charset="0"/>
                <a:ea typeface="Cambria" pitchFamily="34" charset="-122"/>
                <a:cs typeface="Cambria" pitchFamily="34" charset="-120"/>
              </a:rPr>
              <a:t>Ventes en ligne détaillées</a:t>
            </a:r>
            <a:endParaRPr lang="en-US" sz="1600" dirty="0"/>
          </a:p>
        </p:txBody>
      </p:sp>
      <p:sp>
        <p:nvSpPr>
          <p:cNvPr id="18" name="Text 15"/>
          <p:cNvSpPr/>
          <p:nvPr/>
        </p:nvSpPr>
        <p:spPr>
          <a:xfrm>
            <a:off x="6345936" y="2057400"/>
            <a:ext cx="2267712" cy="3337560"/>
          </a:xfrm>
          <a:prstGeom prst="rect">
            <a:avLst/>
          </a:prstGeom>
          <a:noFill/>
          <a:ln/>
        </p:spPr>
        <p:txBody>
          <a:bodyPr wrap="square" lIns="0" tIns="0" rIns="0" bIns="0" rtlCol="0" anchor="t"/>
          <a:lstStyle/>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b="1" dirty="0">
                <a:solidFill>
                  <a:srgbClr val="1F2A28"/>
                </a:solidFill>
                <a:latin typeface="Calibri" pitchFamily="34" charset="0"/>
                <a:ea typeface="Calibri" pitchFamily="34" charset="-122"/>
                <a:cs typeface="Calibri" pitchFamily="34" charset="-120"/>
              </a:rPr>
              <a:t>3 847 281</a:t>
            </a:r>
            <a:r>
              <a:rPr lang="en-US" sz="1300" dirty="0">
                <a:solidFill>
                  <a:srgbClr val="1F2A28"/>
                </a:solidFill>
                <a:latin typeface="Calibri" pitchFamily="34" charset="0"/>
                <a:ea typeface="Calibri" pitchFamily="34" charset="-122"/>
                <a:cs typeface="Calibri" pitchFamily="34" charset="-120"/>
              </a:rPr>
              <a:t> unités commandées</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5 548 clients, dont </a:t>
            </a:r>
            <a:r>
              <a:rPr lang="en-US" sz="1300" b="1" dirty="0">
                <a:solidFill>
                  <a:srgbClr val="1F2A28"/>
                </a:solidFill>
                <a:latin typeface="Calibri" pitchFamily="34" charset="0"/>
                <a:ea typeface="Calibri" pitchFamily="34" charset="-122"/>
                <a:cs typeface="Calibri" pitchFamily="34" charset="-120"/>
              </a:rPr>
              <a:t>43 entreprises</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Ne recoupe pas nos montants : jamais additionnée</a:t>
            </a:r>
            <a:endParaRPr lang="en-US" sz="1300" dirty="0"/>
          </a:p>
        </p:txBody>
      </p:sp>
      <p:sp>
        <p:nvSpPr>
          <p:cNvPr id="19" name="Shape 16"/>
          <p:cNvSpPr/>
          <p:nvPr/>
        </p:nvSpPr>
        <p:spPr>
          <a:xfrm>
            <a:off x="8970264" y="1463040"/>
            <a:ext cx="2633472" cy="4023360"/>
          </a:xfrm>
          <a:prstGeom prst="rect">
            <a:avLst/>
          </a:prstGeom>
          <a:solidFill>
            <a:srgbClr val="EAF2EF"/>
          </a:solidFill>
          <a:ln w="9525">
            <a:solidFill>
              <a:srgbClr val="CFE0DA"/>
            </a:solidFill>
            <a:prstDash val="solid"/>
          </a:ln>
        </p:spPr>
        <p:txBody>
          <a:bodyPr/>
          <a:lstStyle/>
          <a:p>
            <a:endParaRPr lang="en-US"/>
          </a:p>
        </p:txBody>
      </p:sp>
      <p:sp>
        <p:nvSpPr>
          <p:cNvPr id="20" name="Text 17"/>
          <p:cNvSpPr/>
          <p:nvPr/>
        </p:nvSpPr>
        <p:spPr>
          <a:xfrm>
            <a:off x="9153144" y="1572768"/>
            <a:ext cx="2267712" cy="411480"/>
          </a:xfrm>
          <a:prstGeom prst="rect">
            <a:avLst/>
          </a:prstGeom>
          <a:noFill/>
          <a:ln/>
        </p:spPr>
        <p:txBody>
          <a:bodyPr wrap="square" lIns="0" tIns="0" rIns="0" bIns="0" rtlCol="0" anchor="ctr"/>
          <a:lstStyle/>
          <a:p>
            <a:pPr marL="0" indent="0">
              <a:buNone/>
            </a:pPr>
            <a:r>
              <a:rPr lang="en-US" sz="1600" b="1" dirty="0">
                <a:solidFill>
                  <a:srgbClr val="17332E"/>
                </a:solidFill>
                <a:latin typeface="Cambria" pitchFamily="34" charset="0"/>
                <a:ea typeface="Cambria" pitchFamily="34" charset="-122"/>
                <a:cs typeface="Cambria" pitchFamily="34" charset="-120"/>
              </a:rPr>
              <a:t>Contexte</a:t>
            </a:r>
            <a:endParaRPr lang="en-US" sz="1600" dirty="0"/>
          </a:p>
        </p:txBody>
      </p:sp>
      <p:sp>
        <p:nvSpPr>
          <p:cNvPr id="21" name="Text 18"/>
          <p:cNvSpPr/>
          <p:nvPr/>
        </p:nvSpPr>
        <p:spPr>
          <a:xfrm>
            <a:off x="9153144" y="2057400"/>
            <a:ext cx="2267712" cy="3337560"/>
          </a:xfrm>
          <a:prstGeom prst="rect">
            <a:avLst/>
          </a:prstGeom>
          <a:noFill/>
          <a:ln/>
        </p:spPr>
        <p:txBody>
          <a:bodyPr wrap="square" lIns="0" tIns="0" rIns="0" bIns="0" rtlCol="0" anchor="t"/>
          <a:lstStyle/>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Jours fériés et sévérité du COVID-19 : </a:t>
            </a:r>
            <a:r>
              <a:rPr lang="en-US" sz="1300" b="1" dirty="0">
                <a:solidFill>
                  <a:srgbClr val="1F2A28"/>
                </a:solidFill>
                <a:latin typeface="Calibri" pitchFamily="34" charset="0"/>
                <a:ea typeface="Calibri" pitchFamily="34" charset="-122"/>
                <a:cs typeface="Calibri" pitchFamily="34" charset="-120"/>
              </a:rPr>
              <a:t>18 632</a:t>
            </a:r>
            <a:r>
              <a:rPr lang="en-US" sz="1300" dirty="0">
                <a:solidFill>
                  <a:srgbClr val="1F2A28"/>
                </a:solidFill>
                <a:latin typeface="Calibri" pitchFamily="34" charset="0"/>
                <a:ea typeface="Calibri" pitchFamily="34" charset="-122"/>
                <a:cs typeface="Calibri" pitchFamily="34" charset="-120"/>
              </a:rPr>
              <a:t> lignes pays-jour</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Décalage de </a:t>
            </a:r>
            <a:r>
              <a:rPr lang="en-US" sz="1300" b="1" dirty="0">
                <a:solidFill>
                  <a:srgbClr val="1F2A28"/>
                </a:solidFill>
                <a:latin typeface="Calibri" pitchFamily="34" charset="0"/>
                <a:ea typeface="Calibri" pitchFamily="34" charset="-122"/>
                <a:cs typeface="Calibri" pitchFamily="34" charset="-120"/>
              </a:rPr>
              <a:t>douze ans</a:t>
            </a:r>
            <a:r>
              <a:rPr lang="en-US" sz="1300" dirty="0">
                <a:solidFill>
                  <a:srgbClr val="1F2A28"/>
                </a:solidFill>
                <a:latin typeface="Calibri" pitchFamily="34" charset="0"/>
                <a:ea typeface="Calibri" pitchFamily="34" charset="-122"/>
                <a:cs typeface="Calibri" pitchFamily="34" charset="-120"/>
              </a:rPr>
              <a:t> vérifié : 94,43 % des ventes en promotion dans leur période</a:t>
            </a:r>
            <a:endParaRPr lang="en-US" sz="1300" dirty="0"/>
          </a:p>
        </p:txBody>
      </p:sp>
      <p:sp>
        <p:nvSpPr>
          <p:cNvPr id="22" name="Shape 19"/>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23" name="Shape 20"/>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24" name="Text 21"/>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Nos ventes restent </a:t>
            </a:r>
            <a:r>
              <a:rPr lang="en-US" sz="1500" b="1" dirty="0">
                <a:solidFill>
                  <a:srgbClr val="17332E"/>
                </a:solidFill>
                <a:latin typeface="Calibri" pitchFamily="34" charset="0"/>
                <a:ea typeface="Calibri" pitchFamily="34" charset="-122"/>
                <a:cs typeface="Calibri" pitchFamily="34" charset="-120"/>
              </a:rPr>
              <a:t>la référence</a:t>
            </a:r>
            <a:r>
              <a:rPr lang="en-US" sz="1500" dirty="0">
                <a:solidFill>
                  <a:srgbClr val="17332E"/>
                </a:solidFill>
                <a:latin typeface="Calibri" pitchFamily="34" charset="0"/>
                <a:ea typeface="Calibri" pitchFamily="34" charset="-122"/>
                <a:cs typeface="Calibri" pitchFamily="34" charset="-120"/>
              </a:rPr>
              <a:t> : recoupées au cent près par les charges. Les autres tables éclairent, sans s'y additionner.</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Achraf Chihab</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1 · DONNÉES, ÉTAT DES LIEUX ET NETTOYAGE</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Le schéma des données : quatre tables de faits</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Achraf Chihab</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5</a:t>
            </a:r>
            <a:endParaRPr lang="en-US" sz="1000" dirty="0"/>
          </a:p>
        </p:txBody>
      </p:sp>
      <p:sp>
        <p:nvSpPr>
          <p:cNvPr id="10" name="Shape 7"/>
          <p:cNvSpPr/>
          <p:nvPr/>
        </p:nvSpPr>
        <p:spPr>
          <a:xfrm>
            <a:off x="923544" y="1901952"/>
            <a:ext cx="0" cy="475488"/>
          </a:xfrm>
          <a:prstGeom prst="line">
            <a:avLst/>
          </a:prstGeom>
          <a:noFill/>
          <a:ln w="22225">
            <a:solidFill>
              <a:srgbClr val="9DB8AF"/>
            </a:solidFill>
            <a:prstDash val="solid"/>
          </a:ln>
        </p:spPr>
        <p:txBody>
          <a:bodyPr/>
          <a:lstStyle/>
          <a:p>
            <a:endParaRPr lang="en-US"/>
          </a:p>
        </p:txBody>
      </p:sp>
      <p:sp>
        <p:nvSpPr>
          <p:cNvPr id="11" name="Shape 8"/>
          <p:cNvSpPr/>
          <p:nvPr/>
        </p:nvSpPr>
        <p:spPr>
          <a:xfrm>
            <a:off x="548640" y="1463040"/>
            <a:ext cx="749808" cy="438912"/>
          </a:xfrm>
          <a:prstGeom prst="roundRect">
            <a:avLst>
              <a:gd name="adj" fmla="val 20833"/>
            </a:avLst>
          </a:prstGeom>
          <a:solidFill>
            <a:srgbClr val="FFFFFF"/>
          </a:solidFill>
          <a:ln w="15875">
            <a:solidFill>
              <a:srgbClr val="2E5E55"/>
            </a:solidFill>
            <a:prstDash val="solid"/>
          </a:ln>
        </p:spPr>
        <p:txBody>
          <a:bodyPr/>
          <a:lstStyle/>
          <a:p>
            <a:endParaRPr lang="en-US"/>
          </a:p>
        </p:txBody>
      </p:sp>
      <p:sp>
        <p:nvSpPr>
          <p:cNvPr id="12" name="Text 9"/>
          <p:cNvSpPr/>
          <p:nvPr/>
        </p:nvSpPr>
        <p:spPr>
          <a:xfrm>
            <a:off x="548640" y="1463040"/>
            <a:ext cx="749808" cy="438912"/>
          </a:xfrm>
          <a:prstGeom prst="rect">
            <a:avLst/>
          </a:prstGeom>
          <a:noFill/>
          <a:ln/>
        </p:spPr>
        <p:txBody>
          <a:bodyPr wrap="square" lIns="25400" tIns="25400" rIns="25400" bIns="25400" rtlCol="0" anchor="ctr"/>
          <a:lstStyle/>
          <a:p>
            <a:pPr marL="0" indent="0" algn="ctr">
              <a:buNone/>
            </a:pPr>
            <a:r>
              <a:rPr lang="en-US" sz="1250" dirty="0">
                <a:solidFill>
                  <a:srgbClr val="17332E"/>
                </a:solidFill>
                <a:latin typeface="Calibri" pitchFamily="34" charset="0"/>
                <a:ea typeface="Calibri" pitchFamily="34" charset="-122"/>
                <a:cs typeface="Calibri" pitchFamily="34" charset="-120"/>
              </a:rPr>
              <a:t>Promotion</a:t>
            </a:r>
            <a:endParaRPr lang="en-US" sz="1250" dirty="0"/>
          </a:p>
        </p:txBody>
      </p:sp>
      <p:sp>
        <p:nvSpPr>
          <p:cNvPr id="13" name="Shape 10"/>
          <p:cNvSpPr/>
          <p:nvPr/>
        </p:nvSpPr>
        <p:spPr>
          <a:xfrm>
            <a:off x="1783080" y="1901952"/>
            <a:ext cx="0" cy="475488"/>
          </a:xfrm>
          <a:prstGeom prst="line">
            <a:avLst/>
          </a:prstGeom>
          <a:noFill/>
          <a:ln w="22225">
            <a:solidFill>
              <a:srgbClr val="9DB8AF"/>
            </a:solidFill>
            <a:prstDash val="solid"/>
          </a:ln>
        </p:spPr>
        <p:txBody>
          <a:bodyPr/>
          <a:lstStyle/>
          <a:p>
            <a:endParaRPr lang="en-US"/>
          </a:p>
        </p:txBody>
      </p:sp>
      <p:sp>
        <p:nvSpPr>
          <p:cNvPr id="14" name="Shape 11"/>
          <p:cNvSpPr/>
          <p:nvPr/>
        </p:nvSpPr>
        <p:spPr>
          <a:xfrm>
            <a:off x="1408176" y="1463040"/>
            <a:ext cx="749808" cy="438912"/>
          </a:xfrm>
          <a:prstGeom prst="roundRect">
            <a:avLst>
              <a:gd name="adj" fmla="val 20833"/>
            </a:avLst>
          </a:prstGeom>
          <a:solidFill>
            <a:srgbClr val="FFFFFF"/>
          </a:solidFill>
          <a:ln w="15875">
            <a:solidFill>
              <a:srgbClr val="2E5E55"/>
            </a:solidFill>
            <a:prstDash val="solid"/>
          </a:ln>
        </p:spPr>
        <p:txBody>
          <a:bodyPr/>
          <a:lstStyle/>
          <a:p>
            <a:endParaRPr lang="en-US"/>
          </a:p>
        </p:txBody>
      </p:sp>
      <p:sp>
        <p:nvSpPr>
          <p:cNvPr id="15" name="Text 12"/>
          <p:cNvSpPr/>
          <p:nvPr/>
        </p:nvSpPr>
        <p:spPr>
          <a:xfrm>
            <a:off x="1408176" y="1463040"/>
            <a:ext cx="749808" cy="438912"/>
          </a:xfrm>
          <a:prstGeom prst="rect">
            <a:avLst/>
          </a:prstGeom>
          <a:noFill/>
          <a:ln/>
        </p:spPr>
        <p:txBody>
          <a:bodyPr wrap="square" lIns="25400" tIns="25400" rIns="25400" bIns="25400" rtlCol="0" anchor="ctr"/>
          <a:lstStyle/>
          <a:p>
            <a:pPr marL="0" indent="0" algn="ctr">
              <a:buNone/>
            </a:pPr>
            <a:r>
              <a:rPr lang="en-US" sz="1250" dirty="0">
                <a:solidFill>
                  <a:srgbClr val="17332E"/>
                </a:solidFill>
                <a:latin typeface="Calibri" pitchFamily="34" charset="0"/>
                <a:ea typeface="Calibri" pitchFamily="34" charset="-122"/>
                <a:cs typeface="Calibri" pitchFamily="34" charset="-120"/>
              </a:rPr>
              <a:t>Canal</a:t>
            </a:r>
            <a:endParaRPr lang="en-US" sz="1250" dirty="0"/>
          </a:p>
        </p:txBody>
      </p:sp>
      <p:sp>
        <p:nvSpPr>
          <p:cNvPr id="16" name="Shape 13"/>
          <p:cNvSpPr/>
          <p:nvPr/>
        </p:nvSpPr>
        <p:spPr>
          <a:xfrm>
            <a:off x="2642616" y="1901952"/>
            <a:ext cx="0" cy="475488"/>
          </a:xfrm>
          <a:prstGeom prst="line">
            <a:avLst/>
          </a:prstGeom>
          <a:noFill/>
          <a:ln w="22225">
            <a:solidFill>
              <a:srgbClr val="9DB8AF"/>
            </a:solidFill>
            <a:prstDash val="solid"/>
          </a:ln>
        </p:spPr>
        <p:txBody>
          <a:bodyPr/>
          <a:lstStyle/>
          <a:p>
            <a:endParaRPr lang="en-US"/>
          </a:p>
        </p:txBody>
      </p:sp>
      <p:sp>
        <p:nvSpPr>
          <p:cNvPr id="17" name="Shape 14"/>
          <p:cNvSpPr/>
          <p:nvPr/>
        </p:nvSpPr>
        <p:spPr>
          <a:xfrm>
            <a:off x="2267712" y="1463040"/>
            <a:ext cx="749808" cy="438912"/>
          </a:xfrm>
          <a:prstGeom prst="roundRect">
            <a:avLst>
              <a:gd name="adj" fmla="val 20833"/>
            </a:avLst>
          </a:prstGeom>
          <a:solidFill>
            <a:srgbClr val="FFFFFF"/>
          </a:solidFill>
          <a:ln w="15875">
            <a:solidFill>
              <a:srgbClr val="2E5E55"/>
            </a:solidFill>
            <a:prstDash val="solid"/>
          </a:ln>
        </p:spPr>
        <p:txBody>
          <a:bodyPr/>
          <a:lstStyle/>
          <a:p>
            <a:endParaRPr lang="en-US"/>
          </a:p>
        </p:txBody>
      </p:sp>
      <p:sp>
        <p:nvSpPr>
          <p:cNvPr id="18" name="Text 15"/>
          <p:cNvSpPr/>
          <p:nvPr/>
        </p:nvSpPr>
        <p:spPr>
          <a:xfrm>
            <a:off x="2267712" y="1463040"/>
            <a:ext cx="749808" cy="438912"/>
          </a:xfrm>
          <a:prstGeom prst="rect">
            <a:avLst/>
          </a:prstGeom>
          <a:noFill/>
          <a:ln/>
        </p:spPr>
        <p:txBody>
          <a:bodyPr wrap="square" lIns="25400" tIns="25400" rIns="25400" bIns="25400" rtlCol="0" anchor="ctr"/>
          <a:lstStyle/>
          <a:p>
            <a:pPr marL="0" indent="0" algn="ctr">
              <a:buNone/>
            </a:pPr>
            <a:r>
              <a:rPr lang="en-US" sz="1250" dirty="0">
                <a:solidFill>
                  <a:srgbClr val="17332E"/>
                </a:solidFill>
                <a:latin typeface="Calibri" pitchFamily="34" charset="0"/>
                <a:ea typeface="Calibri" pitchFamily="34" charset="-122"/>
                <a:cs typeface="Calibri" pitchFamily="34" charset="-120"/>
              </a:rPr>
              <a:t>Contexte</a:t>
            </a:r>
            <a:endParaRPr lang="en-US" sz="1250" dirty="0"/>
          </a:p>
        </p:txBody>
      </p:sp>
      <p:sp>
        <p:nvSpPr>
          <p:cNvPr id="19" name="Shape 16"/>
          <p:cNvSpPr/>
          <p:nvPr/>
        </p:nvSpPr>
        <p:spPr>
          <a:xfrm>
            <a:off x="4018788" y="1901952"/>
            <a:ext cx="0" cy="475488"/>
          </a:xfrm>
          <a:prstGeom prst="line">
            <a:avLst/>
          </a:prstGeom>
          <a:noFill/>
          <a:ln w="22225">
            <a:solidFill>
              <a:srgbClr val="9DB8AF"/>
            </a:solidFill>
            <a:prstDash val="solid"/>
          </a:ln>
        </p:spPr>
        <p:txBody>
          <a:bodyPr/>
          <a:lstStyle/>
          <a:p>
            <a:endParaRPr lang="en-US"/>
          </a:p>
        </p:txBody>
      </p:sp>
      <p:sp>
        <p:nvSpPr>
          <p:cNvPr id="20" name="Shape 17"/>
          <p:cNvSpPr/>
          <p:nvPr/>
        </p:nvSpPr>
        <p:spPr>
          <a:xfrm>
            <a:off x="3429000" y="1463040"/>
            <a:ext cx="1179576" cy="438912"/>
          </a:xfrm>
          <a:prstGeom prst="roundRect">
            <a:avLst>
              <a:gd name="adj" fmla="val 20833"/>
            </a:avLst>
          </a:prstGeom>
          <a:solidFill>
            <a:srgbClr val="FFFFFF"/>
          </a:solidFill>
          <a:ln w="15875">
            <a:solidFill>
              <a:srgbClr val="2E5E55"/>
            </a:solidFill>
            <a:prstDash val="solid"/>
          </a:ln>
        </p:spPr>
        <p:txBody>
          <a:bodyPr/>
          <a:lstStyle/>
          <a:p>
            <a:endParaRPr lang="en-US"/>
          </a:p>
        </p:txBody>
      </p:sp>
      <p:sp>
        <p:nvSpPr>
          <p:cNvPr id="21" name="Text 18"/>
          <p:cNvSpPr/>
          <p:nvPr/>
        </p:nvSpPr>
        <p:spPr>
          <a:xfrm>
            <a:off x="3429000" y="1463040"/>
            <a:ext cx="1179576" cy="438912"/>
          </a:xfrm>
          <a:prstGeom prst="rect">
            <a:avLst/>
          </a:prstGeom>
          <a:noFill/>
          <a:ln/>
        </p:spPr>
        <p:txBody>
          <a:bodyPr wrap="square" lIns="25400" tIns="25400" rIns="25400" bIns="25400" rtlCol="0" anchor="ctr"/>
          <a:lstStyle/>
          <a:p>
            <a:pPr marL="0" indent="0" algn="ctr">
              <a:buNone/>
            </a:pPr>
            <a:r>
              <a:rPr lang="en-US" sz="1250" dirty="0">
                <a:solidFill>
                  <a:srgbClr val="17332E"/>
                </a:solidFill>
                <a:latin typeface="Calibri" pitchFamily="34" charset="0"/>
                <a:ea typeface="Calibri" pitchFamily="34" charset="-122"/>
                <a:cs typeface="Calibri" pitchFamily="34" charset="-120"/>
              </a:rPr>
              <a:t>Compte</a:t>
            </a:r>
            <a:endParaRPr lang="en-US" sz="1250" dirty="0"/>
          </a:p>
        </p:txBody>
      </p:sp>
      <p:sp>
        <p:nvSpPr>
          <p:cNvPr id="22" name="Shape 19"/>
          <p:cNvSpPr/>
          <p:nvPr/>
        </p:nvSpPr>
        <p:spPr>
          <a:xfrm>
            <a:off x="5308092" y="1901952"/>
            <a:ext cx="0" cy="475488"/>
          </a:xfrm>
          <a:prstGeom prst="line">
            <a:avLst/>
          </a:prstGeom>
          <a:noFill/>
          <a:ln w="22225">
            <a:solidFill>
              <a:srgbClr val="9DB8AF"/>
            </a:solidFill>
            <a:prstDash val="solid"/>
          </a:ln>
        </p:spPr>
        <p:txBody>
          <a:bodyPr/>
          <a:lstStyle/>
          <a:p>
            <a:endParaRPr lang="en-US"/>
          </a:p>
        </p:txBody>
      </p:sp>
      <p:sp>
        <p:nvSpPr>
          <p:cNvPr id="23" name="Shape 20"/>
          <p:cNvSpPr/>
          <p:nvPr/>
        </p:nvSpPr>
        <p:spPr>
          <a:xfrm>
            <a:off x="4718304" y="1463040"/>
            <a:ext cx="1179576" cy="438912"/>
          </a:xfrm>
          <a:prstGeom prst="roundRect">
            <a:avLst>
              <a:gd name="adj" fmla="val 20833"/>
            </a:avLst>
          </a:prstGeom>
          <a:solidFill>
            <a:srgbClr val="FFFFFF"/>
          </a:solidFill>
          <a:ln w="15875">
            <a:solidFill>
              <a:srgbClr val="2E5E55"/>
            </a:solidFill>
            <a:prstDash val="solid"/>
          </a:ln>
        </p:spPr>
        <p:txBody>
          <a:bodyPr/>
          <a:lstStyle/>
          <a:p>
            <a:endParaRPr lang="en-US"/>
          </a:p>
        </p:txBody>
      </p:sp>
      <p:sp>
        <p:nvSpPr>
          <p:cNvPr id="24" name="Text 21"/>
          <p:cNvSpPr/>
          <p:nvPr/>
        </p:nvSpPr>
        <p:spPr>
          <a:xfrm>
            <a:off x="4718304" y="1463040"/>
            <a:ext cx="1179576" cy="438912"/>
          </a:xfrm>
          <a:prstGeom prst="rect">
            <a:avLst/>
          </a:prstGeom>
          <a:noFill/>
          <a:ln/>
        </p:spPr>
        <p:txBody>
          <a:bodyPr wrap="square" lIns="25400" tIns="25400" rIns="25400" bIns="25400" rtlCol="0" anchor="ctr"/>
          <a:lstStyle/>
          <a:p>
            <a:pPr marL="0" indent="0" algn="ctr">
              <a:buNone/>
            </a:pPr>
            <a:r>
              <a:rPr lang="en-US" sz="1250" dirty="0">
                <a:solidFill>
                  <a:srgbClr val="17332E"/>
                </a:solidFill>
                <a:latin typeface="Calibri" pitchFamily="34" charset="0"/>
                <a:ea typeface="Calibri" pitchFamily="34" charset="-122"/>
                <a:cs typeface="Calibri" pitchFamily="34" charset="-120"/>
              </a:rPr>
              <a:t>Scénario</a:t>
            </a:r>
            <a:endParaRPr lang="en-US" sz="1250" dirty="0"/>
          </a:p>
        </p:txBody>
      </p:sp>
      <p:sp>
        <p:nvSpPr>
          <p:cNvPr id="25" name="Shape 22"/>
          <p:cNvSpPr/>
          <p:nvPr/>
        </p:nvSpPr>
        <p:spPr>
          <a:xfrm>
            <a:off x="9779508" y="1901952"/>
            <a:ext cx="0" cy="475488"/>
          </a:xfrm>
          <a:prstGeom prst="line">
            <a:avLst/>
          </a:prstGeom>
          <a:noFill/>
          <a:ln w="22225">
            <a:solidFill>
              <a:srgbClr val="9DB8AF"/>
            </a:solidFill>
            <a:prstDash val="solid"/>
          </a:ln>
        </p:spPr>
        <p:txBody>
          <a:bodyPr/>
          <a:lstStyle/>
          <a:p>
            <a:endParaRPr lang="en-US"/>
          </a:p>
        </p:txBody>
      </p:sp>
      <p:sp>
        <p:nvSpPr>
          <p:cNvPr id="26" name="Shape 23"/>
          <p:cNvSpPr/>
          <p:nvPr/>
        </p:nvSpPr>
        <p:spPr>
          <a:xfrm>
            <a:off x="9189720" y="1463040"/>
            <a:ext cx="1179576" cy="438912"/>
          </a:xfrm>
          <a:prstGeom prst="roundRect">
            <a:avLst>
              <a:gd name="adj" fmla="val 20833"/>
            </a:avLst>
          </a:prstGeom>
          <a:solidFill>
            <a:srgbClr val="FFFFFF"/>
          </a:solidFill>
          <a:ln w="15875">
            <a:solidFill>
              <a:srgbClr val="2E5E55"/>
            </a:solidFill>
            <a:prstDash val="solid"/>
          </a:ln>
        </p:spPr>
        <p:txBody>
          <a:bodyPr/>
          <a:lstStyle/>
          <a:p>
            <a:endParaRPr lang="en-US"/>
          </a:p>
        </p:txBody>
      </p:sp>
      <p:sp>
        <p:nvSpPr>
          <p:cNvPr id="27" name="Text 24"/>
          <p:cNvSpPr/>
          <p:nvPr/>
        </p:nvSpPr>
        <p:spPr>
          <a:xfrm>
            <a:off x="9189720" y="1463040"/>
            <a:ext cx="1179576" cy="438912"/>
          </a:xfrm>
          <a:prstGeom prst="rect">
            <a:avLst/>
          </a:prstGeom>
          <a:noFill/>
          <a:ln/>
        </p:spPr>
        <p:txBody>
          <a:bodyPr wrap="square" lIns="25400" tIns="25400" rIns="25400" bIns="25400" rtlCol="0" anchor="ctr"/>
          <a:lstStyle/>
          <a:p>
            <a:pPr marL="0" indent="0" algn="ctr">
              <a:buNone/>
            </a:pPr>
            <a:r>
              <a:rPr lang="en-US" sz="1250" dirty="0">
                <a:solidFill>
                  <a:srgbClr val="17332E"/>
                </a:solidFill>
                <a:latin typeface="Calibri" pitchFamily="34" charset="0"/>
                <a:ea typeface="Calibri" pitchFamily="34" charset="-122"/>
                <a:cs typeface="Calibri" pitchFamily="34" charset="-120"/>
              </a:rPr>
              <a:t>Client</a:t>
            </a:r>
            <a:endParaRPr lang="en-US" sz="1250" dirty="0"/>
          </a:p>
        </p:txBody>
      </p:sp>
      <p:sp>
        <p:nvSpPr>
          <p:cNvPr id="28" name="Shape 25"/>
          <p:cNvSpPr/>
          <p:nvPr/>
        </p:nvSpPr>
        <p:spPr>
          <a:xfrm>
            <a:off x="11068812" y="1901952"/>
            <a:ext cx="0" cy="475488"/>
          </a:xfrm>
          <a:prstGeom prst="line">
            <a:avLst/>
          </a:prstGeom>
          <a:noFill/>
          <a:ln w="22225">
            <a:solidFill>
              <a:srgbClr val="9DB8AF"/>
            </a:solidFill>
            <a:prstDash val="solid"/>
          </a:ln>
        </p:spPr>
        <p:txBody>
          <a:bodyPr/>
          <a:lstStyle/>
          <a:p>
            <a:endParaRPr lang="en-US"/>
          </a:p>
        </p:txBody>
      </p:sp>
      <p:sp>
        <p:nvSpPr>
          <p:cNvPr id="29" name="Shape 26"/>
          <p:cNvSpPr/>
          <p:nvPr/>
        </p:nvSpPr>
        <p:spPr>
          <a:xfrm>
            <a:off x="10479024" y="1463040"/>
            <a:ext cx="1179576" cy="438912"/>
          </a:xfrm>
          <a:prstGeom prst="roundRect">
            <a:avLst>
              <a:gd name="adj" fmla="val 20833"/>
            </a:avLst>
          </a:prstGeom>
          <a:solidFill>
            <a:srgbClr val="FFFFFF"/>
          </a:solidFill>
          <a:ln w="15875">
            <a:solidFill>
              <a:srgbClr val="2E5E55"/>
            </a:solidFill>
            <a:prstDash val="solid"/>
          </a:ln>
        </p:spPr>
        <p:txBody>
          <a:bodyPr/>
          <a:lstStyle/>
          <a:p>
            <a:endParaRPr lang="en-US"/>
          </a:p>
        </p:txBody>
      </p:sp>
      <p:sp>
        <p:nvSpPr>
          <p:cNvPr id="30" name="Text 27"/>
          <p:cNvSpPr/>
          <p:nvPr/>
        </p:nvSpPr>
        <p:spPr>
          <a:xfrm>
            <a:off x="10479024" y="1463040"/>
            <a:ext cx="1179576" cy="438912"/>
          </a:xfrm>
          <a:prstGeom prst="rect">
            <a:avLst/>
          </a:prstGeom>
          <a:noFill/>
          <a:ln/>
        </p:spPr>
        <p:txBody>
          <a:bodyPr wrap="square" lIns="25400" tIns="25400" rIns="25400" bIns="25400" rtlCol="0" anchor="ctr"/>
          <a:lstStyle/>
          <a:p>
            <a:pPr marL="0" indent="0" algn="ctr">
              <a:buNone/>
            </a:pPr>
            <a:r>
              <a:rPr lang="en-US" sz="1250" dirty="0">
                <a:solidFill>
                  <a:srgbClr val="17332E"/>
                </a:solidFill>
                <a:latin typeface="Calibri" pitchFamily="34" charset="0"/>
                <a:ea typeface="Calibri" pitchFamily="34" charset="-122"/>
                <a:cs typeface="Calibri" pitchFamily="34" charset="-120"/>
              </a:rPr>
              <a:t>Promotion</a:t>
            </a:r>
            <a:endParaRPr lang="en-US" sz="1250" dirty="0"/>
          </a:p>
        </p:txBody>
      </p:sp>
      <p:sp>
        <p:nvSpPr>
          <p:cNvPr id="31" name="Text 28"/>
          <p:cNvSpPr/>
          <p:nvPr/>
        </p:nvSpPr>
        <p:spPr>
          <a:xfrm>
            <a:off x="6309360" y="1463040"/>
            <a:ext cx="2468880" cy="438912"/>
          </a:xfrm>
          <a:prstGeom prst="rect">
            <a:avLst/>
          </a:prstGeom>
          <a:noFill/>
          <a:ln/>
        </p:spPr>
        <p:txBody>
          <a:bodyPr wrap="square" lIns="0" tIns="0" rIns="0" bIns="0" rtlCol="0" anchor="ctr"/>
          <a:lstStyle/>
          <a:p>
            <a:pPr marL="0" indent="0" algn="ctr">
              <a:buNone/>
            </a:pPr>
            <a:r>
              <a:rPr lang="en-US" sz="1100" i="1" dirty="0">
                <a:solidFill>
                  <a:srgbClr val="5E6B68"/>
                </a:solidFill>
                <a:latin typeface="Calibri" pitchFamily="34" charset="0"/>
                <a:ea typeface="Calibri" pitchFamily="34" charset="-122"/>
                <a:cs typeface="Calibri" pitchFamily="34" charset="-120"/>
              </a:rPr>
              <a:t>aucune dimension propre</a:t>
            </a:r>
            <a:endParaRPr lang="en-US" sz="1100" dirty="0"/>
          </a:p>
        </p:txBody>
      </p:sp>
      <p:sp>
        <p:nvSpPr>
          <p:cNvPr id="32" name="Shape 29"/>
          <p:cNvSpPr/>
          <p:nvPr/>
        </p:nvSpPr>
        <p:spPr>
          <a:xfrm>
            <a:off x="1783080" y="3291840"/>
            <a:ext cx="0" cy="365760"/>
          </a:xfrm>
          <a:prstGeom prst="line">
            <a:avLst/>
          </a:prstGeom>
          <a:noFill/>
          <a:ln w="22225">
            <a:solidFill>
              <a:srgbClr val="9DB8AF"/>
            </a:solidFill>
            <a:prstDash val="solid"/>
          </a:ln>
        </p:spPr>
        <p:txBody>
          <a:bodyPr/>
          <a:lstStyle/>
          <a:p>
            <a:endParaRPr lang="en-US"/>
          </a:p>
        </p:txBody>
      </p:sp>
      <p:sp>
        <p:nvSpPr>
          <p:cNvPr id="33" name="Shape 30"/>
          <p:cNvSpPr/>
          <p:nvPr/>
        </p:nvSpPr>
        <p:spPr>
          <a:xfrm>
            <a:off x="4663440" y="3291840"/>
            <a:ext cx="0" cy="365760"/>
          </a:xfrm>
          <a:prstGeom prst="line">
            <a:avLst/>
          </a:prstGeom>
          <a:noFill/>
          <a:ln w="22225">
            <a:solidFill>
              <a:srgbClr val="9DB8AF"/>
            </a:solidFill>
            <a:prstDash val="solid"/>
          </a:ln>
        </p:spPr>
        <p:txBody>
          <a:bodyPr/>
          <a:lstStyle/>
          <a:p>
            <a:endParaRPr lang="en-US"/>
          </a:p>
        </p:txBody>
      </p:sp>
      <p:sp>
        <p:nvSpPr>
          <p:cNvPr id="34" name="Shape 31"/>
          <p:cNvSpPr/>
          <p:nvPr/>
        </p:nvSpPr>
        <p:spPr>
          <a:xfrm>
            <a:off x="7543800" y="3291840"/>
            <a:ext cx="0" cy="365760"/>
          </a:xfrm>
          <a:prstGeom prst="line">
            <a:avLst/>
          </a:prstGeom>
          <a:noFill/>
          <a:ln w="22225">
            <a:solidFill>
              <a:srgbClr val="9DB8AF"/>
            </a:solidFill>
            <a:prstDash val="solid"/>
          </a:ln>
        </p:spPr>
        <p:txBody>
          <a:bodyPr/>
          <a:lstStyle/>
          <a:p>
            <a:endParaRPr lang="en-US"/>
          </a:p>
        </p:txBody>
      </p:sp>
      <p:sp>
        <p:nvSpPr>
          <p:cNvPr id="35" name="Shape 32"/>
          <p:cNvSpPr/>
          <p:nvPr/>
        </p:nvSpPr>
        <p:spPr>
          <a:xfrm>
            <a:off x="10424160" y="3291840"/>
            <a:ext cx="0" cy="365760"/>
          </a:xfrm>
          <a:prstGeom prst="line">
            <a:avLst/>
          </a:prstGeom>
          <a:noFill/>
          <a:ln w="22225">
            <a:solidFill>
              <a:srgbClr val="9DB8AF"/>
            </a:solidFill>
            <a:prstDash val="solid"/>
          </a:ln>
        </p:spPr>
        <p:txBody>
          <a:bodyPr/>
          <a:lstStyle/>
          <a:p>
            <a:endParaRPr lang="en-US"/>
          </a:p>
        </p:txBody>
      </p:sp>
      <p:sp>
        <p:nvSpPr>
          <p:cNvPr id="36" name="Shape 33"/>
          <p:cNvSpPr/>
          <p:nvPr/>
        </p:nvSpPr>
        <p:spPr>
          <a:xfrm>
            <a:off x="1783080" y="3657600"/>
            <a:ext cx="8641080" cy="0"/>
          </a:xfrm>
          <a:prstGeom prst="line">
            <a:avLst/>
          </a:prstGeom>
          <a:noFill/>
          <a:ln w="22225">
            <a:solidFill>
              <a:srgbClr val="9DB8AF"/>
            </a:solidFill>
            <a:prstDash val="solid"/>
          </a:ln>
        </p:spPr>
        <p:txBody>
          <a:bodyPr/>
          <a:lstStyle/>
          <a:p>
            <a:endParaRPr lang="en-US"/>
          </a:p>
        </p:txBody>
      </p:sp>
      <p:sp>
        <p:nvSpPr>
          <p:cNvPr id="37" name="Shape 34"/>
          <p:cNvSpPr/>
          <p:nvPr/>
        </p:nvSpPr>
        <p:spPr>
          <a:xfrm>
            <a:off x="2011680" y="3657600"/>
            <a:ext cx="0" cy="320040"/>
          </a:xfrm>
          <a:prstGeom prst="line">
            <a:avLst/>
          </a:prstGeom>
          <a:noFill/>
          <a:ln w="22225">
            <a:solidFill>
              <a:srgbClr val="9DB8AF"/>
            </a:solidFill>
            <a:prstDash val="solid"/>
          </a:ln>
        </p:spPr>
        <p:txBody>
          <a:bodyPr/>
          <a:lstStyle/>
          <a:p>
            <a:endParaRPr lang="en-US"/>
          </a:p>
        </p:txBody>
      </p:sp>
      <p:sp>
        <p:nvSpPr>
          <p:cNvPr id="38" name="Shape 35"/>
          <p:cNvSpPr/>
          <p:nvPr/>
        </p:nvSpPr>
        <p:spPr>
          <a:xfrm>
            <a:off x="1005840" y="3977640"/>
            <a:ext cx="2011680" cy="457200"/>
          </a:xfrm>
          <a:prstGeom prst="roundRect">
            <a:avLst>
              <a:gd name="adj" fmla="val 20000"/>
            </a:avLst>
          </a:prstGeom>
          <a:solidFill>
            <a:srgbClr val="EAF2EF"/>
          </a:solidFill>
          <a:ln w="15875">
            <a:solidFill>
              <a:srgbClr val="2E5E55"/>
            </a:solidFill>
            <a:prstDash val="solid"/>
          </a:ln>
        </p:spPr>
        <p:txBody>
          <a:bodyPr/>
          <a:lstStyle/>
          <a:p>
            <a:endParaRPr lang="en-US"/>
          </a:p>
        </p:txBody>
      </p:sp>
      <p:sp>
        <p:nvSpPr>
          <p:cNvPr id="39" name="Text 36"/>
          <p:cNvSpPr/>
          <p:nvPr/>
        </p:nvSpPr>
        <p:spPr>
          <a:xfrm>
            <a:off x="1005840" y="3977640"/>
            <a:ext cx="2011680" cy="457200"/>
          </a:xfrm>
          <a:prstGeom prst="rect">
            <a:avLst/>
          </a:prstGeom>
          <a:noFill/>
          <a:ln/>
        </p:spPr>
        <p:txBody>
          <a:bodyPr wrap="square" lIns="25400" tIns="25400" rIns="25400" bIns="25400" rtlCol="0" anchor="ctr"/>
          <a:lstStyle/>
          <a:p>
            <a:pPr marL="0" indent="0" algn="ctr">
              <a:buNone/>
            </a:pPr>
            <a:r>
              <a:rPr lang="en-US" sz="1250" dirty="0">
                <a:solidFill>
                  <a:srgbClr val="17332E"/>
                </a:solidFill>
                <a:latin typeface="Calibri" pitchFamily="34" charset="0"/>
                <a:ea typeface="Calibri" pitchFamily="34" charset="-122"/>
                <a:cs typeface="Calibri" pitchFamily="34" charset="-120"/>
              </a:rPr>
              <a:t>Calendrier</a:t>
            </a:r>
            <a:endParaRPr lang="en-US" sz="1250" dirty="0"/>
          </a:p>
        </p:txBody>
      </p:sp>
      <p:sp>
        <p:nvSpPr>
          <p:cNvPr id="40" name="Shape 37"/>
          <p:cNvSpPr/>
          <p:nvPr/>
        </p:nvSpPr>
        <p:spPr>
          <a:xfrm>
            <a:off x="4892040" y="3657600"/>
            <a:ext cx="0" cy="320040"/>
          </a:xfrm>
          <a:prstGeom prst="line">
            <a:avLst/>
          </a:prstGeom>
          <a:noFill/>
          <a:ln w="22225">
            <a:solidFill>
              <a:srgbClr val="9DB8AF"/>
            </a:solidFill>
            <a:prstDash val="solid"/>
          </a:ln>
        </p:spPr>
        <p:txBody>
          <a:bodyPr/>
          <a:lstStyle/>
          <a:p>
            <a:endParaRPr lang="en-US"/>
          </a:p>
        </p:txBody>
      </p:sp>
      <p:sp>
        <p:nvSpPr>
          <p:cNvPr id="41" name="Shape 38"/>
          <p:cNvSpPr/>
          <p:nvPr/>
        </p:nvSpPr>
        <p:spPr>
          <a:xfrm>
            <a:off x="3886200" y="3977640"/>
            <a:ext cx="2011680" cy="457200"/>
          </a:xfrm>
          <a:prstGeom prst="roundRect">
            <a:avLst>
              <a:gd name="adj" fmla="val 20000"/>
            </a:avLst>
          </a:prstGeom>
          <a:solidFill>
            <a:srgbClr val="EAF2EF"/>
          </a:solidFill>
          <a:ln w="15875">
            <a:solidFill>
              <a:srgbClr val="2E5E55"/>
            </a:solidFill>
            <a:prstDash val="solid"/>
          </a:ln>
        </p:spPr>
        <p:txBody>
          <a:bodyPr/>
          <a:lstStyle/>
          <a:p>
            <a:endParaRPr lang="en-US"/>
          </a:p>
        </p:txBody>
      </p:sp>
      <p:sp>
        <p:nvSpPr>
          <p:cNvPr id="42" name="Text 39"/>
          <p:cNvSpPr/>
          <p:nvPr/>
        </p:nvSpPr>
        <p:spPr>
          <a:xfrm>
            <a:off x="3886200" y="3977640"/>
            <a:ext cx="2011680" cy="457200"/>
          </a:xfrm>
          <a:prstGeom prst="rect">
            <a:avLst/>
          </a:prstGeom>
          <a:noFill/>
          <a:ln/>
        </p:spPr>
        <p:txBody>
          <a:bodyPr wrap="square" lIns="25400" tIns="25400" rIns="25400" bIns="25400" rtlCol="0" anchor="ctr"/>
          <a:lstStyle/>
          <a:p>
            <a:pPr marL="0" indent="0" algn="ctr">
              <a:buNone/>
            </a:pPr>
            <a:r>
              <a:rPr lang="en-US" sz="1250" dirty="0">
                <a:solidFill>
                  <a:srgbClr val="17332E"/>
                </a:solidFill>
                <a:latin typeface="Calibri" pitchFamily="34" charset="0"/>
                <a:ea typeface="Calibri" pitchFamily="34" charset="-122"/>
                <a:cs typeface="Calibri" pitchFamily="34" charset="-120"/>
              </a:rPr>
              <a:t>Boutique</a:t>
            </a:r>
            <a:endParaRPr lang="en-US" sz="1250" dirty="0"/>
          </a:p>
        </p:txBody>
      </p:sp>
      <p:sp>
        <p:nvSpPr>
          <p:cNvPr id="43" name="Shape 40"/>
          <p:cNvSpPr/>
          <p:nvPr/>
        </p:nvSpPr>
        <p:spPr>
          <a:xfrm>
            <a:off x="8275320" y="3657600"/>
            <a:ext cx="0" cy="320040"/>
          </a:xfrm>
          <a:prstGeom prst="line">
            <a:avLst/>
          </a:prstGeom>
          <a:noFill/>
          <a:ln w="22225">
            <a:solidFill>
              <a:srgbClr val="9DB8AF"/>
            </a:solidFill>
            <a:prstDash val="solid"/>
          </a:ln>
        </p:spPr>
        <p:txBody>
          <a:bodyPr/>
          <a:lstStyle/>
          <a:p>
            <a:endParaRPr lang="en-US"/>
          </a:p>
        </p:txBody>
      </p:sp>
      <p:sp>
        <p:nvSpPr>
          <p:cNvPr id="44" name="Shape 41"/>
          <p:cNvSpPr/>
          <p:nvPr/>
        </p:nvSpPr>
        <p:spPr>
          <a:xfrm>
            <a:off x="7269480" y="3977640"/>
            <a:ext cx="2011680" cy="457200"/>
          </a:xfrm>
          <a:prstGeom prst="roundRect">
            <a:avLst>
              <a:gd name="adj" fmla="val 20000"/>
            </a:avLst>
          </a:prstGeom>
          <a:solidFill>
            <a:srgbClr val="EAF2EF"/>
          </a:solidFill>
          <a:ln w="15875">
            <a:solidFill>
              <a:srgbClr val="2E5E55"/>
            </a:solidFill>
            <a:prstDash val="solid"/>
          </a:ln>
        </p:spPr>
        <p:txBody>
          <a:bodyPr/>
          <a:lstStyle/>
          <a:p>
            <a:endParaRPr lang="en-US"/>
          </a:p>
        </p:txBody>
      </p:sp>
      <p:sp>
        <p:nvSpPr>
          <p:cNvPr id="45" name="Text 42"/>
          <p:cNvSpPr/>
          <p:nvPr/>
        </p:nvSpPr>
        <p:spPr>
          <a:xfrm>
            <a:off x="7269480" y="3977640"/>
            <a:ext cx="2011680" cy="457200"/>
          </a:xfrm>
          <a:prstGeom prst="rect">
            <a:avLst/>
          </a:prstGeom>
          <a:noFill/>
          <a:ln/>
        </p:spPr>
        <p:txBody>
          <a:bodyPr wrap="square" lIns="25400" tIns="25400" rIns="25400" bIns="25400" rtlCol="0" anchor="ctr"/>
          <a:lstStyle/>
          <a:p>
            <a:pPr marL="0" indent="0" algn="ctr">
              <a:buNone/>
            </a:pPr>
            <a:r>
              <a:rPr lang="en-US" sz="1250" dirty="0">
                <a:solidFill>
                  <a:srgbClr val="17332E"/>
                </a:solidFill>
                <a:latin typeface="Calibri" pitchFamily="34" charset="0"/>
                <a:ea typeface="Calibri" pitchFamily="34" charset="-122"/>
                <a:cs typeface="Calibri" pitchFamily="34" charset="-120"/>
              </a:rPr>
              <a:t>Produit</a:t>
            </a:r>
            <a:endParaRPr lang="en-US" sz="1250" dirty="0"/>
          </a:p>
        </p:txBody>
      </p:sp>
      <p:sp>
        <p:nvSpPr>
          <p:cNvPr id="46" name="Shape 43"/>
          <p:cNvSpPr/>
          <p:nvPr/>
        </p:nvSpPr>
        <p:spPr>
          <a:xfrm>
            <a:off x="4892040" y="4434840"/>
            <a:ext cx="0" cy="274320"/>
          </a:xfrm>
          <a:prstGeom prst="line">
            <a:avLst/>
          </a:prstGeom>
          <a:noFill/>
          <a:ln w="22225">
            <a:solidFill>
              <a:srgbClr val="9DB8AF"/>
            </a:solidFill>
            <a:prstDash val="solid"/>
          </a:ln>
        </p:spPr>
        <p:txBody>
          <a:bodyPr/>
          <a:lstStyle/>
          <a:p>
            <a:endParaRPr lang="en-US"/>
          </a:p>
        </p:txBody>
      </p:sp>
      <p:sp>
        <p:nvSpPr>
          <p:cNvPr id="47" name="Shape 44"/>
          <p:cNvSpPr/>
          <p:nvPr/>
        </p:nvSpPr>
        <p:spPr>
          <a:xfrm>
            <a:off x="3886200" y="4709160"/>
            <a:ext cx="2011680" cy="411480"/>
          </a:xfrm>
          <a:prstGeom prst="roundRect">
            <a:avLst>
              <a:gd name="adj" fmla="val 22222"/>
            </a:avLst>
          </a:prstGeom>
          <a:solidFill>
            <a:srgbClr val="EAF2EF"/>
          </a:solidFill>
          <a:ln w="15875">
            <a:solidFill>
              <a:srgbClr val="2E5E55"/>
            </a:solidFill>
            <a:prstDash val="solid"/>
          </a:ln>
        </p:spPr>
        <p:txBody>
          <a:bodyPr/>
          <a:lstStyle/>
          <a:p>
            <a:endParaRPr lang="en-US"/>
          </a:p>
        </p:txBody>
      </p:sp>
      <p:sp>
        <p:nvSpPr>
          <p:cNvPr id="48" name="Text 45"/>
          <p:cNvSpPr/>
          <p:nvPr/>
        </p:nvSpPr>
        <p:spPr>
          <a:xfrm>
            <a:off x="3886200" y="4709160"/>
            <a:ext cx="2011680" cy="411480"/>
          </a:xfrm>
          <a:prstGeom prst="rect">
            <a:avLst/>
          </a:prstGeom>
          <a:noFill/>
          <a:ln/>
        </p:spPr>
        <p:txBody>
          <a:bodyPr wrap="square" lIns="25400" tIns="25400" rIns="25400" bIns="25400" rtlCol="0" anchor="ctr"/>
          <a:lstStyle/>
          <a:p>
            <a:pPr marL="0" indent="0" algn="ctr">
              <a:buNone/>
            </a:pPr>
            <a:r>
              <a:rPr lang="en-US" sz="1250" dirty="0">
                <a:solidFill>
                  <a:srgbClr val="17332E"/>
                </a:solidFill>
                <a:latin typeface="Calibri" pitchFamily="34" charset="0"/>
                <a:ea typeface="Calibri" pitchFamily="34" charset="-122"/>
                <a:cs typeface="Calibri" pitchFamily="34" charset="-120"/>
              </a:rPr>
              <a:t>Géographie (pays)</a:t>
            </a:r>
            <a:endParaRPr lang="en-US" sz="1250" dirty="0"/>
          </a:p>
        </p:txBody>
      </p:sp>
      <p:sp>
        <p:nvSpPr>
          <p:cNvPr id="49" name="Shape 46"/>
          <p:cNvSpPr/>
          <p:nvPr/>
        </p:nvSpPr>
        <p:spPr>
          <a:xfrm>
            <a:off x="8275320" y="4434840"/>
            <a:ext cx="0" cy="274320"/>
          </a:xfrm>
          <a:prstGeom prst="line">
            <a:avLst/>
          </a:prstGeom>
          <a:noFill/>
          <a:ln w="22225">
            <a:solidFill>
              <a:srgbClr val="9DB8AF"/>
            </a:solidFill>
            <a:prstDash val="solid"/>
          </a:ln>
        </p:spPr>
        <p:txBody>
          <a:bodyPr/>
          <a:lstStyle/>
          <a:p>
            <a:endParaRPr lang="en-US"/>
          </a:p>
        </p:txBody>
      </p:sp>
      <p:sp>
        <p:nvSpPr>
          <p:cNvPr id="50" name="Shape 47"/>
          <p:cNvSpPr/>
          <p:nvPr/>
        </p:nvSpPr>
        <p:spPr>
          <a:xfrm>
            <a:off x="7269480" y="4709160"/>
            <a:ext cx="2011680" cy="411480"/>
          </a:xfrm>
          <a:prstGeom prst="roundRect">
            <a:avLst>
              <a:gd name="adj" fmla="val 22222"/>
            </a:avLst>
          </a:prstGeom>
          <a:solidFill>
            <a:srgbClr val="EAF2EF"/>
          </a:solidFill>
          <a:ln w="15875">
            <a:solidFill>
              <a:srgbClr val="2E5E55"/>
            </a:solidFill>
            <a:prstDash val="solid"/>
          </a:ln>
        </p:spPr>
        <p:txBody>
          <a:bodyPr/>
          <a:lstStyle/>
          <a:p>
            <a:endParaRPr lang="en-US"/>
          </a:p>
        </p:txBody>
      </p:sp>
      <p:sp>
        <p:nvSpPr>
          <p:cNvPr id="51" name="Text 48"/>
          <p:cNvSpPr/>
          <p:nvPr/>
        </p:nvSpPr>
        <p:spPr>
          <a:xfrm>
            <a:off x="7269480" y="4709160"/>
            <a:ext cx="2011680" cy="411480"/>
          </a:xfrm>
          <a:prstGeom prst="rect">
            <a:avLst/>
          </a:prstGeom>
          <a:noFill/>
          <a:ln/>
        </p:spPr>
        <p:txBody>
          <a:bodyPr wrap="square" lIns="25400" tIns="25400" rIns="25400" bIns="25400" rtlCol="0" anchor="ctr"/>
          <a:lstStyle/>
          <a:p>
            <a:pPr marL="0" indent="0" algn="ctr">
              <a:buNone/>
            </a:pPr>
            <a:r>
              <a:rPr lang="en-US" sz="1250" dirty="0">
                <a:solidFill>
                  <a:srgbClr val="17332E"/>
                </a:solidFill>
                <a:latin typeface="Calibri" pitchFamily="34" charset="0"/>
                <a:ea typeface="Calibri" pitchFamily="34" charset="-122"/>
                <a:cs typeface="Calibri" pitchFamily="34" charset="-120"/>
              </a:rPr>
              <a:t>Sous-catégorie</a:t>
            </a:r>
            <a:endParaRPr lang="en-US" sz="1250" dirty="0"/>
          </a:p>
        </p:txBody>
      </p:sp>
      <p:sp>
        <p:nvSpPr>
          <p:cNvPr id="52" name="Shape 49"/>
          <p:cNvSpPr/>
          <p:nvPr/>
        </p:nvSpPr>
        <p:spPr>
          <a:xfrm>
            <a:off x="9281160" y="4914900"/>
            <a:ext cx="365760" cy="0"/>
          </a:xfrm>
          <a:prstGeom prst="line">
            <a:avLst/>
          </a:prstGeom>
          <a:noFill/>
          <a:ln w="22225">
            <a:solidFill>
              <a:srgbClr val="9DB8AF"/>
            </a:solidFill>
            <a:prstDash val="solid"/>
          </a:ln>
        </p:spPr>
        <p:txBody>
          <a:bodyPr/>
          <a:lstStyle/>
          <a:p>
            <a:endParaRPr lang="en-US"/>
          </a:p>
        </p:txBody>
      </p:sp>
      <p:sp>
        <p:nvSpPr>
          <p:cNvPr id="53" name="Shape 50"/>
          <p:cNvSpPr/>
          <p:nvPr/>
        </p:nvSpPr>
        <p:spPr>
          <a:xfrm>
            <a:off x="9646920" y="4709160"/>
            <a:ext cx="1691640" cy="411480"/>
          </a:xfrm>
          <a:prstGeom prst="roundRect">
            <a:avLst>
              <a:gd name="adj" fmla="val 22222"/>
            </a:avLst>
          </a:prstGeom>
          <a:solidFill>
            <a:srgbClr val="EAF2EF"/>
          </a:solidFill>
          <a:ln w="15875">
            <a:solidFill>
              <a:srgbClr val="2E5E55"/>
            </a:solidFill>
            <a:prstDash val="solid"/>
          </a:ln>
        </p:spPr>
        <p:txBody>
          <a:bodyPr/>
          <a:lstStyle/>
          <a:p>
            <a:endParaRPr lang="en-US"/>
          </a:p>
        </p:txBody>
      </p:sp>
      <p:sp>
        <p:nvSpPr>
          <p:cNvPr id="54" name="Text 51"/>
          <p:cNvSpPr/>
          <p:nvPr/>
        </p:nvSpPr>
        <p:spPr>
          <a:xfrm>
            <a:off x="9646920" y="4709160"/>
            <a:ext cx="1691640" cy="411480"/>
          </a:xfrm>
          <a:prstGeom prst="rect">
            <a:avLst/>
          </a:prstGeom>
          <a:noFill/>
          <a:ln/>
        </p:spPr>
        <p:txBody>
          <a:bodyPr wrap="square" lIns="25400" tIns="25400" rIns="25400" bIns="25400" rtlCol="0" anchor="ctr"/>
          <a:lstStyle/>
          <a:p>
            <a:pPr marL="0" indent="0" algn="ctr">
              <a:buNone/>
            </a:pPr>
            <a:r>
              <a:rPr lang="en-US" sz="1250" dirty="0">
                <a:solidFill>
                  <a:srgbClr val="17332E"/>
                </a:solidFill>
                <a:latin typeface="Calibri" pitchFamily="34" charset="0"/>
                <a:ea typeface="Calibri" pitchFamily="34" charset="-122"/>
                <a:cs typeface="Calibri" pitchFamily="34" charset="-120"/>
              </a:rPr>
              <a:t>Catégorie</a:t>
            </a:r>
            <a:endParaRPr lang="en-US" sz="1250" dirty="0"/>
          </a:p>
        </p:txBody>
      </p:sp>
      <p:sp>
        <p:nvSpPr>
          <p:cNvPr id="55" name="Shape 52"/>
          <p:cNvSpPr/>
          <p:nvPr/>
        </p:nvSpPr>
        <p:spPr>
          <a:xfrm>
            <a:off x="548640" y="2377440"/>
            <a:ext cx="2468880" cy="914400"/>
          </a:xfrm>
          <a:prstGeom prst="roundRect">
            <a:avLst>
              <a:gd name="adj" fmla="val 12000"/>
            </a:avLst>
          </a:prstGeom>
          <a:solidFill>
            <a:srgbClr val="17332E"/>
          </a:solidFill>
          <a:ln w="12700">
            <a:solidFill>
              <a:srgbClr val="17332E"/>
            </a:solidFill>
            <a:prstDash val="solid"/>
          </a:ln>
          <a:effectLst>
            <a:outerShdw blurRad="50800" dist="25400" dir="5400000" algn="bl" rotWithShape="0">
              <a:srgbClr val="000000">
                <a:alpha val="18000"/>
              </a:srgbClr>
            </a:outerShdw>
          </a:effectLst>
        </p:spPr>
        <p:txBody>
          <a:bodyPr/>
          <a:lstStyle/>
          <a:p>
            <a:endParaRPr lang="en-US"/>
          </a:p>
        </p:txBody>
      </p:sp>
      <p:sp>
        <p:nvSpPr>
          <p:cNvPr id="56" name="Shape 53"/>
          <p:cNvSpPr/>
          <p:nvPr/>
        </p:nvSpPr>
        <p:spPr>
          <a:xfrm>
            <a:off x="777240" y="3209544"/>
            <a:ext cx="2011680" cy="45720"/>
          </a:xfrm>
          <a:prstGeom prst="rect">
            <a:avLst/>
          </a:prstGeom>
          <a:solidFill>
            <a:srgbClr val="E9A23B"/>
          </a:solidFill>
          <a:ln w="12700">
            <a:solidFill>
              <a:srgbClr val="E9A23B"/>
            </a:solidFill>
            <a:prstDash val="solid"/>
          </a:ln>
        </p:spPr>
        <p:txBody>
          <a:bodyPr/>
          <a:lstStyle/>
          <a:p>
            <a:endParaRPr lang="en-US"/>
          </a:p>
        </p:txBody>
      </p:sp>
      <p:sp>
        <p:nvSpPr>
          <p:cNvPr id="57" name="Text 54"/>
          <p:cNvSpPr/>
          <p:nvPr/>
        </p:nvSpPr>
        <p:spPr>
          <a:xfrm>
            <a:off x="548640" y="2377440"/>
            <a:ext cx="2468880" cy="822960"/>
          </a:xfrm>
          <a:prstGeom prst="rect">
            <a:avLst/>
          </a:prstGeom>
          <a:noFill/>
          <a:ln/>
        </p:spPr>
        <p:txBody>
          <a:bodyPr wrap="square" lIns="25400" tIns="25400" rIns="25400" bIns="2540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VENTES</a:t>
            </a:r>
            <a:endParaRPr lang="en-US" sz="1500" dirty="0"/>
          </a:p>
          <a:p>
            <a:pPr marL="0" indent="0" algn="ctr">
              <a:buNone/>
            </a:pPr>
            <a:r>
              <a:rPr lang="en-US" sz="1150" dirty="0">
                <a:solidFill>
                  <a:srgbClr val="CFE0DA"/>
                </a:solidFill>
                <a:latin typeface="Calibri" pitchFamily="34" charset="0"/>
                <a:ea typeface="Calibri" pitchFamily="34" charset="-122"/>
                <a:cs typeface="Calibri" pitchFamily="34" charset="-120"/>
              </a:rPr>
              <a:t>715 291 lignes · jour</a:t>
            </a:r>
            <a:endParaRPr lang="en-US" sz="1500" dirty="0"/>
          </a:p>
        </p:txBody>
      </p:sp>
      <p:sp>
        <p:nvSpPr>
          <p:cNvPr id="58" name="Shape 55"/>
          <p:cNvSpPr/>
          <p:nvPr/>
        </p:nvSpPr>
        <p:spPr>
          <a:xfrm>
            <a:off x="3429000" y="2377440"/>
            <a:ext cx="2468880" cy="914400"/>
          </a:xfrm>
          <a:prstGeom prst="roundRect">
            <a:avLst>
              <a:gd name="adj" fmla="val 12000"/>
            </a:avLst>
          </a:prstGeom>
          <a:solidFill>
            <a:srgbClr val="17332E"/>
          </a:solidFill>
          <a:ln w="12700">
            <a:solidFill>
              <a:srgbClr val="17332E"/>
            </a:solidFill>
            <a:prstDash val="solid"/>
          </a:ln>
          <a:effectLst>
            <a:outerShdw blurRad="50800" dist="25400" dir="5400000" algn="bl" rotWithShape="0">
              <a:srgbClr val="000000">
                <a:alpha val="18000"/>
              </a:srgbClr>
            </a:outerShdw>
          </a:effectLst>
        </p:spPr>
        <p:txBody>
          <a:bodyPr/>
          <a:lstStyle/>
          <a:p>
            <a:endParaRPr lang="en-US"/>
          </a:p>
        </p:txBody>
      </p:sp>
      <p:sp>
        <p:nvSpPr>
          <p:cNvPr id="59" name="Shape 56"/>
          <p:cNvSpPr/>
          <p:nvPr/>
        </p:nvSpPr>
        <p:spPr>
          <a:xfrm>
            <a:off x="3657600" y="3209544"/>
            <a:ext cx="2011680" cy="45720"/>
          </a:xfrm>
          <a:prstGeom prst="rect">
            <a:avLst/>
          </a:prstGeom>
          <a:solidFill>
            <a:srgbClr val="E9A23B"/>
          </a:solidFill>
          <a:ln w="12700">
            <a:solidFill>
              <a:srgbClr val="E9A23B"/>
            </a:solidFill>
            <a:prstDash val="solid"/>
          </a:ln>
        </p:spPr>
        <p:txBody>
          <a:bodyPr/>
          <a:lstStyle/>
          <a:p>
            <a:endParaRPr lang="en-US"/>
          </a:p>
        </p:txBody>
      </p:sp>
      <p:sp>
        <p:nvSpPr>
          <p:cNvPr id="60" name="Text 57"/>
          <p:cNvSpPr/>
          <p:nvPr/>
        </p:nvSpPr>
        <p:spPr>
          <a:xfrm>
            <a:off x="3429000" y="2377440"/>
            <a:ext cx="2468880" cy="822960"/>
          </a:xfrm>
          <a:prstGeom prst="rect">
            <a:avLst/>
          </a:prstGeom>
          <a:noFill/>
          <a:ln/>
        </p:spPr>
        <p:txBody>
          <a:bodyPr wrap="square" lIns="25400" tIns="25400" rIns="25400" bIns="2540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CHARGES</a:t>
            </a:r>
            <a:endParaRPr lang="en-US" sz="1500" dirty="0"/>
          </a:p>
          <a:p>
            <a:pPr marL="0" indent="0" algn="ctr">
              <a:buNone/>
            </a:pPr>
            <a:r>
              <a:rPr lang="en-US" sz="1150" dirty="0">
                <a:solidFill>
                  <a:srgbClr val="CFE0DA"/>
                </a:solidFill>
                <a:latin typeface="Calibri" pitchFamily="34" charset="0"/>
                <a:ea typeface="Calibri" pitchFamily="34" charset="-122"/>
                <a:cs typeface="Calibri" pitchFamily="34" charset="-120"/>
              </a:rPr>
              <a:t>533 370 lignes · mois</a:t>
            </a:r>
            <a:endParaRPr lang="en-US" sz="1500" dirty="0"/>
          </a:p>
        </p:txBody>
      </p:sp>
      <p:sp>
        <p:nvSpPr>
          <p:cNvPr id="61" name="Shape 58"/>
          <p:cNvSpPr/>
          <p:nvPr/>
        </p:nvSpPr>
        <p:spPr>
          <a:xfrm>
            <a:off x="6309360" y="2377440"/>
            <a:ext cx="2468880" cy="914400"/>
          </a:xfrm>
          <a:prstGeom prst="roundRect">
            <a:avLst>
              <a:gd name="adj" fmla="val 12000"/>
            </a:avLst>
          </a:prstGeom>
          <a:solidFill>
            <a:srgbClr val="17332E"/>
          </a:solidFill>
          <a:ln w="12700">
            <a:solidFill>
              <a:srgbClr val="17332E"/>
            </a:solidFill>
            <a:prstDash val="solid"/>
          </a:ln>
          <a:effectLst>
            <a:outerShdw blurRad="50800" dist="25400" dir="5400000" algn="bl" rotWithShape="0">
              <a:srgbClr val="000000">
                <a:alpha val="18000"/>
              </a:srgbClr>
            </a:outerShdw>
          </a:effectLst>
        </p:spPr>
        <p:txBody>
          <a:bodyPr/>
          <a:lstStyle/>
          <a:p>
            <a:endParaRPr lang="en-US"/>
          </a:p>
        </p:txBody>
      </p:sp>
      <p:sp>
        <p:nvSpPr>
          <p:cNvPr id="62" name="Shape 59"/>
          <p:cNvSpPr/>
          <p:nvPr/>
        </p:nvSpPr>
        <p:spPr>
          <a:xfrm>
            <a:off x="6537960" y="3209544"/>
            <a:ext cx="2011680" cy="45720"/>
          </a:xfrm>
          <a:prstGeom prst="rect">
            <a:avLst/>
          </a:prstGeom>
          <a:solidFill>
            <a:srgbClr val="E9A23B"/>
          </a:solidFill>
          <a:ln w="12700">
            <a:solidFill>
              <a:srgbClr val="E9A23B"/>
            </a:solidFill>
            <a:prstDash val="solid"/>
          </a:ln>
        </p:spPr>
        <p:txBody>
          <a:bodyPr/>
          <a:lstStyle/>
          <a:p>
            <a:endParaRPr lang="en-US"/>
          </a:p>
        </p:txBody>
      </p:sp>
      <p:sp>
        <p:nvSpPr>
          <p:cNvPr id="63" name="Text 60"/>
          <p:cNvSpPr/>
          <p:nvPr/>
        </p:nvSpPr>
        <p:spPr>
          <a:xfrm>
            <a:off x="6309360" y="2377440"/>
            <a:ext cx="2468880" cy="822960"/>
          </a:xfrm>
          <a:prstGeom prst="rect">
            <a:avLst/>
          </a:prstGeom>
          <a:noFill/>
          <a:ln/>
        </p:spPr>
        <p:txBody>
          <a:bodyPr wrap="square" lIns="25400" tIns="25400" rIns="25400" bIns="2540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STOCK</a:t>
            </a:r>
            <a:endParaRPr lang="en-US" sz="1500" dirty="0"/>
          </a:p>
          <a:p>
            <a:pPr marL="0" indent="0" algn="ctr">
              <a:buNone/>
            </a:pPr>
            <a:r>
              <a:rPr lang="en-US" sz="1150" dirty="0">
                <a:solidFill>
                  <a:srgbClr val="CFE0DA"/>
                </a:solidFill>
                <a:latin typeface="Calibri" pitchFamily="34" charset="0"/>
                <a:ea typeface="Calibri" pitchFamily="34" charset="-122"/>
                <a:cs typeface="Calibri" pitchFamily="34" charset="-120"/>
              </a:rPr>
              <a:t>1 517 688 relevés · semaine</a:t>
            </a:r>
            <a:endParaRPr lang="en-US" sz="1500" dirty="0"/>
          </a:p>
        </p:txBody>
      </p:sp>
      <p:sp>
        <p:nvSpPr>
          <p:cNvPr id="64" name="Shape 61"/>
          <p:cNvSpPr/>
          <p:nvPr/>
        </p:nvSpPr>
        <p:spPr>
          <a:xfrm>
            <a:off x="9189720" y="2377440"/>
            <a:ext cx="2468880" cy="914400"/>
          </a:xfrm>
          <a:prstGeom prst="roundRect">
            <a:avLst>
              <a:gd name="adj" fmla="val 12000"/>
            </a:avLst>
          </a:prstGeom>
          <a:solidFill>
            <a:srgbClr val="17332E"/>
          </a:solidFill>
          <a:ln w="12700">
            <a:solidFill>
              <a:srgbClr val="17332E"/>
            </a:solidFill>
            <a:prstDash val="solid"/>
          </a:ln>
          <a:effectLst>
            <a:outerShdw blurRad="50800" dist="25400" dir="5400000" algn="bl" rotWithShape="0">
              <a:srgbClr val="000000">
                <a:alpha val="18000"/>
              </a:srgbClr>
            </a:outerShdw>
          </a:effectLst>
        </p:spPr>
        <p:txBody>
          <a:bodyPr/>
          <a:lstStyle/>
          <a:p>
            <a:endParaRPr lang="en-US"/>
          </a:p>
        </p:txBody>
      </p:sp>
      <p:sp>
        <p:nvSpPr>
          <p:cNvPr id="65" name="Shape 62"/>
          <p:cNvSpPr/>
          <p:nvPr/>
        </p:nvSpPr>
        <p:spPr>
          <a:xfrm>
            <a:off x="9418320" y="3209544"/>
            <a:ext cx="2011680" cy="45720"/>
          </a:xfrm>
          <a:prstGeom prst="rect">
            <a:avLst/>
          </a:prstGeom>
          <a:solidFill>
            <a:srgbClr val="E9A23B"/>
          </a:solidFill>
          <a:ln w="12700">
            <a:solidFill>
              <a:srgbClr val="E9A23B"/>
            </a:solidFill>
            <a:prstDash val="solid"/>
          </a:ln>
        </p:spPr>
        <p:txBody>
          <a:bodyPr/>
          <a:lstStyle/>
          <a:p>
            <a:endParaRPr lang="en-US"/>
          </a:p>
        </p:txBody>
      </p:sp>
      <p:sp>
        <p:nvSpPr>
          <p:cNvPr id="66" name="Text 63"/>
          <p:cNvSpPr/>
          <p:nvPr/>
        </p:nvSpPr>
        <p:spPr>
          <a:xfrm>
            <a:off x="9189720" y="2377440"/>
            <a:ext cx="2468880" cy="822960"/>
          </a:xfrm>
          <a:prstGeom prst="rect">
            <a:avLst/>
          </a:prstGeom>
          <a:noFill/>
          <a:ln/>
        </p:spPr>
        <p:txBody>
          <a:bodyPr wrap="square" lIns="25400" tIns="25400" rIns="25400" bIns="2540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VENTES EN LIGNE</a:t>
            </a:r>
            <a:endParaRPr lang="en-US" sz="1500" dirty="0"/>
          </a:p>
          <a:p>
            <a:pPr marL="0" indent="0" algn="ctr">
              <a:buNone/>
            </a:pPr>
            <a:r>
              <a:rPr lang="en-US" sz="1150" dirty="0">
                <a:solidFill>
                  <a:srgbClr val="CFE0DA"/>
                </a:solidFill>
                <a:latin typeface="Calibri" pitchFamily="34" charset="0"/>
                <a:ea typeface="Calibri" pitchFamily="34" charset="-122"/>
                <a:cs typeface="Calibri" pitchFamily="34" charset="-120"/>
              </a:rPr>
              <a:t>3 847 281 unités · jour</a:t>
            </a:r>
            <a:endParaRPr lang="en-US" sz="1500" dirty="0"/>
          </a:p>
        </p:txBody>
      </p:sp>
      <p:sp>
        <p:nvSpPr>
          <p:cNvPr id="67" name="Text 64"/>
          <p:cNvSpPr/>
          <p:nvPr/>
        </p:nvSpPr>
        <p:spPr>
          <a:xfrm>
            <a:off x="548640" y="1243584"/>
            <a:ext cx="3657600" cy="201168"/>
          </a:xfrm>
          <a:prstGeom prst="rect">
            <a:avLst/>
          </a:prstGeom>
          <a:noFill/>
          <a:ln/>
        </p:spPr>
        <p:txBody>
          <a:bodyPr wrap="square" lIns="0" tIns="0" rIns="0" bIns="0" rtlCol="0" anchor="ctr"/>
          <a:lstStyle/>
          <a:p>
            <a:pPr marL="0" indent="0">
              <a:buNone/>
            </a:pPr>
            <a:r>
              <a:rPr lang="en-US" sz="1000" b="1" kern="0" spc="100" dirty="0">
                <a:solidFill>
                  <a:srgbClr val="E9A23B"/>
                </a:solidFill>
                <a:latin typeface="Calibri" pitchFamily="34" charset="0"/>
                <a:ea typeface="Calibri" pitchFamily="34" charset="-122"/>
                <a:cs typeface="Calibri" pitchFamily="34" charset="-120"/>
              </a:rPr>
              <a:t>DIMENSIONS PROPRES</a:t>
            </a:r>
            <a:endParaRPr lang="en-US" sz="1000" dirty="0"/>
          </a:p>
        </p:txBody>
      </p:sp>
      <p:sp>
        <p:nvSpPr>
          <p:cNvPr id="68" name="Text 65"/>
          <p:cNvSpPr/>
          <p:nvPr/>
        </p:nvSpPr>
        <p:spPr>
          <a:xfrm>
            <a:off x="548640" y="4800600"/>
            <a:ext cx="3108960" cy="228600"/>
          </a:xfrm>
          <a:prstGeom prst="rect">
            <a:avLst/>
          </a:prstGeom>
          <a:noFill/>
          <a:ln/>
        </p:spPr>
        <p:txBody>
          <a:bodyPr wrap="square" lIns="0" tIns="0" rIns="0" bIns="0" rtlCol="0" anchor="ctr"/>
          <a:lstStyle/>
          <a:p>
            <a:pPr marL="0" indent="0">
              <a:buNone/>
            </a:pPr>
            <a:r>
              <a:rPr lang="en-US" sz="1000" b="1" kern="0" spc="100" dirty="0">
                <a:solidFill>
                  <a:srgbClr val="E9A23B"/>
                </a:solidFill>
                <a:latin typeface="Calibri" pitchFamily="34" charset="0"/>
                <a:ea typeface="Calibri" pitchFamily="34" charset="-122"/>
                <a:cs typeface="Calibri" pitchFamily="34" charset="-120"/>
              </a:rPr>
              <a:t>DIMENSIONS PARTAGÉES (FLOCON)</a:t>
            </a:r>
            <a:endParaRPr lang="en-US" sz="1000" dirty="0"/>
          </a:p>
        </p:txBody>
      </p:sp>
      <p:sp>
        <p:nvSpPr>
          <p:cNvPr id="69" name="Text 66"/>
          <p:cNvSpPr/>
          <p:nvPr/>
        </p:nvSpPr>
        <p:spPr>
          <a:xfrm>
            <a:off x="9418320" y="3931920"/>
            <a:ext cx="2240280" cy="548640"/>
          </a:xfrm>
          <a:prstGeom prst="rect">
            <a:avLst/>
          </a:prstGeom>
          <a:noFill/>
          <a:ln/>
        </p:spPr>
        <p:txBody>
          <a:bodyPr wrap="square" lIns="0" tIns="0" rIns="0" bIns="0" rtlCol="0" anchor="ctr"/>
          <a:lstStyle/>
          <a:p>
            <a:pPr marL="0" indent="0">
              <a:buNone/>
            </a:pPr>
            <a:r>
              <a:rPr lang="en-US" sz="1050" i="1" dirty="0">
                <a:solidFill>
                  <a:srgbClr val="5E6B68"/>
                </a:solidFill>
                <a:latin typeface="Calibri" pitchFamily="34" charset="0"/>
                <a:ea typeface="Calibri" pitchFamily="34" charset="-122"/>
                <a:cs typeface="Calibri" pitchFamily="34" charset="-120"/>
              </a:rPr>
              <a:t>Les charges ne connaissent le produit qu'au niveau de la catégorie</a:t>
            </a:r>
            <a:endParaRPr lang="en-US" sz="1050" dirty="0"/>
          </a:p>
        </p:txBody>
      </p:sp>
      <p:sp>
        <p:nvSpPr>
          <p:cNvPr id="70" name="Shape 67"/>
          <p:cNvSpPr/>
          <p:nvPr/>
        </p:nvSpPr>
        <p:spPr>
          <a:xfrm>
            <a:off x="548640" y="5486400"/>
            <a:ext cx="11064240" cy="548640"/>
          </a:xfrm>
          <a:prstGeom prst="rect">
            <a:avLst/>
          </a:prstGeom>
          <a:solidFill>
            <a:srgbClr val="EAF2EF"/>
          </a:solidFill>
          <a:ln w="12700">
            <a:solidFill>
              <a:srgbClr val="EAF2EF"/>
            </a:solidFill>
            <a:prstDash val="solid"/>
          </a:ln>
        </p:spPr>
        <p:txBody>
          <a:bodyPr/>
          <a:lstStyle/>
          <a:p>
            <a:endParaRPr lang="en-US"/>
          </a:p>
        </p:txBody>
      </p:sp>
      <p:sp>
        <p:nvSpPr>
          <p:cNvPr id="71" name="Shape 68"/>
          <p:cNvSpPr/>
          <p:nvPr/>
        </p:nvSpPr>
        <p:spPr>
          <a:xfrm>
            <a:off x="548640" y="5486400"/>
            <a:ext cx="73152" cy="548640"/>
          </a:xfrm>
          <a:prstGeom prst="rect">
            <a:avLst/>
          </a:prstGeom>
          <a:solidFill>
            <a:srgbClr val="E9A23B"/>
          </a:solidFill>
          <a:ln w="12700">
            <a:solidFill>
              <a:srgbClr val="E9A23B"/>
            </a:solidFill>
            <a:prstDash val="solid"/>
          </a:ln>
        </p:spPr>
        <p:txBody>
          <a:bodyPr/>
          <a:lstStyle/>
          <a:p>
            <a:endParaRPr lang="en-US"/>
          </a:p>
        </p:txBody>
      </p:sp>
      <p:sp>
        <p:nvSpPr>
          <p:cNvPr id="72" name="Text 69"/>
          <p:cNvSpPr/>
          <p:nvPr/>
        </p:nvSpPr>
        <p:spPr>
          <a:xfrm>
            <a:off x="777240" y="548640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Quatre tables de faits, </a:t>
            </a:r>
            <a:r>
              <a:rPr lang="en-US" sz="1500" b="1" dirty="0">
                <a:solidFill>
                  <a:srgbClr val="17332E"/>
                </a:solidFill>
                <a:latin typeface="Calibri" pitchFamily="34" charset="0"/>
                <a:ea typeface="Calibri" pitchFamily="34" charset="-122"/>
                <a:cs typeface="Calibri" pitchFamily="34" charset="-120"/>
              </a:rPr>
              <a:t>trois dimensions partagées</a:t>
            </a:r>
            <a:r>
              <a:rPr lang="en-US" sz="1500" dirty="0">
                <a:solidFill>
                  <a:srgbClr val="17332E"/>
                </a:solidFill>
                <a:latin typeface="Calibri" pitchFamily="34" charset="0"/>
                <a:ea typeface="Calibri" pitchFamily="34" charset="-122"/>
                <a:cs typeface="Calibri" pitchFamily="34" charset="-120"/>
              </a:rPr>
              <a:t> : calendrier, boutique et produit.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Achraf Chihab</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1 · DONNÉES, ÉTAT DES LIEUX ET NETTOYAGE</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Ce que le schéma implique : quatre rythmes, un niveau commun</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Achraf Chihab</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6</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315200" cy="3803904"/>
        </p:xfrm>
        <a:graphic>
          <a:graphicData uri="http://schemas.openxmlformats.org/drawingml/2006/table">
            <a:tbl>
              <a:tblPr/>
              <a:tblGrid>
                <a:gridCol w="2633472">
                  <a:extLst>
                    <a:ext uri="{9D8B030D-6E8A-4147-A177-3AD203B41FA5}">
                      <a16:colId xmlns:a16="http://schemas.microsoft.com/office/drawing/2014/main" val="20000"/>
                    </a:ext>
                  </a:extLst>
                </a:gridCol>
                <a:gridCol w="1170432">
                  <a:extLst>
                    <a:ext uri="{9D8B030D-6E8A-4147-A177-3AD203B41FA5}">
                      <a16:colId xmlns:a16="http://schemas.microsoft.com/office/drawing/2014/main" val="20001"/>
                    </a:ext>
                  </a:extLst>
                </a:gridCol>
                <a:gridCol w="1170432">
                  <a:extLst>
                    <a:ext uri="{9D8B030D-6E8A-4147-A177-3AD203B41FA5}">
                      <a16:colId xmlns:a16="http://schemas.microsoft.com/office/drawing/2014/main" val="20002"/>
                    </a:ext>
                  </a:extLst>
                </a:gridCol>
                <a:gridCol w="1170432">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475488">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Dimension</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Ventes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Charges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Stock</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Ventes en ligne</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475488">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Rythme de la table</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jour</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mois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semaine</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jour</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Boutique (et géographie)</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oui</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oui</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oui</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une seule</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475488">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Produit (sous-catégorie, catégorie)</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oui</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par catégorie</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oui</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oui</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Promotion</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oui</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oui</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4"/>
                  </a:ext>
                </a:extLst>
              </a:tr>
              <a:tr h="475488">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Canal</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oui</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Compte, scénario</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oui</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6"/>
                  </a:ext>
                </a:extLst>
              </a:tr>
              <a:tr h="475488">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Client</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oui</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1" name="Shape 7"/>
          <p:cNvSpPr/>
          <p:nvPr/>
        </p:nvSpPr>
        <p:spPr>
          <a:xfrm>
            <a:off x="8138160" y="1463040"/>
            <a:ext cx="3474720" cy="3794760"/>
          </a:xfrm>
          <a:prstGeom prst="rect">
            <a:avLst/>
          </a:prstGeom>
          <a:solidFill>
            <a:srgbClr val="EAF2EF"/>
          </a:solidFill>
          <a:ln w="9525">
            <a:solidFill>
              <a:srgbClr val="CFE0DA"/>
            </a:solidFill>
            <a:prstDash val="solid"/>
          </a:ln>
        </p:spPr>
        <p:txBody>
          <a:bodyPr/>
          <a:lstStyle/>
          <a:p>
            <a:endParaRPr lang="en-US"/>
          </a:p>
        </p:txBody>
      </p:sp>
      <p:sp>
        <p:nvSpPr>
          <p:cNvPr id="12" name="Text 8"/>
          <p:cNvSpPr/>
          <p:nvPr/>
        </p:nvSpPr>
        <p:spPr>
          <a:xfrm>
            <a:off x="8321040" y="1572768"/>
            <a:ext cx="3108960" cy="411480"/>
          </a:xfrm>
          <a:prstGeom prst="rect">
            <a:avLst/>
          </a:prstGeom>
          <a:noFill/>
          <a:ln/>
        </p:spPr>
        <p:txBody>
          <a:bodyPr wrap="square" lIns="0" tIns="0" rIns="0" bIns="0" rtlCol="0" anchor="ctr"/>
          <a:lstStyle/>
          <a:p>
            <a:pPr marL="0" indent="0">
              <a:buNone/>
            </a:pPr>
            <a:r>
              <a:rPr lang="en-US" sz="1700" b="1" dirty="0">
                <a:solidFill>
                  <a:srgbClr val="17332E"/>
                </a:solidFill>
                <a:latin typeface="Cambria" pitchFamily="34" charset="0"/>
                <a:ea typeface="Cambria" pitchFamily="34" charset="-122"/>
                <a:cs typeface="Cambria" pitchFamily="34" charset="-120"/>
              </a:rPr>
              <a:t>Conséquence</a:t>
            </a:r>
            <a:endParaRPr lang="en-US" sz="1700" dirty="0"/>
          </a:p>
        </p:txBody>
      </p:sp>
      <p:sp>
        <p:nvSpPr>
          <p:cNvPr id="13" name="Text 9"/>
          <p:cNvSpPr/>
          <p:nvPr/>
        </p:nvSpPr>
        <p:spPr>
          <a:xfrm>
            <a:off x="8321040" y="2057400"/>
            <a:ext cx="3108960" cy="3108960"/>
          </a:xfrm>
          <a:prstGeom prst="rect">
            <a:avLst/>
          </a:prstGeom>
          <a:noFill/>
          <a:ln/>
        </p:spPr>
        <p:txBody>
          <a:bodyPr wrap="square" lIns="0" tIns="0" rIns="0" bIns="0" rtlCol="0" anchor="t"/>
          <a:lstStyle/>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Deux tables de faits ne se joignent </a:t>
            </a:r>
            <a:r>
              <a:rPr lang="en-US" sz="1350" b="1" dirty="0">
                <a:solidFill>
                  <a:srgbClr val="1F2A28"/>
                </a:solidFill>
                <a:latin typeface="Calibri" pitchFamily="34" charset="0"/>
                <a:ea typeface="Calibri" pitchFamily="34" charset="-122"/>
                <a:cs typeface="Calibri" pitchFamily="34" charset="-120"/>
              </a:rPr>
              <a:t>jamais ligne à ligne</a:t>
            </a:r>
            <a:endParaRPr lang="en-US" sz="1350" dirty="0"/>
          </a:p>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Niveau commun le plus fin : </a:t>
            </a:r>
            <a:r>
              <a:rPr lang="en-US" sz="1350" b="1" dirty="0">
                <a:solidFill>
                  <a:srgbClr val="1F2A28"/>
                </a:solidFill>
                <a:latin typeface="Calibri" pitchFamily="34" charset="0"/>
                <a:ea typeface="Calibri" pitchFamily="34" charset="-122"/>
                <a:cs typeface="Calibri" pitchFamily="34" charset="-120"/>
              </a:rPr>
              <a:t>le mois</a:t>
            </a:r>
            <a:endParaRPr lang="en-US" sz="1350" dirty="0"/>
          </a:p>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Table commune ventes et charges : 1 979 mois-boutiques</a:t>
            </a:r>
            <a:endParaRPr lang="en-US" sz="1350" dirty="0"/>
          </a:p>
        </p:txBody>
      </p:sp>
      <p:sp>
        <p:nvSpPr>
          <p:cNvPr id="14" name="Shape 10"/>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5" name="Shape 11"/>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16" name="Text 12"/>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Un loyer mensuel ou un stock hebdomadaire n'appartient à aucune vente : d'où </a:t>
            </a:r>
            <a:r>
              <a:rPr lang="en-US" sz="1500" b="1" dirty="0">
                <a:solidFill>
                  <a:srgbClr val="17332E"/>
                </a:solidFill>
                <a:latin typeface="Calibri" pitchFamily="34" charset="0"/>
                <a:ea typeface="Calibri" pitchFamily="34" charset="-122"/>
                <a:cs typeface="Calibri" pitchFamily="34" charset="-120"/>
              </a:rPr>
              <a:t>plusieurs tables de faits</a:t>
            </a:r>
            <a:r>
              <a:rPr lang="en-US" sz="1500" dirty="0">
                <a:solidFill>
                  <a:srgbClr val="17332E"/>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Achraf Chihab</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1 · DONNÉES, ÉTAT DES LIEUX ET NETTOYAGE</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État des lieux (1/2) : les ventes et leurs dimensions</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Achraf Chihab</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7</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1" cy="3803904"/>
        </p:xfrm>
        <a:graphic>
          <a:graphicData uri="http://schemas.openxmlformats.org/drawingml/2006/table">
            <a:tbl>
              <a:tblPr/>
              <a:tblGrid>
                <a:gridCol w="2102206">
                  <a:extLst>
                    <a:ext uri="{9D8B030D-6E8A-4147-A177-3AD203B41FA5}">
                      <a16:colId xmlns:a16="http://schemas.microsoft.com/office/drawing/2014/main" val="20000"/>
                    </a:ext>
                  </a:extLst>
                </a:gridCol>
                <a:gridCol w="1438351">
                  <a:extLst>
                    <a:ext uri="{9D8B030D-6E8A-4147-A177-3AD203B41FA5}">
                      <a16:colId xmlns:a16="http://schemas.microsoft.com/office/drawing/2014/main" val="20001"/>
                    </a:ext>
                  </a:extLst>
                </a:gridCol>
                <a:gridCol w="2212848">
                  <a:extLst>
                    <a:ext uri="{9D8B030D-6E8A-4147-A177-3AD203B41FA5}">
                      <a16:colId xmlns:a16="http://schemas.microsoft.com/office/drawing/2014/main" val="20002"/>
                    </a:ext>
                  </a:extLst>
                </a:gridCol>
                <a:gridCol w="995782">
                  <a:extLst>
                    <a:ext uri="{9D8B030D-6E8A-4147-A177-3AD203B41FA5}">
                      <a16:colId xmlns:a16="http://schemas.microsoft.com/office/drawing/2014/main" val="20003"/>
                    </a:ext>
                  </a:extLst>
                </a:gridCol>
                <a:gridCol w="2102206">
                  <a:extLst>
                    <a:ext uri="{9D8B030D-6E8A-4147-A177-3AD203B41FA5}">
                      <a16:colId xmlns:a16="http://schemas.microsoft.com/office/drawing/2014/main" val="20004"/>
                    </a:ext>
                  </a:extLst>
                </a:gridCol>
                <a:gridCol w="2212848">
                  <a:extLst>
                    <a:ext uri="{9D8B030D-6E8A-4147-A177-3AD203B41FA5}">
                      <a16:colId xmlns:a16="http://schemas.microsoft.com/office/drawing/2014/main" val="20005"/>
                    </a:ext>
                  </a:extLst>
                </a:gridCol>
              </a:tblGrid>
              <a:tr h="420624">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Table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Taille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Valeurs manquantes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Doublons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Types à corriger</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Commentaire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420624">
                <a:tc>
                  <a:txBody>
                    <a:bodyPr/>
                    <a:lstStyle/>
                    <a:p>
                      <a:pPr marL="0" indent="0" algn="l">
                        <a:buNone/>
                      </a:pPr>
                      <a:r>
                        <a:rPr lang="en-US" sz="1200" b="1" dirty="0">
                          <a:solidFill>
                            <a:srgbClr val="1F2A28"/>
                          </a:solidFill>
                          <a:latin typeface="Calibri" pitchFamily="34" charset="0"/>
                          <a:ea typeface="Calibri" pitchFamily="34" charset="-122"/>
                          <a:cs typeface="Calibri" pitchFamily="34" charset="-120"/>
                        </a:rPr>
                        <a:t>Ventes</a:t>
                      </a:r>
                      <a:r>
                        <a:rPr lang="en-US" sz="1200" dirty="0">
                          <a:solidFill>
                            <a:srgbClr val="1F2A28"/>
                          </a:solidFill>
                          <a:latin typeface="Calibri" pitchFamily="34" charset="0"/>
                          <a:ea typeface="Calibri" pitchFamily="34" charset="-122"/>
                          <a:cs typeface="Calibri" pitchFamily="34" charset="-120"/>
                        </a:rPr>
                        <a:t> (12 fichiers)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715 291 × 14</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Aucune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Aucun</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Tout en texte, converti sans échec</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Une ligne = cumul journalier</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en-US" sz="1200" b="1" dirty="0">
                          <a:solidFill>
                            <a:srgbClr val="1F2A28"/>
                          </a:solidFill>
                          <a:latin typeface="Calibri" pitchFamily="34" charset="0"/>
                          <a:ea typeface="Calibri" pitchFamily="34" charset="-122"/>
                          <a:cs typeface="Calibri" pitchFamily="34" charset="-120"/>
                        </a:rPr>
                        <a:t>Boutiques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306 × 25</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7 colonnes, dont </a:t>
                      </a:r>
                      <a:r>
                        <a:rPr lang="en-US" sz="1200" b="1" dirty="0">
                          <a:solidFill>
                            <a:srgbClr val="1F2A28"/>
                          </a:solidFill>
                          <a:latin typeface="Calibri" pitchFamily="34" charset="0"/>
                          <a:ea typeface="Calibri" pitchFamily="34" charset="-122"/>
                          <a:cs typeface="Calibri" pitchFamily="34" charset="-120"/>
                        </a:rPr>
                        <a:t>1 effectif</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Aucun</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Dates en texte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56 utilisées. Effectif : règle N7</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420624">
                <a:tc>
                  <a:txBody>
                    <a:bodyPr/>
                    <a:lstStyle/>
                    <a:p>
                      <a:pPr marL="0" indent="0" algn="l">
                        <a:buNone/>
                      </a:pPr>
                      <a:r>
                        <a:rPr lang="en-US" sz="1200" b="1" dirty="0">
                          <a:solidFill>
                            <a:srgbClr val="1F2A28"/>
                          </a:solidFill>
                          <a:latin typeface="Calibri" pitchFamily="34" charset="0"/>
                          <a:ea typeface="Calibri" pitchFamily="34" charset="-122"/>
                          <a:cs typeface="Calibri" pitchFamily="34" charset="-120"/>
                        </a:rPr>
                        <a:t>Géographie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674 × 10</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4 colonnes (ville : 157)</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Aucun</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Aucun</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Vides normaux</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en-US" sz="1200" b="1" dirty="0">
                          <a:solidFill>
                            <a:srgbClr val="1F2A28"/>
                          </a:solidFill>
                          <a:latin typeface="Calibri" pitchFamily="34" charset="0"/>
                          <a:ea typeface="Calibri" pitchFamily="34" charset="-122"/>
                          <a:cs typeface="Calibri" pitchFamily="34" charset="-120"/>
                        </a:rPr>
                        <a:t>Produits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2 517 × 32</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12 colonnes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Aucun</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Dates en texte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Espaces en trop : règle N1</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4"/>
                  </a:ext>
                </a:extLst>
              </a:tr>
              <a:tr h="420624">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Sous-catégories, catégories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44 × 8, 8 × 7</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Aucune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Aucun</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Aucun</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32 et 8 utilisées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lgn="l">
                        <a:buNone/>
                      </a:pPr>
                      <a:r>
                        <a:rPr lang="en-US" sz="1200" b="1" dirty="0">
                          <a:solidFill>
                            <a:srgbClr val="1F2A28"/>
                          </a:solidFill>
                          <a:latin typeface="Calibri" pitchFamily="34" charset="0"/>
                          <a:ea typeface="Calibri" pitchFamily="34" charset="-122"/>
                          <a:cs typeface="Calibri" pitchFamily="34" charset="-120"/>
                        </a:rPr>
                        <a:t>Promotions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28 × 14</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Quantités min. et max. vides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Aucun</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Dates en texte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Aucune règle de remise décrite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6"/>
                  </a:ext>
                </a:extLst>
              </a:tr>
              <a:tr h="420624">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Calendrier Contoso</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2 556 × 29</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4 colonnes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Aucun</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Sans objet</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Non repris : reconstruit</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0624">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Canaux, devises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4 × 7, 28 × 7</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Aucune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Aucun</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Aucun</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3 canaux ; une seule devise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8"/>
                  </a:ext>
                </a:extLst>
              </a:tr>
            </a:tbl>
          </a:graphicData>
        </a:graphic>
      </p:graphicFrame>
      <p:sp>
        <p:nvSpPr>
          <p:cNvPr id="11" name="Shape 7"/>
          <p:cNvSpPr/>
          <p:nvPr/>
        </p:nvSpPr>
        <p:spPr>
          <a:xfrm>
            <a:off x="548640" y="5669280"/>
            <a:ext cx="11064240" cy="502920"/>
          </a:xfrm>
          <a:prstGeom prst="rect">
            <a:avLst/>
          </a:prstGeom>
          <a:solidFill>
            <a:srgbClr val="EAF2EF"/>
          </a:solidFill>
          <a:ln w="12700">
            <a:solidFill>
              <a:srgbClr val="EAF2EF"/>
            </a:solidFill>
            <a:prstDash val="solid"/>
          </a:ln>
        </p:spPr>
        <p:txBody>
          <a:bodyPr/>
          <a:lstStyle/>
          <a:p>
            <a:endParaRPr lang="en-US"/>
          </a:p>
        </p:txBody>
      </p:sp>
      <p:sp>
        <p:nvSpPr>
          <p:cNvPr id="12" name="Shape 8"/>
          <p:cNvSpPr/>
          <p:nvPr/>
        </p:nvSpPr>
        <p:spPr>
          <a:xfrm>
            <a:off x="548640" y="5669280"/>
            <a:ext cx="73152" cy="502920"/>
          </a:xfrm>
          <a:prstGeom prst="rect">
            <a:avLst/>
          </a:prstGeom>
          <a:solidFill>
            <a:srgbClr val="E9A23B"/>
          </a:solidFill>
          <a:ln w="12700">
            <a:solidFill>
              <a:srgbClr val="E9A23B"/>
            </a:solidFill>
            <a:prstDash val="solid"/>
          </a:ln>
        </p:spPr>
        <p:txBody>
          <a:bodyPr/>
          <a:lstStyle/>
          <a:p>
            <a:endParaRPr lang="en-US"/>
          </a:p>
        </p:txBody>
      </p:sp>
      <p:sp>
        <p:nvSpPr>
          <p:cNvPr id="13" name="Text 9"/>
          <p:cNvSpPr/>
          <p:nvPr/>
        </p:nvSpPr>
        <p:spPr>
          <a:xfrm>
            <a:off x="777240" y="5669280"/>
            <a:ext cx="10698480" cy="502920"/>
          </a:xfrm>
          <a:prstGeom prst="rect">
            <a:avLst/>
          </a:prstGeom>
          <a:noFill/>
          <a:ln/>
        </p:spPr>
        <p:txBody>
          <a:bodyPr wrap="square" lIns="0" tIns="0" rIns="0" bIns="0" rtlCol="0" anchor="ctr"/>
          <a:lstStyle/>
          <a:p>
            <a:pPr marL="0" indent="0">
              <a:buNone/>
            </a:pPr>
            <a:r>
              <a:rPr lang="en-US" sz="1500" b="1" dirty="0">
                <a:solidFill>
                  <a:srgbClr val="17332E"/>
                </a:solidFill>
                <a:latin typeface="Calibri" pitchFamily="34" charset="0"/>
                <a:ea typeface="Calibri" pitchFamily="34" charset="-122"/>
                <a:cs typeface="Calibri" pitchFamily="34" charset="-120"/>
              </a:rPr>
              <a:t>Aucun doublon, aucune clé orpheline.</a:t>
            </a:r>
            <a:r>
              <a:rPr lang="en-US" sz="1500" dirty="0">
                <a:solidFill>
                  <a:srgbClr val="17332E"/>
                </a:solidFill>
                <a:latin typeface="Calibri" pitchFamily="34" charset="0"/>
                <a:ea typeface="Calibri" pitchFamily="34" charset="-122"/>
                <a:cs typeface="Calibri" pitchFamily="34" charset="-120"/>
              </a:rPr>
              <a:t> Une seule valeur manquante concerne nos analyses : l'effectif d'un magasin.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Achraf Chihab</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1 · DONNÉES, ÉTAT DES LIEUX ET NETTOYAGE</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État des lieux (2/2) : les charges, les autres tables et le contexte</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Achraf Chihab</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1" cy="3712464"/>
        </p:xfrm>
        <a:graphic>
          <a:graphicData uri="http://schemas.openxmlformats.org/drawingml/2006/table">
            <a:tbl>
              <a:tblPr/>
              <a:tblGrid>
                <a:gridCol w="2102206">
                  <a:extLst>
                    <a:ext uri="{9D8B030D-6E8A-4147-A177-3AD203B41FA5}">
                      <a16:colId xmlns:a16="http://schemas.microsoft.com/office/drawing/2014/main" val="20000"/>
                    </a:ext>
                  </a:extLst>
                </a:gridCol>
                <a:gridCol w="1659636">
                  <a:extLst>
                    <a:ext uri="{9D8B030D-6E8A-4147-A177-3AD203B41FA5}">
                      <a16:colId xmlns:a16="http://schemas.microsoft.com/office/drawing/2014/main" val="20001"/>
                    </a:ext>
                  </a:extLst>
                </a:gridCol>
                <a:gridCol w="1991563">
                  <a:extLst>
                    <a:ext uri="{9D8B030D-6E8A-4147-A177-3AD203B41FA5}">
                      <a16:colId xmlns:a16="http://schemas.microsoft.com/office/drawing/2014/main" val="20002"/>
                    </a:ext>
                  </a:extLst>
                </a:gridCol>
                <a:gridCol w="995782">
                  <a:extLst>
                    <a:ext uri="{9D8B030D-6E8A-4147-A177-3AD203B41FA5}">
                      <a16:colId xmlns:a16="http://schemas.microsoft.com/office/drawing/2014/main" val="20003"/>
                    </a:ext>
                  </a:extLst>
                </a:gridCol>
                <a:gridCol w="1659636">
                  <a:extLst>
                    <a:ext uri="{9D8B030D-6E8A-4147-A177-3AD203B41FA5}">
                      <a16:colId xmlns:a16="http://schemas.microsoft.com/office/drawing/2014/main" val="20004"/>
                    </a:ext>
                  </a:extLst>
                </a:gridCol>
                <a:gridCol w="2655418">
                  <a:extLst>
                    <a:ext uri="{9D8B030D-6E8A-4147-A177-3AD203B41FA5}">
                      <a16:colId xmlns:a16="http://schemas.microsoft.com/office/drawing/2014/main" val="20005"/>
                    </a:ext>
                  </a:extLst>
                </a:gridCol>
              </a:tblGrid>
              <a:tr h="530352">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Table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Taille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Valeurs manquantes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Doublons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Types à corriger</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Commentaire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530352">
                <a:tc>
                  <a:txBody>
                    <a:bodyPr/>
                    <a:lstStyle/>
                    <a:p>
                      <a:pPr marL="0" indent="0" algn="l">
                        <a:buNone/>
                      </a:pPr>
                      <a:r>
                        <a:rPr lang="en-US" sz="1250" b="1" dirty="0">
                          <a:solidFill>
                            <a:srgbClr val="1F2A28"/>
                          </a:solidFill>
                          <a:latin typeface="Calibri" pitchFamily="34" charset="0"/>
                          <a:ea typeface="Calibri" pitchFamily="34" charset="-122"/>
                          <a:cs typeface="Calibri" pitchFamily="34" charset="-120"/>
                        </a:rPr>
                        <a:t>Charges</a:t>
                      </a:r>
                      <a:r>
                        <a:rPr lang="en-US" sz="1250" dirty="0">
                          <a:solidFill>
                            <a:srgbClr val="1F2A28"/>
                          </a:solidFill>
                          <a:latin typeface="Calibri" pitchFamily="34" charset="0"/>
                          <a:ea typeface="Calibri" pitchFamily="34" charset="-122"/>
                          <a:cs typeface="Calibri" pitchFamily="34" charset="-120"/>
                        </a:rPr>
                        <a:t> (plan stratégique)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533 370 × 9</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Aucune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Aucun</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Date à convertir</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Ventes égales aux nôtres au cent près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Comptes, scénarios, entités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24 × 13, 3 × 7, 421 × 13</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Colonnes techniques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Aucun</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Aucun</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17 comptes de détail traduits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530352">
                <a:tc>
                  <a:txBody>
                    <a:bodyPr/>
                    <a:lstStyle/>
                    <a:p>
                      <a:pPr marL="0" indent="0" algn="l">
                        <a:buNone/>
                      </a:pPr>
                      <a:r>
                        <a:rPr lang="en-US" sz="1250" b="1" dirty="0">
                          <a:solidFill>
                            <a:srgbClr val="1F2A28"/>
                          </a:solidFill>
                          <a:latin typeface="Calibri" pitchFamily="34" charset="0"/>
                          <a:ea typeface="Calibri" pitchFamily="34" charset="-122"/>
                          <a:cs typeface="Calibri" pitchFamily="34" charset="-120"/>
                        </a:rPr>
                        <a:t>Stock</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1 517 688 × 12</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Aucune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Aucun</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Aucun (Parquet)</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Relevé partiel</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lgn="l">
                        <a:buNone/>
                      </a:pPr>
                      <a:r>
                        <a:rPr lang="en-US" sz="1250" b="1" dirty="0">
                          <a:solidFill>
                            <a:srgbClr val="1F2A28"/>
                          </a:solidFill>
                          <a:latin typeface="Calibri" pitchFamily="34" charset="0"/>
                          <a:ea typeface="Calibri" pitchFamily="34" charset="-122"/>
                          <a:cs typeface="Calibri" pitchFamily="34" charset="-120"/>
                        </a:rPr>
                        <a:t>Ventes en ligne détaillées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3 847 281 × 18</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Aucune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Aucun</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Aucun (Parquet)</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Ne recoupe pas nos montants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4"/>
                  </a:ext>
                </a:extLst>
              </a:tr>
              <a:tr h="530352">
                <a:tc>
                  <a:txBody>
                    <a:bodyPr/>
                    <a:lstStyle/>
                    <a:p>
                      <a:pPr marL="0" indent="0" algn="l">
                        <a:buNone/>
                      </a:pPr>
                      <a:r>
                        <a:rPr lang="en-US" sz="1250" b="1" dirty="0">
                          <a:solidFill>
                            <a:srgbClr val="1F2A28"/>
                          </a:solidFill>
                          <a:latin typeface="Calibri" pitchFamily="34" charset="0"/>
                          <a:ea typeface="Calibri" pitchFamily="34" charset="-122"/>
                          <a:cs typeface="Calibri" pitchFamily="34" charset="-120"/>
                        </a:rPr>
                        <a:t>Contexte</a:t>
                      </a:r>
                      <a:r>
                        <a:rPr lang="en-US" sz="1250" dirty="0">
                          <a:solidFill>
                            <a:srgbClr val="1F2A28"/>
                          </a:solidFill>
                          <a:latin typeface="Calibri" pitchFamily="34" charset="0"/>
                          <a:ea typeface="Calibri" pitchFamily="34" charset="-122"/>
                          <a:cs typeface="Calibri" pitchFamily="34" charset="-120"/>
                        </a:rPr>
                        <a:t> (collecte)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17 pays × 1 096 jours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Aucune (COVID-19 à 0 en 2019)</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Aucun</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Date, indice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18 632 lignes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0352">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Clients, employés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18 869 × 29, 293 × 27</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Sans objet</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Aucun</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Sans objet</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b="1" dirty="0">
                          <a:solidFill>
                            <a:srgbClr val="1F2A28"/>
                          </a:solidFill>
                          <a:latin typeface="Calibri" pitchFamily="34" charset="0"/>
                          <a:ea typeface="Calibri" pitchFamily="34" charset="-122"/>
                          <a:cs typeface="Calibri" pitchFamily="34" charset="-120"/>
                        </a:rPr>
                        <a:t>Non retenues</a:t>
                      </a:r>
                      <a:r>
                        <a:rPr lang="en-US" sz="1250" dirty="0">
                          <a:solidFill>
                            <a:srgbClr val="1F2A28"/>
                          </a:solidFill>
                          <a:latin typeface="Calibri" pitchFamily="34" charset="0"/>
                          <a:ea typeface="Calibri" pitchFamily="34" charset="-122"/>
                          <a:cs typeface="Calibri" pitchFamily="34" charset="-120"/>
                        </a:rPr>
                        <a:t> : aucune clé vers les ventes ou les boutiques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6"/>
                  </a:ext>
                </a:extLst>
              </a:tr>
            </a:tbl>
          </a:graphicData>
        </a:graphic>
      </p:graphicFrame>
      <p:sp>
        <p:nvSpPr>
          <p:cNvPr id="11" name="Shape 7"/>
          <p:cNvSpPr/>
          <p:nvPr/>
        </p:nvSpPr>
        <p:spPr>
          <a:xfrm>
            <a:off x="548640" y="5486400"/>
            <a:ext cx="11064240" cy="548640"/>
          </a:xfrm>
          <a:prstGeom prst="rect">
            <a:avLst/>
          </a:prstGeom>
          <a:solidFill>
            <a:srgbClr val="EAF2EF"/>
          </a:solidFill>
          <a:ln w="12700">
            <a:solidFill>
              <a:srgbClr val="EAF2EF"/>
            </a:solidFill>
            <a:prstDash val="solid"/>
          </a:ln>
        </p:spPr>
        <p:txBody>
          <a:bodyPr/>
          <a:lstStyle/>
          <a:p>
            <a:endParaRPr lang="en-US"/>
          </a:p>
        </p:txBody>
      </p:sp>
      <p:sp>
        <p:nvSpPr>
          <p:cNvPr id="12" name="Shape 8"/>
          <p:cNvSpPr/>
          <p:nvPr/>
        </p:nvSpPr>
        <p:spPr>
          <a:xfrm>
            <a:off x="548640" y="5486400"/>
            <a:ext cx="73152" cy="548640"/>
          </a:xfrm>
          <a:prstGeom prst="rect">
            <a:avLst/>
          </a:prstGeom>
          <a:solidFill>
            <a:srgbClr val="E9A23B"/>
          </a:solidFill>
          <a:ln w="12700">
            <a:solidFill>
              <a:srgbClr val="E9A23B"/>
            </a:solidFill>
            <a:prstDash val="solid"/>
          </a:ln>
        </p:spPr>
        <p:txBody>
          <a:bodyPr/>
          <a:lstStyle/>
          <a:p>
            <a:endParaRPr lang="en-US"/>
          </a:p>
        </p:txBody>
      </p:sp>
      <p:sp>
        <p:nvSpPr>
          <p:cNvPr id="13" name="Text 9"/>
          <p:cNvSpPr/>
          <p:nvPr/>
        </p:nvSpPr>
        <p:spPr>
          <a:xfrm>
            <a:off x="777240" y="548640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Clients et employés </a:t>
            </a:r>
            <a:r>
              <a:rPr lang="en-US" sz="1500" b="1" dirty="0">
                <a:solidFill>
                  <a:srgbClr val="17332E"/>
                </a:solidFill>
                <a:latin typeface="Calibri" pitchFamily="34" charset="0"/>
                <a:ea typeface="Calibri" pitchFamily="34" charset="-122"/>
                <a:cs typeface="Calibri" pitchFamily="34" charset="-120"/>
              </a:rPr>
              <a:t>ne se rattachent pas</a:t>
            </a:r>
            <a:r>
              <a:rPr lang="en-US" sz="1500" dirty="0">
                <a:solidFill>
                  <a:srgbClr val="17332E"/>
                </a:solidFill>
                <a:latin typeface="Calibri" pitchFamily="34" charset="0"/>
                <a:ea typeface="Calibri" pitchFamily="34" charset="-122"/>
                <a:cs typeface="Calibri" pitchFamily="34" charset="-120"/>
              </a:rPr>
              <a:t> aux ventes : pas de panier, pas de fidélité, pas d'effectif optimal.</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Achraf Chihab</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1 · DONNÉES, ÉTAT DES LIEUX ET NETTOYAGE</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Le diagnostic : 56 contrôles, 12 points à corriger ou à décider</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Achraf Chihab</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9</a:t>
            </a:r>
            <a:endParaRPr lang="en-US" sz="1000" dirty="0"/>
          </a:p>
        </p:txBody>
      </p:sp>
      <p:sp>
        <p:nvSpPr>
          <p:cNvPr id="10" name="Shape 7"/>
          <p:cNvSpPr/>
          <p:nvPr/>
        </p:nvSpPr>
        <p:spPr>
          <a:xfrm>
            <a:off x="548640" y="1463040"/>
            <a:ext cx="1554480" cy="1051560"/>
          </a:xfrm>
          <a:prstGeom prst="rect">
            <a:avLst/>
          </a:prstGeom>
          <a:solidFill>
            <a:srgbClr val="EAF2EF"/>
          </a:solidFill>
          <a:ln w="9525">
            <a:solidFill>
              <a:srgbClr val="CFE0DA"/>
            </a:solidFill>
            <a:prstDash val="solid"/>
          </a:ln>
        </p:spPr>
        <p:txBody>
          <a:bodyPr/>
          <a:lstStyle/>
          <a:p>
            <a:endParaRPr lang="en-US"/>
          </a:p>
        </p:txBody>
      </p:sp>
      <p:sp>
        <p:nvSpPr>
          <p:cNvPr id="11" name="Text 8"/>
          <p:cNvSpPr/>
          <p:nvPr/>
        </p:nvSpPr>
        <p:spPr>
          <a:xfrm>
            <a:off x="548640" y="1554480"/>
            <a:ext cx="1554480" cy="525780"/>
          </a:xfrm>
          <a:prstGeom prst="rect">
            <a:avLst/>
          </a:prstGeom>
          <a:noFill/>
          <a:ln/>
        </p:spPr>
        <p:txBody>
          <a:bodyPr wrap="square" lIns="0" tIns="0" rIns="0" bIns="0" rtlCol="0" anchor="ctr"/>
          <a:lstStyle/>
          <a:p>
            <a:pPr marL="0" indent="0" algn="ctr">
              <a:buNone/>
            </a:pPr>
            <a:r>
              <a:rPr lang="en-US" sz="2600" b="1" dirty="0">
                <a:solidFill>
                  <a:srgbClr val="17332E"/>
                </a:solidFill>
                <a:latin typeface="Cambria" pitchFamily="34" charset="0"/>
                <a:ea typeface="Cambria" pitchFamily="34" charset="-122"/>
                <a:cs typeface="Cambria" pitchFamily="34" charset="-120"/>
              </a:rPr>
              <a:t>33</a:t>
            </a:r>
            <a:endParaRPr lang="en-US" sz="2600" dirty="0"/>
          </a:p>
        </p:txBody>
      </p:sp>
      <p:sp>
        <p:nvSpPr>
          <p:cNvPr id="12" name="Text 9"/>
          <p:cNvSpPr/>
          <p:nvPr/>
        </p:nvSpPr>
        <p:spPr>
          <a:xfrm>
            <a:off x="640080" y="2041398"/>
            <a:ext cx="1371600" cy="420624"/>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OK</a:t>
            </a:r>
            <a:endParaRPr lang="en-US" sz="1200" dirty="0"/>
          </a:p>
        </p:txBody>
      </p:sp>
      <p:sp>
        <p:nvSpPr>
          <p:cNvPr id="13" name="Shape 10"/>
          <p:cNvSpPr/>
          <p:nvPr/>
        </p:nvSpPr>
        <p:spPr>
          <a:xfrm>
            <a:off x="2240280" y="1463040"/>
            <a:ext cx="1554480" cy="1051560"/>
          </a:xfrm>
          <a:prstGeom prst="rect">
            <a:avLst/>
          </a:prstGeom>
          <a:solidFill>
            <a:srgbClr val="EAF2EF"/>
          </a:solidFill>
          <a:ln w="9525">
            <a:solidFill>
              <a:srgbClr val="CFE0DA"/>
            </a:solidFill>
            <a:prstDash val="solid"/>
          </a:ln>
        </p:spPr>
        <p:txBody>
          <a:bodyPr/>
          <a:lstStyle/>
          <a:p>
            <a:endParaRPr lang="en-US"/>
          </a:p>
        </p:txBody>
      </p:sp>
      <p:sp>
        <p:nvSpPr>
          <p:cNvPr id="14" name="Text 11"/>
          <p:cNvSpPr/>
          <p:nvPr/>
        </p:nvSpPr>
        <p:spPr>
          <a:xfrm>
            <a:off x="2240280" y="1554480"/>
            <a:ext cx="1554480" cy="525780"/>
          </a:xfrm>
          <a:prstGeom prst="rect">
            <a:avLst/>
          </a:prstGeom>
          <a:noFill/>
          <a:ln/>
        </p:spPr>
        <p:txBody>
          <a:bodyPr wrap="square" lIns="0" tIns="0" rIns="0" bIns="0" rtlCol="0" anchor="ctr"/>
          <a:lstStyle/>
          <a:p>
            <a:pPr marL="0" indent="0" algn="ctr">
              <a:buNone/>
            </a:pPr>
            <a:r>
              <a:rPr lang="en-US" sz="2600" b="1" dirty="0">
                <a:solidFill>
                  <a:srgbClr val="17332E"/>
                </a:solidFill>
                <a:latin typeface="Cambria" pitchFamily="34" charset="0"/>
                <a:ea typeface="Cambria" pitchFamily="34" charset="-122"/>
                <a:cs typeface="Cambria" pitchFamily="34" charset="-120"/>
              </a:rPr>
              <a:t>11</a:t>
            </a:r>
            <a:endParaRPr lang="en-US" sz="2600" dirty="0"/>
          </a:p>
        </p:txBody>
      </p:sp>
      <p:sp>
        <p:nvSpPr>
          <p:cNvPr id="15" name="Text 12"/>
          <p:cNvSpPr/>
          <p:nvPr/>
        </p:nvSpPr>
        <p:spPr>
          <a:xfrm>
            <a:off x="2331720" y="2041398"/>
            <a:ext cx="1371600" cy="420624"/>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Information</a:t>
            </a:r>
            <a:endParaRPr lang="en-US" sz="1200" dirty="0"/>
          </a:p>
        </p:txBody>
      </p:sp>
      <p:sp>
        <p:nvSpPr>
          <p:cNvPr id="16" name="Shape 13"/>
          <p:cNvSpPr/>
          <p:nvPr/>
        </p:nvSpPr>
        <p:spPr>
          <a:xfrm>
            <a:off x="548640" y="2697480"/>
            <a:ext cx="1554480" cy="1051560"/>
          </a:xfrm>
          <a:prstGeom prst="rect">
            <a:avLst/>
          </a:prstGeom>
          <a:solidFill>
            <a:srgbClr val="EAF2EF"/>
          </a:solidFill>
          <a:ln w="9525">
            <a:solidFill>
              <a:srgbClr val="CFE0DA"/>
            </a:solidFill>
            <a:prstDash val="solid"/>
          </a:ln>
        </p:spPr>
        <p:txBody>
          <a:bodyPr/>
          <a:lstStyle/>
          <a:p>
            <a:endParaRPr lang="en-US"/>
          </a:p>
        </p:txBody>
      </p:sp>
      <p:sp>
        <p:nvSpPr>
          <p:cNvPr id="17" name="Text 14"/>
          <p:cNvSpPr/>
          <p:nvPr/>
        </p:nvSpPr>
        <p:spPr>
          <a:xfrm>
            <a:off x="548640" y="2788920"/>
            <a:ext cx="1554480" cy="525780"/>
          </a:xfrm>
          <a:prstGeom prst="rect">
            <a:avLst/>
          </a:prstGeom>
          <a:noFill/>
          <a:ln/>
        </p:spPr>
        <p:txBody>
          <a:bodyPr wrap="square" lIns="0" tIns="0" rIns="0" bIns="0" rtlCol="0" anchor="ctr"/>
          <a:lstStyle/>
          <a:p>
            <a:pPr marL="0" indent="0" algn="ctr">
              <a:buNone/>
            </a:pPr>
            <a:r>
              <a:rPr lang="en-US" sz="2600" b="1" dirty="0">
                <a:solidFill>
                  <a:srgbClr val="B7791F"/>
                </a:solidFill>
                <a:latin typeface="Cambria" pitchFamily="34" charset="0"/>
                <a:ea typeface="Cambria" pitchFamily="34" charset="-122"/>
                <a:cs typeface="Cambria" pitchFamily="34" charset="-120"/>
              </a:rPr>
              <a:t>5</a:t>
            </a:r>
            <a:endParaRPr lang="en-US" sz="2600" dirty="0"/>
          </a:p>
        </p:txBody>
      </p:sp>
      <p:sp>
        <p:nvSpPr>
          <p:cNvPr id="18" name="Text 15"/>
          <p:cNvSpPr/>
          <p:nvPr/>
        </p:nvSpPr>
        <p:spPr>
          <a:xfrm>
            <a:off x="640080" y="3275838"/>
            <a:ext cx="1371600" cy="420624"/>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À corriger</a:t>
            </a:r>
            <a:endParaRPr lang="en-US" sz="1200" dirty="0"/>
          </a:p>
        </p:txBody>
      </p:sp>
      <p:sp>
        <p:nvSpPr>
          <p:cNvPr id="19" name="Shape 16"/>
          <p:cNvSpPr/>
          <p:nvPr/>
        </p:nvSpPr>
        <p:spPr>
          <a:xfrm>
            <a:off x="2240280" y="2697480"/>
            <a:ext cx="1554480" cy="1051560"/>
          </a:xfrm>
          <a:prstGeom prst="rect">
            <a:avLst/>
          </a:prstGeom>
          <a:solidFill>
            <a:srgbClr val="EAF2EF"/>
          </a:solidFill>
          <a:ln w="9525">
            <a:solidFill>
              <a:srgbClr val="CFE0DA"/>
            </a:solidFill>
            <a:prstDash val="solid"/>
          </a:ln>
        </p:spPr>
        <p:txBody>
          <a:bodyPr/>
          <a:lstStyle/>
          <a:p>
            <a:endParaRPr lang="en-US"/>
          </a:p>
        </p:txBody>
      </p:sp>
      <p:sp>
        <p:nvSpPr>
          <p:cNvPr id="20" name="Text 17"/>
          <p:cNvSpPr/>
          <p:nvPr/>
        </p:nvSpPr>
        <p:spPr>
          <a:xfrm>
            <a:off x="2240280" y="2788920"/>
            <a:ext cx="1554480" cy="525780"/>
          </a:xfrm>
          <a:prstGeom prst="rect">
            <a:avLst/>
          </a:prstGeom>
          <a:noFill/>
          <a:ln/>
        </p:spPr>
        <p:txBody>
          <a:bodyPr wrap="square" lIns="0" tIns="0" rIns="0" bIns="0" rtlCol="0" anchor="ctr"/>
          <a:lstStyle/>
          <a:p>
            <a:pPr marL="0" indent="0" algn="ctr">
              <a:buNone/>
            </a:pPr>
            <a:r>
              <a:rPr lang="en-US" sz="2600" b="1" dirty="0">
                <a:solidFill>
                  <a:srgbClr val="B7791F"/>
                </a:solidFill>
                <a:latin typeface="Cambria" pitchFamily="34" charset="0"/>
                <a:ea typeface="Cambria" pitchFamily="34" charset="-122"/>
                <a:cs typeface="Cambria" pitchFamily="34" charset="-120"/>
              </a:rPr>
              <a:t>7</a:t>
            </a:r>
            <a:endParaRPr lang="en-US" sz="2600" dirty="0"/>
          </a:p>
        </p:txBody>
      </p:sp>
      <p:sp>
        <p:nvSpPr>
          <p:cNvPr id="21" name="Text 18"/>
          <p:cNvSpPr/>
          <p:nvPr/>
        </p:nvSpPr>
        <p:spPr>
          <a:xfrm>
            <a:off x="2331720" y="3275838"/>
            <a:ext cx="1371600" cy="420624"/>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À décider</a:t>
            </a:r>
            <a:endParaRPr lang="en-US" sz="1200" dirty="0"/>
          </a:p>
        </p:txBody>
      </p:sp>
      <p:sp>
        <p:nvSpPr>
          <p:cNvPr id="22" name="Text 19"/>
          <p:cNvSpPr/>
          <p:nvPr/>
        </p:nvSpPr>
        <p:spPr>
          <a:xfrm>
            <a:off x="548640" y="3977640"/>
            <a:ext cx="3246120" cy="731520"/>
          </a:xfrm>
          <a:prstGeom prst="rect">
            <a:avLst/>
          </a:prstGeom>
          <a:noFill/>
          <a:ln/>
        </p:spPr>
        <p:txBody>
          <a:bodyPr wrap="square" lIns="0" tIns="0" rIns="0" bIns="0" rtlCol="0" anchor="t"/>
          <a:lstStyle/>
          <a:p>
            <a:pPr marL="0" indent="0" algn="l">
              <a:buNone/>
            </a:pPr>
            <a:r>
              <a:rPr lang="en-US" sz="1400" i="1" dirty="0">
                <a:solidFill>
                  <a:srgbClr val="5E6B68"/>
                </a:solidFill>
                <a:latin typeface="Calibri" pitchFamily="34" charset="0"/>
                <a:ea typeface="Calibri" pitchFamily="34" charset="-122"/>
                <a:cs typeface="Calibri" pitchFamily="34" charset="-120"/>
              </a:rPr>
              <a:t>Le diagnostic observe et compte.</a:t>
            </a:r>
            <a:endParaRPr lang="en-US" sz="1400" dirty="0"/>
          </a:p>
          <a:p>
            <a:pPr marL="0" indent="0" algn="l">
              <a:buNone/>
            </a:pPr>
            <a:r>
              <a:rPr lang="en-US" sz="1400" i="1" dirty="0">
                <a:solidFill>
                  <a:srgbClr val="5E6B68"/>
                </a:solidFill>
                <a:latin typeface="Calibri" pitchFamily="34" charset="0"/>
                <a:ea typeface="Calibri" pitchFamily="34" charset="-122"/>
                <a:cs typeface="Calibri" pitchFamily="34" charset="-120"/>
              </a:rPr>
              <a:t>Il ne modifie rien.</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0" y="1417320"/>
          <a:ext cx="7498081" cy="3977640"/>
        </p:xfrm>
        <a:graphic>
          <a:graphicData uri="http://schemas.openxmlformats.org/drawingml/2006/table">
            <a:tbl>
              <a:tblPr/>
              <a:tblGrid>
                <a:gridCol w="3524098">
                  <a:extLst>
                    <a:ext uri="{9D8B030D-6E8A-4147-A177-3AD203B41FA5}">
                      <a16:colId xmlns:a16="http://schemas.microsoft.com/office/drawing/2014/main" val="20000"/>
                    </a:ext>
                  </a:extLst>
                </a:gridCol>
                <a:gridCol w="1199693">
                  <a:extLst>
                    <a:ext uri="{9D8B030D-6E8A-4147-A177-3AD203B41FA5}">
                      <a16:colId xmlns:a16="http://schemas.microsoft.com/office/drawing/2014/main" val="20001"/>
                    </a:ext>
                  </a:extLst>
                </a:gridCol>
                <a:gridCol w="2774290">
                  <a:extLst>
                    <a:ext uri="{9D8B030D-6E8A-4147-A177-3AD203B41FA5}">
                      <a16:colId xmlns:a16="http://schemas.microsoft.com/office/drawing/2014/main" val="20002"/>
                    </a:ext>
                  </a:extLst>
                </a:gridCol>
              </a:tblGrid>
              <a:tr h="393192">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Constat</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Lignes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Conséquence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393192">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Espaces en trop dans 5 colonnes texte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jusqu'à 112 882</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15 écritures pour 11 marques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3192">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Coût total calculé de </a:t>
                      </a:r>
                      <a:r>
                        <a:rPr lang="en-US" sz="1200" b="1" dirty="0">
                          <a:solidFill>
                            <a:srgbClr val="1F2A28"/>
                          </a:solidFill>
                          <a:latin typeface="Calibri" pitchFamily="34" charset="0"/>
                          <a:ea typeface="Calibri" pitchFamily="34" charset="-122"/>
                          <a:cs typeface="Calibri" pitchFamily="34" charset="-120"/>
                        </a:rPr>
                        <a:t>plusieurs façons</a:t>
                      </a:r>
                      <a:r>
                        <a:rPr lang="en-US" sz="1200" dirty="0">
                          <a:solidFill>
                            <a:srgbClr val="1F2A28"/>
                          </a:solidFill>
                          <a:latin typeface="Calibri" pitchFamily="34" charset="0"/>
                          <a:ea typeface="Calibri" pitchFamily="34" charset="-122"/>
                          <a:cs typeface="Calibri" pitchFamily="34" charset="-120"/>
                        </a:rPr>
                        <a:t> sur les lignes avec retour</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103 795</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Écart de 11,4 M$ : marge non homogène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393192">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Grandes quantités (plus de 18 unités)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102 992</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45,4 % des unités : vraies ventes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3192">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Promotion hors de sa période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29 712</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Janvier 2019 et janvier 2021</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4"/>
                  </a:ext>
                </a:extLst>
              </a:tr>
              <a:tr h="393192">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Quantité remisée supérieure à la quantité vendue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2 331</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Règle de bon sens violée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93192">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Ventes datées avant l'ouverture du magasin</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189</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Toutes en 2019, six magasins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6"/>
                  </a:ext>
                </a:extLst>
              </a:tr>
              <a:tr h="393192">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 En promotion » sans aucune unité remisée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141 413</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Promotion ne veut pas dire remise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93192">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Taux réel inférieur au taux annoncé</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97,31 %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 20 % » donne 5,82 % en moyenne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8"/>
                  </a:ext>
                </a:extLst>
              </a:tr>
              <a:tr h="393192">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Effectif vide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1 magasin</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Seule vraie valeur manquante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24" name="Shape 20"/>
          <p:cNvSpPr/>
          <p:nvPr/>
        </p:nvSpPr>
        <p:spPr>
          <a:xfrm>
            <a:off x="548640" y="5715000"/>
            <a:ext cx="11064240" cy="502920"/>
          </a:xfrm>
          <a:prstGeom prst="rect">
            <a:avLst/>
          </a:prstGeom>
          <a:solidFill>
            <a:srgbClr val="EAF2EF"/>
          </a:solidFill>
          <a:ln w="12700">
            <a:solidFill>
              <a:srgbClr val="EAF2EF"/>
            </a:solidFill>
            <a:prstDash val="solid"/>
          </a:ln>
        </p:spPr>
        <p:txBody>
          <a:bodyPr/>
          <a:lstStyle/>
          <a:p>
            <a:endParaRPr lang="en-US"/>
          </a:p>
        </p:txBody>
      </p:sp>
      <p:sp>
        <p:nvSpPr>
          <p:cNvPr id="25" name="Shape 21"/>
          <p:cNvSpPr/>
          <p:nvPr/>
        </p:nvSpPr>
        <p:spPr>
          <a:xfrm>
            <a:off x="548640" y="5715000"/>
            <a:ext cx="73152" cy="502920"/>
          </a:xfrm>
          <a:prstGeom prst="rect">
            <a:avLst/>
          </a:prstGeom>
          <a:solidFill>
            <a:srgbClr val="E9A23B"/>
          </a:solidFill>
          <a:ln w="12700">
            <a:solidFill>
              <a:srgbClr val="E9A23B"/>
            </a:solidFill>
            <a:prstDash val="solid"/>
          </a:ln>
        </p:spPr>
        <p:txBody>
          <a:bodyPr/>
          <a:lstStyle/>
          <a:p>
            <a:endParaRPr lang="en-US"/>
          </a:p>
        </p:txBody>
      </p:sp>
      <p:sp>
        <p:nvSpPr>
          <p:cNvPr id="26" name="Text 22"/>
          <p:cNvSpPr/>
          <p:nvPr/>
        </p:nvSpPr>
        <p:spPr>
          <a:xfrm>
            <a:off x="777240" y="5715000"/>
            <a:ext cx="10698480" cy="50292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Le montant des ventes est </a:t>
            </a:r>
            <a:r>
              <a:rPr lang="en-US" sz="1500" b="1" dirty="0">
                <a:solidFill>
                  <a:srgbClr val="17332E"/>
                </a:solidFill>
                <a:latin typeface="Calibri" pitchFamily="34" charset="0"/>
                <a:ea typeface="Calibri" pitchFamily="34" charset="-122"/>
                <a:cs typeface="Calibri" pitchFamily="34" charset="-120"/>
              </a:rPr>
              <a:t>brut</a:t>
            </a:r>
            <a:r>
              <a:rPr lang="en-US" sz="1500" dirty="0">
                <a:solidFill>
                  <a:srgbClr val="17332E"/>
                </a:solidFill>
                <a:latin typeface="Calibri" pitchFamily="34" charset="0"/>
                <a:ea typeface="Calibri" pitchFamily="34" charset="-122"/>
                <a:cs typeface="Calibri" pitchFamily="34" charset="-120"/>
              </a:rPr>
              <a:t> : les retours n'y sont pas déduits. Le chiffre d'affaires net est calculé par nous.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Achraf Chihab</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1 · DONNÉES, ÉTAT DES LIEUX ET NETTOYAGE</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Huit règles de nettoyage, un principe : toucher le moins possible</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Achraf Chihab</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3867912"/>
        </p:xfrm>
        <a:graphic>
          <a:graphicData uri="http://schemas.openxmlformats.org/drawingml/2006/table">
            <a:tbl>
              <a:tblPr/>
              <a:tblGrid>
                <a:gridCol w="774497">
                  <a:extLst>
                    <a:ext uri="{9D8B030D-6E8A-4147-A177-3AD203B41FA5}">
                      <a16:colId xmlns:a16="http://schemas.microsoft.com/office/drawing/2014/main" val="20000"/>
                    </a:ext>
                  </a:extLst>
                </a:gridCol>
                <a:gridCol w="3651199">
                  <a:extLst>
                    <a:ext uri="{9D8B030D-6E8A-4147-A177-3AD203B41FA5}">
                      <a16:colId xmlns:a16="http://schemas.microsoft.com/office/drawing/2014/main" val="20001"/>
                    </a:ext>
                  </a:extLst>
                </a:gridCol>
                <a:gridCol w="1659636">
                  <a:extLst>
                    <a:ext uri="{9D8B030D-6E8A-4147-A177-3AD203B41FA5}">
                      <a16:colId xmlns:a16="http://schemas.microsoft.com/office/drawing/2014/main" val="20002"/>
                    </a:ext>
                  </a:extLst>
                </a:gridCol>
                <a:gridCol w="4978908">
                  <a:extLst>
                    <a:ext uri="{9D8B030D-6E8A-4147-A177-3AD203B41FA5}">
                      <a16:colId xmlns:a16="http://schemas.microsoft.com/office/drawing/2014/main" val="20003"/>
                    </a:ext>
                  </a:extLst>
                </a:gridCol>
              </a:tblGrid>
              <a:tr h="429768">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Règle</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Ce qu'elle fait</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Lignes touchées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Pourquoi ce choix</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429768">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N1</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Retire les espaces en trop</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jusqu'à 112 882</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Sans alternative : sinon les regroupements sont faux</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N2</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Supprime continent et date de fermeture</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toutes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Une colonne constante ou vide n'explique rien</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429768">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N3</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Signale les promotions hors période</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29 712</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L'identifiant correct n'existe pas pour janvier 2019</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N4</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Signale les grandes quantités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102 992</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Vraies ventes : 45,4 % des unités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4"/>
                  </a:ext>
                </a:extLst>
              </a:tr>
              <a:tr h="429768">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N5</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Harmonise les types techniques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Compatibilité des outils, aucune valeur changée</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N6</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Ramène la quantité remisée à la quantité vendue</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2 331</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Règle vraie dans tout commerce. Montants conservés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6"/>
                  </a:ext>
                </a:extLst>
              </a:tr>
              <a:tr h="429768">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N7</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Impute l'effectif manquant</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1 magasin</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Médiane des magasins comparables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9768">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N8</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Signale les ventes avant l'ouverture</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189</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Supprimer créerait 1,14 M$ d'écart avec les charges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8"/>
                  </a:ext>
                </a:extLst>
              </a:tr>
            </a:tbl>
          </a:graphicData>
        </a:graphic>
      </p:graphicFrame>
      <p:sp>
        <p:nvSpPr>
          <p:cNvPr id="9" name="Shape 7"/>
          <p:cNvSpPr/>
          <p:nvPr/>
        </p:nvSpPr>
        <p:spPr>
          <a:xfrm>
            <a:off x="548640" y="5486400"/>
            <a:ext cx="11064240" cy="548640"/>
          </a:xfrm>
          <a:prstGeom prst="rect">
            <a:avLst/>
          </a:prstGeom>
          <a:solidFill>
            <a:srgbClr val="EAF2EF"/>
          </a:solidFill>
          <a:ln w="12700">
            <a:solidFill>
              <a:srgbClr val="EAF2EF"/>
            </a:solidFill>
            <a:prstDash val="solid"/>
          </a:ln>
        </p:spPr>
        <p:txBody>
          <a:bodyPr/>
          <a:lstStyle/>
          <a:p>
            <a:endParaRPr lang="en-US"/>
          </a:p>
        </p:txBody>
      </p:sp>
      <p:sp>
        <p:nvSpPr>
          <p:cNvPr id="12" name="Shape 8"/>
          <p:cNvSpPr/>
          <p:nvPr/>
        </p:nvSpPr>
        <p:spPr>
          <a:xfrm>
            <a:off x="548640" y="5486400"/>
            <a:ext cx="73152" cy="548640"/>
          </a:xfrm>
          <a:prstGeom prst="rect">
            <a:avLst/>
          </a:prstGeom>
          <a:solidFill>
            <a:srgbClr val="E9A23B"/>
          </a:solidFill>
          <a:ln w="12700">
            <a:solidFill>
              <a:srgbClr val="E9A23B"/>
            </a:solidFill>
            <a:prstDash val="solid"/>
          </a:ln>
        </p:spPr>
        <p:txBody>
          <a:bodyPr/>
          <a:lstStyle/>
          <a:p>
            <a:endParaRPr lang="en-US"/>
          </a:p>
        </p:txBody>
      </p:sp>
      <p:sp>
        <p:nvSpPr>
          <p:cNvPr id="13" name="Text 9"/>
          <p:cNvSpPr/>
          <p:nvPr/>
        </p:nvSpPr>
        <p:spPr>
          <a:xfrm>
            <a:off x="777240" y="5486400"/>
            <a:ext cx="10698480" cy="548640"/>
          </a:xfrm>
          <a:prstGeom prst="rect">
            <a:avLst/>
          </a:prstGeom>
          <a:noFill/>
          <a:ln/>
        </p:spPr>
        <p:txBody>
          <a:bodyPr wrap="square" lIns="0" tIns="0" rIns="0" bIns="0" rtlCol="0" anchor="ctr"/>
          <a:lstStyle/>
          <a:p>
            <a:pPr marL="0" indent="0">
              <a:buNone/>
            </a:pPr>
            <a:r>
              <a:rPr lang="en-US" sz="1500" b="1" dirty="0">
                <a:solidFill>
                  <a:srgbClr val="17332E"/>
                </a:solidFill>
                <a:latin typeface="Calibri" pitchFamily="34" charset="0"/>
                <a:ea typeface="Calibri" pitchFamily="34" charset="-122"/>
                <a:cs typeface="Calibri" pitchFamily="34" charset="-120"/>
              </a:rPr>
              <a:t>0 ligne supprimée, 0 montant modifié.</a:t>
            </a:r>
            <a:r>
              <a:rPr lang="en-US" sz="1500" dirty="0">
                <a:solidFill>
                  <a:srgbClr val="17332E"/>
                </a:solidFill>
                <a:latin typeface="Calibri" pitchFamily="34" charset="0"/>
                <a:ea typeface="Calibri" pitchFamily="34" charset="-122"/>
                <a:cs typeface="Calibri" pitchFamily="34" charset="-120"/>
              </a:rPr>
              <a:t> Le coût total n'est pas corrigé mais </a:t>
            </a:r>
            <a:r>
              <a:rPr lang="en-US" sz="1500" b="1" dirty="0">
                <a:solidFill>
                  <a:srgbClr val="17332E"/>
                </a:solidFill>
                <a:latin typeface="Calibri" pitchFamily="34" charset="0"/>
                <a:ea typeface="Calibri" pitchFamily="34" charset="-122"/>
                <a:cs typeface="Calibri" pitchFamily="34" charset="-120"/>
              </a:rPr>
              <a:t>recalculé à côté</a:t>
            </a:r>
            <a:r>
              <a:rPr lang="en-US" sz="1500" dirty="0">
                <a:solidFill>
                  <a:srgbClr val="17332E"/>
                </a:solidFill>
                <a:latin typeface="Calibri" pitchFamily="34" charset="0"/>
                <a:ea typeface="Calibri" pitchFamily="34" charset="-122"/>
                <a:cs typeface="Calibri" pitchFamily="34" charset="-120"/>
              </a:rPr>
              <a:t>, avec une formule unique.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Achraf Chihab</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1 · DONNÉES, ÉTAT DES LIEUX ET NETTOYAGE</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Trois décisions qui demandaient une enquête : N6, N7 et N8</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Achraf Chihab</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11</a:t>
            </a:r>
            <a:endParaRPr lang="en-US" sz="1000" dirty="0"/>
          </a:p>
        </p:txBody>
      </p:sp>
      <p:sp>
        <p:nvSpPr>
          <p:cNvPr id="10" name="Shape 7"/>
          <p:cNvSpPr/>
          <p:nvPr/>
        </p:nvSpPr>
        <p:spPr>
          <a:xfrm>
            <a:off x="548640" y="1463040"/>
            <a:ext cx="3566160" cy="4069080"/>
          </a:xfrm>
          <a:prstGeom prst="rect">
            <a:avLst/>
          </a:prstGeom>
          <a:solidFill>
            <a:srgbClr val="EAF2EF"/>
          </a:solidFill>
          <a:ln w="9525">
            <a:solidFill>
              <a:srgbClr val="CFE0DA"/>
            </a:solidFill>
            <a:prstDash val="solid"/>
          </a:ln>
        </p:spPr>
        <p:txBody>
          <a:bodyPr/>
          <a:lstStyle/>
          <a:p>
            <a:endParaRPr lang="en-US"/>
          </a:p>
        </p:txBody>
      </p:sp>
      <p:sp>
        <p:nvSpPr>
          <p:cNvPr id="11" name="Text 8"/>
          <p:cNvSpPr/>
          <p:nvPr/>
        </p:nvSpPr>
        <p:spPr>
          <a:xfrm>
            <a:off x="731520" y="1572768"/>
            <a:ext cx="3200400" cy="411480"/>
          </a:xfrm>
          <a:prstGeom prst="rect">
            <a:avLst/>
          </a:prstGeom>
          <a:noFill/>
          <a:ln/>
        </p:spPr>
        <p:txBody>
          <a:bodyPr wrap="square" lIns="0" tIns="0" rIns="0" bIns="0" rtlCol="0" anchor="ctr"/>
          <a:lstStyle/>
          <a:p>
            <a:pPr marL="0" indent="0">
              <a:buNone/>
            </a:pPr>
            <a:r>
              <a:rPr lang="en-US" sz="1700" b="1" dirty="0">
                <a:solidFill>
                  <a:srgbClr val="17332E"/>
                </a:solidFill>
                <a:latin typeface="Cambria" pitchFamily="34" charset="0"/>
                <a:ea typeface="Cambria" pitchFamily="34" charset="-122"/>
                <a:cs typeface="Cambria" pitchFamily="34" charset="-120"/>
              </a:rPr>
              <a:t>N6 · remise &gt; vente</a:t>
            </a:r>
            <a:endParaRPr lang="en-US" sz="1700" dirty="0"/>
          </a:p>
        </p:txBody>
      </p:sp>
      <p:sp>
        <p:nvSpPr>
          <p:cNvPr id="12" name="Text 9"/>
          <p:cNvSpPr/>
          <p:nvPr/>
        </p:nvSpPr>
        <p:spPr>
          <a:xfrm>
            <a:off x="731520" y="2057400"/>
            <a:ext cx="3200400" cy="3383280"/>
          </a:xfrm>
          <a:prstGeom prst="rect">
            <a:avLst/>
          </a:prstGeom>
          <a:noFill/>
          <a:ln/>
        </p:spPr>
        <p:txBody>
          <a:bodyPr wrap="square" lIns="0" tIns="0" rIns="0" bIns="0" rtlCol="0" anchor="t"/>
          <a:lstStyle/>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2 331 lignes : Download Games, Washers &amp; Dryers</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Unités offertes, pack : </a:t>
            </a:r>
            <a:r>
              <a:rPr lang="en-US" sz="1300" b="1" dirty="0">
                <a:solidFill>
                  <a:srgbClr val="1F2A28"/>
                </a:solidFill>
                <a:latin typeface="Calibri" pitchFamily="34" charset="0"/>
                <a:ea typeface="Calibri" pitchFamily="34" charset="-122"/>
                <a:cs typeface="Calibri" pitchFamily="34" charset="-120"/>
              </a:rPr>
              <a:t>écartés</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Erreur de quantité remisée (0 à 4, sans lien) : </a:t>
            </a:r>
            <a:r>
              <a:rPr lang="en-US" sz="1300" b="1" dirty="0">
                <a:solidFill>
                  <a:srgbClr val="1F2A28"/>
                </a:solidFill>
                <a:latin typeface="Calibri" pitchFamily="34" charset="0"/>
                <a:ea typeface="Calibri" pitchFamily="34" charset="-122"/>
                <a:cs typeface="Calibri" pitchFamily="34" charset="-120"/>
              </a:rPr>
              <a:t>retenue</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Quantité ramenée, </a:t>
            </a:r>
            <a:r>
              <a:rPr lang="en-US" sz="1300" b="1" dirty="0">
                <a:solidFill>
                  <a:srgbClr val="1F2A28"/>
                </a:solidFill>
                <a:latin typeface="Calibri" pitchFamily="34" charset="0"/>
                <a:ea typeface="Calibri" pitchFamily="34" charset="-122"/>
                <a:cs typeface="Calibri" pitchFamily="34" charset="-120"/>
              </a:rPr>
              <a:t>montants conservés</a:t>
            </a:r>
            <a:endParaRPr lang="en-US" sz="1300" dirty="0"/>
          </a:p>
        </p:txBody>
      </p:sp>
      <p:sp>
        <p:nvSpPr>
          <p:cNvPr id="13" name="Shape 10"/>
          <p:cNvSpPr/>
          <p:nvPr/>
        </p:nvSpPr>
        <p:spPr>
          <a:xfrm>
            <a:off x="4297680" y="1463040"/>
            <a:ext cx="3566160" cy="4069080"/>
          </a:xfrm>
          <a:prstGeom prst="rect">
            <a:avLst/>
          </a:prstGeom>
          <a:solidFill>
            <a:srgbClr val="EAF2EF"/>
          </a:solidFill>
          <a:ln w="9525">
            <a:solidFill>
              <a:srgbClr val="CFE0DA"/>
            </a:solidFill>
            <a:prstDash val="solid"/>
          </a:ln>
        </p:spPr>
        <p:txBody>
          <a:bodyPr/>
          <a:lstStyle/>
          <a:p>
            <a:endParaRPr lang="en-US"/>
          </a:p>
        </p:txBody>
      </p:sp>
      <p:sp>
        <p:nvSpPr>
          <p:cNvPr id="14" name="Text 11"/>
          <p:cNvSpPr/>
          <p:nvPr/>
        </p:nvSpPr>
        <p:spPr>
          <a:xfrm>
            <a:off x="4480560" y="1572768"/>
            <a:ext cx="3200400" cy="411480"/>
          </a:xfrm>
          <a:prstGeom prst="rect">
            <a:avLst/>
          </a:prstGeom>
          <a:noFill/>
          <a:ln/>
        </p:spPr>
        <p:txBody>
          <a:bodyPr wrap="square" lIns="0" tIns="0" rIns="0" bIns="0" rtlCol="0" anchor="ctr"/>
          <a:lstStyle/>
          <a:p>
            <a:pPr marL="0" indent="0">
              <a:buNone/>
            </a:pPr>
            <a:r>
              <a:rPr lang="en-US" sz="1700" b="1" dirty="0">
                <a:solidFill>
                  <a:srgbClr val="17332E"/>
                </a:solidFill>
                <a:latin typeface="Cambria" pitchFamily="34" charset="0"/>
                <a:ea typeface="Cambria" pitchFamily="34" charset="-122"/>
                <a:cs typeface="Cambria" pitchFamily="34" charset="-120"/>
              </a:rPr>
              <a:t>N7 · effectif manquant</a:t>
            </a:r>
            <a:endParaRPr lang="en-US" sz="1700" dirty="0"/>
          </a:p>
        </p:txBody>
      </p:sp>
      <p:sp>
        <p:nvSpPr>
          <p:cNvPr id="15" name="Text 12"/>
          <p:cNvSpPr/>
          <p:nvPr/>
        </p:nvSpPr>
        <p:spPr>
          <a:xfrm>
            <a:off x="4480560" y="2057400"/>
            <a:ext cx="3200400" cy="3383280"/>
          </a:xfrm>
          <a:prstGeom prst="rect">
            <a:avLst/>
          </a:prstGeom>
          <a:noFill/>
          <a:ln/>
        </p:spPr>
        <p:txBody>
          <a:bodyPr wrap="square" lIns="0" tIns="0" rIns="0" bIns="0" rtlCol="0" anchor="t"/>
          <a:lstStyle/>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Masse salariale : 55 % d'erreur moyenne, médiane : 46 %</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Corrélation de rang : </a:t>
            </a:r>
            <a:r>
              <a:rPr lang="en-US" sz="1300" b="1" dirty="0">
                <a:solidFill>
                  <a:srgbClr val="1F2A28"/>
                </a:solidFill>
                <a:latin typeface="Calibri" pitchFamily="34" charset="0"/>
                <a:ea typeface="Calibri" pitchFamily="34" charset="-122"/>
                <a:cs typeface="Calibri" pitchFamily="34" charset="-120"/>
              </a:rPr>
              <a:t>−0,08</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Lisbonne et Strasbourg : même masse salariale, 95 et 10 employés</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Retenu : </a:t>
            </a:r>
            <a:r>
              <a:rPr lang="en-US" sz="1300" b="1" dirty="0">
                <a:solidFill>
                  <a:srgbClr val="1F2A28"/>
                </a:solidFill>
                <a:latin typeface="Calibri" pitchFamily="34" charset="0"/>
                <a:ea typeface="Calibri" pitchFamily="34" charset="-122"/>
                <a:cs typeface="Calibri" pitchFamily="34" charset="-120"/>
              </a:rPr>
              <a:t>29 employés</a:t>
            </a:r>
            <a:r>
              <a:rPr lang="en-US" sz="1300" dirty="0">
                <a:solidFill>
                  <a:srgbClr val="1F2A28"/>
                </a:solidFill>
                <a:latin typeface="Calibri" pitchFamily="34" charset="0"/>
                <a:ea typeface="Calibri" pitchFamily="34" charset="-122"/>
                <a:cs typeface="Calibri" pitchFamily="34" charset="-120"/>
              </a:rPr>
              <a:t> (31 par l'autre méthode)</a:t>
            </a:r>
            <a:endParaRPr lang="en-US" sz="1300" dirty="0"/>
          </a:p>
        </p:txBody>
      </p:sp>
      <p:sp>
        <p:nvSpPr>
          <p:cNvPr id="16" name="Shape 13"/>
          <p:cNvSpPr/>
          <p:nvPr/>
        </p:nvSpPr>
        <p:spPr>
          <a:xfrm>
            <a:off x="8046720" y="1463040"/>
            <a:ext cx="3566160" cy="4069080"/>
          </a:xfrm>
          <a:prstGeom prst="rect">
            <a:avLst/>
          </a:prstGeom>
          <a:solidFill>
            <a:srgbClr val="EAF2EF"/>
          </a:solidFill>
          <a:ln w="9525">
            <a:solidFill>
              <a:srgbClr val="CFE0DA"/>
            </a:solidFill>
            <a:prstDash val="solid"/>
          </a:ln>
        </p:spPr>
        <p:txBody>
          <a:bodyPr/>
          <a:lstStyle/>
          <a:p>
            <a:endParaRPr lang="en-US"/>
          </a:p>
        </p:txBody>
      </p:sp>
      <p:sp>
        <p:nvSpPr>
          <p:cNvPr id="17" name="Text 14"/>
          <p:cNvSpPr/>
          <p:nvPr/>
        </p:nvSpPr>
        <p:spPr>
          <a:xfrm>
            <a:off x="8229600" y="1572768"/>
            <a:ext cx="3200400" cy="411480"/>
          </a:xfrm>
          <a:prstGeom prst="rect">
            <a:avLst/>
          </a:prstGeom>
          <a:noFill/>
          <a:ln/>
        </p:spPr>
        <p:txBody>
          <a:bodyPr wrap="square" lIns="0" tIns="0" rIns="0" bIns="0" rtlCol="0" anchor="ctr"/>
          <a:lstStyle/>
          <a:p>
            <a:pPr marL="0" indent="0">
              <a:buNone/>
            </a:pPr>
            <a:r>
              <a:rPr lang="en-US" sz="1700" b="1" dirty="0">
                <a:solidFill>
                  <a:srgbClr val="17332E"/>
                </a:solidFill>
                <a:latin typeface="Cambria" pitchFamily="34" charset="0"/>
                <a:ea typeface="Cambria" pitchFamily="34" charset="-122"/>
                <a:cs typeface="Cambria" pitchFamily="34" charset="-120"/>
              </a:rPr>
              <a:t>N8 · avant l'ouverture</a:t>
            </a:r>
            <a:endParaRPr lang="en-US" sz="1700" dirty="0"/>
          </a:p>
        </p:txBody>
      </p:sp>
      <p:sp>
        <p:nvSpPr>
          <p:cNvPr id="18" name="Text 15"/>
          <p:cNvSpPr/>
          <p:nvPr/>
        </p:nvSpPr>
        <p:spPr>
          <a:xfrm>
            <a:off x="8229600" y="2057400"/>
            <a:ext cx="3200400" cy="3383280"/>
          </a:xfrm>
          <a:prstGeom prst="rect">
            <a:avLst/>
          </a:prstGeom>
          <a:noFill/>
          <a:ln/>
        </p:spPr>
        <p:txBody>
          <a:bodyPr wrap="square" lIns="0" tIns="0" rIns="0" bIns="0" rtlCol="0" anchor="t"/>
          <a:lstStyle/>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189 lignes, 2019, six magasins, 1,14 M$</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Hypothèse : </a:t>
            </a:r>
            <a:r>
              <a:rPr lang="en-US" sz="1300" b="1" dirty="0">
                <a:solidFill>
                  <a:srgbClr val="1F2A28"/>
                </a:solidFill>
                <a:latin typeface="Calibri" pitchFamily="34" charset="0"/>
                <a:ea typeface="Calibri" pitchFamily="34" charset="-122"/>
                <a:cs typeface="Calibri" pitchFamily="34" charset="-120"/>
              </a:rPr>
              <a:t>date d'ouverture erronée</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Supprimer : écart avec les charges</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Gardées et signalées : mois d'activité justes</a:t>
            </a:r>
            <a:endParaRPr lang="en-US" sz="1300" dirty="0"/>
          </a:p>
        </p:txBody>
      </p:sp>
      <p:sp>
        <p:nvSpPr>
          <p:cNvPr id="19" name="Shape 16"/>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20" name="Shape 17"/>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21" name="Text 18"/>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Conséquence pour la suite : raisonner sur les </a:t>
            </a:r>
            <a:r>
              <a:rPr lang="en-US" sz="1500" b="1" dirty="0">
                <a:solidFill>
                  <a:srgbClr val="17332E"/>
                </a:solidFill>
                <a:latin typeface="Calibri" pitchFamily="34" charset="0"/>
                <a:ea typeface="Calibri" pitchFamily="34" charset="-122"/>
                <a:cs typeface="Calibri" pitchFamily="34" charset="-120"/>
              </a:rPr>
              <a:t>charges de personnel</a:t>
            </a:r>
            <a:r>
              <a:rPr lang="en-US" sz="1500" dirty="0">
                <a:solidFill>
                  <a:srgbClr val="17332E"/>
                </a:solidFill>
                <a:latin typeface="Calibri" pitchFamily="34" charset="0"/>
                <a:ea typeface="Calibri" pitchFamily="34" charset="-122"/>
                <a:cs typeface="Calibri" pitchFamily="34" charset="-120"/>
              </a:rPr>
              <a:t>, jamais sur le nombre d'employés.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Achraf Chihab</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1 · DONNÉES, ÉTAT DES LIEUX ET NETTOYAGE</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La validation : 29 contrôles prouvent que rien d'autre n'a changé</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Achraf Chihab</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12</a:t>
            </a:r>
            <a:endParaRPr lang="en-US" sz="1000" dirty="0"/>
          </a:p>
        </p:txBody>
      </p:sp>
      <p:sp>
        <p:nvSpPr>
          <p:cNvPr id="10" name="Shape 7"/>
          <p:cNvSpPr/>
          <p:nvPr/>
        </p:nvSpPr>
        <p:spPr>
          <a:xfrm>
            <a:off x="548640" y="1554480"/>
            <a:ext cx="2606040" cy="1143000"/>
          </a:xfrm>
          <a:prstGeom prst="rect">
            <a:avLst/>
          </a:prstGeom>
          <a:solidFill>
            <a:srgbClr val="EAF2EF"/>
          </a:solidFill>
          <a:ln w="9525">
            <a:solidFill>
              <a:srgbClr val="CFE0DA"/>
            </a:solidFill>
            <a:prstDash val="solid"/>
          </a:ln>
        </p:spPr>
        <p:txBody>
          <a:bodyPr/>
          <a:lstStyle/>
          <a:p>
            <a:endParaRPr lang="en-US"/>
          </a:p>
        </p:txBody>
      </p:sp>
      <p:sp>
        <p:nvSpPr>
          <p:cNvPr id="11" name="Text 8"/>
          <p:cNvSpPr/>
          <p:nvPr/>
        </p:nvSpPr>
        <p:spPr>
          <a:xfrm>
            <a:off x="548640" y="1645920"/>
            <a:ext cx="2606040" cy="571500"/>
          </a:xfrm>
          <a:prstGeom prst="rect">
            <a:avLst/>
          </a:prstGeom>
          <a:noFill/>
          <a:ln/>
        </p:spPr>
        <p:txBody>
          <a:bodyPr wrap="square" lIns="0" tIns="0" rIns="0" bIns="0" rtlCol="0" anchor="ctr"/>
          <a:lstStyle/>
          <a:p>
            <a:pPr marL="0" indent="0" algn="ctr">
              <a:buNone/>
            </a:pPr>
            <a:r>
              <a:rPr lang="en-US" sz="2600" b="1" dirty="0">
                <a:solidFill>
                  <a:srgbClr val="17332E"/>
                </a:solidFill>
                <a:latin typeface="Cambria" pitchFamily="34" charset="0"/>
                <a:ea typeface="Cambria" pitchFamily="34" charset="-122"/>
                <a:cs typeface="Cambria" pitchFamily="34" charset="-120"/>
              </a:rPr>
              <a:t>29 / 29</a:t>
            </a:r>
            <a:endParaRPr lang="en-US" sz="2600" dirty="0"/>
          </a:p>
        </p:txBody>
      </p:sp>
      <p:sp>
        <p:nvSpPr>
          <p:cNvPr id="12" name="Text 9"/>
          <p:cNvSpPr/>
          <p:nvPr/>
        </p:nvSpPr>
        <p:spPr>
          <a:xfrm>
            <a:off x="640080" y="2183130"/>
            <a:ext cx="2423160" cy="457200"/>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contrôles de validation réussis</a:t>
            </a:r>
            <a:endParaRPr lang="en-US" sz="1200" dirty="0"/>
          </a:p>
        </p:txBody>
      </p:sp>
      <p:sp>
        <p:nvSpPr>
          <p:cNvPr id="13" name="Shape 10"/>
          <p:cNvSpPr/>
          <p:nvPr/>
        </p:nvSpPr>
        <p:spPr>
          <a:xfrm>
            <a:off x="3364992" y="1554480"/>
            <a:ext cx="2606040" cy="1143000"/>
          </a:xfrm>
          <a:prstGeom prst="rect">
            <a:avLst/>
          </a:prstGeom>
          <a:solidFill>
            <a:srgbClr val="EAF2EF"/>
          </a:solidFill>
          <a:ln w="9525">
            <a:solidFill>
              <a:srgbClr val="CFE0DA"/>
            </a:solidFill>
            <a:prstDash val="solid"/>
          </a:ln>
        </p:spPr>
        <p:txBody>
          <a:bodyPr/>
          <a:lstStyle/>
          <a:p>
            <a:endParaRPr lang="en-US"/>
          </a:p>
        </p:txBody>
      </p:sp>
      <p:sp>
        <p:nvSpPr>
          <p:cNvPr id="14" name="Text 11"/>
          <p:cNvSpPr/>
          <p:nvPr/>
        </p:nvSpPr>
        <p:spPr>
          <a:xfrm>
            <a:off x="3364992" y="1645920"/>
            <a:ext cx="2606040" cy="571500"/>
          </a:xfrm>
          <a:prstGeom prst="rect">
            <a:avLst/>
          </a:prstGeom>
          <a:noFill/>
          <a:ln/>
        </p:spPr>
        <p:txBody>
          <a:bodyPr wrap="square" lIns="0" tIns="0" rIns="0" bIns="0" rtlCol="0" anchor="ctr"/>
          <a:lstStyle/>
          <a:p>
            <a:pPr marL="0" indent="0" algn="ctr">
              <a:buNone/>
            </a:pPr>
            <a:r>
              <a:rPr lang="en-US" sz="2600" b="1" dirty="0">
                <a:solidFill>
                  <a:srgbClr val="17332E"/>
                </a:solidFill>
                <a:latin typeface="Cambria" pitchFamily="34" charset="0"/>
                <a:ea typeface="Cambria" pitchFamily="34" charset="-122"/>
                <a:cs typeface="Cambria" pitchFamily="34" charset="-120"/>
              </a:rPr>
              <a:t>715 291</a:t>
            </a:r>
            <a:endParaRPr lang="en-US" sz="2600" dirty="0"/>
          </a:p>
        </p:txBody>
      </p:sp>
      <p:sp>
        <p:nvSpPr>
          <p:cNvPr id="15" name="Text 12"/>
          <p:cNvSpPr/>
          <p:nvPr/>
        </p:nvSpPr>
        <p:spPr>
          <a:xfrm>
            <a:off x="3456432" y="2183130"/>
            <a:ext cx="2423160" cy="457200"/>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lignes, mêmes identifiants</a:t>
            </a:r>
            <a:endParaRPr lang="en-US" sz="1200" dirty="0"/>
          </a:p>
        </p:txBody>
      </p:sp>
      <p:sp>
        <p:nvSpPr>
          <p:cNvPr id="16" name="Shape 13"/>
          <p:cNvSpPr/>
          <p:nvPr/>
        </p:nvSpPr>
        <p:spPr>
          <a:xfrm>
            <a:off x="6190488" y="1554480"/>
            <a:ext cx="2606040" cy="1143000"/>
          </a:xfrm>
          <a:prstGeom prst="rect">
            <a:avLst/>
          </a:prstGeom>
          <a:solidFill>
            <a:srgbClr val="EAF2EF"/>
          </a:solidFill>
          <a:ln w="9525">
            <a:solidFill>
              <a:srgbClr val="CFE0DA"/>
            </a:solidFill>
            <a:prstDash val="solid"/>
          </a:ln>
        </p:spPr>
        <p:txBody>
          <a:bodyPr/>
          <a:lstStyle/>
          <a:p>
            <a:endParaRPr lang="en-US"/>
          </a:p>
        </p:txBody>
      </p:sp>
      <p:sp>
        <p:nvSpPr>
          <p:cNvPr id="17" name="Text 14"/>
          <p:cNvSpPr/>
          <p:nvPr/>
        </p:nvSpPr>
        <p:spPr>
          <a:xfrm>
            <a:off x="6190488" y="1645920"/>
            <a:ext cx="2606040" cy="571500"/>
          </a:xfrm>
          <a:prstGeom prst="rect">
            <a:avLst/>
          </a:prstGeom>
          <a:noFill/>
          <a:ln/>
        </p:spPr>
        <p:txBody>
          <a:bodyPr wrap="square" lIns="0" tIns="0" rIns="0" bIns="0" rtlCol="0" anchor="ctr"/>
          <a:lstStyle/>
          <a:p>
            <a:pPr marL="0" indent="0" algn="ctr">
              <a:buNone/>
            </a:pPr>
            <a:r>
              <a:rPr lang="en-US" sz="2600" b="1" dirty="0">
                <a:solidFill>
                  <a:srgbClr val="17332E"/>
                </a:solidFill>
                <a:latin typeface="Cambria" pitchFamily="34" charset="0"/>
                <a:ea typeface="Cambria" pitchFamily="34" charset="-122"/>
                <a:cs typeface="Cambria" pitchFamily="34" charset="-120"/>
              </a:rPr>
              <a:t>9 / 9</a:t>
            </a:r>
            <a:endParaRPr lang="en-US" sz="2600" dirty="0"/>
          </a:p>
        </p:txBody>
      </p:sp>
      <p:sp>
        <p:nvSpPr>
          <p:cNvPr id="18" name="Text 15"/>
          <p:cNvSpPr/>
          <p:nvPr/>
        </p:nvSpPr>
        <p:spPr>
          <a:xfrm>
            <a:off x="6281928" y="2183130"/>
            <a:ext cx="2423160" cy="457200"/>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mesures conformes : 8 inchangées, 1 corrigée comme prévu (N6)</a:t>
            </a:r>
            <a:endParaRPr lang="en-US" sz="1200" dirty="0"/>
          </a:p>
        </p:txBody>
      </p:sp>
      <p:sp>
        <p:nvSpPr>
          <p:cNvPr id="19" name="Shape 16"/>
          <p:cNvSpPr/>
          <p:nvPr/>
        </p:nvSpPr>
        <p:spPr>
          <a:xfrm>
            <a:off x="9006840" y="1554480"/>
            <a:ext cx="2606040" cy="1143000"/>
          </a:xfrm>
          <a:prstGeom prst="rect">
            <a:avLst/>
          </a:prstGeom>
          <a:solidFill>
            <a:srgbClr val="EAF2EF"/>
          </a:solidFill>
          <a:ln w="9525">
            <a:solidFill>
              <a:srgbClr val="CFE0DA"/>
            </a:solidFill>
            <a:prstDash val="solid"/>
          </a:ln>
        </p:spPr>
        <p:txBody>
          <a:bodyPr/>
          <a:lstStyle/>
          <a:p>
            <a:endParaRPr lang="en-US"/>
          </a:p>
        </p:txBody>
      </p:sp>
      <p:sp>
        <p:nvSpPr>
          <p:cNvPr id="20" name="Text 17"/>
          <p:cNvSpPr/>
          <p:nvPr/>
        </p:nvSpPr>
        <p:spPr>
          <a:xfrm>
            <a:off x="9006840" y="1645920"/>
            <a:ext cx="2606040" cy="571500"/>
          </a:xfrm>
          <a:prstGeom prst="rect">
            <a:avLst/>
          </a:prstGeom>
          <a:noFill/>
          <a:ln/>
        </p:spPr>
        <p:txBody>
          <a:bodyPr wrap="square" lIns="0" tIns="0" rIns="0" bIns="0" rtlCol="0" anchor="ctr"/>
          <a:lstStyle/>
          <a:p>
            <a:pPr marL="0" indent="0" algn="ctr">
              <a:buNone/>
            </a:pPr>
            <a:r>
              <a:rPr lang="en-US" sz="2600" b="1" dirty="0">
                <a:solidFill>
                  <a:srgbClr val="17332E"/>
                </a:solidFill>
                <a:latin typeface="Cambria" pitchFamily="34" charset="0"/>
                <a:ea typeface="Cambria" pitchFamily="34" charset="-122"/>
                <a:cs typeface="Cambria" pitchFamily="34" charset="-120"/>
              </a:rPr>
              <a:t>24</a:t>
            </a:r>
            <a:endParaRPr lang="en-US" sz="2600" dirty="0"/>
          </a:p>
        </p:txBody>
      </p:sp>
      <p:sp>
        <p:nvSpPr>
          <p:cNvPr id="21" name="Text 18"/>
          <p:cNvSpPr/>
          <p:nvPr/>
        </p:nvSpPr>
        <p:spPr>
          <a:xfrm>
            <a:off x="9098280" y="2183130"/>
            <a:ext cx="2423160" cy="457200"/>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entrées au journal de nettoyage</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017520"/>
          <a:ext cx="11064240" cy="1828800"/>
        </p:xfrm>
        <a:graphic>
          <a:graphicData uri="http://schemas.openxmlformats.org/drawingml/2006/table">
            <a:tbl>
              <a:tblPr/>
              <a:tblGrid>
                <a:gridCol w="3097987">
                  <a:extLst>
                    <a:ext uri="{9D8B030D-6E8A-4147-A177-3AD203B41FA5}">
                      <a16:colId xmlns:a16="http://schemas.microsoft.com/office/drawing/2014/main" val="20000"/>
                    </a:ext>
                  </a:extLst>
                </a:gridCol>
                <a:gridCol w="1548994">
                  <a:extLst>
                    <a:ext uri="{9D8B030D-6E8A-4147-A177-3AD203B41FA5}">
                      <a16:colId xmlns:a16="http://schemas.microsoft.com/office/drawing/2014/main" val="20001"/>
                    </a:ext>
                  </a:extLst>
                </a:gridCol>
                <a:gridCol w="6417259">
                  <a:extLst>
                    <a:ext uri="{9D8B030D-6E8A-4147-A177-3AD203B41FA5}">
                      <a16:colId xmlns:a16="http://schemas.microsoft.com/office/drawing/2014/main" val="20002"/>
                    </a:ext>
                  </a:extLst>
                </a:gridCol>
              </a:tblGrid>
              <a:tr h="45720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Étape suivante</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Contrôles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Ce qui est vérifié</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457200">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Variables dérivées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Cohérence des 22 nouvelles variables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Charges et table commune</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CA et marge égaux à la table des ventes ; charges égales au plan</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457200">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Stock et ventes en ligne détaillées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tous réussis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Aucune ligne perdue, aucune clé répétée</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3" name="Shape 19"/>
          <p:cNvSpPr/>
          <p:nvPr/>
        </p:nvSpPr>
        <p:spPr>
          <a:xfrm>
            <a:off x="548640" y="5440680"/>
            <a:ext cx="11064240" cy="548640"/>
          </a:xfrm>
          <a:prstGeom prst="rect">
            <a:avLst/>
          </a:prstGeom>
          <a:solidFill>
            <a:srgbClr val="EAF2EF"/>
          </a:solidFill>
          <a:ln w="12700">
            <a:solidFill>
              <a:srgbClr val="EAF2EF"/>
            </a:solidFill>
            <a:prstDash val="solid"/>
          </a:ln>
        </p:spPr>
        <p:txBody>
          <a:bodyPr/>
          <a:lstStyle/>
          <a:p>
            <a:endParaRPr lang="en-US"/>
          </a:p>
        </p:txBody>
      </p:sp>
      <p:sp>
        <p:nvSpPr>
          <p:cNvPr id="24" name="Shape 20"/>
          <p:cNvSpPr/>
          <p:nvPr/>
        </p:nvSpPr>
        <p:spPr>
          <a:xfrm>
            <a:off x="548640" y="5440680"/>
            <a:ext cx="73152" cy="548640"/>
          </a:xfrm>
          <a:prstGeom prst="rect">
            <a:avLst/>
          </a:prstGeom>
          <a:solidFill>
            <a:srgbClr val="E9A23B"/>
          </a:solidFill>
          <a:ln w="12700">
            <a:solidFill>
              <a:srgbClr val="E9A23B"/>
            </a:solidFill>
            <a:prstDash val="solid"/>
          </a:ln>
        </p:spPr>
        <p:txBody>
          <a:bodyPr/>
          <a:lstStyle/>
          <a:p>
            <a:endParaRPr lang="en-US"/>
          </a:p>
        </p:txBody>
      </p:sp>
      <p:sp>
        <p:nvSpPr>
          <p:cNvPr id="25" name="Text 21"/>
          <p:cNvSpPr/>
          <p:nvPr/>
        </p:nvSpPr>
        <p:spPr>
          <a:xfrm>
            <a:off x="777240" y="54406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CA total après nettoyage : </a:t>
            </a:r>
            <a:r>
              <a:rPr lang="en-US" sz="1500" b="1" dirty="0">
                <a:solidFill>
                  <a:srgbClr val="17332E"/>
                </a:solidFill>
                <a:latin typeface="Calibri" pitchFamily="34" charset="0"/>
                <a:ea typeface="Calibri" pitchFamily="34" charset="-122"/>
                <a:cs typeface="Calibri" pitchFamily="34" charset="-120"/>
              </a:rPr>
              <a:t>2 426 148 106,30 $</a:t>
            </a:r>
            <a:r>
              <a:rPr lang="en-US" sz="1500" dirty="0">
                <a:solidFill>
                  <a:srgbClr val="17332E"/>
                </a:solidFill>
                <a:latin typeface="Calibri" pitchFamily="34" charset="0"/>
                <a:ea typeface="Calibri" pitchFamily="34" charset="-122"/>
                <a:cs typeface="Calibri" pitchFamily="34" charset="-120"/>
              </a:rPr>
              <a:t>, identique à la source. Seule la quantité remisée a changé, sur 2 331 lignes.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Achraf Chihab</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1 · DONNÉES, ÉTAT DES LIEUX ET NETTOYAGE</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Un jeu de données généré, que nous lisons comme une entreprise réelle</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Achraf Chihab</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13</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035040" cy="3291840"/>
        </p:xfrm>
        <a:graphic>
          <a:graphicData uri="http://schemas.openxmlformats.org/drawingml/2006/table">
            <a:tbl>
              <a:tblPr/>
              <a:tblGrid>
                <a:gridCol w="1025957">
                  <a:extLst>
                    <a:ext uri="{9D8B030D-6E8A-4147-A177-3AD203B41FA5}">
                      <a16:colId xmlns:a16="http://schemas.microsoft.com/office/drawing/2014/main" val="20000"/>
                    </a:ext>
                  </a:extLst>
                </a:gridCol>
                <a:gridCol w="1991563">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54864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Test</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Vrai commerce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Nos données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54864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Grain</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Un ticket, un client</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Ni client ni ticket : </a:t>
                      </a:r>
                      <a:r>
                        <a:rPr lang="en-US" sz="1250" b="1" dirty="0">
                          <a:solidFill>
                            <a:srgbClr val="1F2A28"/>
                          </a:solidFill>
                          <a:latin typeface="Calibri" pitchFamily="34" charset="0"/>
                          <a:ea typeface="Calibri" pitchFamily="34" charset="-122"/>
                          <a:cs typeface="Calibri" pitchFamily="34" charset="-120"/>
                        </a:rPr>
                        <a:t>cumul journalier</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Quantités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Beaucoup de ventes d'une unité</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b="1" dirty="0">
                          <a:solidFill>
                            <a:srgbClr val="1F2A28"/>
                          </a:solidFill>
                          <a:latin typeface="Calibri" pitchFamily="34" charset="0"/>
                          <a:ea typeface="Calibri" pitchFamily="34" charset="-122"/>
                          <a:cs typeface="Calibri" pitchFamily="34" charset="-120"/>
                        </a:rPr>
                        <a:t>Aucune</a:t>
                      </a:r>
                      <a:r>
                        <a:rPr lang="en-US" sz="1250" dirty="0">
                          <a:solidFill>
                            <a:srgbClr val="1F2A28"/>
                          </a:solidFill>
                          <a:latin typeface="Calibri" pitchFamily="34" charset="0"/>
                          <a:ea typeface="Calibri" pitchFamily="34" charset="-122"/>
                          <a:cs typeface="Calibri" pitchFamily="34" charset="-120"/>
                        </a:rPr>
                        <a:t> ligne d'une unité. Minimum 2</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54864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Prix</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Ils bougent</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F2A28"/>
                          </a:solidFill>
                          <a:latin typeface="Calibri" pitchFamily="34" charset="0"/>
                          <a:ea typeface="Calibri" pitchFamily="34" charset="-122"/>
                          <a:cs typeface="Calibri" pitchFamily="34" charset="-120"/>
                        </a:rPr>
                        <a:t>Aucun</a:t>
                      </a:r>
                      <a:r>
                        <a:rPr lang="en-US" sz="1250" dirty="0">
                          <a:solidFill>
                            <a:srgbClr val="1F2A28"/>
                          </a:solidFill>
                          <a:latin typeface="Calibri" pitchFamily="34" charset="0"/>
                          <a:ea typeface="Calibri" pitchFamily="34" charset="-122"/>
                          <a:cs typeface="Calibri" pitchFamily="34" charset="-120"/>
                        </a:rPr>
                        <a:t> prix ne change en trois ans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Jours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La semaine a un rythme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14,2 % à 14,4 % par jour : uniforme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4"/>
                  </a:ext>
                </a:extLst>
              </a:tr>
              <a:tr h="54864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COVID-19</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Chute en magasin</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Corrélation de +0,02 : aucune réaction</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pic>
        <p:nvPicPr>
          <p:cNvPr id="11" name="Image 0" descr="/tmp/claude-0/complet/reports/figures/03_covid_et_ventes.png"/>
          <p:cNvPicPr>
            <a:picLocks noChangeAspect="1"/>
          </p:cNvPicPr>
          <p:nvPr/>
        </p:nvPicPr>
        <p:blipFill>
          <a:blip r:embed="rId3"/>
          <a:stretch>
            <a:fillRect/>
          </a:stretch>
        </p:blipFill>
        <p:spPr>
          <a:xfrm>
            <a:off x="6812280" y="1524922"/>
            <a:ext cx="4800600" cy="1979356"/>
          </a:xfrm>
          <a:prstGeom prst="rect">
            <a:avLst/>
          </a:prstGeom>
        </p:spPr>
      </p:pic>
      <p:sp>
        <p:nvSpPr>
          <p:cNvPr id="12" name="Text 7"/>
          <p:cNvSpPr/>
          <p:nvPr/>
        </p:nvSpPr>
        <p:spPr>
          <a:xfrm>
            <a:off x="6812280" y="3703320"/>
            <a:ext cx="4800600" cy="1005840"/>
          </a:xfrm>
          <a:prstGeom prst="rect">
            <a:avLst/>
          </a:prstGeom>
          <a:noFill/>
          <a:ln/>
        </p:spPr>
        <p:txBody>
          <a:bodyPr wrap="square" lIns="0" tIns="0" rIns="0" bIns="0" rtlCol="0" anchor="t"/>
          <a:lstStyle/>
          <a:p>
            <a:pPr marL="0" indent="0" algn="l">
              <a:buNone/>
            </a:pPr>
            <a:r>
              <a:rPr lang="en-US" sz="1350" dirty="0">
                <a:solidFill>
                  <a:srgbClr val="5E6B68"/>
                </a:solidFill>
                <a:latin typeface="Calibri" pitchFamily="34" charset="0"/>
                <a:ea typeface="Calibri" pitchFamily="34" charset="-122"/>
                <a:cs typeface="Calibri" pitchFamily="34" charset="-120"/>
              </a:rPr>
              <a:t>Magasins : </a:t>
            </a:r>
            <a:r>
              <a:rPr lang="en-US" sz="1350" b="1" dirty="0">
                <a:solidFill>
                  <a:srgbClr val="5E6B68"/>
                </a:solidFill>
                <a:latin typeface="Calibri" pitchFamily="34" charset="0"/>
                <a:ea typeface="Calibri" pitchFamily="34" charset="-122"/>
                <a:cs typeface="Calibri" pitchFamily="34" charset="-120"/>
              </a:rPr>
              <a:t>−43,2 %</a:t>
            </a:r>
            <a:r>
              <a:rPr lang="en-US" sz="1350" dirty="0">
                <a:solidFill>
                  <a:srgbClr val="5E6B68"/>
                </a:solidFill>
                <a:latin typeface="Calibri" pitchFamily="34" charset="0"/>
                <a:ea typeface="Calibri" pitchFamily="34" charset="-122"/>
                <a:cs typeface="Calibri" pitchFamily="34" charset="-120"/>
              </a:rPr>
              <a:t> dès janvier 2020, quand l'indice de sévérité vaut 1 sur 100. La vente en ligne ne prend pas le relais (11 % de la perte).</a:t>
            </a:r>
            <a:endParaRPr lang="en-US" sz="1350" dirty="0"/>
          </a:p>
        </p:txBody>
      </p:sp>
      <p:sp>
        <p:nvSpPr>
          <p:cNvPr id="13" name="Shape 8"/>
          <p:cNvSpPr/>
          <p:nvPr/>
        </p:nvSpPr>
        <p:spPr>
          <a:xfrm>
            <a:off x="548640" y="4937760"/>
            <a:ext cx="11064240" cy="685800"/>
          </a:xfrm>
          <a:prstGeom prst="rect">
            <a:avLst/>
          </a:prstGeom>
          <a:solidFill>
            <a:srgbClr val="EAF2EF"/>
          </a:solidFill>
          <a:ln w="12700">
            <a:solidFill>
              <a:srgbClr val="EAF2EF"/>
            </a:solidFill>
            <a:prstDash val="solid"/>
          </a:ln>
        </p:spPr>
        <p:txBody>
          <a:bodyPr/>
          <a:lstStyle/>
          <a:p>
            <a:endParaRPr lang="en-US"/>
          </a:p>
        </p:txBody>
      </p:sp>
      <p:sp>
        <p:nvSpPr>
          <p:cNvPr id="9" name="Shape 9"/>
          <p:cNvSpPr/>
          <p:nvPr/>
        </p:nvSpPr>
        <p:spPr>
          <a:xfrm>
            <a:off x="548640" y="4937760"/>
            <a:ext cx="73152" cy="685800"/>
          </a:xfrm>
          <a:prstGeom prst="rect">
            <a:avLst/>
          </a:prstGeom>
          <a:solidFill>
            <a:srgbClr val="E9A23B"/>
          </a:solidFill>
          <a:ln w="12700">
            <a:solidFill>
              <a:srgbClr val="E9A23B"/>
            </a:solidFill>
            <a:prstDash val="solid"/>
          </a:ln>
        </p:spPr>
        <p:txBody>
          <a:bodyPr/>
          <a:lstStyle/>
          <a:p>
            <a:endParaRPr lang="en-US"/>
          </a:p>
        </p:txBody>
      </p:sp>
      <p:sp>
        <p:nvSpPr>
          <p:cNvPr id="15" name="Text 10"/>
          <p:cNvSpPr/>
          <p:nvPr/>
        </p:nvSpPr>
        <p:spPr>
          <a:xfrm>
            <a:off x="777240" y="4937760"/>
            <a:ext cx="10698480" cy="685800"/>
          </a:xfrm>
          <a:prstGeom prst="rect">
            <a:avLst/>
          </a:prstGeom>
          <a:noFill/>
          <a:ln/>
        </p:spPr>
        <p:txBody>
          <a:bodyPr wrap="square" lIns="0" tIns="0" rIns="0" bIns="0" rtlCol="0" anchor="ctr"/>
          <a:lstStyle/>
          <a:p>
            <a:pPr marL="0" indent="0">
              <a:buNone/>
            </a:pPr>
            <a:r>
              <a:rPr lang="en-US" sz="1500" b="1" dirty="0">
                <a:solidFill>
                  <a:srgbClr val="17332E"/>
                </a:solidFill>
                <a:latin typeface="Calibri" pitchFamily="34" charset="0"/>
                <a:ea typeface="Calibri" pitchFamily="34" charset="-122"/>
                <a:cs typeface="Calibri" pitchFamily="34" charset="-120"/>
              </a:rPr>
              <a:t>Dans la suite, nous lisons ces données comme celles d'une entreprise réelle</a:t>
            </a:r>
            <a:r>
              <a:rPr lang="en-US" sz="1500" dirty="0">
                <a:solidFill>
                  <a:srgbClr val="17332E"/>
                </a:solidFill>
                <a:latin typeface="Calibri" pitchFamily="34" charset="0"/>
                <a:ea typeface="Calibri" pitchFamily="34" charset="-122"/>
                <a:cs typeface="Calibri" pitchFamily="34" charset="-120"/>
              </a:rPr>
              <a:t> : budgets, lancements et promotions sont des décisions.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Achraf Chihab</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1 · DONNÉES, ÉTAT DES LIEUX ET NETTOYAGE</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Ce que le projet peut conclure, et ce qu'il ne peut pas</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Achraf Chihab</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14</a:t>
            </a:r>
            <a:endParaRPr lang="en-US" sz="1000" dirty="0"/>
          </a:p>
        </p:txBody>
      </p:sp>
      <p:sp>
        <p:nvSpPr>
          <p:cNvPr id="10" name="Shape 7"/>
          <p:cNvSpPr/>
          <p:nvPr/>
        </p:nvSpPr>
        <p:spPr>
          <a:xfrm>
            <a:off x="548640" y="1463040"/>
            <a:ext cx="3566160" cy="3931920"/>
          </a:xfrm>
          <a:prstGeom prst="rect">
            <a:avLst/>
          </a:prstGeom>
          <a:solidFill>
            <a:srgbClr val="EAF2EF"/>
          </a:solidFill>
          <a:ln w="9525">
            <a:solidFill>
              <a:srgbClr val="CFE0DA"/>
            </a:solidFill>
            <a:prstDash val="solid"/>
          </a:ln>
        </p:spPr>
        <p:txBody>
          <a:bodyPr/>
          <a:lstStyle/>
          <a:p>
            <a:endParaRPr lang="en-US"/>
          </a:p>
        </p:txBody>
      </p:sp>
      <p:sp>
        <p:nvSpPr>
          <p:cNvPr id="11" name="Text 8"/>
          <p:cNvSpPr/>
          <p:nvPr/>
        </p:nvSpPr>
        <p:spPr>
          <a:xfrm>
            <a:off x="731520" y="1572768"/>
            <a:ext cx="3200400" cy="411480"/>
          </a:xfrm>
          <a:prstGeom prst="rect">
            <a:avLst/>
          </a:prstGeom>
          <a:noFill/>
          <a:ln/>
        </p:spPr>
        <p:txBody>
          <a:bodyPr wrap="square" lIns="0" tIns="0" rIns="0" bIns="0" rtlCol="0" anchor="ctr"/>
          <a:lstStyle/>
          <a:p>
            <a:pPr marL="0" indent="0">
              <a:buNone/>
            </a:pPr>
            <a:r>
              <a:rPr lang="en-US" sz="1700" b="1" dirty="0">
                <a:solidFill>
                  <a:srgbClr val="17332E"/>
                </a:solidFill>
                <a:latin typeface="Cambria" pitchFamily="34" charset="0"/>
                <a:ea typeface="Cambria" pitchFamily="34" charset="-122"/>
                <a:cs typeface="Cambria" pitchFamily="34" charset="-120"/>
              </a:rPr>
              <a:t>Oui</a:t>
            </a:r>
            <a:endParaRPr lang="en-US" sz="1700" dirty="0"/>
          </a:p>
        </p:txBody>
      </p:sp>
      <p:sp>
        <p:nvSpPr>
          <p:cNvPr id="12" name="Text 9"/>
          <p:cNvSpPr/>
          <p:nvPr/>
        </p:nvSpPr>
        <p:spPr>
          <a:xfrm>
            <a:off x="731520" y="2057400"/>
            <a:ext cx="3200400" cy="3246120"/>
          </a:xfrm>
          <a:prstGeom prst="rect">
            <a:avLst/>
          </a:prstGeom>
          <a:noFill/>
          <a:ln/>
        </p:spPr>
        <p:txBody>
          <a:bodyPr wrap="square" lIns="0" tIns="0" rIns="0" bIns="0" rtlCol="0" anchor="t"/>
          <a:lstStyle/>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CA, marge et résultat par boutique, produit, période</a:t>
            </a:r>
            <a:endParaRPr lang="en-US" sz="1350" dirty="0"/>
          </a:p>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Usure et renouvellement du catalogue</a:t>
            </a:r>
            <a:endParaRPr lang="en-US" sz="1350" dirty="0"/>
          </a:p>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Coût des remises, de la publicité et des retours</a:t>
            </a:r>
            <a:endParaRPr lang="en-US" sz="1350" dirty="0"/>
          </a:p>
        </p:txBody>
      </p:sp>
      <p:sp>
        <p:nvSpPr>
          <p:cNvPr id="13" name="Shape 10"/>
          <p:cNvSpPr/>
          <p:nvPr/>
        </p:nvSpPr>
        <p:spPr>
          <a:xfrm>
            <a:off x="4297680" y="1463040"/>
            <a:ext cx="3566160" cy="3931920"/>
          </a:xfrm>
          <a:prstGeom prst="rect">
            <a:avLst/>
          </a:prstGeom>
          <a:solidFill>
            <a:srgbClr val="F3F1E6"/>
          </a:solidFill>
          <a:ln w="9525">
            <a:solidFill>
              <a:srgbClr val="CFE0DA"/>
            </a:solidFill>
            <a:prstDash val="solid"/>
          </a:ln>
        </p:spPr>
        <p:txBody>
          <a:bodyPr/>
          <a:lstStyle/>
          <a:p>
            <a:endParaRPr lang="en-US"/>
          </a:p>
        </p:txBody>
      </p:sp>
      <p:sp>
        <p:nvSpPr>
          <p:cNvPr id="14" name="Text 11"/>
          <p:cNvSpPr/>
          <p:nvPr/>
        </p:nvSpPr>
        <p:spPr>
          <a:xfrm>
            <a:off x="4480560" y="1572768"/>
            <a:ext cx="3200400" cy="411480"/>
          </a:xfrm>
          <a:prstGeom prst="rect">
            <a:avLst/>
          </a:prstGeom>
          <a:noFill/>
          <a:ln/>
        </p:spPr>
        <p:txBody>
          <a:bodyPr wrap="square" lIns="0" tIns="0" rIns="0" bIns="0" rtlCol="0" anchor="ctr"/>
          <a:lstStyle/>
          <a:p>
            <a:pPr marL="0" indent="0">
              <a:buNone/>
            </a:pPr>
            <a:r>
              <a:rPr lang="en-US" sz="1700" b="1" dirty="0">
                <a:solidFill>
                  <a:srgbClr val="17332E"/>
                </a:solidFill>
                <a:latin typeface="Cambria" pitchFamily="34" charset="0"/>
                <a:ea typeface="Cambria" pitchFamily="34" charset="-122"/>
                <a:cs typeface="Cambria" pitchFamily="34" charset="-120"/>
              </a:rPr>
              <a:t>En partie</a:t>
            </a:r>
            <a:endParaRPr lang="en-US" sz="1700" dirty="0"/>
          </a:p>
        </p:txBody>
      </p:sp>
      <p:sp>
        <p:nvSpPr>
          <p:cNvPr id="15" name="Text 12"/>
          <p:cNvSpPr/>
          <p:nvPr/>
        </p:nvSpPr>
        <p:spPr>
          <a:xfrm>
            <a:off x="4480560" y="2057400"/>
            <a:ext cx="3200400" cy="3246120"/>
          </a:xfrm>
          <a:prstGeom prst="rect">
            <a:avLst/>
          </a:prstGeom>
          <a:noFill/>
          <a:ln/>
        </p:spPr>
        <p:txBody>
          <a:bodyPr wrap="square" lIns="0" tIns="0" rIns="0" bIns="0" rtlCol="0" anchor="t"/>
          <a:lstStyle/>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Clientèle de la boutique en ligne</a:t>
            </a:r>
            <a:endParaRPr lang="en-US" sz="1350" dirty="0"/>
          </a:p>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Effet d'une promotion : aucun groupe témoin</a:t>
            </a:r>
            <a:endParaRPr lang="en-US" sz="1350" dirty="0"/>
          </a:p>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Effet d'une remise sur la taille d'une ligne</a:t>
            </a:r>
            <a:endParaRPr lang="en-US" sz="1350" dirty="0"/>
          </a:p>
        </p:txBody>
      </p:sp>
      <p:sp>
        <p:nvSpPr>
          <p:cNvPr id="16" name="Shape 13"/>
          <p:cNvSpPr/>
          <p:nvPr/>
        </p:nvSpPr>
        <p:spPr>
          <a:xfrm>
            <a:off x="8046720" y="1463040"/>
            <a:ext cx="3566160" cy="3931920"/>
          </a:xfrm>
          <a:prstGeom prst="rect">
            <a:avLst/>
          </a:prstGeom>
          <a:solidFill>
            <a:srgbClr val="FBF3E4"/>
          </a:solidFill>
          <a:ln w="9525">
            <a:solidFill>
              <a:srgbClr val="CFE0DA"/>
            </a:solidFill>
            <a:prstDash val="solid"/>
          </a:ln>
        </p:spPr>
        <p:txBody>
          <a:bodyPr/>
          <a:lstStyle/>
          <a:p>
            <a:endParaRPr lang="en-US"/>
          </a:p>
        </p:txBody>
      </p:sp>
      <p:sp>
        <p:nvSpPr>
          <p:cNvPr id="17" name="Text 14"/>
          <p:cNvSpPr/>
          <p:nvPr/>
        </p:nvSpPr>
        <p:spPr>
          <a:xfrm>
            <a:off x="8229600" y="1572768"/>
            <a:ext cx="3200400" cy="411480"/>
          </a:xfrm>
          <a:prstGeom prst="rect">
            <a:avLst/>
          </a:prstGeom>
          <a:noFill/>
          <a:ln/>
        </p:spPr>
        <p:txBody>
          <a:bodyPr wrap="square" lIns="0" tIns="0" rIns="0" bIns="0" rtlCol="0" anchor="ctr"/>
          <a:lstStyle/>
          <a:p>
            <a:pPr marL="0" indent="0">
              <a:buNone/>
            </a:pPr>
            <a:r>
              <a:rPr lang="en-US" sz="1700" b="1" dirty="0">
                <a:solidFill>
                  <a:srgbClr val="17332E"/>
                </a:solidFill>
                <a:latin typeface="Cambria" pitchFamily="34" charset="0"/>
                <a:ea typeface="Cambria" pitchFamily="34" charset="-122"/>
                <a:cs typeface="Cambria" pitchFamily="34" charset="-120"/>
              </a:rPr>
              <a:t>Non</a:t>
            </a:r>
            <a:endParaRPr lang="en-US" sz="1700" dirty="0"/>
          </a:p>
        </p:txBody>
      </p:sp>
      <p:sp>
        <p:nvSpPr>
          <p:cNvPr id="18" name="Text 15"/>
          <p:cNvSpPr/>
          <p:nvPr/>
        </p:nvSpPr>
        <p:spPr>
          <a:xfrm>
            <a:off x="8229600" y="2057400"/>
            <a:ext cx="3200400" cy="3246120"/>
          </a:xfrm>
          <a:prstGeom prst="rect">
            <a:avLst/>
          </a:prstGeom>
          <a:noFill/>
          <a:ln/>
        </p:spPr>
        <p:txBody>
          <a:bodyPr wrap="square" lIns="0" tIns="0" rIns="0" bIns="0" rtlCol="0" anchor="t"/>
          <a:lstStyle/>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Effet de la publicité ou du prix</a:t>
            </a:r>
            <a:endParaRPr lang="en-US" sz="1350" dirty="0"/>
          </a:p>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Panier, clients, fidélité</a:t>
            </a:r>
            <a:endParaRPr lang="en-US" sz="1350" dirty="0"/>
          </a:p>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Ruptures, effectif optimal</a:t>
            </a:r>
            <a:endParaRPr lang="en-US" sz="1350" dirty="0"/>
          </a:p>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Cause et prédiction des retours</a:t>
            </a:r>
            <a:endParaRPr lang="en-US" sz="1350" dirty="0"/>
          </a:p>
        </p:txBody>
      </p:sp>
      <p:sp>
        <p:nvSpPr>
          <p:cNvPr id="19" name="Shape 16"/>
          <p:cNvSpPr/>
          <p:nvPr/>
        </p:nvSpPr>
        <p:spPr>
          <a:xfrm>
            <a:off x="548640" y="5577840"/>
            <a:ext cx="11064240" cy="548640"/>
          </a:xfrm>
          <a:prstGeom prst="rect">
            <a:avLst/>
          </a:prstGeom>
          <a:solidFill>
            <a:srgbClr val="EAF2EF"/>
          </a:solidFill>
          <a:ln w="12700">
            <a:solidFill>
              <a:srgbClr val="EAF2EF"/>
            </a:solidFill>
            <a:prstDash val="solid"/>
          </a:ln>
        </p:spPr>
        <p:txBody>
          <a:bodyPr/>
          <a:lstStyle/>
          <a:p>
            <a:endParaRPr lang="en-US"/>
          </a:p>
        </p:txBody>
      </p:sp>
      <p:sp>
        <p:nvSpPr>
          <p:cNvPr id="20" name="Shape 17"/>
          <p:cNvSpPr/>
          <p:nvPr/>
        </p:nvSpPr>
        <p:spPr>
          <a:xfrm>
            <a:off x="548640" y="5577840"/>
            <a:ext cx="73152" cy="548640"/>
          </a:xfrm>
          <a:prstGeom prst="rect">
            <a:avLst/>
          </a:prstGeom>
          <a:solidFill>
            <a:srgbClr val="E9A23B"/>
          </a:solidFill>
          <a:ln w="12700">
            <a:solidFill>
              <a:srgbClr val="E9A23B"/>
            </a:solidFill>
            <a:prstDash val="solid"/>
          </a:ln>
        </p:spPr>
        <p:txBody>
          <a:bodyPr/>
          <a:lstStyle/>
          <a:p>
            <a:endParaRPr lang="en-US"/>
          </a:p>
        </p:txBody>
      </p:sp>
      <p:sp>
        <p:nvSpPr>
          <p:cNvPr id="21" name="Text 18"/>
          <p:cNvSpPr/>
          <p:nvPr/>
        </p:nvSpPr>
        <p:spPr>
          <a:xfrm>
            <a:off x="777240" y="557784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Un « non » </a:t>
            </a:r>
            <a:r>
              <a:rPr lang="en-US" sz="1500" b="1" dirty="0">
                <a:solidFill>
                  <a:srgbClr val="17332E"/>
                </a:solidFill>
                <a:latin typeface="Calibri" pitchFamily="34" charset="0"/>
                <a:ea typeface="Calibri" pitchFamily="34" charset="-122"/>
                <a:cs typeface="Calibri" pitchFamily="34" charset="-120"/>
              </a:rPr>
              <a:t>prouvé</a:t>
            </a:r>
            <a:r>
              <a:rPr lang="en-US" sz="1500" dirty="0">
                <a:solidFill>
                  <a:srgbClr val="17332E"/>
                </a:solidFill>
                <a:latin typeface="Calibri" pitchFamily="34" charset="0"/>
                <a:ea typeface="Calibri" pitchFamily="34" charset="-122"/>
                <a:cs typeface="Calibri" pitchFamily="34" charset="-120"/>
              </a:rPr>
              <a:t> est un résultat. La suite applique cette grille question par question.</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Barnabe Landry Evouna</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2 · Q1 : POURQUOI LES VENTES ONT CHUTÉ</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Ce ne sont pas les clients qui ont cessé d'acheter, c'est l'assortiment qui a vieilli</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Barnabe Landry Evouna</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15</a:t>
            </a:r>
            <a:endParaRPr lang="en-US" sz="1000" dirty="0"/>
          </a:p>
        </p:txBody>
      </p:sp>
      <p:sp>
        <p:nvSpPr>
          <p:cNvPr id="10" name="Shape 7"/>
          <p:cNvSpPr/>
          <p:nvPr/>
        </p:nvSpPr>
        <p:spPr>
          <a:xfrm>
            <a:off x="548640" y="1499616"/>
            <a:ext cx="384048" cy="384048"/>
          </a:xfrm>
          <a:prstGeom prst="ellipse">
            <a:avLst/>
          </a:prstGeom>
          <a:solidFill>
            <a:srgbClr val="E9A23B"/>
          </a:solidFill>
          <a:ln w="12700">
            <a:solidFill>
              <a:srgbClr val="E9A23B"/>
            </a:solidFill>
            <a:prstDash val="solid"/>
          </a:ln>
        </p:spPr>
        <p:txBody>
          <a:bodyPr/>
          <a:lstStyle/>
          <a:p>
            <a:endParaRPr lang="en-US"/>
          </a:p>
        </p:txBody>
      </p:sp>
      <p:sp>
        <p:nvSpPr>
          <p:cNvPr id="11" name="Text 8"/>
          <p:cNvSpPr/>
          <p:nvPr/>
        </p:nvSpPr>
        <p:spPr>
          <a:xfrm>
            <a:off x="548640" y="1499616"/>
            <a:ext cx="384048" cy="384048"/>
          </a:xfrm>
          <a:prstGeom prst="rect">
            <a:avLst/>
          </a:prstGeom>
          <a:noFill/>
          <a:ln/>
        </p:spPr>
        <p:txBody>
          <a:bodyPr wrap="square" lIns="0" tIns="0" rIns="0" bIns="0" rtlCol="0" anchor="ctr"/>
          <a:lstStyle/>
          <a:p>
            <a:pPr marL="0" indent="0" algn="ctr">
              <a:buNone/>
            </a:pPr>
            <a:r>
              <a:rPr lang="en-US" sz="1400" b="1" dirty="0">
                <a:solidFill>
                  <a:srgbClr val="17332E"/>
                </a:solidFill>
                <a:latin typeface="Calibri" pitchFamily="34" charset="0"/>
                <a:ea typeface="Calibri" pitchFamily="34" charset="-122"/>
                <a:cs typeface="Calibri" pitchFamily="34" charset="-120"/>
              </a:rPr>
              <a:t>1</a:t>
            </a:r>
            <a:endParaRPr lang="en-US" sz="1400" dirty="0"/>
          </a:p>
        </p:txBody>
      </p:sp>
      <p:sp>
        <p:nvSpPr>
          <p:cNvPr id="12" name="Text 9"/>
          <p:cNvSpPr/>
          <p:nvPr/>
        </p:nvSpPr>
        <p:spPr>
          <a:xfrm>
            <a:off x="1143000" y="1463040"/>
            <a:ext cx="10424160" cy="457200"/>
          </a:xfrm>
          <a:prstGeom prst="rect">
            <a:avLst/>
          </a:prstGeom>
          <a:noFill/>
          <a:ln/>
        </p:spPr>
        <p:txBody>
          <a:bodyPr wrap="square" lIns="0" tIns="0" rIns="0" bIns="0" rtlCol="0" anchor="ctr"/>
          <a:lstStyle/>
          <a:p>
            <a:pPr marL="0" indent="0" algn="l">
              <a:buNone/>
            </a:pPr>
            <a:r>
              <a:rPr lang="en-US" sz="1700" b="1" dirty="0">
                <a:solidFill>
                  <a:srgbClr val="1F2A28"/>
                </a:solidFill>
                <a:latin typeface="Calibri" pitchFamily="34" charset="0"/>
                <a:ea typeface="Calibri" pitchFamily="34" charset="-122"/>
                <a:cs typeface="Calibri" pitchFamily="34" charset="-120"/>
              </a:rPr>
              <a:t>La chute</a:t>
            </a:r>
            <a:r>
              <a:rPr lang="en-US" sz="1700" dirty="0">
                <a:solidFill>
                  <a:srgbClr val="1F2A28"/>
                </a:solidFill>
                <a:latin typeface="Calibri" pitchFamily="34" charset="0"/>
                <a:ea typeface="Calibri" pitchFamily="34" charset="-122"/>
                <a:cs typeface="Calibri" pitchFamily="34" charset="-120"/>
              </a:rPr>
              <a:t> : les magasins perdent la moitié de leurs ventes, et c'est un recul de volume</a:t>
            </a:r>
            <a:endParaRPr lang="en-US" sz="1700" dirty="0"/>
          </a:p>
        </p:txBody>
      </p:sp>
      <p:sp>
        <p:nvSpPr>
          <p:cNvPr id="13" name="Shape 10"/>
          <p:cNvSpPr/>
          <p:nvPr/>
        </p:nvSpPr>
        <p:spPr>
          <a:xfrm>
            <a:off x="548640" y="2066544"/>
            <a:ext cx="384048" cy="384048"/>
          </a:xfrm>
          <a:prstGeom prst="ellipse">
            <a:avLst/>
          </a:prstGeom>
          <a:solidFill>
            <a:srgbClr val="E9A23B"/>
          </a:solidFill>
          <a:ln w="12700">
            <a:solidFill>
              <a:srgbClr val="E9A23B"/>
            </a:solidFill>
            <a:prstDash val="solid"/>
          </a:ln>
        </p:spPr>
        <p:txBody>
          <a:bodyPr/>
          <a:lstStyle/>
          <a:p>
            <a:endParaRPr lang="en-US"/>
          </a:p>
        </p:txBody>
      </p:sp>
      <p:sp>
        <p:nvSpPr>
          <p:cNvPr id="14" name="Text 11"/>
          <p:cNvSpPr/>
          <p:nvPr/>
        </p:nvSpPr>
        <p:spPr>
          <a:xfrm>
            <a:off x="548640" y="2066544"/>
            <a:ext cx="384048" cy="384048"/>
          </a:xfrm>
          <a:prstGeom prst="rect">
            <a:avLst/>
          </a:prstGeom>
          <a:noFill/>
          <a:ln/>
        </p:spPr>
        <p:txBody>
          <a:bodyPr wrap="square" lIns="0" tIns="0" rIns="0" bIns="0" rtlCol="0" anchor="ctr"/>
          <a:lstStyle/>
          <a:p>
            <a:pPr marL="0" indent="0" algn="ctr">
              <a:buNone/>
            </a:pPr>
            <a:r>
              <a:rPr lang="en-US" sz="1400" b="1" dirty="0">
                <a:solidFill>
                  <a:srgbClr val="17332E"/>
                </a:solidFill>
                <a:latin typeface="Calibri" pitchFamily="34" charset="0"/>
                <a:ea typeface="Calibri" pitchFamily="34" charset="-122"/>
                <a:cs typeface="Calibri" pitchFamily="34" charset="-120"/>
              </a:rPr>
              <a:t>2</a:t>
            </a:r>
            <a:endParaRPr lang="en-US" sz="1400" dirty="0"/>
          </a:p>
        </p:txBody>
      </p:sp>
      <p:sp>
        <p:nvSpPr>
          <p:cNvPr id="15" name="Text 12"/>
          <p:cNvSpPr/>
          <p:nvPr/>
        </p:nvSpPr>
        <p:spPr>
          <a:xfrm>
            <a:off x="1143000" y="2029968"/>
            <a:ext cx="10424160" cy="457200"/>
          </a:xfrm>
          <a:prstGeom prst="rect">
            <a:avLst/>
          </a:prstGeom>
          <a:noFill/>
          <a:ln/>
        </p:spPr>
        <p:txBody>
          <a:bodyPr wrap="square" lIns="0" tIns="0" rIns="0" bIns="0" rtlCol="0" anchor="ctr"/>
          <a:lstStyle/>
          <a:p>
            <a:pPr marL="0" indent="0" algn="l">
              <a:buNone/>
            </a:pPr>
            <a:r>
              <a:rPr lang="en-US" sz="1700" b="1" dirty="0">
                <a:solidFill>
                  <a:srgbClr val="1F2A28"/>
                </a:solidFill>
                <a:latin typeface="Calibri" pitchFamily="34" charset="0"/>
                <a:ea typeface="Calibri" pitchFamily="34" charset="-122"/>
                <a:cs typeface="Calibri" pitchFamily="34" charset="-120"/>
              </a:rPr>
              <a:t>La descente en gamme</a:t>
            </a:r>
            <a:r>
              <a:rPr lang="en-US" sz="1700" dirty="0">
                <a:solidFill>
                  <a:srgbClr val="1F2A28"/>
                </a:solidFill>
                <a:latin typeface="Calibri" pitchFamily="34" charset="0"/>
                <a:ea typeface="Calibri" pitchFamily="34" charset="-122"/>
                <a:cs typeface="Calibri" pitchFamily="34" charset="-120"/>
              </a:rPr>
              <a:t> : réelle, mais identique dans les trois canaux</a:t>
            </a:r>
            <a:endParaRPr lang="en-US" sz="1700" dirty="0"/>
          </a:p>
        </p:txBody>
      </p:sp>
      <p:sp>
        <p:nvSpPr>
          <p:cNvPr id="16" name="Shape 13"/>
          <p:cNvSpPr/>
          <p:nvPr/>
        </p:nvSpPr>
        <p:spPr>
          <a:xfrm>
            <a:off x="548640" y="2633472"/>
            <a:ext cx="384048" cy="384048"/>
          </a:xfrm>
          <a:prstGeom prst="ellipse">
            <a:avLst/>
          </a:prstGeom>
          <a:solidFill>
            <a:srgbClr val="E9A23B"/>
          </a:solidFill>
          <a:ln w="12700">
            <a:solidFill>
              <a:srgbClr val="E9A23B"/>
            </a:solidFill>
            <a:prstDash val="solid"/>
          </a:ln>
        </p:spPr>
        <p:txBody>
          <a:bodyPr/>
          <a:lstStyle/>
          <a:p>
            <a:endParaRPr lang="en-US"/>
          </a:p>
        </p:txBody>
      </p:sp>
      <p:sp>
        <p:nvSpPr>
          <p:cNvPr id="17" name="Text 14"/>
          <p:cNvSpPr/>
          <p:nvPr/>
        </p:nvSpPr>
        <p:spPr>
          <a:xfrm>
            <a:off x="548640" y="2633472"/>
            <a:ext cx="384048" cy="384048"/>
          </a:xfrm>
          <a:prstGeom prst="rect">
            <a:avLst/>
          </a:prstGeom>
          <a:noFill/>
          <a:ln/>
        </p:spPr>
        <p:txBody>
          <a:bodyPr wrap="square" lIns="0" tIns="0" rIns="0" bIns="0" rtlCol="0" anchor="ctr"/>
          <a:lstStyle/>
          <a:p>
            <a:pPr marL="0" indent="0" algn="ctr">
              <a:buNone/>
            </a:pPr>
            <a:r>
              <a:rPr lang="en-US" sz="1400" b="1" dirty="0">
                <a:solidFill>
                  <a:srgbClr val="17332E"/>
                </a:solidFill>
                <a:latin typeface="Calibri" pitchFamily="34" charset="0"/>
                <a:ea typeface="Calibri" pitchFamily="34" charset="-122"/>
                <a:cs typeface="Calibri" pitchFamily="34" charset="-120"/>
              </a:rPr>
              <a:t>3</a:t>
            </a:r>
            <a:endParaRPr lang="en-US" sz="1400" dirty="0"/>
          </a:p>
        </p:txBody>
      </p:sp>
      <p:sp>
        <p:nvSpPr>
          <p:cNvPr id="18" name="Text 15"/>
          <p:cNvSpPr/>
          <p:nvPr/>
        </p:nvSpPr>
        <p:spPr>
          <a:xfrm>
            <a:off x="1143000" y="2596896"/>
            <a:ext cx="10424160" cy="457200"/>
          </a:xfrm>
          <a:prstGeom prst="rect">
            <a:avLst/>
          </a:prstGeom>
          <a:noFill/>
          <a:ln/>
        </p:spPr>
        <p:txBody>
          <a:bodyPr wrap="square" lIns="0" tIns="0" rIns="0" bIns="0" rtlCol="0" anchor="ctr"/>
          <a:lstStyle/>
          <a:p>
            <a:pPr marL="0" indent="0" algn="l">
              <a:buNone/>
            </a:pPr>
            <a:r>
              <a:rPr lang="en-US" sz="1700" b="1" dirty="0">
                <a:solidFill>
                  <a:srgbClr val="1F2A28"/>
                </a:solidFill>
                <a:latin typeface="Calibri" pitchFamily="34" charset="0"/>
                <a:ea typeface="Calibri" pitchFamily="34" charset="-122"/>
                <a:cs typeface="Calibri" pitchFamily="34" charset="-120"/>
              </a:rPr>
              <a:t>Moins de nouveautés</a:t>
            </a:r>
            <a:r>
              <a:rPr lang="en-US" sz="1700" dirty="0">
                <a:solidFill>
                  <a:srgbClr val="1F2A28"/>
                </a:solidFill>
                <a:latin typeface="Calibri" pitchFamily="34" charset="0"/>
                <a:ea typeface="Calibri" pitchFamily="34" charset="-122"/>
                <a:cs typeface="Calibri" pitchFamily="34" charset="-120"/>
              </a:rPr>
              <a:t> : 552, puis 429, puis 272 lancements par an</a:t>
            </a:r>
            <a:endParaRPr lang="en-US" sz="1700" dirty="0"/>
          </a:p>
        </p:txBody>
      </p:sp>
      <p:sp>
        <p:nvSpPr>
          <p:cNvPr id="19" name="Shape 16"/>
          <p:cNvSpPr/>
          <p:nvPr/>
        </p:nvSpPr>
        <p:spPr>
          <a:xfrm>
            <a:off x="548640" y="3200400"/>
            <a:ext cx="384048" cy="384048"/>
          </a:xfrm>
          <a:prstGeom prst="ellipse">
            <a:avLst/>
          </a:prstGeom>
          <a:solidFill>
            <a:srgbClr val="E9A23B"/>
          </a:solidFill>
          <a:ln w="12700">
            <a:solidFill>
              <a:srgbClr val="E9A23B"/>
            </a:solidFill>
            <a:prstDash val="solid"/>
          </a:ln>
        </p:spPr>
        <p:txBody>
          <a:bodyPr/>
          <a:lstStyle/>
          <a:p>
            <a:endParaRPr lang="en-US"/>
          </a:p>
        </p:txBody>
      </p:sp>
      <p:sp>
        <p:nvSpPr>
          <p:cNvPr id="20" name="Text 17"/>
          <p:cNvSpPr/>
          <p:nvPr/>
        </p:nvSpPr>
        <p:spPr>
          <a:xfrm>
            <a:off x="548640" y="3200400"/>
            <a:ext cx="384048" cy="384048"/>
          </a:xfrm>
          <a:prstGeom prst="rect">
            <a:avLst/>
          </a:prstGeom>
          <a:noFill/>
          <a:ln/>
        </p:spPr>
        <p:txBody>
          <a:bodyPr wrap="square" lIns="0" tIns="0" rIns="0" bIns="0" rtlCol="0" anchor="ctr"/>
          <a:lstStyle/>
          <a:p>
            <a:pPr marL="0" indent="0" algn="ctr">
              <a:buNone/>
            </a:pPr>
            <a:r>
              <a:rPr lang="en-US" sz="1400" b="1" dirty="0">
                <a:solidFill>
                  <a:srgbClr val="17332E"/>
                </a:solidFill>
                <a:latin typeface="Calibri" pitchFamily="34" charset="0"/>
                <a:ea typeface="Calibri" pitchFamily="34" charset="-122"/>
                <a:cs typeface="Calibri" pitchFamily="34" charset="-120"/>
              </a:rPr>
              <a:t>4</a:t>
            </a:r>
            <a:endParaRPr lang="en-US" sz="1400" dirty="0"/>
          </a:p>
        </p:txBody>
      </p:sp>
      <p:sp>
        <p:nvSpPr>
          <p:cNvPr id="21" name="Text 18"/>
          <p:cNvSpPr/>
          <p:nvPr/>
        </p:nvSpPr>
        <p:spPr>
          <a:xfrm>
            <a:off x="1143000" y="3163824"/>
            <a:ext cx="10424160" cy="457200"/>
          </a:xfrm>
          <a:prstGeom prst="rect">
            <a:avLst/>
          </a:prstGeom>
          <a:noFill/>
          <a:ln/>
        </p:spPr>
        <p:txBody>
          <a:bodyPr wrap="square" lIns="0" tIns="0" rIns="0" bIns="0" rtlCol="0" anchor="ctr"/>
          <a:lstStyle/>
          <a:p>
            <a:pPr marL="0" indent="0" algn="l">
              <a:buNone/>
            </a:pPr>
            <a:r>
              <a:rPr lang="en-US" sz="1700" b="1" dirty="0">
                <a:solidFill>
                  <a:srgbClr val="1F2A28"/>
                </a:solidFill>
                <a:latin typeface="Calibri" pitchFamily="34" charset="0"/>
                <a:ea typeface="Calibri" pitchFamily="34" charset="-122"/>
                <a:cs typeface="Calibri" pitchFamily="34" charset="-120"/>
              </a:rPr>
              <a:t>Moins de produits par magasin</a:t>
            </a:r>
            <a:r>
              <a:rPr lang="en-US" sz="1700" dirty="0">
                <a:solidFill>
                  <a:srgbClr val="1F2A28"/>
                </a:solidFill>
                <a:latin typeface="Calibri" pitchFamily="34" charset="0"/>
                <a:ea typeface="Calibri" pitchFamily="34" charset="-122"/>
                <a:cs typeface="Calibri" pitchFamily="34" charset="-120"/>
              </a:rPr>
              <a:t> : chaque produit se vend dans deux fois moins de magasins</a:t>
            </a:r>
            <a:endParaRPr lang="en-US" sz="1700" dirty="0"/>
          </a:p>
        </p:txBody>
      </p:sp>
      <p:sp>
        <p:nvSpPr>
          <p:cNvPr id="22" name="Shape 19"/>
          <p:cNvSpPr/>
          <p:nvPr/>
        </p:nvSpPr>
        <p:spPr>
          <a:xfrm>
            <a:off x="548640" y="3767328"/>
            <a:ext cx="384048" cy="384048"/>
          </a:xfrm>
          <a:prstGeom prst="ellipse">
            <a:avLst/>
          </a:prstGeom>
          <a:solidFill>
            <a:srgbClr val="E9A23B"/>
          </a:solidFill>
          <a:ln w="12700">
            <a:solidFill>
              <a:srgbClr val="E9A23B"/>
            </a:solidFill>
            <a:prstDash val="solid"/>
          </a:ln>
        </p:spPr>
        <p:txBody>
          <a:bodyPr/>
          <a:lstStyle/>
          <a:p>
            <a:endParaRPr lang="en-US"/>
          </a:p>
        </p:txBody>
      </p:sp>
      <p:sp>
        <p:nvSpPr>
          <p:cNvPr id="23" name="Text 20"/>
          <p:cNvSpPr/>
          <p:nvPr/>
        </p:nvSpPr>
        <p:spPr>
          <a:xfrm>
            <a:off x="548640" y="3767328"/>
            <a:ext cx="384048" cy="384048"/>
          </a:xfrm>
          <a:prstGeom prst="rect">
            <a:avLst/>
          </a:prstGeom>
          <a:noFill/>
          <a:ln/>
        </p:spPr>
        <p:txBody>
          <a:bodyPr wrap="square" lIns="0" tIns="0" rIns="0" bIns="0" rtlCol="0" anchor="ctr"/>
          <a:lstStyle/>
          <a:p>
            <a:pPr marL="0" indent="0" algn="ctr">
              <a:buNone/>
            </a:pPr>
            <a:r>
              <a:rPr lang="en-US" sz="1400" b="1" dirty="0">
                <a:solidFill>
                  <a:srgbClr val="17332E"/>
                </a:solidFill>
                <a:latin typeface="Calibri" pitchFamily="34" charset="0"/>
                <a:ea typeface="Calibri" pitchFamily="34" charset="-122"/>
                <a:cs typeface="Calibri" pitchFamily="34" charset="-120"/>
              </a:rPr>
              <a:t>5</a:t>
            </a:r>
            <a:endParaRPr lang="en-US" sz="1400" dirty="0"/>
          </a:p>
        </p:txBody>
      </p:sp>
      <p:sp>
        <p:nvSpPr>
          <p:cNvPr id="24" name="Text 21"/>
          <p:cNvSpPr/>
          <p:nvPr/>
        </p:nvSpPr>
        <p:spPr>
          <a:xfrm>
            <a:off x="1143000" y="3730752"/>
            <a:ext cx="10424160" cy="457200"/>
          </a:xfrm>
          <a:prstGeom prst="rect">
            <a:avLst/>
          </a:prstGeom>
          <a:noFill/>
          <a:ln/>
        </p:spPr>
        <p:txBody>
          <a:bodyPr wrap="square" lIns="0" tIns="0" rIns="0" bIns="0" rtlCol="0" anchor="ctr"/>
          <a:lstStyle/>
          <a:p>
            <a:pPr marL="0" indent="0" algn="l">
              <a:buNone/>
            </a:pPr>
            <a:r>
              <a:rPr lang="en-US" sz="1700" b="1" dirty="0">
                <a:solidFill>
                  <a:srgbClr val="1F2A28"/>
                </a:solidFill>
                <a:latin typeface="Calibri" pitchFamily="34" charset="0"/>
                <a:ea typeface="Calibri" pitchFamily="34" charset="-122"/>
                <a:cs typeface="Calibri" pitchFamily="34" charset="-120"/>
              </a:rPr>
              <a:t>En rayon ou retiré ?</a:t>
            </a:r>
            <a:r>
              <a:rPr lang="en-US" sz="1700" dirty="0">
                <a:solidFill>
                  <a:srgbClr val="1F2A28"/>
                </a:solidFill>
                <a:latin typeface="Calibri" pitchFamily="34" charset="0"/>
                <a:ea typeface="Calibri" pitchFamily="34" charset="-122"/>
                <a:cs typeface="Calibri" pitchFamily="34" charset="-120"/>
              </a:rPr>
              <a:t> Stock dormant ou assortiment réduit : ce que disent les ventes</a:t>
            </a:r>
            <a:endParaRPr lang="en-US" sz="1700" dirty="0"/>
          </a:p>
        </p:txBody>
      </p:sp>
      <p:sp>
        <p:nvSpPr>
          <p:cNvPr id="25" name="Shape 22"/>
          <p:cNvSpPr/>
          <p:nvPr/>
        </p:nvSpPr>
        <p:spPr>
          <a:xfrm>
            <a:off x="548640" y="4334256"/>
            <a:ext cx="384048" cy="384048"/>
          </a:xfrm>
          <a:prstGeom prst="ellipse">
            <a:avLst/>
          </a:prstGeom>
          <a:solidFill>
            <a:srgbClr val="E9A23B"/>
          </a:solidFill>
          <a:ln w="12700">
            <a:solidFill>
              <a:srgbClr val="E9A23B"/>
            </a:solidFill>
            <a:prstDash val="solid"/>
          </a:ln>
        </p:spPr>
        <p:txBody>
          <a:bodyPr/>
          <a:lstStyle/>
          <a:p>
            <a:endParaRPr lang="en-US"/>
          </a:p>
        </p:txBody>
      </p:sp>
      <p:sp>
        <p:nvSpPr>
          <p:cNvPr id="26" name="Text 23"/>
          <p:cNvSpPr/>
          <p:nvPr/>
        </p:nvSpPr>
        <p:spPr>
          <a:xfrm>
            <a:off x="548640" y="4334256"/>
            <a:ext cx="384048" cy="384048"/>
          </a:xfrm>
          <a:prstGeom prst="rect">
            <a:avLst/>
          </a:prstGeom>
          <a:noFill/>
          <a:ln/>
        </p:spPr>
        <p:txBody>
          <a:bodyPr wrap="square" lIns="0" tIns="0" rIns="0" bIns="0" rtlCol="0" anchor="ctr"/>
          <a:lstStyle/>
          <a:p>
            <a:pPr marL="0" indent="0" algn="ctr">
              <a:buNone/>
            </a:pPr>
            <a:r>
              <a:rPr lang="en-US" sz="1400" b="1" dirty="0">
                <a:solidFill>
                  <a:srgbClr val="17332E"/>
                </a:solidFill>
                <a:latin typeface="Calibri" pitchFamily="34" charset="0"/>
                <a:ea typeface="Calibri" pitchFamily="34" charset="-122"/>
                <a:cs typeface="Calibri" pitchFamily="34" charset="-120"/>
              </a:rPr>
              <a:t>6</a:t>
            </a:r>
            <a:endParaRPr lang="en-US" sz="1400" dirty="0"/>
          </a:p>
        </p:txBody>
      </p:sp>
      <p:sp>
        <p:nvSpPr>
          <p:cNvPr id="27" name="Text 24"/>
          <p:cNvSpPr/>
          <p:nvPr/>
        </p:nvSpPr>
        <p:spPr>
          <a:xfrm>
            <a:off x="1143000" y="4297680"/>
            <a:ext cx="10424160" cy="457200"/>
          </a:xfrm>
          <a:prstGeom prst="rect">
            <a:avLst/>
          </a:prstGeom>
          <a:noFill/>
          <a:ln/>
        </p:spPr>
        <p:txBody>
          <a:bodyPr wrap="square" lIns="0" tIns="0" rIns="0" bIns="0" rtlCol="0" anchor="ctr"/>
          <a:lstStyle/>
          <a:p>
            <a:pPr marL="0" indent="0" algn="l">
              <a:buNone/>
            </a:pPr>
            <a:r>
              <a:rPr lang="en-US" sz="1700" b="1" dirty="0">
                <a:solidFill>
                  <a:srgbClr val="1F2A28"/>
                </a:solidFill>
                <a:latin typeface="Calibri" pitchFamily="34" charset="0"/>
                <a:ea typeface="Calibri" pitchFamily="34" charset="-122"/>
                <a:cs typeface="Calibri" pitchFamily="34" charset="-120"/>
              </a:rPr>
              <a:t>Les grands comptes en ligne</a:t>
            </a:r>
            <a:r>
              <a:rPr lang="en-US" sz="1700" dirty="0">
                <a:solidFill>
                  <a:srgbClr val="1F2A28"/>
                </a:solidFill>
                <a:latin typeface="Calibri" pitchFamily="34" charset="0"/>
                <a:ea typeface="Calibri" pitchFamily="34" charset="-122"/>
                <a:cs typeface="Calibri" pitchFamily="34" charset="-120"/>
              </a:rPr>
              <a:t> partent quand les nouveautés s'épuisent</a:t>
            </a:r>
            <a:endParaRPr lang="en-US" sz="1700" dirty="0"/>
          </a:p>
        </p:txBody>
      </p:sp>
      <p:sp>
        <p:nvSpPr>
          <p:cNvPr id="28" name="Shape 25"/>
          <p:cNvSpPr/>
          <p:nvPr/>
        </p:nvSpPr>
        <p:spPr>
          <a:xfrm>
            <a:off x="548640" y="4901184"/>
            <a:ext cx="384048" cy="384048"/>
          </a:xfrm>
          <a:prstGeom prst="ellipse">
            <a:avLst/>
          </a:prstGeom>
          <a:solidFill>
            <a:srgbClr val="E9A23B"/>
          </a:solidFill>
          <a:ln w="12700">
            <a:solidFill>
              <a:srgbClr val="E9A23B"/>
            </a:solidFill>
            <a:prstDash val="solid"/>
          </a:ln>
        </p:spPr>
        <p:txBody>
          <a:bodyPr/>
          <a:lstStyle/>
          <a:p>
            <a:endParaRPr lang="en-US"/>
          </a:p>
        </p:txBody>
      </p:sp>
      <p:sp>
        <p:nvSpPr>
          <p:cNvPr id="29" name="Text 26"/>
          <p:cNvSpPr/>
          <p:nvPr/>
        </p:nvSpPr>
        <p:spPr>
          <a:xfrm>
            <a:off x="548640" y="4901184"/>
            <a:ext cx="384048" cy="384048"/>
          </a:xfrm>
          <a:prstGeom prst="rect">
            <a:avLst/>
          </a:prstGeom>
          <a:noFill/>
          <a:ln/>
        </p:spPr>
        <p:txBody>
          <a:bodyPr wrap="square" lIns="0" tIns="0" rIns="0" bIns="0" rtlCol="0" anchor="ctr"/>
          <a:lstStyle/>
          <a:p>
            <a:pPr marL="0" indent="0" algn="ctr">
              <a:buNone/>
            </a:pPr>
            <a:r>
              <a:rPr lang="en-US" sz="1400" b="1" dirty="0">
                <a:solidFill>
                  <a:srgbClr val="17332E"/>
                </a:solidFill>
                <a:latin typeface="Calibri" pitchFamily="34" charset="0"/>
                <a:ea typeface="Calibri" pitchFamily="34" charset="-122"/>
                <a:cs typeface="Calibri" pitchFamily="34" charset="-120"/>
              </a:rPr>
              <a:t>7</a:t>
            </a:r>
            <a:endParaRPr lang="en-US" sz="1400" dirty="0"/>
          </a:p>
        </p:txBody>
      </p:sp>
      <p:sp>
        <p:nvSpPr>
          <p:cNvPr id="30" name="Text 27"/>
          <p:cNvSpPr/>
          <p:nvPr/>
        </p:nvSpPr>
        <p:spPr>
          <a:xfrm>
            <a:off x="1143000" y="4864608"/>
            <a:ext cx="10424160" cy="457200"/>
          </a:xfrm>
          <a:prstGeom prst="rect">
            <a:avLst/>
          </a:prstGeom>
          <a:noFill/>
          <a:ln/>
        </p:spPr>
        <p:txBody>
          <a:bodyPr wrap="square" lIns="0" tIns="0" rIns="0" bIns="0" rtlCol="0" anchor="ctr"/>
          <a:lstStyle/>
          <a:p>
            <a:pPr marL="0" indent="0" algn="l">
              <a:buNone/>
            </a:pPr>
            <a:r>
              <a:rPr lang="en-US" sz="1700" b="1" dirty="0">
                <a:solidFill>
                  <a:srgbClr val="1F2A28"/>
                </a:solidFill>
                <a:latin typeface="Calibri" pitchFamily="34" charset="0"/>
                <a:ea typeface="Calibri" pitchFamily="34" charset="-122"/>
                <a:cs typeface="Calibri" pitchFamily="34" charset="-120"/>
              </a:rPr>
              <a:t>Une seule stratégie</a:t>
            </a:r>
            <a:r>
              <a:rPr lang="en-US" sz="1700" dirty="0">
                <a:solidFill>
                  <a:srgbClr val="1F2A28"/>
                </a:solidFill>
                <a:latin typeface="Calibri" pitchFamily="34" charset="0"/>
                <a:ea typeface="Calibri" pitchFamily="34" charset="-122"/>
                <a:cs typeface="Calibri" pitchFamily="34" charset="-120"/>
              </a:rPr>
              <a:t> : renouveler l'assortiment, en volets complémentaires</a:t>
            </a:r>
            <a:endParaRPr lang="en-US" sz="1700" dirty="0"/>
          </a:p>
        </p:txBody>
      </p:sp>
      <p:sp>
        <p:nvSpPr>
          <p:cNvPr id="31" name="Shape 28"/>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32" name="Shape 29"/>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33" name="Text 30"/>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Le fil : l'entreprise </a:t>
            </a:r>
            <a:r>
              <a:rPr lang="en-US" sz="1500" b="1" dirty="0">
                <a:solidFill>
                  <a:srgbClr val="17332E"/>
                </a:solidFill>
                <a:latin typeface="Calibri" pitchFamily="34" charset="0"/>
                <a:ea typeface="Calibri" pitchFamily="34" charset="-122"/>
                <a:cs typeface="Calibri" pitchFamily="34" charset="-120"/>
              </a:rPr>
              <a:t>renouvelle de moins en moins son assortiment</a:t>
            </a:r>
            <a:r>
              <a:rPr lang="en-US" sz="1500" dirty="0">
                <a:solidFill>
                  <a:srgbClr val="17332E"/>
                </a:solidFill>
                <a:latin typeface="Calibri" pitchFamily="34" charset="0"/>
                <a:ea typeface="Calibri" pitchFamily="34" charset="-122"/>
                <a:cs typeface="Calibri" pitchFamily="34" charset="-120"/>
              </a:rPr>
              <a:t>, et ce sont les magasins qui en paient le prix.</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Barnabe Landry Evouna</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2 · Q1 : POURQUOI LES VENTES ONT CHUTÉ</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Les magasins perdent la moitié de leurs ventes, et c'est un recul de volume</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Barnabe Landry Evouna</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16</a:t>
            </a:r>
            <a:endParaRPr lang="en-US" sz="1000" dirty="0"/>
          </a:p>
        </p:txBody>
      </p:sp>
      <p:sp>
        <p:nvSpPr>
          <p:cNvPr id="10" name="Shape 7"/>
          <p:cNvSpPr/>
          <p:nvPr/>
        </p:nvSpPr>
        <p:spPr>
          <a:xfrm>
            <a:off x="548640" y="1463040"/>
            <a:ext cx="2606040" cy="1143000"/>
          </a:xfrm>
          <a:prstGeom prst="rect">
            <a:avLst/>
          </a:prstGeom>
          <a:solidFill>
            <a:srgbClr val="EAF2EF"/>
          </a:solidFill>
          <a:ln w="9525">
            <a:solidFill>
              <a:srgbClr val="CFE0DA"/>
            </a:solidFill>
            <a:prstDash val="solid"/>
          </a:ln>
        </p:spPr>
        <p:txBody>
          <a:bodyPr/>
          <a:lstStyle/>
          <a:p>
            <a:endParaRPr lang="en-US"/>
          </a:p>
        </p:txBody>
      </p:sp>
      <p:sp>
        <p:nvSpPr>
          <p:cNvPr id="11" name="Text 8"/>
          <p:cNvSpPr/>
          <p:nvPr/>
        </p:nvSpPr>
        <p:spPr>
          <a:xfrm>
            <a:off x="548640" y="1554480"/>
            <a:ext cx="2606040" cy="571500"/>
          </a:xfrm>
          <a:prstGeom prst="rect">
            <a:avLst/>
          </a:prstGeom>
          <a:noFill/>
          <a:ln/>
        </p:spPr>
        <p:txBody>
          <a:bodyPr wrap="square" lIns="0" tIns="0" rIns="0" bIns="0" rtlCol="0" anchor="ctr"/>
          <a:lstStyle/>
          <a:p>
            <a:pPr marL="0" indent="0" algn="ctr">
              <a:buNone/>
            </a:pPr>
            <a:r>
              <a:rPr lang="en-US" sz="2600" b="1" dirty="0">
                <a:solidFill>
                  <a:srgbClr val="B4442F"/>
                </a:solidFill>
                <a:latin typeface="Cambria" pitchFamily="34" charset="0"/>
                <a:ea typeface="Cambria" pitchFamily="34" charset="-122"/>
                <a:cs typeface="Cambria" pitchFamily="34" charset="-120"/>
              </a:rPr>
              <a:t>−48,6 %</a:t>
            </a:r>
            <a:endParaRPr lang="en-US" sz="2600" dirty="0"/>
          </a:p>
        </p:txBody>
      </p:sp>
      <p:sp>
        <p:nvSpPr>
          <p:cNvPr id="12" name="Text 9"/>
          <p:cNvSpPr/>
          <p:nvPr/>
        </p:nvSpPr>
        <p:spPr>
          <a:xfrm>
            <a:off x="640080" y="2091690"/>
            <a:ext cx="2423160" cy="457200"/>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chiffre d'affaires brut des magasins, 2019 à 2021</a:t>
            </a:r>
            <a:endParaRPr lang="en-US" sz="1200" dirty="0"/>
          </a:p>
        </p:txBody>
      </p:sp>
      <p:sp>
        <p:nvSpPr>
          <p:cNvPr id="13" name="Shape 10"/>
          <p:cNvSpPr/>
          <p:nvPr/>
        </p:nvSpPr>
        <p:spPr>
          <a:xfrm>
            <a:off x="3364992" y="1463040"/>
            <a:ext cx="2606040" cy="1143000"/>
          </a:xfrm>
          <a:prstGeom prst="rect">
            <a:avLst/>
          </a:prstGeom>
          <a:solidFill>
            <a:srgbClr val="EAF2EF"/>
          </a:solidFill>
          <a:ln w="9525">
            <a:solidFill>
              <a:srgbClr val="CFE0DA"/>
            </a:solidFill>
            <a:prstDash val="solid"/>
          </a:ln>
        </p:spPr>
        <p:txBody>
          <a:bodyPr/>
          <a:lstStyle/>
          <a:p>
            <a:endParaRPr lang="en-US"/>
          </a:p>
        </p:txBody>
      </p:sp>
      <p:sp>
        <p:nvSpPr>
          <p:cNvPr id="14" name="Text 11"/>
          <p:cNvSpPr/>
          <p:nvPr/>
        </p:nvSpPr>
        <p:spPr>
          <a:xfrm>
            <a:off x="3364992" y="1554480"/>
            <a:ext cx="2606040" cy="571500"/>
          </a:xfrm>
          <a:prstGeom prst="rect">
            <a:avLst/>
          </a:prstGeom>
          <a:noFill/>
          <a:ln/>
        </p:spPr>
        <p:txBody>
          <a:bodyPr wrap="square" lIns="0" tIns="0" rIns="0" bIns="0" rtlCol="0" anchor="ctr"/>
          <a:lstStyle/>
          <a:p>
            <a:pPr marL="0" indent="0" algn="ctr">
              <a:buNone/>
            </a:pPr>
            <a:r>
              <a:rPr lang="en-US" sz="2600" b="1" dirty="0">
                <a:solidFill>
                  <a:srgbClr val="17332E"/>
                </a:solidFill>
                <a:latin typeface="Cambria" pitchFamily="34" charset="0"/>
                <a:ea typeface="Cambria" pitchFamily="34" charset="-122"/>
                <a:cs typeface="Cambria" pitchFamily="34" charset="-120"/>
              </a:rPr>
              <a:t>+6,6 %</a:t>
            </a:r>
            <a:endParaRPr lang="en-US" sz="2600" dirty="0"/>
          </a:p>
        </p:txBody>
      </p:sp>
      <p:sp>
        <p:nvSpPr>
          <p:cNvPr id="15" name="Text 12"/>
          <p:cNvSpPr/>
          <p:nvPr/>
        </p:nvSpPr>
        <p:spPr>
          <a:xfrm>
            <a:off x="3456432" y="2091690"/>
            <a:ext cx="2423160" cy="457200"/>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chiffre d'affaires brut en ligne, 2019 à 2021</a:t>
            </a:r>
            <a:endParaRPr lang="en-US" sz="1200" dirty="0"/>
          </a:p>
        </p:txBody>
      </p:sp>
      <p:sp>
        <p:nvSpPr>
          <p:cNvPr id="16" name="Shape 13"/>
          <p:cNvSpPr/>
          <p:nvPr/>
        </p:nvSpPr>
        <p:spPr>
          <a:xfrm>
            <a:off x="6190488" y="1463040"/>
            <a:ext cx="2606040" cy="1143000"/>
          </a:xfrm>
          <a:prstGeom prst="rect">
            <a:avLst/>
          </a:prstGeom>
          <a:solidFill>
            <a:srgbClr val="EAF2EF"/>
          </a:solidFill>
          <a:ln w="9525">
            <a:solidFill>
              <a:srgbClr val="CFE0DA"/>
            </a:solidFill>
            <a:prstDash val="solid"/>
          </a:ln>
        </p:spPr>
        <p:txBody>
          <a:bodyPr/>
          <a:lstStyle/>
          <a:p>
            <a:endParaRPr lang="en-US"/>
          </a:p>
        </p:txBody>
      </p:sp>
      <p:sp>
        <p:nvSpPr>
          <p:cNvPr id="17" name="Text 14"/>
          <p:cNvSpPr/>
          <p:nvPr/>
        </p:nvSpPr>
        <p:spPr>
          <a:xfrm>
            <a:off x="6190488" y="1554480"/>
            <a:ext cx="2606040" cy="571500"/>
          </a:xfrm>
          <a:prstGeom prst="rect">
            <a:avLst/>
          </a:prstGeom>
          <a:noFill/>
          <a:ln/>
        </p:spPr>
        <p:txBody>
          <a:bodyPr wrap="square" lIns="0" tIns="0" rIns="0" bIns="0" rtlCol="0" anchor="ctr"/>
          <a:lstStyle/>
          <a:p>
            <a:pPr marL="0" indent="0" algn="ctr">
              <a:buNone/>
            </a:pPr>
            <a:r>
              <a:rPr lang="en-US" sz="2600" b="1" dirty="0">
                <a:solidFill>
                  <a:srgbClr val="B4442F"/>
                </a:solidFill>
                <a:latin typeface="Cambria" pitchFamily="34" charset="0"/>
                <a:ea typeface="Cambria" pitchFamily="34" charset="-122"/>
                <a:cs typeface="Cambria" pitchFamily="34" charset="-120"/>
              </a:rPr>
              <a:t>−37,5 %</a:t>
            </a:r>
            <a:endParaRPr lang="en-US" sz="2600" dirty="0"/>
          </a:p>
        </p:txBody>
      </p:sp>
      <p:sp>
        <p:nvSpPr>
          <p:cNvPr id="18" name="Text 15"/>
          <p:cNvSpPr/>
          <p:nvPr/>
        </p:nvSpPr>
        <p:spPr>
          <a:xfrm>
            <a:off x="6281928" y="2091690"/>
            <a:ext cx="2423160" cy="457200"/>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unités vendues en magasin</a:t>
            </a:r>
            <a:endParaRPr lang="en-US" sz="1200" dirty="0"/>
          </a:p>
        </p:txBody>
      </p:sp>
      <p:sp>
        <p:nvSpPr>
          <p:cNvPr id="19" name="Shape 16"/>
          <p:cNvSpPr/>
          <p:nvPr/>
        </p:nvSpPr>
        <p:spPr>
          <a:xfrm>
            <a:off x="9006840" y="1463040"/>
            <a:ext cx="2606040" cy="1143000"/>
          </a:xfrm>
          <a:prstGeom prst="rect">
            <a:avLst/>
          </a:prstGeom>
          <a:solidFill>
            <a:srgbClr val="EAF2EF"/>
          </a:solidFill>
          <a:ln w="9525">
            <a:solidFill>
              <a:srgbClr val="CFE0DA"/>
            </a:solidFill>
            <a:prstDash val="solid"/>
          </a:ln>
        </p:spPr>
        <p:txBody>
          <a:bodyPr/>
          <a:lstStyle/>
          <a:p>
            <a:endParaRPr lang="en-US"/>
          </a:p>
        </p:txBody>
      </p:sp>
      <p:sp>
        <p:nvSpPr>
          <p:cNvPr id="20" name="Text 17"/>
          <p:cNvSpPr/>
          <p:nvPr/>
        </p:nvSpPr>
        <p:spPr>
          <a:xfrm>
            <a:off x="9006840" y="1554480"/>
            <a:ext cx="2606040" cy="571500"/>
          </a:xfrm>
          <a:prstGeom prst="rect">
            <a:avLst/>
          </a:prstGeom>
          <a:noFill/>
          <a:ln/>
        </p:spPr>
        <p:txBody>
          <a:bodyPr wrap="square" lIns="0" tIns="0" rIns="0" bIns="0" rtlCol="0" anchor="ctr"/>
          <a:lstStyle/>
          <a:p>
            <a:pPr marL="0" indent="0" algn="ctr">
              <a:buNone/>
            </a:pPr>
            <a:r>
              <a:rPr lang="en-US" sz="2600" b="1" dirty="0">
                <a:solidFill>
                  <a:srgbClr val="17332E"/>
                </a:solidFill>
                <a:latin typeface="Cambria" pitchFamily="34" charset="0"/>
                <a:ea typeface="Cambria" pitchFamily="34" charset="-122"/>
                <a:cs typeface="Cambria" pitchFamily="34" charset="-120"/>
              </a:rPr>
              <a:t>+59,7 %</a:t>
            </a:r>
            <a:endParaRPr lang="en-US" sz="2600" dirty="0"/>
          </a:p>
        </p:txBody>
      </p:sp>
      <p:sp>
        <p:nvSpPr>
          <p:cNvPr id="21" name="Text 18"/>
          <p:cNvSpPr/>
          <p:nvPr/>
        </p:nvSpPr>
        <p:spPr>
          <a:xfrm>
            <a:off x="9098280" y="2091690"/>
            <a:ext cx="2423160" cy="457200"/>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unités vendues en ligne</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834640"/>
          <a:ext cx="6675121" cy="2286000"/>
        </p:xfrm>
        <a:graphic>
          <a:graphicData uri="http://schemas.openxmlformats.org/drawingml/2006/table">
            <a:tbl>
              <a:tblPr/>
              <a:tblGrid>
                <a:gridCol w="2069287">
                  <a:extLst>
                    <a:ext uri="{9D8B030D-6E8A-4147-A177-3AD203B41FA5}">
                      <a16:colId xmlns:a16="http://schemas.microsoft.com/office/drawing/2014/main" val="20000"/>
                    </a:ext>
                  </a:extLst>
                </a:gridCol>
                <a:gridCol w="1535278">
                  <a:extLst>
                    <a:ext uri="{9D8B030D-6E8A-4147-A177-3AD203B41FA5}">
                      <a16:colId xmlns:a16="http://schemas.microsoft.com/office/drawing/2014/main" val="20001"/>
                    </a:ext>
                  </a:extLst>
                </a:gridCol>
                <a:gridCol w="1535278">
                  <a:extLst>
                    <a:ext uri="{9D8B030D-6E8A-4147-A177-3AD203B41FA5}">
                      <a16:colId xmlns:a16="http://schemas.microsoft.com/office/drawing/2014/main" val="20002"/>
                    </a:ext>
                  </a:extLst>
                </a:gridCol>
                <a:gridCol w="1535278">
                  <a:extLst>
                    <a:ext uri="{9D8B030D-6E8A-4147-A177-3AD203B41FA5}">
                      <a16:colId xmlns:a16="http://schemas.microsoft.com/office/drawing/2014/main" val="20003"/>
                    </a:ext>
                  </a:extLst>
                </a:gridCol>
              </a:tblGrid>
              <a:tr h="45720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2019 → 2021</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Magasins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En ligne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Revendeur</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45720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Chiffre d'affaires brut</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519,5 → 266,8 M$</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255,5 → 272,3 M$</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184,5 → 158,3 M$</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Unités vendues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b="1" dirty="0">
                          <a:solidFill>
                            <a:srgbClr val="1F2A28"/>
                          </a:solidFill>
                          <a:latin typeface="Calibri" pitchFamily="34" charset="0"/>
                          <a:ea typeface="Calibri" pitchFamily="34" charset="-122"/>
                          <a:cs typeface="Calibri" pitchFamily="34" charset="-120"/>
                        </a:rPr>
                        <a:t>−37,5 %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b="1" dirty="0">
                          <a:solidFill>
                            <a:srgbClr val="1F2A28"/>
                          </a:solidFill>
                          <a:latin typeface="Calibri" pitchFamily="34" charset="0"/>
                          <a:ea typeface="Calibri" pitchFamily="34" charset="-122"/>
                          <a:cs typeface="Calibri" pitchFamily="34" charset="-120"/>
                        </a:rPr>
                        <a:t>+59,7 %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+21,4 %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45720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Prix moyen d'une unité</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−17,9 %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−33,3 %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−29,4 %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Lignes de vente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−65,5 %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−21,3 %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−30,8 %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4"/>
                  </a:ext>
                </a:extLst>
              </a:tr>
            </a:tbl>
          </a:graphicData>
        </a:graphic>
      </p:graphicFrame>
      <p:sp>
        <p:nvSpPr>
          <p:cNvPr id="23" name="Text 19"/>
          <p:cNvSpPr/>
          <p:nvPr/>
        </p:nvSpPr>
        <p:spPr>
          <a:xfrm>
            <a:off x="7589520" y="2880360"/>
            <a:ext cx="4023360" cy="2651760"/>
          </a:xfrm>
          <a:prstGeom prst="rect">
            <a:avLst/>
          </a:prstGeom>
          <a:noFill/>
          <a:ln/>
        </p:spPr>
        <p:txBody>
          <a:bodyPr wrap="square" lIns="0" tIns="0" rIns="0" bIns="0" rtlCol="0" anchor="t"/>
          <a:lstStyle/>
          <a:p>
            <a:pPr marL="0" indent="0">
              <a:spcAft>
                <a:spcPts val="800"/>
              </a:spcAft>
              <a:buNone/>
            </a:pPr>
            <a:r>
              <a:rPr lang="en-US" sz="1500" b="1" dirty="0">
                <a:solidFill>
                  <a:srgbClr val="2E5E55"/>
                </a:solidFill>
                <a:latin typeface="Calibri" pitchFamily="34" charset="0"/>
                <a:ea typeface="Calibri" pitchFamily="34" charset="-122"/>
                <a:cs typeface="Calibri" pitchFamily="34" charset="-120"/>
              </a:rPr>
              <a:t>•  </a:t>
            </a:r>
            <a:r>
              <a:rPr lang="en-US" sz="1500" b="1" dirty="0">
                <a:solidFill>
                  <a:srgbClr val="1F2A28"/>
                </a:solidFill>
                <a:latin typeface="Calibri" pitchFamily="34" charset="0"/>
                <a:ea typeface="Calibri" pitchFamily="34" charset="-122"/>
                <a:cs typeface="Calibri" pitchFamily="34" charset="-120"/>
              </a:rPr>
              <a:t>Tous les magasins</a:t>
            </a:r>
            <a:r>
              <a:rPr lang="en-US" sz="1500" dirty="0">
                <a:solidFill>
                  <a:srgbClr val="1F2A28"/>
                </a:solidFill>
                <a:latin typeface="Calibri" pitchFamily="34" charset="0"/>
                <a:ea typeface="Calibri" pitchFamily="34" charset="-122"/>
                <a:cs typeface="Calibri" pitchFamily="34" charset="-120"/>
              </a:rPr>
              <a:t> : de −50,9 % à −56,2 % (5e au 95e centile), deux exceptions</a:t>
            </a:r>
            <a:endParaRPr lang="en-US" sz="1500" dirty="0"/>
          </a:p>
          <a:p>
            <a:pPr marL="0" indent="0">
              <a:spcAft>
                <a:spcPts val="800"/>
              </a:spcAft>
              <a:buNone/>
            </a:pPr>
            <a:r>
              <a:rPr lang="en-US" sz="1500" b="1" dirty="0">
                <a:solidFill>
                  <a:srgbClr val="2E5E55"/>
                </a:solidFill>
                <a:latin typeface="Calibri" pitchFamily="34" charset="0"/>
                <a:ea typeface="Calibri" pitchFamily="34" charset="-122"/>
                <a:cs typeface="Calibri" pitchFamily="34" charset="-120"/>
              </a:rPr>
              <a:t>•  </a:t>
            </a:r>
            <a:r>
              <a:rPr lang="en-US" sz="1500" b="1" dirty="0">
                <a:solidFill>
                  <a:srgbClr val="1F2A28"/>
                </a:solidFill>
                <a:latin typeface="Calibri" pitchFamily="34" charset="0"/>
                <a:ea typeface="Calibri" pitchFamily="34" charset="-122"/>
                <a:cs typeface="Calibri" pitchFamily="34" charset="-120"/>
              </a:rPr>
              <a:t>Tous les mois</a:t>
            </a:r>
            <a:r>
              <a:rPr lang="en-US" sz="1500" dirty="0">
                <a:solidFill>
                  <a:srgbClr val="1F2A28"/>
                </a:solidFill>
                <a:latin typeface="Calibri" pitchFamily="34" charset="0"/>
                <a:ea typeface="Calibri" pitchFamily="34" charset="-122"/>
                <a:cs typeface="Calibri" pitchFamily="34" charset="-120"/>
              </a:rPr>
              <a:t> : de −42 % à −58 % par rapport à 2019</a:t>
            </a:r>
            <a:endParaRPr lang="en-US" sz="1500" dirty="0"/>
          </a:p>
          <a:p>
            <a:pPr marL="0" indent="0">
              <a:spcAft>
                <a:spcPts val="800"/>
              </a:spcAft>
              <a:buNone/>
            </a:pPr>
            <a:r>
              <a:rPr lang="en-US" sz="1500" b="1" dirty="0">
                <a:solidFill>
                  <a:srgbClr val="2E5E55"/>
                </a:solidFill>
                <a:latin typeface="Calibri" pitchFamily="34" charset="0"/>
                <a:ea typeface="Calibri" pitchFamily="34" charset="-122"/>
                <a:cs typeface="Calibri" pitchFamily="34" charset="-120"/>
              </a:rPr>
              <a:t>•  </a:t>
            </a:r>
            <a:r>
              <a:rPr lang="en-US" sz="1500" b="1" dirty="0">
                <a:solidFill>
                  <a:srgbClr val="1F2A28"/>
                </a:solidFill>
                <a:latin typeface="Calibri" pitchFamily="34" charset="0"/>
                <a:ea typeface="Calibri" pitchFamily="34" charset="-122"/>
                <a:cs typeface="Calibri" pitchFamily="34" charset="-120"/>
              </a:rPr>
              <a:t>Toutes les catégories</a:t>
            </a:r>
            <a:r>
              <a:rPr lang="en-US" sz="1500" dirty="0">
                <a:solidFill>
                  <a:srgbClr val="1F2A28"/>
                </a:solidFill>
                <a:latin typeface="Calibri" pitchFamily="34" charset="0"/>
                <a:ea typeface="Calibri" pitchFamily="34" charset="-122"/>
                <a:cs typeface="Calibri" pitchFamily="34" charset="-120"/>
              </a:rPr>
              <a:t> reculent plus en magasin qu'en ligne</a:t>
            </a:r>
            <a:endParaRPr lang="en-US" sz="1500" dirty="0"/>
          </a:p>
        </p:txBody>
      </p:sp>
      <p:sp>
        <p:nvSpPr>
          <p:cNvPr id="24" name="Shape 20"/>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25" name="Shape 21"/>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26" name="Text 22"/>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Une baisse </a:t>
            </a:r>
            <a:r>
              <a:rPr lang="en-US" sz="1500" b="1" dirty="0">
                <a:solidFill>
                  <a:srgbClr val="17332E"/>
                </a:solidFill>
                <a:latin typeface="Calibri" pitchFamily="34" charset="0"/>
                <a:ea typeface="Calibri" pitchFamily="34" charset="-122"/>
                <a:cs typeface="Calibri" pitchFamily="34" charset="-120"/>
              </a:rPr>
              <a:t>uniforme et de volume</a:t>
            </a:r>
            <a:r>
              <a:rPr lang="en-US" sz="1500" dirty="0">
                <a:solidFill>
                  <a:srgbClr val="17332E"/>
                </a:solidFill>
                <a:latin typeface="Calibri" pitchFamily="34" charset="0"/>
                <a:ea typeface="Calibri" pitchFamily="34" charset="-122"/>
                <a:cs typeface="Calibri" pitchFamily="34" charset="-120"/>
              </a:rPr>
              <a:t> : la cause agit sur tout le réseau de magasins.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Barnabe Landry Evouna</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2 · Q1 : POURQUOI LES VENTES ONT CHUTÉ</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Les clients descendent en gamme, mais dans les trois canaux à la fois</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Barnabe Landry Evouna</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309361" cy="3584448"/>
        </p:xfrm>
        <a:graphic>
          <a:graphicData uri="http://schemas.openxmlformats.org/drawingml/2006/table">
            <a:tbl>
              <a:tblPr/>
              <a:tblGrid>
                <a:gridCol w="2902306">
                  <a:extLst>
                    <a:ext uri="{9D8B030D-6E8A-4147-A177-3AD203B41FA5}">
                      <a16:colId xmlns:a16="http://schemas.microsoft.com/office/drawing/2014/main" val="20000"/>
                    </a:ext>
                  </a:extLst>
                </a:gridCol>
                <a:gridCol w="1135685">
                  <a:extLst>
                    <a:ext uri="{9D8B030D-6E8A-4147-A177-3AD203B41FA5}">
                      <a16:colId xmlns:a16="http://schemas.microsoft.com/office/drawing/2014/main" val="20001"/>
                    </a:ext>
                  </a:extLst>
                </a:gridCol>
                <a:gridCol w="1135685">
                  <a:extLst>
                    <a:ext uri="{9D8B030D-6E8A-4147-A177-3AD203B41FA5}">
                      <a16:colId xmlns:a16="http://schemas.microsoft.com/office/drawing/2014/main" val="20002"/>
                    </a:ext>
                  </a:extLst>
                </a:gridCol>
                <a:gridCol w="1135685">
                  <a:extLst>
                    <a:ext uri="{9D8B030D-6E8A-4147-A177-3AD203B41FA5}">
                      <a16:colId xmlns:a16="http://schemas.microsoft.com/office/drawing/2014/main" val="20003"/>
                    </a:ext>
                  </a:extLst>
                </a:gridCol>
              </a:tblGrid>
              <a:tr h="512064">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Part des unités vendues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2019</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2020</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2021</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512064">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Magasins : 20 % les moins chers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20,3 %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22,8 %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F2A28"/>
                          </a:solidFill>
                          <a:latin typeface="Calibri" pitchFamily="34" charset="0"/>
                          <a:ea typeface="Calibri" pitchFamily="34" charset="-122"/>
                          <a:cs typeface="Calibri" pitchFamily="34" charset="-120"/>
                        </a:rPr>
                        <a:t>27,0 %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Magasins : 20 % les plus chers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18,4 %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17,2 %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b="1" dirty="0">
                          <a:solidFill>
                            <a:srgbClr val="1F2A28"/>
                          </a:solidFill>
                          <a:latin typeface="Calibri" pitchFamily="34" charset="0"/>
                          <a:ea typeface="Calibri" pitchFamily="34" charset="-122"/>
                          <a:cs typeface="Calibri" pitchFamily="34" charset="-120"/>
                        </a:rPr>
                        <a:t>14,3 %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512064">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En ligne : 20 % les moins chers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19,6 %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23,2 %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F2A28"/>
                          </a:solidFill>
                          <a:latin typeface="Calibri" pitchFamily="34" charset="0"/>
                          <a:ea typeface="Calibri" pitchFamily="34" charset="-122"/>
                          <a:cs typeface="Calibri" pitchFamily="34" charset="-120"/>
                        </a:rPr>
                        <a:t>26,7 %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En ligne : 20 % les plus chers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20,2 %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16,8 %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b="1" dirty="0">
                          <a:solidFill>
                            <a:srgbClr val="1F2A28"/>
                          </a:solidFill>
                          <a:latin typeface="Calibri" pitchFamily="34" charset="0"/>
                          <a:ea typeface="Calibri" pitchFamily="34" charset="-122"/>
                          <a:cs typeface="Calibri" pitchFamily="34" charset="-120"/>
                        </a:rPr>
                        <a:t>13,6 %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4"/>
                  </a:ext>
                </a:extLst>
              </a:tr>
              <a:tr h="512064">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Revendeur : 20 % les moins chers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20,1 %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23,2 %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F2A28"/>
                          </a:solidFill>
                          <a:latin typeface="Calibri" pitchFamily="34" charset="0"/>
                          <a:ea typeface="Calibri" pitchFamily="34" charset="-122"/>
                          <a:cs typeface="Calibri" pitchFamily="34" charset="-120"/>
                        </a:rPr>
                        <a:t>26,6 %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12064">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Revendeur : 20 % les plus chers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18,6 %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16,4 %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b="1" dirty="0">
                          <a:solidFill>
                            <a:srgbClr val="1F2A28"/>
                          </a:solidFill>
                          <a:latin typeface="Calibri" pitchFamily="34" charset="0"/>
                          <a:ea typeface="Calibri" pitchFamily="34" charset="-122"/>
                          <a:cs typeface="Calibri" pitchFamily="34" charset="-120"/>
                        </a:rPr>
                        <a:t>13,9 %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6"/>
                  </a:ext>
                </a:extLst>
              </a:tr>
            </a:tbl>
          </a:graphicData>
        </a:graphic>
      </p:graphicFrame>
      <p:sp>
        <p:nvSpPr>
          <p:cNvPr id="11" name="Text 7"/>
          <p:cNvSpPr/>
          <p:nvPr/>
        </p:nvSpPr>
        <p:spPr>
          <a:xfrm>
            <a:off x="7223760" y="1554480"/>
            <a:ext cx="4389120" cy="3931920"/>
          </a:xfrm>
          <a:prstGeom prst="rect">
            <a:avLst/>
          </a:prstGeom>
          <a:noFill/>
          <a:ln/>
        </p:spPr>
        <p:txBody>
          <a:bodyPr wrap="square" lIns="0" tIns="0" rIns="0" bIns="0" rtlCol="0" anchor="t"/>
          <a:lstStyle/>
          <a:p>
            <a:pPr marL="0" indent="0">
              <a:spcAft>
                <a:spcPts val="800"/>
              </a:spcAft>
              <a:buNone/>
            </a:pPr>
            <a:r>
              <a:rPr lang="en-US" sz="1500" b="1" dirty="0">
                <a:solidFill>
                  <a:srgbClr val="2E5E55"/>
                </a:solidFill>
                <a:latin typeface="Calibri" pitchFamily="34" charset="0"/>
                <a:ea typeface="Calibri" pitchFamily="34" charset="-122"/>
                <a:cs typeface="Calibri" pitchFamily="34" charset="-120"/>
              </a:rPr>
              <a:t>•  </a:t>
            </a:r>
            <a:r>
              <a:rPr lang="en-US" sz="1500" b="1" dirty="0">
                <a:solidFill>
                  <a:srgbClr val="1F2A28"/>
                </a:solidFill>
                <a:latin typeface="Calibri" pitchFamily="34" charset="0"/>
                <a:ea typeface="Calibri" pitchFamily="34" charset="-122"/>
                <a:cs typeface="Calibri" pitchFamily="34" charset="-120"/>
              </a:rPr>
              <a:t>Sur les mêmes 1 815 produits</a:t>
            </a:r>
            <a:r>
              <a:rPr lang="en-US" sz="1500" dirty="0">
                <a:solidFill>
                  <a:srgbClr val="1F2A28"/>
                </a:solidFill>
                <a:latin typeface="Calibri" pitchFamily="34" charset="0"/>
                <a:ea typeface="Calibri" pitchFamily="34" charset="-122"/>
                <a:cs typeface="Calibri" pitchFamily="34" charset="-120"/>
              </a:rPr>
              <a:t> : les moins chers passent de 15,0 % à 25,1 % des unités en magasin</a:t>
            </a:r>
            <a:endParaRPr lang="en-US" sz="1500" dirty="0"/>
          </a:p>
          <a:p>
            <a:pPr marL="0" indent="0">
              <a:spcAft>
                <a:spcPts val="800"/>
              </a:spcAft>
              <a:buNone/>
            </a:pPr>
            <a:r>
              <a:rPr lang="en-US" sz="1500" b="1" dirty="0">
                <a:solidFill>
                  <a:srgbClr val="2E5E55"/>
                </a:solidFill>
                <a:latin typeface="Calibri" pitchFamily="34" charset="0"/>
                <a:ea typeface="Calibri" pitchFamily="34" charset="-122"/>
                <a:cs typeface="Calibri" pitchFamily="34" charset="-120"/>
              </a:rPr>
              <a:t>•  </a:t>
            </a:r>
            <a:r>
              <a:rPr lang="en-US" sz="1500" b="1" dirty="0">
                <a:solidFill>
                  <a:srgbClr val="1F2A28"/>
                </a:solidFill>
                <a:latin typeface="Calibri" pitchFamily="34" charset="0"/>
                <a:ea typeface="Calibri" pitchFamily="34" charset="-122"/>
                <a:cs typeface="Calibri" pitchFamily="34" charset="-120"/>
              </a:rPr>
              <a:t>Par marches, chaque janvier</a:t>
            </a:r>
            <a:r>
              <a:rPr lang="en-US" sz="1500" dirty="0">
                <a:solidFill>
                  <a:srgbClr val="1F2A28"/>
                </a:solidFill>
                <a:latin typeface="Calibri" pitchFamily="34" charset="0"/>
                <a:ea typeface="Calibri" pitchFamily="34" charset="-122"/>
                <a:cs typeface="Calibri" pitchFamily="34" charset="-120"/>
              </a:rPr>
              <a:t> : la première précède la pandémie</a:t>
            </a:r>
            <a:endParaRPr lang="en-US" sz="1500" dirty="0"/>
          </a:p>
          <a:p>
            <a:pPr marL="0" indent="0">
              <a:spcAft>
                <a:spcPts val="800"/>
              </a:spcAft>
              <a:buNone/>
            </a:pPr>
            <a:r>
              <a:rPr lang="en-US" sz="1500" b="1" dirty="0">
                <a:solidFill>
                  <a:srgbClr val="2E5E55"/>
                </a:solidFill>
                <a:latin typeface="Calibri" pitchFamily="34" charset="0"/>
                <a:ea typeface="Calibri" pitchFamily="34" charset="-122"/>
                <a:cs typeface="Calibri" pitchFamily="34" charset="-120"/>
              </a:rPr>
              <a:t>•  </a:t>
            </a:r>
            <a:r>
              <a:rPr lang="en-US" sz="1500" b="1" dirty="0">
                <a:solidFill>
                  <a:srgbClr val="1F2A28"/>
                </a:solidFill>
                <a:latin typeface="Calibri" pitchFamily="34" charset="0"/>
                <a:ea typeface="Calibri" pitchFamily="34" charset="-122"/>
                <a:cs typeface="Calibri" pitchFamily="34" charset="-120"/>
              </a:rPr>
              <a:t>Restrictions sanitaires</a:t>
            </a:r>
            <a:r>
              <a:rPr lang="en-US" sz="1500" dirty="0">
                <a:solidFill>
                  <a:srgbClr val="1F2A28"/>
                </a:solidFill>
                <a:latin typeface="Calibri" pitchFamily="34" charset="0"/>
                <a:ea typeface="Calibri" pitchFamily="34" charset="-122"/>
                <a:cs typeface="Calibri" pitchFamily="34" charset="-120"/>
              </a:rPr>
              <a:t> : corrélation de +0,02, aucun lien</a:t>
            </a:r>
            <a:endParaRPr lang="en-US" sz="1500" dirty="0"/>
          </a:p>
          <a:p>
            <a:pPr marL="0" indent="0">
              <a:spcAft>
                <a:spcPts val="800"/>
              </a:spcAft>
              <a:buNone/>
            </a:pPr>
            <a:r>
              <a:rPr lang="en-US" sz="1500" b="1" dirty="0">
                <a:solidFill>
                  <a:srgbClr val="2E5E55"/>
                </a:solidFill>
                <a:latin typeface="Calibri" pitchFamily="34" charset="0"/>
                <a:ea typeface="Calibri" pitchFamily="34" charset="-122"/>
                <a:cs typeface="Calibri" pitchFamily="34" charset="-120"/>
              </a:rPr>
              <a:t>•  </a:t>
            </a:r>
            <a:r>
              <a:rPr lang="en-US" sz="1500" b="1" dirty="0">
                <a:solidFill>
                  <a:srgbClr val="1F2A28"/>
                </a:solidFill>
                <a:latin typeface="Calibri" pitchFamily="34" charset="0"/>
                <a:ea typeface="Calibri" pitchFamily="34" charset="-122"/>
                <a:cs typeface="Calibri" pitchFamily="34" charset="-120"/>
              </a:rPr>
              <a:t>Identique dans les trois canaux</a:t>
            </a:r>
            <a:r>
              <a:rPr lang="en-US" sz="1500" dirty="0">
                <a:solidFill>
                  <a:srgbClr val="1F2A28"/>
                </a:solidFill>
                <a:latin typeface="Calibri" pitchFamily="34" charset="0"/>
                <a:ea typeface="Calibri" pitchFamily="34" charset="-122"/>
                <a:cs typeface="Calibri" pitchFamily="34" charset="-120"/>
              </a:rPr>
              <a:t> : elle n'explique pas l'écart entre magasins et boutique en ligne</a:t>
            </a:r>
            <a:endParaRPr lang="en-US" sz="1500" dirty="0"/>
          </a:p>
        </p:txBody>
      </p:sp>
      <p:sp>
        <p:nvSpPr>
          <p:cNvPr id="12" name="Shape 8"/>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3" name="Shape 9"/>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14" name="Text 10"/>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La descente en gamme est </a:t>
            </a:r>
            <a:r>
              <a:rPr lang="en-US" sz="1500" b="1" dirty="0">
                <a:solidFill>
                  <a:srgbClr val="17332E"/>
                </a:solidFill>
                <a:latin typeface="Calibri" pitchFamily="34" charset="0"/>
                <a:ea typeface="Calibri" pitchFamily="34" charset="-122"/>
                <a:cs typeface="Calibri" pitchFamily="34" charset="-120"/>
              </a:rPr>
              <a:t>réelle partout</a:t>
            </a:r>
            <a:r>
              <a:rPr lang="en-US" sz="1500" dirty="0">
                <a:solidFill>
                  <a:srgbClr val="17332E"/>
                </a:solidFill>
                <a:latin typeface="Calibri" pitchFamily="34" charset="0"/>
                <a:ea typeface="Calibri" pitchFamily="34" charset="-122"/>
                <a:cs typeface="Calibri" pitchFamily="34" charset="-120"/>
              </a:rPr>
              <a:t>, donc elle ne dit pas pourquoi </a:t>
            </a:r>
            <a:r>
              <a:rPr lang="en-US" sz="1500" b="1" dirty="0">
                <a:solidFill>
                  <a:srgbClr val="17332E"/>
                </a:solidFill>
                <a:latin typeface="Calibri" pitchFamily="34" charset="0"/>
                <a:ea typeface="Calibri" pitchFamily="34" charset="-122"/>
                <a:cs typeface="Calibri" pitchFamily="34" charset="-120"/>
              </a:rPr>
              <a:t>les magasins</a:t>
            </a:r>
            <a:r>
              <a:rPr lang="en-US" sz="1500" dirty="0">
                <a:solidFill>
                  <a:srgbClr val="17332E"/>
                </a:solidFill>
                <a:latin typeface="Calibri" pitchFamily="34" charset="0"/>
                <a:ea typeface="Calibri" pitchFamily="34" charset="-122"/>
                <a:cs typeface="Calibri" pitchFamily="34" charset="-120"/>
              </a:rPr>
              <a:t> décrochent.</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Barnabe Landry Evouna</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2 · Q1 : POURQUOI LES VENTES ONT CHUTÉ</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Premier constat : l'entreprise lance deux fois moins de nouveautés qu'en 2019</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Barnabe Landry Evouna</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18</a:t>
            </a:r>
            <a:endParaRPr lang="en-US" sz="1000" dirty="0"/>
          </a:p>
        </p:txBody>
      </p:sp>
      <p:sp>
        <p:nvSpPr>
          <p:cNvPr id="10" name="Shape 7"/>
          <p:cNvSpPr/>
          <p:nvPr/>
        </p:nvSpPr>
        <p:spPr>
          <a:xfrm>
            <a:off x="548640" y="1463040"/>
            <a:ext cx="2194560" cy="1143000"/>
          </a:xfrm>
          <a:prstGeom prst="rect">
            <a:avLst/>
          </a:prstGeom>
          <a:solidFill>
            <a:srgbClr val="EAF2EF"/>
          </a:solidFill>
          <a:ln w="9525">
            <a:solidFill>
              <a:srgbClr val="CFE0DA"/>
            </a:solidFill>
            <a:prstDash val="solid"/>
          </a:ln>
        </p:spPr>
        <p:txBody>
          <a:bodyPr/>
          <a:lstStyle/>
          <a:p>
            <a:endParaRPr lang="en-US"/>
          </a:p>
        </p:txBody>
      </p:sp>
      <p:sp>
        <p:nvSpPr>
          <p:cNvPr id="11" name="Text 8"/>
          <p:cNvSpPr/>
          <p:nvPr/>
        </p:nvSpPr>
        <p:spPr>
          <a:xfrm>
            <a:off x="548640" y="1554480"/>
            <a:ext cx="2194560" cy="571500"/>
          </a:xfrm>
          <a:prstGeom prst="rect">
            <a:avLst/>
          </a:prstGeom>
          <a:noFill/>
          <a:ln/>
        </p:spPr>
        <p:txBody>
          <a:bodyPr wrap="square" lIns="0" tIns="0" rIns="0" bIns="0" rtlCol="0" anchor="ctr"/>
          <a:lstStyle/>
          <a:p>
            <a:pPr marL="0" indent="0" algn="ctr">
              <a:buNone/>
            </a:pPr>
            <a:r>
              <a:rPr lang="en-US" sz="2600" b="1" dirty="0">
                <a:solidFill>
                  <a:srgbClr val="17332E"/>
                </a:solidFill>
                <a:latin typeface="Cambria" pitchFamily="34" charset="0"/>
                <a:ea typeface="Cambria" pitchFamily="34" charset="-122"/>
                <a:cs typeface="Cambria" pitchFamily="34" charset="-120"/>
              </a:rPr>
              <a:t>552</a:t>
            </a:r>
            <a:endParaRPr lang="en-US" sz="2600" dirty="0"/>
          </a:p>
        </p:txBody>
      </p:sp>
      <p:sp>
        <p:nvSpPr>
          <p:cNvPr id="12" name="Text 9"/>
          <p:cNvSpPr/>
          <p:nvPr/>
        </p:nvSpPr>
        <p:spPr>
          <a:xfrm>
            <a:off x="640080" y="2091690"/>
            <a:ext cx="2011680" cy="457200"/>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produits lancés en 2019</a:t>
            </a:r>
            <a:endParaRPr lang="en-US" sz="1200" dirty="0"/>
          </a:p>
        </p:txBody>
      </p:sp>
      <p:sp>
        <p:nvSpPr>
          <p:cNvPr id="13" name="Shape 10"/>
          <p:cNvSpPr/>
          <p:nvPr/>
        </p:nvSpPr>
        <p:spPr>
          <a:xfrm>
            <a:off x="2880360" y="1463040"/>
            <a:ext cx="2194560" cy="1143000"/>
          </a:xfrm>
          <a:prstGeom prst="rect">
            <a:avLst/>
          </a:prstGeom>
          <a:solidFill>
            <a:srgbClr val="EAF2EF"/>
          </a:solidFill>
          <a:ln w="9525">
            <a:solidFill>
              <a:srgbClr val="CFE0DA"/>
            </a:solidFill>
            <a:prstDash val="solid"/>
          </a:ln>
        </p:spPr>
        <p:txBody>
          <a:bodyPr/>
          <a:lstStyle/>
          <a:p>
            <a:endParaRPr lang="en-US"/>
          </a:p>
        </p:txBody>
      </p:sp>
      <p:sp>
        <p:nvSpPr>
          <p:cNvPr id="14" name="Text 11"/>
          <p:cNvSpPr/>
          <p:nvPr/>
        </p:nvSpPr>
        <p:spPr>
          <a:xfrm>
            <a:off x="2880360" y="1554480"/>
            <a:ext cx="2194560" cy="571500"/>
          </a:xfrm>
          <a:prstGeom prst="rect">
            <a:avLst/>
          </a:prstGeom>
          <a:noFill/>
          <a:ln/>
        </p:spPr>
        <p:txBody>
          <a:bodyPr wrap="square" lIns="0" tIns="0" rIns="0" bIns="0" rtlCol="0" anchor="ctr"/>
          <a:lstStyle/>
          <a:p>
            <a:pPr marL="0" indent="0" algn="ctr">
              <a:buNone/>
            </a:pPr>
            <a:r>
              <a:rPr lang="en-US" sz="2600" b="1" dirty="0">
                <a:solidFill>
                  <a:srgbClr val="17332E"/>
                </a:solidFill>
                <a:latin typeface="Cambria" pitchFamily="34" charset="0"/>
                <a:ea typeface="Cambria" pitchFamily="34" charset="-122"/>
                <a:cs typeface="Cambria" pitchFamily="34" charset="-120"/>
              </a:rPr>
              <a:t>429</a:t>
            </a:r>
            <a:endParaRPr lang="en-US" sz="2600" dirty="0"/>
          </a:p>
        </p:txBody>
      </p:sp>
      <p:sp>
        <p:nvSpPr>
          <p:cNvPr id="15" name="Text 12"/>
          <p:cNvSpPr/>
          <p:nvPr/>
        </p:nvSpPr>
        <p:spPr>
          <a:xfrm>
            <a:off x="2971800" y="2091690"/>
            <a:ext cx="2011680" cy="457200"/>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lancés en 2020 (−22 %)</a:t>
            </a:r>
            <a:endParaRPr lang="en-US" sz="1200" dirty="0"/>
          </a:p>
        </p:txBody>
      </p:sp>
      <p:sp>
        <p:nvSpPr>
          <p:cNvPr id="16" name="Shape 13"/>
          <p:cNvSpPr/>
          <p:nvPr/>
        </p:nvSpPr>
        <p:spPr>
          <a:xfrm>
            <a:off x="5212080" y="1463040"/>
            <a:ext cx="2194560" cy="1143000"/>
          </a:xfrm>
          <a:prstGeom prst="rect">
            <a:avLst/>
          </a:prstGeom>
          <a:solidFill>
            <a:srgbClr val="EAF2EF"/>
          </a:solidFill>
          <a:ln w="9525">
            <a:solidFill>
              <a:srgbClr val="CFE0DA"/>
            </a:solidFill>
            <a:prstDash val="solid"/>
          </a:ln>
        </p:spPr>
        <p:txBody>
          <a:bodyPr/>
          <a:lstStyle/>
          <a:p>
            <a:endParaRPr lang="en-US"/>
          </a:p>
        </p:txBody>
      </p:sp>
      <p:sp>
        <p:nvSpPr>
          <p:cNvPr id="17" name="Text 14"/>
          <p:cNvSpPr/>
          <p:nvPr/>
        </p:nvSpPr>
        <p:spPr>
          <a:xfrm>
            <a:off x="5212080" y="1554480"/>
            <a:ext cx="2194560" cy="571500"/>
          </a:xfrm>
          <a:prstGeom prst="rect">
            <a:avLst/>
          </a:prstGeom>
          <a:noFill/>
          <a:ln/>
        </p:spPr>
        <p:txBody>
          <a:bodyPr wrap="square" lIns="0" tIns="0" rIns="0" bIns="0" rtlCol="0" anchor="ctr"/>
          <a:lstStyle/>
          <a:p>
            <a:pPr marL="0" indent="0" algn="ctr">
              <a:buNone/>
            </a:pPr>
            <a:r>
              <a:rPr lang="en-US" sz="2600" b="1" dirty="0">
                <a:solidFill>
                  <a:srgbClr val="B4442F"/>
                </a:solidFill>
                <a:latin typeface="Cambria" pitchFamily="34" charset="0"/>
                <a:ea typeface="Cambria" pitchFamily="34" charset="-122"/>
                <a:cs typeface="Cambria" pitchFamily="34" charset="-120"/>
              </a:rPr>
              <a:t>272</a:t>
            </a:r>
            <a:endParaRPr lang="en-US" sz="2600" dirty="0"/>
          </a:p>
        </p:txBody>
      </p:sp>
      <p:sp>
        <p:nvSpPr>
          <p:cNvPr id="18" name="Text 15"/>
          <p:cNvSpPr/>
          <p:nvPr/>
        </p:nvSpPr>
        <p:spPr>
          <a:xfrm>
            <a:off x="5303520" y="2091690"/>
            <a:ext cx="2011680" cy="457200"/>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lancés en 2021 (−51 %)</a:t>
            </a:r>
            <a:endParaRPr lang="en-US" sz="1200" dirty="0"/>
          </a:p>
        </p:txBody>
      </p:sp>
      <p:sp>
        <p:nvSpPr>
          <p:cNvPr id="19" name="Shape 16"/>
          <p:cNvSpPr/>
          <p:nvPr/>
        </p:nvSpPr>
        <p:spPr>
          <a:xfrm>
            <a:off x="7635240" y="1463040"/>
            <a:ext cx="3977640" cy="1143000"/>
          </a:xfrm>
          <a:prstGeom prst="rect">
            <a:avLst/>
          </a:prstGeom>
          <a:solidFill>
            <a:srgbClr val="EAF2EF"/>
          </a:solidFill>
          <a:ln w="9525">
            <a:solidFill>
              <a:srgbClr val="CFE0DA"/>
            </a:solidFill>
            <a:prstDash val="solid"/>
          </a:ln>
        </p:spPr>
        <p:txBody>
          <a:bodyPr/>
          <a:lstStyle/>
          <a:p>
            <a:endParaRPr lang="en-US"/>
          </a:p>
        </p:txBody>
      </p:sp>
      <p:sp>
        <p:nvSpPr>
          <p:cNvPr id="20" name="Text 17"/>
          <p:cNvSpPr/>
          <p:nvPr/>
        </p:nvSpPr>
        <p:spPr>
          <a:xfrm>
            <a:off x="7818120" y="1572768"/>
            <a:ext cx="3611880" cy="411480"/>
          </a:xfrm>
          <a:prstGeom prst="rect">
            <a:avLst/>
          </a:prstGeom>
          <a:noFill/>
          <a:ln/>
        </p:spPr>
        <p:txBody>
          <a:bodyPr wrap="square" lIns="0" tIns="0" rIns="0" bIns="0" rtlCol="0" anchor="ctr"/>
          <a:lstStyle/>
          <a:p>
            <a:pPr marL="0" indent="0">
              <a:buNone/>
            </a:pPr>
            <a:r>
              <a:rPr lang="en-US" sz="1500" b="1" dirty="0">
                <a:solidFill>
                  <a:srgbClr val="17332E"/>
                </a:solidFill>
                <a:latin typeface="Cambria" pitchFamily="34" charset="0"/>
                <a:ea typeface="Cambria" pitchFamily="34" charset="-122"/>
                <a:cs typeface="Cambria" pitchFamily="34" charset="-120"/>
              </a:rPr>
              <a:t>Dernier lancement : 21 juillet 2021</a:t>
            </a:r>
            <a:endParaRPr lang="en-US" sz="1500" dirty="0"/>
          </a:p>
        </p:txBody>
      </p:sp>
      <p:sp>
        <p:nvSpPr>
          <p:cNvPr id="21" name="Text 18"/>
          <p:cNvSpPr/>
          <p:nvPr/>
        </p:nvSpPr>
        <p:spPr>
          <a:xfrm>
            <a:off x="7818120" y="2057400"/>
            <a:ext cx="3657600" cy="365760"/>
          </a:xfrm>
          <a:prstGeom prst="rect">
            <a:avLst/>
          </a:prstGeom>
          <a:noFill/>
          <a:ln/>
        </p:spPr>
        <p:txBody>
          <a:bodyPr wrap="square" lIns="0" tIns="0" rIns="0" bIns="0" rtlCol="0" anchor="t"/>
          <a:lstStyle/>
          <a:p>
            <a:pPr marL="0" indent="0" algn="l">
              <a:buNone/>
            </a:pPr>
            <a:r>
              <a:rPr lang="en-US" sz="1300" dirty="0">
                <a:solidFill>
                  <a:srgbClr val="5E6B68"/>
                </a:solidFill>
                <a:latin typeface="Calibri" pitchFamily="34" charset="0"/>
                <a:ea typeface="Calibri" pitchFamily="34" charset="-122"/>
                <a:cs typeface="Calibri" pitchFamily="34" charset="-120"/>
              </a:rPr>
              <a:t>Aucune nouveauté au second semestre 2021</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834640"/>
          <a:ext cx="11064241" cy="2514600"/>
        </p:xfrm>
        <a:graphic>
          <a:graphicData uri="http://schemas.openxmlformats.org/drawingml/2006/table">
            <a:tbl>
              <a:tblPr/>
              <a:tblGrid>
                <a:gridCol w="3319272">
                  <a:extLst>
                    <a:ext uri="{9D8B030D-6E8A-4147-A177-3AD203B41FA5}">
                      <a16:colId xmlns:a16="http://schemas.microsoft.com/office/drawing/2014/main" val="20000"/>
                    </a:ext>
                  </a:extLst>
                </a:gridCol>
                <a:gridCol w="1548994">
                  <a:extLst>
                    <a:ext uri="{9D8B030D-6E8A-4147-A177-3AD203B41FA5}">
                      <a16:colId xmlns:a16="http://schemas.microsoft.com/office/drawing/2014/main" val="20001"/>
                    </a:ext>
                  </a:extLst>
                </a:gridCol>
                <a:gridCol w="1548994">
                  <a:extLst>
                    <a:ext uri="{9D8B030D-6E8A-4147-A177-3AD203B41FA5}">
                      <a16:colId xmlns:a16="http://schemas.microsoft.com/office/drawing/2014/main" val="20002"/>
                    </a:ext>
                  </a:extLst>
                </a:gridCol>
                <a:gridCol w="2212848">
                  <a:extLst>
                    <a:ext uri="{9D8B030D-6E8A-4147-A177-3AD203B41FA5}">
                      <a16:colId xmlns:a16="http://schemas.microsoft.com/office/drawing/2014/main" val="20003"/>
                    </a:ext>
                  </a:extLst>
                </a:gridCol>
                <a:gridCol w="2434133">
                  <a:extLst>
                    <a:ext uri="{9D8B030D-6E8A-4147-A177-3AD203B41FA5}">
                      <a16:colId xmlns:a16="http://schemas.microsoft.com/office/drawing/2014/main" val="20004"/>
                    </a:ext>
                  </a:extLst>
                </a:gridCol>
              </a:tblGrid>
              <a:tr h="50292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Magasins, chiffre d'affaires brut</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2019</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2020</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2021</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Part de la chute</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502920">
                <a:tc>
                  <a:txBody>
                    <a:bodyPr/>
                    <a:lstStyle/>
                    <a:p>
                      <a:pPr marL="0" indent="0" algn="l">
                        <a:buNone/>
                      </a:pPr>
                      <a:r>
                        <a:rPr lang="en-US" sz="1350" dirty="0">
                          <a:solidFill>
                            <a:srgbClr val="1F2A28"/>
                          </a:solidFill>
                          <a:latin typeface="Calibri" pitchFamily="34" charset="0"/>
                          <a:ea typeface="Calibri" pitchFamily="34" charset="-122"/>
                          <a:cs typeface="Calibri" pitchFamily="34" charset="-120"/>
                        </a:rPr>
                        <a:t>Nouveautés de l'année</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201,9 M$</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62,0 M$</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28,0 M$ (−86 %)</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1F2A28"/>
                          </a:solidFill>
                          <a:latin typeface="Calibri" pitchFamily="34" charset="0"/>
                          <a:ea typeface="Calibri" pitchFamily="34" charset="-122"/>
                          <a:cs typeface="Calibri" pitchFamily="34" charset="-120"/>
                        </a:rPr>
                        <a:t>69 %</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350" dirty="0">
                          <a:solidFill>
                            <a:srgbClr val="1F2A28"/>
                          </a:solidFill>
                          <a:latin typeface="Calibri" pitchFamily="34" charset="0"/>
                          <a:ea typeface="Calibri" pitchFamily="34" charset="-122"/>
                          <a:cs typeface="Calibri" pitchFamily="34" charset="-120"/>
                        </a:rPr>
                        <a:t>Lancés l'année précédente</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174,0 M$</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112,3 M$</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44,4 M$ (−75 %)</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51 %</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502920">
                <a:tc>
                  <a:txBody>
                    <a:bodyPr/>
                    <a:lstStyle/>
                    <a:p>
                      <a:pPr marL="0" indent="0" algn="l">
                        <a:buNone/>
                      </a:pPr>
                      <a:r>
                        <a:rPr lang="en-US" sz="1350" dirty="0">
                          <a:solidFill>
                            <a:srgbClr val="1F2A28"/>
                          </a:solidFill>
                          <a:latin typeface="Calibri" pitchFamily="34" charset="0"/>
                          <a:ea typeface="Calibri" pitchFamily="34" charset="-122"/>
                          <a:cs typeface="Calibri" pitchFamily="34" charset="-120"/>
                        </a:rPr>
                        <a:t>Plus anciens</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143,7 M$</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136,2 M$</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194,5 M$ (+35 %)</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−20 % (compensent)</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350" b="1" dirty="0">
                          <a:solidFill>
                            <a:srgbClr val="1F2A28"/>
                          </a:solidFill>
                          <a:latin typeface="Calibri" pitchFamily="34" charset="0"/>
                          <a:ea typeface="Calibri" pitchFamily="34" charset="-122"/>
                          <a:cs typeface="Calibri" pitchFamily="34" charset="-120"/>
                        </a:rPr>
                        <a:t>Total</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50" b="1" dirty="0">
                          <a:solidFill>
                            <a:srgbClr val="1F2A28"/>
                          </a:solidFill>
                          <a:latin typeface="Calibri" pitchFamily="34" charset="0"/>
                          <a:ea typeface="Calibri" pitchFamily="34" charset="-122"/>
                          <a:cs typeface="Calibri" pitchFamily="34" charset="-120"/>
                        </a:rPr>
                        <a:t>519,5 M$</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50" b="1" dirty="0">
                          <a:solidFill>
                            <a:srgbClr val="1F2A28"/>
                          </a:solidFill>
                          <a:latin typeface="Calibri" pitchFamily="34" charset="0"/>
                          <a:ea typeface="Calibri" pitchFamily="34" charset="-122"/>
                          <a:cs typeface="Calibri" pitchFamily="34" charset="-120"/>
                        </a:rPr>
                        <a:t>310,4 M$</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50" b="1" dirty="0">
                          <a:solidFill>
                            <a:srgbClr val="1F2A28"/>
                          </a:solidFill>
                          <a:latin typeface="Calibri" pitchFamily="34" charset="0"/>
                          <a:ea typeface="Calibri" pitchFamily="34" charset="-122"/>
                          <a:cs typeface="Calibri" pitchFamily="34" charset="-120"/>
                        </a:rPr>
                        <a:t>266,8 M$</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50" b="1" dirty="0">
                          <a:solidFill>
                            <a:srgbClr val="1F2A28"/>
                          </a:solidFill>
                          <a:latin typeface="Calibri" pitchFamily="34" charset="0"/>
                          <a:ea typeface="Calibri" pitchFamily="34" charset="-122"/>
                          <a:cs typeface="Calibri" pitchFamily="34" charset="-120"/>
                        </a:rPr>
                        <a:t>252,7 M$ de chute</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4"/>
                  </a:ext>
                </a:extLst>
              </a:tr>
            </a:tbl>
          </a:graphicData>
        </a:graphic>
      </p:graphicFrame>
      <p:sp>
        <p:nvSpPr>
          <p:cNvPr id="23" name="Shape 19"/>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24" name="Shape 20"/>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25" name="Text 21"/>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Les nouveautés passent de </a:t>
            </a:r>
            <a:r>
              <a:rPr lang="en-US" sz="1500" b="1" dirty="0">
                <a:solidFill>
                  <a:srgbClr val="17332E"/>
                </a:solidFill>
                <a:latin typeface="Calibri" pitchFamily="34" charset="0"/>
                <a:ea typeface="Calibri" pitchFamily="34" charset="-122"/>
                <a:cs typeface="Calibri" pitchFamily="34" charset="-120"/>
              </a:rPr>
              <a:t>39 % à 10 %</a:t>
            </a:r>
            <a:r>
              <a:rPr lang="en-US" sz="1500" dirty="0">
                <a:solidFill>
                  <a:srgbClr val="17332E"/>
                </a:solidFill>
                <a:latin typeface="Calibri" pitchFamily="34" charset="0"/>
                <a:ea typeface="Calibri" pitchFamily="34" charset="-122"/>
                <a:cs typeface="Calibri" pitchFamily="34" charset="-120"/>
              </a:rPr>
              <a:t> des ventes des magasins et portent </a:t>
            </a:r>
            <a:r>
              <a:rPr lang="en-US" sz="1500" b="1" dirty="0">
                <a:solidFill>
                  <a:srgbClr val="17332E"/>
                </a:solidFill>
                <a:latin typeface="Calibri" pitchFamily="34" charset="0"/>
                <a:ea typeface="Calibri" pitchFamily="34" charset="-122"/>
                <a:cs typeface="Calibri" pitchFamily="34" charset="-120"/>
              </a:rPr>
              <a:t>69 %</a:t>
            </a:r>
            <a:r>
              <a:rPr lang="en-US" sz="1500" dirty="0">
                <a:solidFill>
                  <a:srgbClr val="17332E"/>
                </a:solidFill>
                <a:latin typeface="Calibri" pitchFamily="34" charset="0"/>
                <a:ea typeface="Calibri" pitchFamily="34" charset="-122"/>
                <a:cs typeface="Calibri" pitchFamily="34" charset="-120"/>
              </a:rPr>
              <a:t> de leur chute.</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Barnabe Landry Evouna</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2 · Q1 : POURQUOI LES VENTES ONT CHUTÉ</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En ligne aussi les nouveautés reculent, mais le reste du catalogue compense</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Barnabe Landry Evouna</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19</a:t>
            </a:r>
            <a:endParaRPr lang="en-US" sz="1000" dirty="0"/>
          </a:p>
        </p:txBody>
      </p:sp>
      <p:pic>
        <p:nvPicPr>
          <p:cNvPr id="10" name="Image 0" descr="/tmp/claude-0/complet/reports/figures/06b_nouveautes.png"/>
          <p:cNvPicPr>
            <a:picLocks noChangeAspect="1"/>
          </p:cNvPicPr>
          <p:nvPr/>
        </p:nvPicPr>
        <p:blipFill>
          <a:blip r:embed="rId3"/>
          <a:stretch>
            <a:fillRect/>
          </a:stretch>
        </p:blipFill>
        <p:spPr>
          <a:xfrm>
            <a:off x="611730" y="1371600"/>
            <a:ext cx="10938061" cy="4206240"/>
          </a:xfrm>
          <a:prstGeom prst="rect">
            <a:avLst/>
          </a:prstGeom>
        </p:spPr>
      </p:pic>
      <p:sp>
        <p:nvSpPr>
          <p:cNvPr id="11" name="Shape 7"/>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2" name="Shape 8"/>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13" name="Text 9"/>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Produits plus anciens : </a:t>
            </a:r>
            <a:r>
              <a:rPr lang="en-US" sz="1500" b="1" dirty="0">
                <a:solidFill>
                  <a:srgbClr val="17332E"/>
                </a:solidFill>
                <a:latin typeface="Calibri" pitchFamily="34" charset="0"/>
                <a:ea typeface="Calibri" pitchFamily="34" charset="-122"/>
                <a:cs typeface="Calibri" pitchFamily="34" charset="-120"/>
              </a:rPr>
              <a:t>+158 % en ligne</a:t>
            </a:r>
            <a:r>
              <a:rPr lang="en-US" sz="1500" dirty="0">
                <a:solidFill>
                  <a:srgbClr val="17332E"/>
                </a:solidFill>
                <a:latin typeface="Calibri" pitchFamily="34" charset="0"/>
                <a:ea typeface="Calibri" pitchFamily="34" charset="-122"/>
                <a:cs typeface="Calibri" pitchFamily="34" charset="-120"/>
              </a:rPr>
              <a:t>, </a:t>
            </a:r>
            <a:r>
              <a:rPr lang="en-US" sz="1500" b="1" dirty="0">
                <a:solidFill>
                  <a:srgbClr val="17332E"/>
                </a:solidFill>
                <a:latin typeface="Calibri" pitchFamily="34" charset="0"/>
                <a:ea typeface="Calibri" pitchFamily="34" charset="-122"/>
                <a:cs typeface="Calibri" pitchFamily="34" charset="-120"/>
              </a:rPr>
              <a:t>+35 % en magasin</a:t>
            </a:r>
            <a:r>
              <a:rPr lang="en-US" sz="1500" dirty="0">
                <a:solidFill>
                  <a:srgbClr val="17332E"/>
                </a:solidFill>
                <a:latin typeface="Calibri" pitchFamily="34" charset="0"/>
                <a:ea typeface="Calibri" pitchFamily="34" charset="-122"/>
                <a:cs typeface="Calibri" pitchFamily="34" charset="-120"/>
              </a:rPr>
              <a:t>. Les magasins ne compensent pas.</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Barnabe Landry Evouna</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2 · Q1 : POURQUOI LES VENTES ONT CHUTÉ</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Deuxième constat : chaque produit se vend dans deux fois moins de magasins</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Barnabe Landry Evouna</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20</a:t>
            </a:r>
            <a:endParaRPr lang="en-US" sz="1000" dirty="0"/>
          </a:p>
        </p:txBody>
      </p:sp>
      <p:sp>
        <p:nvSpPr>
          <p:cNvPr id="10" name="Shape 7"/>
          <p:cNvSpPr/>
          <p:nvPr/>
        </p:nvSpPr>
        <p:spPr>
          <a:xfrm>
            <a:off x="548640" y="1463040"/>
            <a:ext cx="3566160" cy="1143000"/>
          </a:xfrm>
          <a:prstGeom prst="rect">
            <a:avLst/>
          </a:prstGeom>
          <a:solidFill>
            <a:srgbClr val="EAF2EF"/>
          </a:solidFill>
          <a:ln w="9525">
            <a:solidFill>
              <a:srgbClr val="CFE0DA"/>
            </a:solidFill>
            <a:prstDash val="solid"/>
          </a:ln>
        </p:spPr>
        <p:txBody>
          <a:bodyPr/>
          <a:lstStyle/>
          <a:p>
            <a:endParaRPr lang="en-US"/>
          </a:p>
        </p:txBody>
      </p:sp>
      <p:sp>
        <p:nvSpPr>
          <p:cNvPr id="11" name="Text 8"/>
          <p:cNvSpPr/>
          <p:nvPr/>
        </p:nvSpPr>
        <p:spPr>
          <a:xfrm>
            <a:off x="548640" y="1554480"/>
            <a:ext cx="3566160" cy="571500"/>
          </a:xfrm>
          <a:prstGeom prst="rect">
            <a:avLst/>
          </a:prstGeom>
          <a:noFill/>
          <a:ln/>
        </p:spPr>
        <p:txBody>
          <a:bodyPr wrap="square" lIns="0" tIns="0" rIns="0" bIns="0" rtlCol="0" anchor="ctr"/>
          <a:lstStyle/>
          <a:p>
            <a:pPr marL="0" indent="0" algn="ctr">
              <a:buNone/>
            </a:pPr>
            <a:r>
              <a:rPr lang="en-US" sz="2600" b="1" dirty="0">
                <a:solidFill>
                  <a:srgbClr val="B4442F"/>
                </a:solidFill>
                <a:latin typeface="Cambria" pitchFamily="34" charset="0"/>
                <a:ea typeface="Cambria" pitchFamily="34" charset="-122"/>
                <a:cs typeface="Cambria" pitchFamily="34" charset="-120"/>
              </a:rPr>
              <a:t>1 508 → 979</a:t>
            </a:r>
            <a:endParaRPr lang="en-US" sz="2600" dirty="0"/>
          </a:p>
        </p:txBody>
      </p:sp>
      <p:sp>
        <p:nvSpPr>
          <p:cNvPr id="12" name="Text 9"/>
          <p:cNvSpPr/>
          <p:nvPr/>
        </p:nvSpPr>
        <p:spPr>
          <a:xfrm>
            <a:off x="640080" y="2091690"/>
            <a:ext cx="3383280" cy="457200"/>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produits différents vendus par magasin, 2019 à 2021</a:t>
            </a:r>
            <a:endParaRPr lang="en-US" sz="1200" dirty="0"/>
          </a:p>
        </p:txBody>
      </p:sp>
      <p:sp>
        <p:nvSpPr>
          <p:cNvPr id="13" name="Shape 10"/>
          <p:cNvSpPr/>
          <p:nvPr/>
        </p:nvSpPr>
        <p:spPr>
          <a:xfrm>
            <a:off x="4297680" y="1463040"/>
            <a:ext cx="3566160" cy="1143000"/>
          </a:xfrm>
          <a:prstGeom prst="rect">
            <a:avLst/>
          </a:prstGeom>
          <a:solidFill>
            <a:srgbClr val="EAF2EF"/>
          </a:solidFill>
          <a:ln w="9525">
            <a:solidFill>
              <a:srgbClr val="CFE0DA"/>
            </a:solidFill>
            <a:prstDash val="solid"/>
          </a:ln>
        </p:spPr>
        <p:txBody>
          <a:bodyPr/>
          <a:lstStyle/>
          <a:p>
            <a:endParaRPr lang="en-US"/>
          </a:p>
        </p:txBody>
      </p:sp>
      <p:sp>
        <p:nvSpPr>
          <p:cNvPr id="14" name="Text 11"/>
          <p:cNvSpPr/>
          <p:nvPr/>
        </p:nvSpPr>
        <p:spPr>
          <a:xfrm>
            <a:off x="4297680" y="1554480"/>
            <a:ext cx="3566160" cy="571500"/>
          </a:xfrm>
          <a:prstGeom prst="rect">
            <a:avLst/>
          </a:prstGeom>
          <a:noFill/>
          <a:ln/>
        </p:spPr>
        <p:txBody>
          <a:bodyPr wrap="square" lIns="0" tIns="0" rIns="0" bIns="0" rtlCol="0" anchor="ctr"/>
          <a:lstStyle/>
          <a:p>
            <a:pPr marL="0" indent="0" algn="ctr">
              <a:buNone/>
            </a:pPr>
            <a:r>
              <a:rPr lang="en-US" sz="2600" b="1" dirty="0">
                <a:solidFill>
                  <a:srgbClr val="17332E"/>
                </a:solidFill>
                <a:latin typeface="Cambria" pitchFamily="34" charset="0"/>
                <a:ea typeface="Cambria" pitchFamily="34" charset="-122"/>
                <a:cs typeface="Cambria" pitchFamily="34" charset="-120"/>
              </a:rPr>
              <a:t>51 %</a:t>
            </a:r>
            <a:endParaRPr lang="en-US" sz="2600" dirty="0"/>
          </a:p>
        </p:txBody>
      </p:sp>
      <p:sp>
        <p:nvSpPr>
          <p:cNvPr id="15" name="Text 12"/>
          <p:cNvSpPr/>
          <p:nvPr/>
        </p:nvSpPr>
        <p:spPr>
          <a:xfrm>
            <a:off x="4389120" y="2091690"/>
            <a:ext cx="3383280" cy="457200"/>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de la chute vient des produits qui ne se vendent plus</a:t>
            </a:r>
            <a:endParaRPr lang="en-US" sz="1200" dirty="0"/>
          </a:p>
        </p:txBody>
      </p:sp>
      <p:sp>
        <p:nvSpPr>
          <p:cNvPr id="16" name="Shape 13"/>
          <p:cNvSpPr/>
          <p:nvPr/>
        </p:nvSpPr>
        <p:spPr>
          <a:xfrm>
            <a:off x="8046720" y="1463040"/>
            <a:ext cx="3566160" cy="1143000"/>
          </a:xfrm>
          <a:prstGeom prst="rect">
            <a:avLst/>
          </a:prstGeom>
          <a:solidFill>
            <a:srgbClr val="EAF2EF"/>
          </a:solidFill>
          <a:ln w="9525">
            <a:solidFill>
              <a:srgbClr val="CFE0DA"/>
            </a:solidFill>
            <a:prstDash val="solid"/>
          </a:ln>
        </p:spPr>
        <p:txBody>
          <a:bodyPr/>
          <a:lstStyle/>
          <a:p>
            <a:endParaRPr lang="en-US"/>
          </a:p>
        </p:txBody>
      </p:sp>
      <p:sp>
        <p:nvSpPr>
          <p:cNvPr id="17" name="Text 14"/>
          <p:cNvSpPr/>
          <p:nvPr/>
        </p:nvSpPr>
        <p:spPr>
          <a:xfrm>
            <a:off x="8046720" y="1554480"/>
            <a:ext cx="3566160" cy="571500"/>
          </a:xfrm>
          <a:prstGeom prst="rect">
            <a:avLst/>
          </a:prstGeom>
          <a:noFill/>
          <a:ln/>
        </p:spPr>
        <p:txBody>
          <a:bodyPr wrap="square" lIns="0" tIns="0" rIns="0" bIns="0" rtlCol="0" anchor="ctr"/>
          <a:lstStyle/>
          <a:p>
            <a:pPr marL="0" indent="0" algn="ctr">
              <a:buNone/>
            </a:pPr>
            <a:r>
              <a:rPr lang="en-US" sz="2600" b="1" dirty="0">
                <a:solidFill>
                  <a:srgbClr val="B4442F"/>
                </a:solidFill>
                <a:latin typeface="Cambria" pitchFamily="34" charset="0"/>
                <a:ea typeface="Cambria" pitchFamily="34" charset="-122"/>
                <a:cs typeface="Cambria" pitchFamily="34" charset="-120"/>
              </a:rPr>
              <a:t>39,8 → 21,1</a:t>
            </a:r>
            <a:endParaRPr lang="en-US" sz="2600" dirty="0"/>
          </a:p>
        </p:txBody>
      </p:sp>
      <p:sp>
        <p:nvSpPr>
          <p:cNvPr id="18" name="Text 15"/>
          <p:cNvSpPr/>
          <p:nvPr/>
        </p:nvSpPr>
        <p:spPr>
          <a:xfrm>
            <a:off x="8138160" y="2091690"/>
            <a:ext cx="3383280" cy="457200"/>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magasins qui vendent un même produit</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2834640"/>
          <a:ext cx="11064241" cy="2514600"/>
        </p:xfrm>
        <a:graphic>
          <a:graphicData uri="http://schemas.openxmlformats.org/drawingml/2006/table">
            <a:tbl>
              <a:tblPr/>
              <a:tblGrid>
                <a:gridCol w="4093769">
                  <a:extLst>
                    <a:ext uri="{9D8B030D-6E8A-4147-A177-3AD203B41FA5}">
                      <a16:colId xmlns:a16="http://schemas.microsoft.com/office/drawing/2014/main" val="20000"/>
                    </a:ext>
                  </a:extLst>
                </a:gridCol>
                <a:gridCol w="2102206">
                  <a:extLst>
                    <a:ext uri="{9D8B030D-6E8A-4147-A177-3AD203B41FA5}">
                      <a16:colId xmlns:a16="http://schemas.microsoft.com/office/drawing/2014/main" val="20001"/>
                    </a:ext>
                  </a:extLst>
                </a:gridCol>
                <a:gridCol w="2102206">
                  <a:extLst>
                    <a:ext uri="{9D8B030D-6E8A-4147-A177-3AD203B41FA5}">
                      <a16:colId xmlns:a16="http://schemas.microsoft.com/office/drawing/2014/main" val="20002"/>
                    </a:ext>
                  </a:extLst>
                </a:gridCol>
                <a:gridCol w="2766060">
                  <a:extLst>
                    <a:ext uri="{9D8B030D-6E8A-4147-A177-3AD203B41FA5}">
                      <a16:colId xmlns:a16="http://schemas.microsoft.com/office/drawing/2014/main" val="20003"/>
                    </a:ext>
                  </a:extLst>
                </a:gridCol>
              </a:tblGrid>
              <a:tr h="50292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Les 1 813 mêmes produits</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2019</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2020</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2021</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502920">
                <a:tc>
                  <a:txBody>
                    <a:bodyPr/>
                    <a:lstStyle/>
                    <a:p>
                      <a:pPr marL="0" indent="0" algn="l">
                        <a:buNone/>
                      </a:pPr>
                      <a:r>
                        <a:rPr lang="en-US" sz="1350" dirty="0">
                          <a:solidFill>
                            <a:srgbClr val="1F2A28"/>
                          </a:solidFill>
                          <a:latin typeface="Calibri" pitchFamily="34" charset="0"/>
                          <a:ea typeface="Calibri" pitchFamily="34" charset="-122"/>
                          <a:cs typeface="Calibri" pitchFamily="34" charset="-120"/>
                        </a:rPr>
                        <a:t>Chiffre d'affaires en ligne</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253,1 M$</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222,6 M$</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187,9 M$ (</a:t>
                      </a:r>
                      <a:r>
                        <a:rPr lang="en-US" sz="1350" b="1" dirty="0">
                          <a:solidFill>
                            <a:srgbClr val="1F2A28"/>
                          </a:solidFill>
                          <a:latin typeface="Calibri" pitchFamily="34" charset="0"/>
                          <a:ea typeface="Calibri" pitchFamily="34" charset="-122"/>
                          <a:cs typeface="Calibri" pitchFamily="34" charset="-120"/>
                        </a:rPr>
                        <a:t>−26 %</a:t>
                      </a:r>
                      <a:r>
                        <a:rPr lang="en-US" sz="1350" dirty="0">
                          <a:solidFill>
                            <a:srgbClr val="1F2A28"/>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350" dirty="0">
                          <a:solidFill>
                            <a:srgbClr val="1F2A28"/>
                          </a:solidFill>
                          <a:latin typeface="Calibri" pitchFamily="34" charset="0"/>
                          <a:ea typeface="Calibri" pitchFamily="34" charset="-122"/>
                          <a:cs typeface="Calibri" pitchFamily="34" charset="-120"/>
                        </a:rPr>
                        <a:t>Chiffre d'affaires en magasin</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507,8 M$</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244,8 M$</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193,5 M$ (</a:t>
                      </a:r>
                      <a:r>
                        <a:rPr lang="en-US" sz="1350" b="1" dirty="0">
                          <a:solidFill>
                            <a:srgbClr val="1F2A28"/>
                          </a:solidFill>
                          <a:latin typeface="Calibri" pitchFamily="34" charset="0"/>
                          <a:ea typeface="Calibri" pitchFamily="34" charset="-122"/>
                          <a:cs typeface="Calibri" pitchFamily="34" charset="-120"/>
                        </a:rPr>
                        <a:t>−62 %</a:t>
                      </a:r>
                      <a:r>
                        <a:rPr lang="en-US" sz="1350" dirty="0">
                          <a:solidFill>
                            <a:srgbClr val="1F2A28"/>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502920">
                <a:tc>
                  <a:txBody>
                    <a:bodyPr/>
                    <a:lstStyle/>
                    <a:p>
                      <a:pPr marL="0" indent="0" algn="l">
                        <a:buNone/>
                      </a:pPr>
                      <a:r>
                        <a:rPr lang="en-US" sz="1350" dirty="0">
                          <a:solidFill>
                            <a:srgbClr val="1F2A28"/>
                          </a:solidFill>
                          <a:latin typeface="Calibri" pitchFamily="34" charset="0"/>
                          <a:ea typeface="Calibri" pitchFamily="34" charset="-122"/>
                          <a:cs typeface="Calibri" pitchFamily="34" charset="-120"/>
                        </a:rPr>
                        <a:t>Par magasin qui vend le produit</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7 038 $</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4 595 $</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5 061 $ (</a:t>
                      </a:r>
                      <a:r>
                        <a:rPr lang="en-US" sz="1350" b="1" dirty="0">
                          <a:solidFill>
                            <a:srgbClr val="1F2A28"/>
                          </a:solidFill>
                          <a:latin typeface="Calibri" pitchFamily="34" charset="0"/>
                          <a:ea typeface="Calibri" pitchFamily="34" charset="-122"/>
                          <a:cs typeface="Calibri" pitchFamily="34" charset="-120"/>
                        </a:rPr>
                        <a:t>−28 %</a:t>
                      </a:r>
                      <a:r>
                        <a:rPr lang="en-US" sz="1350" dirty="0">
                          <a:solidFill>
                            <a:srgbClr val="1F2A28"/>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350" dirty="0">
                          <a:solidFill>
                            <a:srgbClr val="1F2A28"/>
                          </a:solidFill>
                          <a:latin typeface="Calibri" pitchFamily="34" charset="0"/>
                          <a:ea typeface="Calibri" pitchFamily="34" charset="-122"/>
                          <a:cs typeface="Calibri" pitchFamily="34" charset="-120"/>
                        </a:rPr>
                        <a:t>Magasins qui vendent le produit</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39,8 (83 %)</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29,4 (58 %)</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50" b="1" dirty="0">
                          <a:solidFill>
                            <a:srgbClr val="1F2A28"/>
                          </a:solidFill>
                          <a:latin typeface="Calibri" pitchFamily="34" charset="0"/>
                          <a:ea typeface="Calibri" pitchFamily="34" charset="-122"/>
                          <a:cs typeface="Calibri" pitchFamily="34" charset="-120"/>
                        </a:rPr>
                        <a:t>21,1 (40 %)</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4"/>
                  </a:ext>
                </a:extLst>
              </a:tr>
            </a:tbl>
          </a:graphicData>
        </a:graphic>
      </p:graphicFrame>
      <p:sp>
        <p:nvSpPr>
          <p:cNvPr id="20" name="Shape 16"/>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9" name="Shape 17"/>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22" name="Text 18"/>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Là où il se vend, un produit recule </a:t>
            </a:r>
            <a:r>
              <a:rPr lang="en-US" sz="1500" b="1" dirty="0">
                <a:solidFill>
                  <a:srgbClr val="17332E"/>
                </a:solidFill>
                <a:latin typeface="Calibri" pitchFamily="34" charset="0"/>
                <a:ea typeface="Calibri" pitchFamily="34" charset="-122"/>
                <a:cs typeface="Calibri" pitchFamily="34" charset="-120"/>
              </a:rPr>
              <a:t>comme en ligne</a:t>
            </a:r>
            <a:r>
              <a:rPr lang="en-US" sz="1500" dirty="0">
                <a:solidFill>
                  <a:srgbClr val="17332E"/>
                </a:solidFill>
                <a:latin typeface="Calibri" pitchFamily="34" charset="0"/>
                <a:ea typeface="Calibri" pitchFamily="34" charset="-122"/>
                <a:cs typeface="Calibri" pitchFamily="34" charset="-120"/>
              </a:rPr>
              <a:t>. Ce qui manque aux magasins, ce sont </a:t>
            </a:r>
            <a:r>
              <a:rPr lang="en-US" sz="1500" b="1" dirty="0">
                <a:solidFill>
                  <a:srgbClr val="17332E"/>
                </a:solidFill>
                <a:latin typeface="Calibri" pitchFamily="34" charset="0"/>
                <a:ea typeface="Calibri" pitchFamily="34" charset="-122"/>
                <a:cs typeface="Calibri" pitchFamily="34" charset="-120"/>
              </a:rPr>
              <a:t>les magasins qui le vendent</a:t>
            </a:r>
            <a:r>
              <a:rPr lang="en-US" sz="1500" dirty="0">
                <a:solidFill>
                  <a:srgbClr val="17332E"/>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Barnabe Landry Evouna</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2 · Q1 : POURQUOI LES VENTES ONT CHUTÉ</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Un produit qui ne se vend pas dans un magasin : en rayon ou retiré ?</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Barnabe Landry Evouna</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21</a:t>
            </a:r>
            <a:endParaRPr lang="en-US" sz="1000" dirty="0"/>
          </a:p>
        </p:txBody>
      </p:sp>
      <p:sp>
        <p:nvSpPr>
          <p:cNvPr id="10" name="Shape 7"/>
          <p:cNvSpPr/>
          <p:nvPr/>
        </p:nvSpPr>
        <p:spPr>
          <a:xfrm>
            <a:off x="548640" y="1463040"/>
            <a:ext cx="5394960" cy="1691640"/>
          </a:xfrm>
          <a:prstGeom prst="rect">
            <a:avLst/>
          </a:prstGeom>
          <a:solidFill>
            <a:srgbClr val="EAF2EF"/>
          </a:solidFill>
          <a:ln w="9525">
            <a:solidFill>
              <a:srgbClr val="CFE0DA"/>
            </a:solidFill>
            <a:prstDash val="solid"/>
          </a:ln>
        </p:spPr>
        <p:txBody>
          <a:bodyPr/>
          <a:lstStyle/>
          <a:p>
            <a:endParaRPr lang="en-US"/>
          </a:p>
        </p:txBody>
      </p:sp>
      <p:sp>
        <p:nvSpPr>
          <p:cNvPr id="11" name="Text 8"/>
          <p:cNvSpPr/>
          <p:nvPr/>
        </p:nvSpPr>
        <p:spPr>
          <a:xfrm>
            <a:off x="731520" y="1572768"/>
            <a:ext cx="5029200" cy="411480"/>
          </a:xfrm>
          <a:prstGeom prst="rect">
            <a:avLst/>
          </a:prstGeom>
          <a:noFill/>
          <a:ln/>
        </p:spPr>
        <p:txBody>
          <a:bodyPr wrap="square" lIns="0" tIns="0" rIns="0" bIns="0" rtlCol="0" anchor="ctr"/>
          <a:lstStyle/>
          <a:p>
            <a:pPr marL="0" indent="0">
              <a:buNone/>
            </a:pPr>
            <a:r>
              <a:rPr lang="en-US" sz="1800" b="1" dirty="0">
                <a:solidFill>
                  <a:srgbClr val="17332E"/>
                </a:solidFill>
                <a:latin typeface="Cambria" pitchFamily="34" charset="0"/>
                <a:ea typeface="Cambria" pitchFamily="34" charset="-122"/>
                <a:cs typeface="Cambria" pitchFamily="34" charset="-120"/>
              </a:rPr>
              <a:t>A. Stock dormant</a:t>
            </a:r>
            <a:endParaRPr lang="en-US" sz="1800" dirty="0"/>
          </a:p>
        </p:txBody>
      </p:sp>
      <p:sp>
        <p:nvSpPr>
          <p:cNvPr id="12" name="Text 9"/>
          <p:cNvSpPr/>
          <p:nvPr/>
        </p:nvSpPr>
        <p:spPr>
          <a:xfrm>
            <a:off x="731520" y="2057400"/>
            <a:ext cx="5029200" cy="1005840"/>
          </a:xfrm>
          <a:prstGeom prst="rect">
            <a:avLst/>
          </a:prstGeom>
          <a:noFill/>
          <a:ln/>
        </p:spPr>
        <p:txBody>
          <a:bodyPr wrap="square" lIns="0" tIns="0" rIns="0" bIns="0" rtlCol="0" anchor="t"/>
          <a:lstStyle/>
          <a:p>
            <a:pPr marL="0" indent="0">
              <a:spcAft>
                <a:spcPts val="800"/>
              </a:spcAft>
              <a:buNone/>
            </a:pPr>
            <a:r>
              <a:rPr lang="en-US" sz="1500" b="1" dirty="0">
                <a:solidFill>
                  <a:srgbClr val="2E5E55"/>
                </a:solidFill>
                <a:latin typeface="Calibri" pitchFamily="34" charset="0"/>
                <a:ea typeface="Calibri" pitchFamily="34" charset="-122"/>
                <a:cs typeface="Calibri" pitchFamily="34" charset="-120"/>
              </a:rPr>
              <a:t>•  </a:t>
            </a:r>
            <a:r>
              <a:rPr lang="en-US" sz="1500" dirty="0">
                <a:solidFill>
                  <a:srgbClr val="1F2A28"/>
                </a:solidFill>
                <a:latin typeface="Calibri" pitchFamily="34" charset="0"/>
                <a:ea typeface="Calibri" pitchFamily="34" charset="-122"/>
                <a:cs typeface="Calibri" pitchFamily="34" charset="-120"/>
              </a:rPr>
              <a:t>Le produit est </a:t>
            </a:r>
            <a:r>
              <a:rPr lang="en-US" sz="1500" b="1" dirty="0">
                <a:solidFill>
                  <a:srgbClr val="1F2A28"/>
                </a:solidFill>
                <a:latin typeface="Calibri" pitchFamily="34" charset="0"/>
                <a:ea typeface="Calibri" pitchFamily="34" charset="-122"/>
                <a:cs typeface="Calibri" pitchFamily="34" charset="-120"/>
              </a:rPr>
              <a:t>en rayon</a:t>
            </a:r>
            <a:r>
              <a:rPr lang="en-US" sz="1500" dirty="0">
                <a:solidFill>
                  <a:srgbClr val="1F2A28"/>
                </a:solidFill>
                <a:latin typeface="Calibri" pitchFamily="34" charset="0"/>
                <a:ea typeface="Calibri" pitchFamily="34" charset="-122"/>
                <a:cs typeface="Calibri" pitchFamily="34" charset="-120"/>
              </a:rPr>
              <a:t>, mais ne se vend pas</a:t>
            </a:r>
            <a:endParaRPr lang="en-US" sz="1500" dirty="0"/>
          </a:p>
        </p:txBody>
      </p:sp>
      <p:sp>
        <p:nvSpPr>
          <p:cNvPr id="13" name="Shape 10"/>
          <p:cNvSpPr/>
          <p:nvPr/>
        </p:nvSpPr>
        <p:spPr>
          <a:xfrm>
            <a:off x="6217920" y="1463040"/>
            <a:ext cx="5394960" cy="1691640"/>
          </a:xfrm>
          <a:prstGeom prst="rect">
            <a:avLst/>
          </a:prstGeom>
          <a:solidFill>
            <a:srgbClr val="EAF2EF"/>
          </a:solidFill>
          <a:ln w="9525">
            <a:solidFill>
              <a:srgbClr val="CFE0DA"/>
            </a:solidFill>
            <a:prstDash val="solid"/>
          </a:ln>
        </p:spPr>
        <p:txBody>
          <a:bodyPr/>
          <a:lstStyle/>
          <a:p>
            <a:endParaRPr lang="en-US"/>
          </a:p>
        </p:txBody>
      </p:sp>
      <p:sp>
        <p:nvSpPr>
          <p:cNvPr id="14" name="Text 11"/>
          <p:cNvSpPr/>
          <p:nvPr/>
        </p:nvSpPr>
        <p:spPr>
          <a:xfrm>
            <a:off x="6400800" y="1572768"/>
            <a:ext cx="5029200" cy="411480"/>
          </a:xfrm>
          <a:prstGeom prst="rect">
            <a:avLst/>
          </a:prstGeom>
          <a:noFill/>
          <a:ln/>
        </p:spPr>
        <p:txBody>
          <a:bodyPr wrap="square" lIns="0" tIns="0" rIns="0" bIns="0" rtlCol="0" anchor="ctr"/>
          <a:lstStyle/>
          <a:p>
            <a:pPr marL="0" indent="0">
              <a:buNone/>
            </a:pPr>
            <a:r>
              <a:rPr lang="en-US" sz="1800" b="1" dirty="0">
                <a:solidFill>
                  <a:srgbClr val="17332E"/>
                </a:solidFill>
                <a:latin typeface="Cambria" pitchFamily="34" charset="0"/>
                <a:ea typeface="Cambria" pitchFamily="34" charset="-122"/>
                <a:cs typeface="Cambria" pitchFamily="34" charset="-120"/>
              </a:rPr>
              <a:t>B. Assortiment réduit</a:t>
            </a:r>
            <a:endParaRPr lang="en-US" sz="1800" dirty="0"/>
          </a:p>
        </p:txBody>
      </p:sp>
      <p:sp>
        <p:nvSpPr>
          <p:cNvPr id="15" name="Text 12"/>
          <p:cNvSpPr/>
          <p:nvPr/>
        </p:nvSpPr>
        <p:spPr>
          <a:xfrm>
            <a:off x="6400800" y="2057400"/>
            <a:ext cx="5029200" cy="1005840"/>
          </a:xfrm>
          <a:prstGeom prst="rect">
            <a:avLst/>
          </a:prstGeom>
          <a:noFill/>
          <a:ln/>
        </p:spPr>
        <p:txBody>
          <a:bodyPr wrap="square" lIns="0" tIns="0" rIns="0" bIns="0" rtlCol="0" anchor="t"/>
          <a:lstStyle/>
          <a:p>
            <a:pPr marL="0" indent="0">
              <a:spcAft>
                <a:spcPts val="800"/>
              </a:spcAft>
              <a:buNone/>
            </a:pPr>
            <a:r>
              <a:rPr lang="en-US" sz="1500" b="1" dirty="0">
                <a:solidFill>
                  <a:srgbClr val="2E5E55"/>
                </a:solidFill>
                <a:latin typeface="Calibri" pitchFamily="34" charset="0"/>
                <a:ea typeface="Calibri" pitchFamily="34" charset="-122"/>
                <a:cs typeface="Calibri" pitchFamily="34" charset="-120"/>
              </a:rPr>
              <a:t>•  </a:t>
            </a:r>
            <a:r>
              <a:rPr lang="en-US" sz="1500" dirty="0">
                <a:solidFill>
                  <a:srgbClr val="1F2A28"/>
                </a:solidFill>
                <a:latin typeface="Calibri" pitchFamily="34" charset="0"/>
                <a:ea typeface="Calibri" pitchFamily="34" charset="-122"/>
                <a:cs typeface="Calibri" pitchFamily="34" charset="-120"/>
              </a:rPr>
              <a:t>Le produit </a:t>
            </a:r>
            <a:r>
              <a:rPr lang="en-US" sz="1500" b="1" dirty="0">
                <a:solidFill>
                  <a:srgbClr val="1F2A28"/>
                </a:solidFill>
                <a:latin typeface="Calibri" pitchFamily="34" charset="0"/>
                <a:ea typeface="Calibri" pitchFamily="34" charset="-122"/>
                <a:cs typeface="Calibri" pitchFamily="34" charset="-120"/>
              </a:rPr>
              <a:t>n'est pas en rayon</a:t>
            </a:r>
            <a:r>
              <a:rPr lang="en-US" sz="1500" dirty="0">
                <a:solidFill>
                  <a:srgbClr val="1F2A28"/>
                </a:solidFill>
                <a:latin typeface="Calibri" pitchFamily="34" charset="0"/>
                <a:ea typeface="Calibri" pitchFamily="34" charset="-122"/>
                <a:cs typeface="Calibri" pitchFamily="34" charset="-120"/>
              </a:rPr>
              <a:t> : retiré, jamais référencé ou en rupture</a:t>
            </a:r>
            <a:endParaRPr lang="en-US" sz="1500" dirty="0"/>
          </a:p>
        </p:txBody>
      </p:sp>
      <p:sp>
        <p:nvSpPr>
          <p:cNvPr id="16" name="Text 13"/>
          <p:cNvSpPr/>
          <p:nvPr/>
        </p:nvSpPr>
        <p:spPr>
          <a:xfrm>
            <a:off x="548640" y="3383280"/>
            <a:ext cx="5852160" cy="1188720"/>
          </a:xfrm>
          <a:prstGeom prst="rect">
            <a:avLst/>
          </a:prstGeom>
          <a:noFill/>
          <a:ln/>
        </p:spPr>
        <p:txBody>
          <a:bodyPr wrap="square" lIns="0" tIns="0" rIns="0" bIns="0" rtlCol="0" anchor="t"/>
          <a:lstStyle/>
          <a:p>
            <a:pPr marL="0" indent="0" algn="l">
              <a:buNone/>
            </a:pPr>
            <a:r>
              <a:rPr lang="en-US" sz="1500" b="1" dirty="0">
                <a:solidFill>
                  <a:srgbClr val="1F2A28"/>
                </a:solidFill>
                <a:latin typeface="Calibri" pitchFamily="34" charset="0"/>
                <a:ea typeface="Calibri" pitchFamily="34" charset="-122"/>
                <a:cs typeface="Calibri" pitchFamily="34" charset="-120"/>
              </a:rPr>
              <a:t>L'outil : la rotation λ</a:t>
            </a:r>
            <a:r>
              <a:rPr lang="en-US" sz="1500" dirty="0">
                <a:solidFill>
                  <a:srgbClr val="1F2A28"/>
                </a:solidFill>
                <a:latin typeface="Calibri" pitchFamily="34" charset="0"/>
                <a:ea typeface="Calibri" pitchFamily="34" charset="-122"/>
                <a:cs typeface="Calibri" pitchFamily="34" charset="-120"/>
              </a:rPr>
              <a:t> (lignes de vente d'un produit par magasin et par an). Si les ventes arrivent au hasard, un magasin qui a le produit en rayon ne le vend pas de l'année avec la probabilité </a:t>
            </a:r>
            <a:r>
              <a:rPr lang="en-US" sz="1500" b="1" dirty="0">
                <a:solidFill>
                  <a:srgbClr val="1F2A28"/>
                </a:solidFill>
                <a:latin typeface="Calibri" pitchFamily="34" charset="0"/>
                <a:ea typeface="Calibri" pitchFamily="34" charset="-122"/>
                <a:cs typeface="Calibri" pitchFamily="34" charset="-120"/>
              </a:rPr>
              <a:t>e^(−λ)</a:t>
            </a:r>
            <a:r>
              <a:rPr lang="en-US" sz="1500" dirty="0">
                <a:solidFill>
                  <a:srgbClr val="1F2A28"/>
                </a:solidFill>
                <a:latin typeface="Calibri" pitchFamily="34" charset="0"/>
                <a:ea typeface="Calibri" pitchFamily="34" charset="-122"/>
                <a:cs typeface="Calibri" pitchFamily="34" charset="-120"/>
              </a:rPr>
              <a:t> (loi de Poisson).</a:t>
            </a:r>
            <a:endParaRPr lang="en-US" sz="1500" dirty="0"/>
          </a:p>
        </p:txBody>
      </p:sp>
      <p:sp>
        <p:nvSpPr>
          <p:cNvPr id="17" name="Text 14"/>
          <p:cNvSpPr/>
          <p:nvPr/>
        </p:nvSpPr>
        <p:spPr>
          <a:xfrm>
            <a:off x="548640" y="4572000"/>
            <a:ext cx="5852160" cy="822960"/>
          </a:xfrm>
          <a:prstGeom prst="rect">
            <a:avLst/>
          </a:prstGeom>
          <a:noFill/>
          <a:ln/>
        </p:spPr>
        <p:txBody>
          <a:bodyPr wrap="square" lIns="0" tIns="0" rIns="0" bIns="0" rtlCol="0" anchor="t"/>
          <a:lstStyle/>
          <a:p>
            <a:pPr marL="0" indent="0" algn="l">
              <a:buNone/>
            </a:pPr>
            <a:r>
              <a:rPr lang="en-US" sz="1500" i="1" dirty="0">
                <a:solidFill>
                  <a:srgbClr val="1F2A28"/>
                </a:solidFill>
                <a:latin typeface="Calibri" pitchFamily="34" charset="0"/>
                <a:ea typeface="Calibri" pitchFamily="34" charset="-122"/>
                <a:cs typeface="Calibri" pitchFamily="34" charset="-120"/>
              </a:rPr>
              <a:t>Exemple : avec λ = 0,6, </a:t>
            </a:r>
            <a:r>
              <a:rPr lang="en-US" sz="1500" b="1" i="1" dirty="0">
                <a:solidFill>
                  <a:srgbClr val="1F2A28"/>
                </a:solidFill>
                <a:latin typeface="Calibri" pitchFamily="34" charset="0"/>
                <a:ea typeface="Calibri" pitchFamily="34" charset="-122"/>
                <a:cs typeface="Calibri" pitchFamily="34" charset="-120"/>
              </a:rPr>
              <a:t>55 %</a:t>
            </a:r>
            <a:r>
              <a:rPr lang="en-US" sz="1500" i="1" dirty="0">
                <a:solidFill>
                  <a:srgbClr val="1F2A28"/>
                </a:solidFill>
                <a:latin typeface="Calibri" pitchFamily="34" charset="0"/>
                <a:ea typeface="Calibri" pitchFamily="34" charset="-122"/>
                <a:cs typeface="Calibri" pitchFamily="34" charset="-120"/>
              </a:rPr>
              <a:t> des magasins ne vendent pas le produit, alors qu'il est en rayon partout.</a:t>
            </a:r>
            <a:endParaRPr lang="en-US" sz="1500" dirty="0"/>
          </a:p>
        </p:txBody>
      </p:sp>
      <p:sp>
        <p:nvSpPr>
          <p:cNvPr id="18" name="Shape 15"/>
          <p:cNvSpPr/>
          <p:nvPr/>
        </p:nvSpPr>
        <p:spPr>
          <a:xfrm>
            <a:off x="6675120" y="3429000"/>
            <a:ext cx="1554480" cy="1143000"/>
          </a:xfrm>
          <a:prstGeom prst="rect">
            <a:avLst/>
          </a:prstGeom>
          <a:solidFill>
            <a:srgbClr val="EAF2EF"/>
          </a:solidFill>
          <a:ln w="9525">
            <a:solidFill>
              <a:srgbClr val="CFE0DA"/>
            </a:solidFill>
            <a:prstDash val="solid"/>
          </a:ln>
        </p:spPr>
        <p:txBody>
          <a:bodyPr/>
          <a:lstStyle/>
          <a:p>
            <a:endParaRPr lang="en-US"/>
          </a:p>
        </p:txBody>
      </p:sp>
      <p:sp>
        <p:nvSpPr>
          <p:cNvPr id="19" name="Text 16"/>
          <p:cNvSpPr/>
          <p:nvPr/>
        </p:nvSpPr>
        <p:spPr>
          <a:xfrm>
            <a:off x="6675120" y="3520440"/>
            <a:ext cx="1554480" cy="571500"/>
          </a:xfrm>
          <a:prstGeom prst="rect">
            <a:avLst/>
          </a:prstGeom>
          <a:noFill/>
          <a:ln/>
        </p:spPr>
        <p:txBody>
          <a:bodyPr wrap="square" lIns="0" tIns="0" rIns="0" bIns="0" rtlCol="0" anchor="ctr"/>
          <a:lstStyle/>
          <a:p>
            <a:pPr marL="0" indent="0" algn="ctr">
              <a:buNone/>
            </a:pPr>
            <a:r>
              <a:rPr lang="en-US" sz="2600" b="1" dirty="0">
                <a:solidFill>
                  <a:srgbClr val="17332E"/>
                </a:solidFill>
                <a:latin typeface="Cambria" pitchFamily="34" charset="0"/>
                <a:ea typeface="Cambria" pitchFamily="34" charset="-122"/>
                <a:cs typeface="Cambria" pitchFamily="34" charset="-120"/>
              </a:rPr>
              <a:t>2,49</a:t>
            </a:r>
            <a:endParaRPr lang="en-US" sz="2600" dirty="0"/>
          </a:p>
        </p:txBody>
      </p:sp>
      <p:sp>
        <p:nvSpPr>
          <p:cNvPr id="20" name="Text 17"/>
          <p:cNvSpPr/>
          <p:nvPr/>
        </p:nvSpPr>
        <p:spPr>
          <a:xfrm>
            <a:off x="6766560" y="4057650"/>
            <a:ext cx="1371600" cy="457200"/>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λ en 2019</a:t>
            </a:r>
            <a:endParaRPr lang="en-US" sz="1200" dirty="0"/>
          </a:p>
        </p:txBody>
      </p:sp>
      <p:sp>
        <p:nvSpPr>
          <p:cNvPr id="21" name="Shape 18"/>
          <p:cNvSpPr/>
          <p:nvPr/>
        </p:nvSpPr>
        <p:spPr>
          <a:xfrm>
            <a:off x="8366760" y="3429000"/>
            <a:ext cx="1554480" cy="1143000"/>
          </a:xfrm>
          <a:prstGeom prst="rect">
            <a:avLst/>
          </a:prstGeom>
          <a:solidFill>
            <a:srgbClr val="EAF2EF"/>
          </a:solidFill>
          <a:ln w="9525">
            <a:solidFill>
              <a:srgbClr val="CFE0DA"/>
            </a:solidFill>
            <a:prstDash val="solid"/>
          </a:ln>
        </p:spPr>
        <p:txBody>
          <a:bodyPr/>
          <a:lstStyle/>
          <a:p>
            <a:endParaRPr lang="en-US"/>
          </a:p>
        </p:txBody>
      </p:sp>
      <p:sp>
        <p:nvSpPr>
          <p:cNvPr id="22" name="Text 19"/>
          <p:cNvSpPr/>
          <p:nvPr/>
        </p:nvSpPr>
        <p:spPr>
          <a:xfrm>
            <a:off x="8366760" y="3520440"/>
            <a:ext cx="1554480" cy="571500"/>
          </a:xfrm>
          <a:prstGeom prst="rect">
            <a:avLst/>
          </a:prstGeom>
          <a:noFill/>
          <a:ln/>
        </p:spPr>
        <p:txBody>
          <a:bodyPr wrap="square" lIns="0" tIns="0" rIns="0" bIns="0" rtlCol="0" anchor="ctr"/>
          <a:lstStyle/>
          <a:p>
            <a:pPr marL="0" indent="0" algn="ctr">
              <a:buNone/>
            </a:pPr>
            <a:r>
              <a:rPr lang="en-US" sz="2600" b="1" dirty="0">
                <a:solidFill>
                  <a:srgbClr val="17332E"/>
                </a:solidFill>
                <a:latin typeface="Cambria" pitchFamily="34" charset="0"/>
                <a:ea typeface="Cambria" pitchFamily="34" charset="-122"/>
                <a:cs typeface="Cambria" pitchFamily="34" charset="-120"/>
              </a:rPr>
              <a:t>0,89</a:t>
            </a:r>
            <a:endParaRPr lang="en-US" sz="2600" dirty="0"/>
          </a:p>
        </p:txBody>
      </p:sp>
      <p:sp>
        <p:nvSpPr>
          <p:cNvPr id="23" name="Text 20"/>
          <p:cNvSpPr/>
          <p:nvPr/>
        </p:nvSpPr>
        <p:spPr>
          <a:xfrm>
            <a:off x="8458200" y="4057650"/>
            <a:ext cx="1371600" cy="457200"/>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λ en 2020</a:t>
            </a:r>
            <a:endParaRPr lang="en-US" sz="1200" dirty="0"/>
          </a:p>
        </p:txBody>
      </p:sp>
      <p:sp>
        <p:nvSpPr>
          <p:cNvPr id="24" name="Shape 21"/>
          <p:cNvSpPr/>
          <p:nvPr/>
        </p:nvSpPr>
        <p:spPr>
          <a:xfrm>
            <a:off x="10058400" y="3429000"/>
            <a:ext cx="1554480" cy="1143000"/>
          </a:xfrm>
          <a:prstGeom prst="rect">
            <a:avLst/>
          </a:prstGeom>
          <a:solidFill>
            <a:srgbClr val="EAF2EF"/>
          </a:solidFill>
          <a:ln w="9525">
            <a:solidFill>
              <a:srgbClr val="CFE0DA"/>
            </a:solidFill>
            <a:prstDash val="solid"/>
          </a:ln>
        </p:spPr>
        <p:txBody>
          <a:bodyPr/>
          <a:lstStyle/>
          <a:p>
            <a:endParaRPr lang="en-US"/>
          </a:p>
        </p:txBody>
      </p:sp>
      <p:sp>
        <p:nvSpPr>
          <p:cNvPr id="25" name="Text 22"/>
          <p:cNvSpPr/>
          <p:nvPr/>
        </p:nvSpPr>
        <p:spPr>
          <a:xfrm>
            <a:off x="10058400" y="3520440"/>
            <a:ext cx="1554480" cy="571500"/>
          </a:xfrm>
          <a:prstGeom prst="rect">
            <a:avLst/>
          </a:prstGeom>
          <a:noFill/>
          <a:ln/>
        </p:spPr>
        <p:txBody>
          <a:bodyPr wrap="square" lIns="0" tIns="0" rIns="0" bIns="0" rtlCol="0" anchor="ctr"/>
          <a:lstStyle/>
          <a:p>
            <a:pPr marL="0" indent="0" algn="ctr">
              <a:buNone/>
            </a:pPr>
            <a:r>
              <a:rPr lang="en-US" sz="2600" b="1" dirty="0">
                <a:solidFill>
                  <a:srgbClr val="B4442F"/>
                </a:solidFill>
                <a:latin typeface="Cambria" pitchFamily="34" charset="0"/>
                <a:ea typeface="Cambria" pitchFamily="34" charset="-122"/>
                <a:cs typeface="Cambria" pitchFamily="34" charset="-120"/>
              </a:rPr>
              <a:t>0,57</a:t>
            </a:r>
            <a:endParaRPr lang="en-US" sz="2600" dirty="0"/>
          </a:p>
        </p:txBody>
      </p:sp>
      <p:sp>
        <p:nvSpPr>
          <p:cNvPr id="26" name="Text 23"/>
          <p:cNvSpPr/>
          <p:nvPr/>
        </p:nvSpPr>
        <p:spPr>
          <a:xfrm>
            <a:off x="10149840" y="4057650"/>
            <a:ext cx="1371600" cy="457200"/>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λ en 2021</a:t>
            </a:r>
            <a:endParaRPr lang="en-US" sz="1200" dirty="0"/>
          </a:p>
        </p:txBody>
      </p:sp>
      <p:sp>
        <p:nvSpPr>
          <p:cNvPr id="27" name="Text 24"/>
          <p:cNvSpPr/>
          <p:nvPr/>
        </p:nvSpPr>
        <p:spPr>
          <a:xfrm>
            <a:off x="6675120" y="4754880"/>
            <a:ext cx="4937760" cy="731520"/>
          </a:xfrm>
          <a:prstGeom prst="rect">
            <a:avLst/>
          </a:prstGeom>
          <a:noFill/>
          <a:ln/>
        </p:spPr>
        <p:txBody>
          <a:bodyPr wrap="square" lIns="0" tIns="0" rIns="0" bIns="0" rtlCol="0" anchor="t"/>
          <a:lstStyle/>
          <a:p>
            <a:pPr marL="0" indent="0" algn="l">
              <a:buNone/>
            </a:pPr>
            <a:r>
              <a:rPr lang="en-US" sz="1300" dirty="0">
                <a:solidFill>
                  <a:srgbClr val="5E6B68"/>
                </a:solidFill>
                <a:latin typeface="Calibri" pitchFamily="34" charset="0"/>
                <a:ea typeface="Calibri" pitchFamily="34" charset="-122"/>
                <a:cs typeface="Calibri" pitchFamily="34" charset="-120"/>
              </a:rPr>
              <a:t>La table de stock ne tranche pas : 11 % des couples relevés sans vente, pour 56 % attendus.</a:t>
            </a:r>
            <a:endParaRPr lang="en-US" sz="1300" dirty="0"/>
          </a:p>
        </p:txBody>
      </p:sp>
      <p:sp>
        <p:nvSpPr>
          <p:cNvPr id="28" name="Shape 25"/>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29" name="Shape 26"/>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30" name="Text 27"/>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Un produit qui tourne peu peut être </a:t>
            </a:r>
            <a:r>
              <a:rPr lang="en-US" sz="1500" b="1" dirty="0">
                <a:solidFill>
                  <a:srgbClr val="17332E"/>
                </a:solidFill>
                <a:latin typeface="Calibri" pitchFamily="34" charset="0"/>
                <a:ea typeface="Calibri" pitchFamily="34" charset="-122"/>
                <a:cs typeface="Calibri" pitchFamily="34" charset="-120"/>
              </a:rPr>
              <a:t>absent des ventes sans être absent du rayon</a:t>
            </a:r>
            <a:r>
              <a:rPr lang="en-US" sz="1500" dirty="0">
                <a:solidFill>
                  <a:srgbClr val="17332E"/>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Barnabe Landry Evouna</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2 · Q1 : POURQUOI LES VENTES ONT CHUTÉ</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Les absences de vente suivent exactement la rotation : le stock dormant est la piste favorable</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Barnabe Landry Evouna</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22</a:t>
            </a:r>
            <a:endParaRPr lang="en-US" sz="1000" dirty="0"/>
          </a:p>
        </p:txBody>
      </p:sp>
      <p:pic>
        <p:nvPicPr>
          <p:cNvPr id="10" name="Image 0" descr="/tmp/claude-0/complet/reports/figures/06b_rotation.png"/>
          <p:cNvPicPr>
            <a:picLocks noChangeAspect="1"/>
          </p:cNvPicPr>
          <p:nvPr/>
        </p:nvPicPr>
        <p:blipFill>
          <a:blip r:embed="rId3"/>
          <a:stretch>
            <a:fillRect/>
          </a:stretch>
        </p:blipFill>
        <p:spPr>
          <a:xfrm>
            <a:off x="548640" y="1538024"/>
            <a:ext cx="5760720" cy="3873391"/>
          </a:xfrm>
          <a:prstGeom prst="rect">
            <a:avLst/>
          </a:prstGeom>
        </p:spPr>
      </p:pic>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537960" y="1463040"/>
          <a:ext cx="5074920" cy="2377440"/>
        </p:xfrm>
        <a:graphic>
          <a:graphicData uri="http://schemas.openxmlformats.org/drawingml/2006/table">
            <a:tbl>
              <a:tblPr/>
              <a:tblGrid>
                <a:gridCol w="1928470">
                  <a:extLst>
                    <a:ext uri="{9D8B030D-6E8A-4147-A177-3AD203B41FA5}">
                      <a16:colId xmlns:a16="http://schemas.microsoft.com/office/drawing/2014/main" val="20000"/>
                    </a:ext>
                  </a:extLst>
                </a:gridCol>
                <a:gridCol w="1623974">
                  <a:extLst>
                    <a:ext uri="{9D8B030D-6E8A-4147-A177-3AD203B41FA5}">
                      <a16:colId xmlns:a16="http://schemas.microsoft.com/office/drawing/2014/main" val="20001"/>
                    </a:ext>
                  </a:extLst>
                </a:gridCol>
                <a:gridCol w="1522476">
                  <a:extLst>
                    <a:ext uri="{9D8B030D-6E8A-4147-A177-3AD203B41FA5}">
                      <a16:colId xmlns:a16="http://schemas.microsoft.com/office/drawing/2014/main" val="20002"/>
                    </a:ext>
                  </a:extLst>
                </a:gridCol>
              </a:tblGrid>
              <a:tr h="47548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Indice, en 2021</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Observé</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Si assortiment réduit</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475488">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1. Couples sans vente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58,9 % (prévu 58,6 %)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plus que prévu</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2. Concentration entre magasins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1,01</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1,38 (60 % des magasins)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475488">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3. Concentration par pays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1,02</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concentrée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4. Revente l'année suivante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41,7 % (prévu 41,9 %)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rare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4"/>
                  </a:ext>
                </a:extLst>
              </a:tr>
            </a:tbl>
          </a:graphicData>
        </a:graphic>
      </p:graphicFrame>
      <p:sp>
        <p:nvSpPr>
          <p:cNvPr id="12" name="Shape 7"/>
          <p:cNvSpPr/>
          <p:nvPr/>
        </p:nvSpPr>
        <p:spPr>
          <a:xfrm>
            <a:off x="6537960" y="3977640"/>
            <a:ext cx="5074920" cy="1554480"/>
          </a:xfrm>
          <a:prstGeom prst="rect">
            <a:avLst/>
          </a:prstGeom>
          <a:solidFill>
            <a:srgbClr val="EAF2EF"/>
          </a:solidFill>
          <a:ln w="9525">
            <a:solidFill>
              <a:srgbClr val="CFE0DA"/>
            </a:solidFill>
            <a:prstDash val="solid"/>
          </a:ln>
        </p:spPr>
        <p:txBody>
          <a:bodyPr/>
          <a:lstStyle/>
          <a:p>
            <a:endParaRPr lang="en-US"/>
          </a:p>
        </p:txBody>
      </p:sp>
      <p:sp>
        <p:nvSpPr>
          <p:cNvPr id="13" name="Text 8"/>
          <p:cNvSpPr/>
          <p:nvPr/>
        </p:nvSpPr>
        <p:spPr>
          <a:xfrm>
            <a:off x="6720840" y="4087368"/>
            <a:ext cx="4709160" cy="411480"/>
          </a:xfrm>
          <a:prstGeom prst="rect">
            <a:avLst/>
          </a:prstGeom>
          <a:noFill/>
          <a:ln/>
        </p:spPr>
        <p:txBody>
          <a:bodyPr wrap="square" lIns="0" tIns="0" rIns="0" bIns="0" rtlCol="0" anchor="ctr"/>
          <a:lstStyle/>
          <a:p>
            <a:pPr marL="0" indent="0">
              <a:buNone/>
            </a:pPr>
            <a:r>
              <a:rPr lang="en-US" sz="1500" b="1" dirty="0">
                <a:solidFill>
                  <a:srgbClr val="17332E"/>
                </a:solidFill>
                <a:latin typeface="Cambria" pitchFamily="34" charset="0"/>
                <a:ea typeface="Cambria" pitchFamily="34" charset="-122"/>
                <a:cs typeface="Cambria" pitchFamily="34" charset="-120"/>
              </a:rPr>
              <a:t>Verdicts</a:t>
            </a:r>
            <a:endParaRPr lang="en-US" sz="1500" dirty="0"/>
          </a:p>
        </p:txBody>
      </p:sp>
      <p:sp>
        <p:nvSpPr>
          <p:cNvPr id="14" name="Text 9"/>
          <p:cNvSpPr/>
          <p:nvPr/>
        </p:nvSpPr>
        <p:spPr>
          <a:xfrm>
            <a:off x="6720840" y="4572000"/>
            <a:ext cx="4709160" cy="868680"/>
          </a:xfrm>
          <a:prstGeom prst="rect">
            <a:avLst/>
          </a:prstGeom>
          <a:noFill/>
          <a:ln/>
        </p:spPr>
        <p:txBody>
          <a:bodyPr wrap="square" lIns="0" tIns="0" rIns="0" bIns="0" rtlCol="0" anchor="t"/>
          <a:lstStyle/>
          <a:p>
            <a:pPr marL="0" indent="0">
              <a:spcAft>
                <a:spcPts val="800"/>
              </a:spcAft>
              <a:buNone/>
            </a:pPr>
            <a:r>
              <a:rPr lang="en-US" sz="1250" b="1" dirty="0">
                <a:solidFill>
                  <a:srgbClr val="2E5E55"/>
                </a:solidFill>
                <a:latin typeface="Calibri" pitchFamily="34" charset="0"/>
                <a:ea typeface="Calibri" pitchFamily="34" charset="-122"/>
                <a:cs typeface="Calibri" pitchFamily="34" charset="-120"/>
              </a:rPr>
              <a:t>•  </a:t>
            </a:r>
            <a:r>
              <a:rPr lang="en-US" sz="1250" b="1" dirty="0">
                <a:solidFill>
                  <a:srgbClr val="1F2A28"/>
                </a:solidFill>
                <a:latin typeface="Calibri" pitchFamily="34" charset="0"/>
                <a:ea typeface="Calibri" pitchFamily="34" charset="-122"/>
                <a:cs typeface="Calibri" pitchFamily="34" charset="-120"/>
              </a:rPr>
              <a:t>A. Stock dormant</a:t>
            </a:r>
            <a:r>
              <a:rPr lang="en-US" sz="1250" dirty="0">
                <a:solidFill>
                  <a:srgbClr val="1F2A28"/>
                </a:solidFill>
                <a:latin typeface="Calibri" pitchFamily="34" charset="0"/>
                <a:ea typeface="Calibri" pitchFamily="34" charset="-122"/>
                <a:cs typeface="Calibri" pitchFamily="34" charset="-120"/>
              </a:rPr>
              <a:t> : indice favorable</a:t>
            </a:r>
            <a:endParaRPr lang="en-US" sz="1250" dirty="0"/>
          </a:p>
          <a:p>
            <a:pPr marL="0" indent="0">
              <a:spcAft>
                <a:spcPts val="800"/>
              </a:spcAft>
              <a:buNone/>
            </a:pPr>
            <a:r>
              <a:rPr lang="en-US" sz="1250" b="1" dirty="0">
                <a:solidFill>
                  <a:srgbClr val="2E5E55"/>
                </a:solidFill>
                <a:latin typeface="Calibri" pitchFamily="34" charset="0"/>
                <a:ea typeface="Calibri" pitchFamily="34" charset="-122"/>
                <a:cs typeface="Calibri" pitchFamily="34" charset="-120"/>
              </a:rPr>
              <a:t>•  </a:t>
            </a:r>
            <a:r>
              <a:rPr lang="en-US" sz="1250" b="1" dirty="0">
                <a:solidFill>
                  <a:srgbClr val="1F2A28"/>
                </a:solidFill>
                <a:latin typeface="Calibri" pitchFamily="34" charset="0"/>
                <a:ea typeface="Calibri" pitchFamily="34" charset="-122"/>
                <a:cs typeface="Calibri" pitchFamily="34" charset="-120"/>
              </a:rPr>
              <a:t>B. Assortiment réduit</a:t>
            </a:r>
            <a:r>
              <a:rPr lang="en-US" sz="1250" dirty="0">
                <a:solidFill>
                  <a:srgbClr val="1F2A28"/>
                </a:solidFill>
                <a:latin typeface="Calibri" pitchFamily="34" charset="0"/>
                <a:ea typeface="Calibri" pitchFamily="34" charset="-122"/>
                <a:cs typeface="Calibri" pitchFamily="34" charset="-120"/>
              </a:rPr>
              <a:t> : non soutenu, pas exclu</a:t>
            </a:r>
            <a:endParaRPr lang="en-US" sz="1250" dirty="0"/>
          </a:p>
          <a:p>
            <a:pPr marL="0" indent="0">
              <a:spcAft>
                <a:spcPts val="800"/>
              </a:spcAft>
              <a:buNone/>
            </a:pPr>
            <a:r>
              <a:rPr lang="en-US" sz="1250" b="1" dirty="0">
                <a:solidFill>
                  <a:srgbClr val="2E5E55"/>
                </a:solidFill>
                <a:latin typeface="Calibri" pitchFamily="34" charset="0"/>
                <a:ea typeface="Calibri" pitchFamily="34" charset="-122"/>
                <a:cs typeface="Calibri" pitchFamily="34" charset="-120"/>
              </a:rPr>
              <a:t>•  </a:t>
            </a:r>
            <a:r>
              <a:rPr lang="en-US" sz="1250" b="1" dirty="0">
                <a:solidFill>
                  <a:srgbClr val="1F2A28"/>
                </a:solidFill>
                <a:latin typeface="Calibri" pitchFamily="34" charset="0"/>
                <a:ea typeface="Calibri" pitchFamily="34" charset="-122"/>
                <a:cs typeface="Calibri" pitchFamily="34" charset="-120"/>
              </a:rPr>
              <a:t>Proportion exacte</a:t>
            </a:r>
            <a:r>
              <a:rPr lang="en-US" sz="1250" dirty="0">
                <a:solidFill>
                  <a:srgbClr val="1F2A28"/>
                </a:solidFill>
                <a:latin typeface="Calibri" pitchFamily="34" charset="0"/>
                <a:ea typeface="Calibri" pitchFamily="34" charset="-122"/>
                <a:cs typeface="Calibri" pitchFamily="34" charset="-120"/>
              </a:rPr>
              <a:t> : ouverte (pas d'inventaire)</a:t>
            </a:r>
            <a:endParaRPr lang="en-US" sz="1250" dirty="0"/>
          </a:p>
        </p:txBody>
      </p:sp>
      <p:sp>
        <p:nvSpPr>
          <p:cNvPr id="15" name="Shape 10"/>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6" name="Shape 11"/>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17" name="Text 12"/>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L'assortiment vieillit : </a:t>
            </a:r>
            <a:r>
              <a:rPr lang="en-US" sz="1500" b="1" dirty="0">
                <a:solidFill>
                  <a:srgbClr val="17332E"/>
                </a:solidFill>
                <a:latin typeface="Calibri" pitchFamily="34" charset="0"/>
                <a:ea typeface="Calibri" pitchFamily="34" charset="-122"/>
                <a:cs typeface="Calibri" pitchFamily="34" charset="-120"/>
              </a:rPr>
              <a:t>moins d'une vente par magasin et par an</a:t>
            </a:r>
            <a:r>
              <a:rPr lang="en-US" sz="1500" dirty="0">
                <a:solidFill>
                  <a:srgbClr val="17332E"/>
                </a:solidFill>
                <a:latin typeface="Calibri" pitchFamily="34" charset="0"/>
                <a:ea typeface="Calibri" pitchFamily="34" charset="-122"/>
                <a:cs typeface="Calibri" pitchFamily="34" charset="-120"/>
              </a:rPr>
              <a:t> en 2021, une part croissante des références dort en rayon.</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Barnabe Landry Evouna</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2 · Q1 : POURQUOI LES VENTES ONT CHUTÉ</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Les grands comptes de la boutique en ligne partent quand les nouveautés s'épuisent</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Barnabe Landry Evouna</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23</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2011680"/>
        </p:xfrm>
        <a:graphic>
          <a:graphicData uri="http://schemas.openxmlformats.org/drawingml/2006/table">
            <a:tbl>
              <a:tblPr/>
              <a:tblGrid>
                <a:gridCol w="3097987">
                  <a:extLst>
                    <a:ext uri="{9D8B030D-6E8A-4147-A177-3AD203B41FA5}">
                      <a16:colId xmlns:a16="http://schemas.microsoft.com/office/drawing/2014/main" val="20000"/>
                    </a:ext>
                  </a:extLst>
                </a:gridCol>
                <a:gridCol w="1327709">
                  <a:extLst>
                    <a:ext uri="{9D8B030D-6E8A-4147-A177-3AD203B41FA5}">
                      <a16:colId xmlns:a16="http://schemas.microsoft.com/office/drawing/2014/main" val="20001"/>
                    </a:ext>
                  </a:extLst>
                </a:gridCol>
                <a:gridCol w="1327709">
                  <a:extLst>
                    <a:ext uri="{9D8B030D-6E8A-4147-A177-3AD203B41FA5}">
                      <a16:colId xmlns:a16="http://schemas.microsoft.com/office/drawing/2014/main" val="20002"/>
                    </a:ext>
                  </a:extLst>
                </a:gridCol>
                <a:gridCol w="1327709">
                  <a:extLst>
                    <a:ext uri="{9D8B030D-6E8A-4147-A177-3AD203B41FA5}">
                      <a16:colId xmlns:a16="http://schemas.microsoft.com/office/drawing/2014/main" val="20003"/>
                    </a:ext>
                  </a:extLst>
                </a:gridCol>
                <a:gridCol w="3983126">
                  <a:extLst>
                    <a:ext uri="{9D8B030D-6E8A-4147-A177-3AD203B41FA5}">
                      <a16:colId xmlns:a16="http://schemas.microsoft.com/office/drawing/2014/main" val="20004"/>
                    </a:ext>
                  </a:extLst>
                </a:gridCol>
              </a:tblGrid>
              <a:tr h="50292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Achats des entreprises clientes</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2019</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2020</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2021</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Part des nouveautés dans leurs achats</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502920">
                <a:tc>
                  <a:txBody>
                    <a:bodyPr/>
                    <a:lstStyle/>
                    <a:p>
                      <a:pPr marL="0" indent="0" algn="l">
                        <a:buNone/>
                      </a:pPr>
                      <a:r>
                        <a:rPr lang="en-US" sz="1350" dirty="0">
                          <a:solidFill>
                            <a:srgbClr val="1F2A28"/>
                          </a:solidFill>
                          <a:latin typeface="Calibri" pitchFamily="34" charset="0"/>
                          <a:ea typeface="Calibri" pitchFamily="34" charset="-122"/>
                          <a:cs typeface="Calibri" pitchFamily="34" charset="-120"/>
                        </a:rPr>
                        <a:t>16 clientes historiques</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169,0 M$</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86,6 M$</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1F2A28"/>
                          </a:solidFill>
                          <a:latin typeface="Calibri" pitchFamily="34" charset="0"/>
                          <a:ea typeface="Calibri" pitchFamily="34" charset="-122"/>
                          <a:cs typeface="Calibri" pitchFamily="34" charset="-120"/>
                        </a:rPr>
                        <a:t>0,1 M$</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F2A28"/>
                          </a:solidFill>
                          <a:latin typeface="Calibri" pitchFamily="34" charset="0"/>
                          <a:ea typeface="Calibri" pitchFamily="34" charset="-122"/>
                          <a:cs typeface="Calibri" pitchFamily="34" charset="-120"/>
                        </a:rPr>
                        <a:t>40,5 % en 2019, </a:t>
                      </a:r>
                      <a:r>
                        <a:rPr lang="en-US" sz="1350" b="1" dirty="0">
                          <a:solidFill>
                            <a:srgbClr val="1F2A28"/>
                          </a:solidFill>
                          <a:latin typeface="Calibri" pitchFamily="34" charset="0"/>
                          <a:ea typeface="Calibri" pitchFamily="34" charset="-122"/>
                          <a:cs typeface="Calibri" pitchFamily="34" charset="-120"/>
                        </a:rPr>
                        <a:t>17,4 %</a:t>
                      </a:r>
                      <a:r>
                        <a:rPr lang="en-US" sz="1350" dirty="0">
                          <a:solidFill>
                            <a:srgbClr val="1F2A28"/>
                          </a:solidFill>
                          <a:latin typeface="Calibri" pitchFamily="34" charset="0"/>
                          <a:ea typeface="Calibri" pitchFamily="34" charset="-122"/>
                          <a:cs typeface="Calibri" pitchFamily="34" charset="-120"/>
                        </a:rPr>
                        <a:t> en 2020</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350" dirty="0">
                          <a:solidFill>
                            <a:srgbClr val="1F2A28"/>
                          </a:solidFill>
                          <a:latin typeface="Calibri" pitchFamily="34" charset="0"/>
                          <a:ea typeface="Calibri" pitchFamily="34" charset="-122"/>
                          <a:cs typeface="Calibri" pitchFamily="34" charset="-120"/>
                        </a:rPr>
                        <a:t>13 nouvelles clientes de 2020</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149,4 M$</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49,0 M$</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350" dirty="0">
                          <a:solidFill>
                            <a:srgbClr val="1F2A28"/>
                          </a:solidFill>
                          <a:latin typeface="Calibri" pitchFamily="34" charset="0"/>
                          <a:ea typeface="Calibri" pitchFamily="34" charset="-122"/>
                          <a:cs typeface="Calibri" pitchFamily="34" charset="-120"/>
                        </a:rPr>
                        <a:t>22,8 % en 2020, </a:t>
                      </a:r>
                      <a:r>
                        <a:rPr lang="en-US" sz="1350" b="1" dirty="0">
                          <a:solidFill>
                            <a:srgbClr val="1F2A28"/>
                          </a:solidFill>
                          <a:latin typeface="Calibri" pitchFamily="34" charset="0"/>
                          <a:ea typeface="Calibri" pitchFamily="34" charset="-122"/>
                          <a:cs typeface="Calibri" pitchFamily="34" charset="-120"/>
                        </a:rPr>
                        <a:t>4,7 %</a:t>
                      </a:r>
                      <a:r>
                        <a:rPr lang="en-US" sz="1350" dirty="0">
                          <a:solidFill>
                            <a:srgbClr val="1F2A28"/>
                          </a:solidFill>
                          <a:latin typeface="Calibri" pitchFamily="34" charset="0"/>
                          <a:ea typeface="Calibri" pitchFamily="34" charset="-122"/>
                          <a:cs typeface="Calibri" pitchFamily="34" charset="-120"/>
                        </a:rPr>
                        <a:t> en 2021</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502920">
                <a:tc>
                  <a:txBody>
                    <a:bodyPr/>
                    <a:lstStyle/>
                    <a:p>
                      <a:pPr marL="0" indent="0" algn="l">
                        <a:buNone/>
                      </a:pPr>
                      <a:r>
                        <a:rPr lang="en-US" sz="1350" dirty="0">
                          <a:solidFill>
                            <a:srgbClr val="1F2A28"/>
                          </a:solidFill>
                          <a:latin typeface="Calibri" pitchFamily="34" charset="0"/>
                          <a:ea typeface="Calibri" pitchFamily="34" charset="-122"/>
                          <a:cs typeface="Calibri" pitchFamily="34" charset="-120"/>
                        </a:rPr>
                        <a:t>14 nouvelles clientes de 2021</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177,4 M$</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F2A28"/>
                          </a:solidFill>
                          <a:latin typeface="Calibri" pitchFamily="34" charset="0"/>
                          <a:ea typeface="Calibri" pitchFamily="34" charset="-122"/>
                          <a:cs typeface="Calibri" pitchFamily="34" charset="-120"/>
                        </a:rPr>
                        <a:t>11,4 % en 2021</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Shape 7"/>
          <p:cNvSpPr/>
          <p:nvPr/>
        </p:nvSpPr>
        <p:spPr>
          <a:xfrm>
            <a:off x="548640" y="3657600"/>
            <a:ext cx="2606040" cy="1143000"/>
          </a:xfrm>
          <a:prstGeom prst="rect">
            <a:avLst/>
          </a:prstGeom>
          <a:solidFill>
            <a:srgbClr val="EAF2EF"/>
          </a:solidFill>
          <a:ln w="9525">
            <a:solidFill>
              <a:srgbClr val="CFE0DA"/>
            </a:solidFill>
            <a:prstDash val="solid"/>
          </a:ln>
        </p:spPr>
        <p:txBody>
          <a:bodyPr/>
          <a:lstStyle/>
          <a:p>
            <a:endParaRPr lang="en-US"/>
          </a:p>
        </p:txBody>
      </p:sp>
      <p:sp>
        <p:nvSpPr>
          <p:cNvPr id="12" name="Text 8"/>
          <p:cNvSpPr/>
          <p:nvPr/>
        </p:nvSpPr>
        <p:spPr>
          <a:xfrm>
            <a:off x="548640" y="3749040"/>
            <a:ext cx="2606040" cy="571500"/>
          </a:xfrm>
          <a:prstGeom prst="rect">
            <a:avLst/>
          </a:prstGeom>
          <a:noFill/>
          <a:ln/>
        </p:spPr>
        <p:txBody>
          <a:bodyPr wrap="square" lIns="0" tIns="0" rIns="0" bIns="0" rtlCol="0" anchor="ctr"/>
          <a:lstStyle/>
          <a:p>
            <a:pPr marL="0" indent="0" algn="ctr">
              <a:buNone/>
            </a:pPr>
            <a:r>
              <a:rPr lang="en-US" sz="2600" b="1" dirty="0">
                <a:solidFill>
                  <a:srgbClr val="B4442F"/>
                </a:solidFill>
                <a:latin typeface="Cambria" pitchFamily="34" charset="0"/>
                <a:ea typeface="Cambria" pitchFamily="34" charset="-122"/>
                <a:cs typeface="Cambria" pitchFamily="34" charset="-120"/>
              </a:rPr>
              <a:t>1 sur 16</a:t>
            </a:r>
            <a:endParaRPr lang="en-US" sz="2600" dirty="0"/>
          </a:p>
        </p:txBody>
      </p:sp>
      <p:sp>
        <p:nvSpPr>
          <p:cNvPr id="13" name="Text 9"/>
          <p:cNvSpPr/>
          <p:nvPr/>
        </p:nvSpPr>
        <p:spPr>
          <a:xfrm>
            <a:off x="640080" y="4286250"/>
            <a:ext cx="2423160" cy="457200"/>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cliente historique encore active en 2021</a:t>
            </a:r>
            <a:endParaRPr lang="en-US" sz="1200" dirty="0"/>
          </a:p>
        </p:txBody>
      </p:sp>
      <p:sp>
        <p:nvSpPr>
          <p:cNvPr id="14" name="Shape 10"/>
          <p:cNvSpPr/>
          <p:nvPr/>
        </p:nvSpPr>
        <p:spPr>
          <a:xfrm>
            <a:off x="3364992" y="3657600"/>
            <a:ext cx="2606040" cy="1143000"/>
          </a:xfrm>
          <a:prstGeom prst="rect">
            <a:avLst/>
          </a:prstGeom>
          <a:solidFill>
            <a:srgbClr val="EAF2EF"/>
          </a:solidFill>
          <a:ln w="9525">
            <a:solidFill>
              <a:srgbClr val="CFE0DA"/>
            </a:solidFill>
            <a:prstDash val="solid"/>
          </a:ln>
        </p:spPr>
        <p:txBody>
          <a:bodyPr/>
          <a:lstStyle/>
          <a:p>
            <a:endParaRPr lang="en-US"/>
          </a:p>
        </p:txBody>
      </p:sp>
      <p:sp>
        <p:nvSpPr>
          <p:cNvPr id="15" name="Text 11"/>
          <p:cNvSpPr/>
          <p:nvPr/>
        </p:nvSpPr>
        <p:spPr>
          <a:xfrm>
            <a:off x="3364992" y="3749040"/>
            <a:ext cx="2606040" cy="571500"/>
          </a:xfrm>
          <a:prstGeom prst="rect">
            <a:avLst/>
          </a:prstGeom>
          <a:noFill/>
          <a:ln/>
        </p:spPr>
        <p:txBody>
          <a:bodyPr wrap="square" lIns="0" tIns="0" rIns="0" bIns="0" rtlCol="0" anchor="ctr"/>
          <a:lstStyle/>
          <a:p>
            <a:pPr marL="0" indent="0" algn="ctr">
              <a:buNone/>
            </a:pPr>
            <a:r>
              <a:rPr lang="en-US" sz="2600" b="1" dirty="0">
                <a:solidFill>
                  <a:srgbClr val="17332E"/>
                </a:solidFill>
                <a:latin typeface="Cambria" pitchFamily="34" charset="0"/>
                <a:ea typeface="Cambria" pitchFamily="34" charset="-122"/>
                <a:cs typeface="Cambria" pitchFamily="34" charset="-120"/>
              </a:rPr>
              <a:t>91 %</a:t>
            </a:r>
            <a:endParaRPr lang="en-US" sz="2600" dirty="0"/>
          </a:p>
        </p:txBody>
      </p:sp>
      <p:sp>
        <p:nvSpPr>
          <p:cNvPr id="16" name="Text 12"/>
          <p:cNvSpPr/>
          <p:nvPr/>
        </p:nvSpPr>
        <p:spPr>
          <a:xfrm>
            <a:off x="3456432" y="4286250"/>
            <a:ext cx="2423160" cy="457200"/>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des ventes en ligne détaillées de 2021 faites par de nouvelles clientes</a:t>
            </a:r>
            <a:endParaRPr lang="en-US" sz="1200" dirty="0"/>
          </a:p>
        </p:txBody>
      </p:sp>
      <p:sp>
        <p:nvSpPr>
          <p:cNvPr id="17" name="Shape 13"/>
          <p:cNvSpPr/>
          <p:nvPr/>
        </p:nvSpPr>
        <p:spPr>
          <a:xfrm>
            <a:off x="6190488" y="3657600"/>
            <a:ext cx="5422392" cy="1828800"/>
          </a:xfrm>
          <a:prstGeom prst="rect">
            <a:avLst/>
          </a:prstGeom>
          <a:solidFill>
            <a:srgbClr val="EAF2EF"/>
          </a:solidFill>
          <a:ln w="9525">
            <a:solidFill>
              <a:srgbClr val="CFE0DA"/>
            </a:solidFill>
            <a:prstDash val="solid"/>
          </a:ln>
        </p:spPr>
        <p:txBody>
          <a:bodyPr/>
          <a:lstStyle/>
          <a:p>
            <a:endParaRPr lang="en-US"/>
          </a:p>
        </p:txBody>
      </p:sp>
      <p:sp>
        <p:nvSpPr>
          <p:cNvPr id="18" name="Text 14"/>
          <p:cNvSpPr/>
          <p:nvPr/>
        </p:nvSpPr>
        <p:spPr>
          <a:xfrm>
            <a:off x="6373368" y="3767328"/>
            <a:ext cx="5056632" cy="411480"/>
          </a:xfrm>
          <a:prstGeom prst="rect">
            <a:avLst/>
          </a:prstGeom>
          <a:noFill/>
          <a:ln/>
        </p:spPr>
        <p:txBody>
          <a:bodyPr wrap="square" lIns="0" tIns="0" rIns="0" bIns="0" rtlCol="0" anchor="ctr"/>
          <a:lstStyle/>
          <a:p>
            <a:pPr marL="0" indent="0">
              <a:buNone/>
            </a:pPr>
            <a:r>
              <a:rPr lang="en-US" sz="1500" b="1" dirty="0">
                <a:solidFill>
                  <a:srgbClr val="17332E"/>
                </a:solidFill>
                <a:latin typeface="Cambria" pitchFamily="34" charset="0"/>
                <a:ea typeface="Cambria" pitchFamily="34" charset="-122"/>
                <a:cs typeface="Cambria" pitchFamily="34" charset="-120"/>
              </a:rPr>
              <a:t>Interprétation métier (hypothèse)</a:t>
            </a:r>
            <a:endParaRPr lang="en-US" sz="1500" dirty="0"/>
          </a:p>
        </p:txBody>
      </p:sp>
      <p:sp>
        <p:nvSpPr>
          <p:cNvPr id="19" name="Text 15"/>
          <p:cNvSpPr/>
          <p:nvPr/>
        </p:nvSpPr>
        <p:spPr>
          <a:xfrm>
            <a:off x="6373368" y="4251960"/>
            <a:ext cx="5056632" cy="1143000"/>
          </a:xfrm>
          <a:prstGeom prst="rect">
            <a:avLst/>
          </a:prstGeom>
          <a:noFill/>
          <a:ln/>
        </p:spPr>
        <p:txBody>
          <a:bodyPr wrap="square" lIns="0" tIns="0" rIns="0" bIns="0" rtlCol="0" anchor="t"/>
          <a:lstStyle/>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Une entreprise veut un fournisseur qui suit tout son parc : sans nouveautés, elle </a:t>
            </a:r>
            <a:r>
              <a:rPr lang="en-US" sz="1350" b="1" dirty="0">
                <a:solidFill>
                  <a:srgbClr val="1F2A28"/>
                </a:solidFill>
                <a:latin typeface="Calibri" pitchFamily="34" charset="0"/>
                <a:ea typeface="Calibri" pitchFamily="34" charset="-122"/>
                <a:cs typeface="Calibri" pitchFamily="34" charset="-120"/>
              </a:rPr>
              <a:t>part en bloc</a:t>
            </a:r>
            <a:endParaRPr lang="en-US" sz="1350" dirty="0"/>
          </a:p>
        </p:txBody>
      </p:sp>
      <p:sp>
        <p:nvSpPr>
          <p:cNvPr id="20" name="Text 16"/>
          <p:cNvSpPr/>
          <p:nvPr/>
        </p:nvSpPr>
        <p:spPr>
          <a:xfrm>
            <a:off x="548640" y="4937760"/>
            <a:ext cx="5394960" cy="548640"/>
          </a:xfrm>
          <a:prstGeom prst="rect">
            <a:avLst/>
          </a:prstGeom>
          <a:noFill/>
          <a:ln/>
        </p:spPr>
        <p:txBody>
          <a:bodyPr wrap="square" lIns="0" tIns="0" rIns="0" bIns="0" rtlCol="0" anchor="t"/>
          <a:lstStyle/>
          <a:p>
            <a:pPr marL="0" indent="0" algn="l">
              <a:buNone/>
            </a:pPr>
            <a:r>
              <a:rPr lang="en-US" sz="1200" i="1" dirty="0">
                <a:solidFill>
                  <a:srgbClr val="5E6B68"/>
                </a:solidFill>
                <a:latin typeface="Calibri" pitchFamily="34" charset="0"/>
                <a:ea typeface="Calibri" pitchFamily="34" charset="-122"/>
                <a:cs typeface="Calibri" pitchFamily="34" charset="-120"/>
              </a:rPr>
              <a:t>Table des ventes en ligne détaillées : tendances seulement, ne s'additionne pas avec nos montants.</a:t>
            </a:r>
            <a:endParaRPr lang="en-US" sz="1200" dirty="0"/>
          </a:p>
        </p:txBody>
      </p:sp>
      <p:sp>
        <p:nvSpPr>
          <p:cNvPr id="21" name="Shape 17"/>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22" name="Shape 18"/>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23" name="Text 19"/>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b="1" dirty="0">
                <a:solidFill>
                  <a:srgbClr val="17332E"/>
                </a:solidFill>
                <a:latin typeface="Calibri" pitchFamily="34" charset="0"/>
                <a:ea typeface="Calibri" pitchFamily="34" charset="-122"/>
                <a:cs typeface="Calibri" pitchFamily="34" charset="-120"/>
              </a:rPr>
              <a:t>Sans nouveautés, on ne garde pas les clients professionnels.</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Barnabe Landry Evouna</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2 · Q1 : POURQUOI LES VENTES ONT CHUTÉ</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Quelle que soit la branche, le remède est le même : renouveler l'assortiment</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Barnabe Landry Evouna</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24</a:t>
            </a:r>
            <a:endParaRPr lang="en-US" sz="1000" dirty="0"/>
          </a:p>
        </p:txBody>
      </p:sp>
      <p:sp>
        <p:nvSpPr>
          <p:cNvPr id="10" name="Shape 7"/>
          <p:cNvSpPr/>
          <p:nvPr/>
        </p:nvSpPr>
        <p:spPr>
          <a:xfrm>
            <a:off x="548640" y="1463040"/>
            <a:ext cx="5120640" cy="1920240"/>
          </a:xfrm>
          <a:prstGeom prst="rect">
            <a:avLst/>
          </a:prstGeom>
          <a:solidFill>
            <a:srgbClr val="EAF2EF"/>
          </a:solidFill>
          <a:ln w="9525">
            <a:solidFill>
              <a:srgbClr val="CFE0DA"/>
            </a:solidFill>
            <a:prstDash val="solid"/>
          </a:ln>
        </p:spPr>
        <p:txBody>
          <a:bodyPr/>
          <a:lstStyle/>
          <a:p>
            <a:endParaRPr lang="en-US"/>
          </a:p>
        </p:txBody>
      </p:sp>
      <p:sp>
        <p:nvSpPr>
          <p:cNvPr id="11" name="Text 8"/>
          <p:cNvSpPr/>
          <p:nvPr/>
        </p:nvSpPr>
        <p:spPr>
          <a:xfrm>
            <a:off x="731520" y="1572768"/>
            <a:ext cx="4754880" cy="411480"/>
          </a:xfrm>
          <a:prstGeom prst="rect">
            <a:avLst/>
          </a:prstGeom>
          <a:noFill/>
          <a:ln/>
        </p:spPr>
        <p:txBody>
          <a:bodyPr wrap="square" lIns="0" tIns="0" rIns="0" bIns="0" rtlCol="0" anchor="ctr"/>
          <a:lstStyle/>
          <a:p>
            <a:pPr marL="0" indent="0">
              <a:buNone/>
            </a:pPr>
            <a:r>
              <a:rPr lang="en-US" sz="1600" b="1" dirty="0">
                <a:solidFill>
                  <a:srgbClr val="17332E"/>
                </a:solidFill>
                <a:latin typeface="Cambria" pitchFamily="34" charset="0"/>
                <a:ea typeface="Cambria" pitchFamily="34" charset="-122"/>
                <a:cs typeface="Cambria" pitchFamily="34" charset="-120"/>
              </a:rPr>
              <a:t>Si c'est du stock dormant (A)</a:t>
            </a:r>
            <a:endParaRPr lang="en-US" sz="1600" dirty="0"/>
          </a:p>
        </p:txBody>
      </p:sp>
      <p:sp>
        <p:nvSpPr>
          <p:cNvPr id="12" name="Text 9"/>
          <p:cNvSpPr/>
          <p:nvPr/>
        </p:nvSpPr>
        <p:spPr>
          <a:xfrm>
            <a:off x="731520" y="2057400"/>
            <a:ext cx="4754880" cy="1234440"/>
          </a:xfrm>
          <a:prstGeom prst="rect">
            <a:avLst/>
          </a:prstGeom>
          <a:noFill/>
          <a:ln/>
        </p:spPr>
        <p:txBody>
          <a:bodyPr wrap="square" lIns="0" tIns="0" rIns="0" bIns="0" rtlCol="0" anchor="t"/>
          <a:lstStyle/>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b="1" dirty="0">
                <a:solidFill>
                  <a:srgbClr val="1F2A28"/>
                </a:solidFill>
                <a:latin typeface="Calibri" pitchFamily="34" charset="0"/>
                <a:ea typeface="Calibri" pitchFamily="34" charset="-122"/>
                <a:cs typeface="Calibri" pitchFamily="34" charset="-120"/>
              </a:rPr>
              <a:t>Libérer ce stock</a:t>
            </a:r>
            <a:r>
              <a:rPr lang="en-US" sz="1350" dirty="0">
                <a:solidFill>
                  <a:srgbClr val="1F2A28"/>
                </a:solidFill>
                <a:latin typeface="Calibri" pitchFamily="34" charset="0"/>
                <a:ea typeface="Calibri" pitchFamily="34" charset="-122"/>
                <a:cs typeface="Calibri" pitchFamily="34" charset="-120"/>
              </a:rPr>
              <a:t> : transfert en ligne ou au revendeur, retour fournisseur, déstockage, pas la remise</a:t>
            </a:r>
            <a:endParaRPr lang="en-US" sz="1350" dirty="0"/>
          </a:p>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Réinvestir dans de nouvelles références</a:t>
            </a:r>
            <a:endParaRPr lang="en-US" sz="1350" dirty="0"/>
          </a:p>
        </p:txBody>
      </p:sp>
      <p:sp>
        <p:nvSpPr>
          <p:cNvPr id="13" name="Shape 10"/>
          <p:cNvSpPr/>
          <p:nvPr/>
        </p:nvSpPr>
        <p:spPr>
          <a:xfrm>
            <a:off x="548640" y="3566160"/>
            <a:ext cx="5120640" cy="1920240"/>
          </a:xfrm>
          <a:prstGeom prst="rect">
            <a:avLst/>
          </a:prstGeom>
          <a:solidFill>
            <a:srgbClr val="EAF2EF"/>
          </a:solidFill>
          <a:ln w="9525">
            <a:solidFill>
              <a:srgbClr val="CFE0DA"/>
            </a:solidFill>
            <a:prstDash val="solid"/>
          </a:ln>
        </p:spPr>
        <p:txBody>
          <a:bodyPr/>
          <a:lstStyle/>
          <a:p>
            <a:endParaRPr lang="en-US"/>
          </a:p>
        </p:txBody>
      </p:sp>
      <p:sp>
        <p:nvSpPr>
          <p:cNvPr id="14" name="Text 11"/>
          <p:cNvSpPr/>
          <p:nvPr/>
        </p:nvSpPr>
        <p:spPr>
          <a:xfrm>
            <a:off x="731520" y="3675888"/>
            <a:ext cx="4754880" cy="411480"/>
          </a:xfrm>
          <a:prstGeom prst="rect">
            <a:avLst/>
          </a:prstGeom>
          <a:noFill/>
          <a:ln/>
        </p:spPr>
        <p:txBody>
          <a:bodyPr wrap="square" lIns="0" tIns="0" rIns="0" bIns="0" rtlCol="0" anchor="ctr"/>
          <a:lstStyle/>
          <a:p>
            <a:pPr marL="0" indent="0">
              <a:buNone/>
            </a:pPr>
            <a:r>
              <a:rPr lang="en-US" sz="1600" b="1" dirty="0">
                <a:solidFill>
                  <a:srgbClr val="17332E"/>
                </a:solidFill>
                <a:latin typeface="Cambria" pitchFamily="34" charset="0"/>
                <a:ea typeface="Cambria" pitchFamily="34" charset="-122"/>
                <a:cs typeface="Cambria" pitchFamily="34" charset="-120"/>
              </a:rPr>
              <a:t>Si c'est un assortiment réduit (B)</a:t>
            </a:r>
            <a:endParaRPr lang="en-US" sz="1600" dirty="0"/>
          </a:p>
        </p:txBody>
      </p:sp>
      <p:sp>
        <p:nvSpPr>
          <p:cNvPr id="15" name="Text 12"/>
          <p:cNvSpPr/>
          <p:nvPr/>
        </p:nvSpPr>
        <p:spPr>
          <a:xfrm>
            <a:off x="731520" y="4160520"/>
            <a:ext cx="4754880" cy="1234440"/>
          </a:xfrm>
          <a:prstGeom prst="rect">
            <a:avLst/>
          </a:prstGeom>
          <a:noFill/>
          <a:ln/>
        </p:spPr>
        <p:txBody>
          <a:bodyPr wrap="square" lIns="0" tIns="0" rIns="0" bIns="0" rtlCol="0" anchor="t"/>
          <a:lstStyle/>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b="1" dirty="0">
                <a:solidFill>
                  <a:srgbClr val="1F2A28"/>
                </a:solidFill>
                <a:latin typeface="Calibri" pitchFamily="34" charset="0"/>
                <a:ea typeface="Calibri" pitchFamily="34" charset="-122"/>
                <a:cs typeface="Calibri" pitchFamily="34" charset="-120"/>
              </a:rPr>
              <a:t>Mettre les nouveautés en rayon</a:t>
            </a:r>
            <a:r>
              <a:rPr lang="en-US" sz="1350" dirty="0">
                <a:solidFill>
                  <a:srgbClr val="1F2A28"/>
                </a:solidFill>
                <a:latin typeface="Calibri" pitchFamily="34" charset="0"/>
                <a:ea typeface="Calibri" pitchFamily="34" charset="-122"/>
                <a:cs typeface="Calibri" pitchFamily="34" charset="-120"/>
              </a:rPr>
              <a:t> : un article absent ne se vend pas, quelle que soit la demande</a:t>
            </a:r>
            <a:endParaRPr lang="en-US" sz="1350" dirty="0"/>
          </a:p>
        </p:txBody>
      </p:sp>
      <p:sp>
        <p:nvSpPr>
          <p:cNvPr id="16" name="Text 13"/>
          <p:cNvSpPr/>
          <p:nvPr/>
        </p:nvSpPr>
        <p:spPr>
          <a:xfrm>
            <a:off x="5715000" y="2926080"/>
            <a:ext cx="640080" cy="731520"/>
          </a:xfrm>
          <a:prstGeom prst="rect">
            <a:avLst/>
          </a:prstGeom>
          <a:noFill/>
          <a:ln/>
        </p:spPr>
        <p:txBody>
          <a:bodyPr wrap="square" lIns="0" tIns="0" rIns="0" bIns="0" rtlCol="0" anchor="ctr"/>
          <a:lstStyle/>
          <a:p>
            <a:pPr marL="0" indent="0" algn="ctr">
              <a:buNone/>
            </a:pPr>
            <a:r>
              <a:rPr lang="en-US" sz="4000" dirty="0">
                <a:solidFill>
                  <a:srgbClr val="E9A23B"/>
                </a:solidFill>
                <a:latin typeface="Calibri" pitchFamily="34" charset="0"/>
                <a:ea typeface="Calibri" pitchFamily="34" charset="-122"/>
                <a:cs typeface="Calibri" pitchFamily="34" charset="-120"/>
              </a:rPr>
              <a:t>→</a:t>
            </a:r>
            <a:endParaRPr lang="en-US" sz="4000" dirty="0"/>
          </a:p>
        </p:txBody>
      </p:sp>
      <p:sp>
        <p:nvSpPr>
          <p:cNvPr id="17" name="Shape 14"/>
          <p:cNvSpPr/>
          <p:nvPr/>
        </p:nvSpPr>
        <p:spPr>
          <a:xfrm>
            <a:off x="6400800" y="1463040"/>
            <a:ext cx="5212080" cy="4023360"/>
          </a:xfrm>
          <a:prstGeom prst="rect">
            <a:avLst/>
          </a:prstGeom>
          <a:solidFill>
            <a:srgbClr val="CFE0DA"/>
          </a:solidFill>
          <a:ln w="9525">
            <a:solidFill>
              <a:srgbClr val="CFE0DA"/>
            </a:solidFill>
            <a:prstDash val="solid"/>
          </a:ln>
        </p:spPr>
        <p:txBody>
          <a:bodyPr/>
          <a:lstStyle/>
          <a:p>
            <a:endParaRPr lang="en-US"/>
          </a:p>
        </p:txBody>
      </p:sp>
      <p:sp>
        <p:nvSpPr>
          <p:cNvPr id="18" name="Text 15"/>
          <p:cNvSpPr/>
          <p:nvPr/>
        </p:nvSpPr>
        <p:spPr>
          <a:xfrm>
            <a:off x="6583680" y="1572768"/>
            <a:ext cx="4846320" cy="411480"/>
          </a:xfrm>
          <a:prstGeom prst="rect">
            <a:avLst/>
          </a:prstGeom>
          <a:noFill/>
          <a:ln/>
        </p:spPr>
        <p:txBody>
          <a:bodyPr wrap="square" lIns="0" tIns="0" rIns="0" bIns="0" rtlCol="0" anchor="ctr"/>
          <a:lstStyle/>
          <a:p>
            <a:pPr marL="0" indent="0">
              <a:buNone/>
            </a:pPr>
            <a:r>
              <a:rPr lang="en-US" sz="1700" b="1" dirty="0">
                <a:solidFill>
                  <a:srgbClr val="17332E"/>
                </a:solidFill>
                <a:latin typeface="Cambria" pitchFamily="34" charset="0"/>
                <a:ea typeface="Cambria" pitchFamily="34" charset="-122"/>
                <a:cs typeface="Cambria" pitchFamily="34" charset="-120"/>
              </a:rPr>
              <a:t>Une seule stratégie : renouveler l'assortiment</a:t>
            </a:r>
            <a:endParaRPr lang="en-US" sz="1700" dirty="0"/>
          </a:p>
        </p:txBody>
      </p:sp>
      <p:sp>
        <p:nvSpPr>
          <p:cNvPr id="19" name="Text 16"/>
          <p:cNvSpPr/>
          <p:nvPr/>
        </p:nvSpPr>
        <p:spPr>
          <a:xfrm>
            <a:off x="6583680" y="2057400"/>
            <a:ext cx="4846320" cy="3337560"/>
          </a:xfrm>
          <a:prstGeom prst="rect">
            <a:avLst/>
          </a:prstGeom>
          <a:noFill/>
          <a:ln/>
        </p:spPr>
        <p:txBody>
          <a:bodyPr wrap="square" lIns="0" tIns="0" rIns="0" bIns="0" rtlCol="0" anchor="t"/>
          <a:lstStyle/>
          <a:p>
            <a:pPr marL="0" indent="0">
              <a:spcAft>
                <a:spcPts val="800"/>
              </a:spcAft>
              <a:buNone/>
            </a:pPr>
            <a:r>
              <a:rPr lang="en-US" sz="1450" b="1" dirty="0">
                <a:solidFill>
                  <a:srgbClr val="2E5E55"/>
                </a:solidFill>
                <a:latin typeface="Calibri" pitchFamily="34" charset="0"/>
                <a:ea typeface="Calibri" pitchFamily="34" charset="-122"/>
                <a:cs typeface="Calibri" pitchFamily="34" charset="-120"/>
              </a:rPr>
              <a:t>•  </a:t>
            </a:r>
            <a:r>
              <a:rPr lang="en-US" sz="1450" b="1" dirty="0">
                <a:solidFill>
                  <a:srgbClr val="1F2A28"/>
                </a:solidFill>
                <a:latin typeface="Calibri" pitchFamily="34" charset="0"/>
                <a:ea typeface="Calibri" pitchFamily="34" charset="-122"/>
                <a:cs typeface="Calibri" pitchFamily="34" charset="-120"/>
              </a:rPr>
              <a:t>1.</a:t>
            </a:r>
            <a:r>
              <a:rPr lang="en-US" sz="1450" dirty="0">
                <a:solidFill>
                  <a:srgbClr val="1F2A28"/>
                </a:solidFill>
                <a:latin typeface="Calibri" pitchFamily="34" charset="0"/>
                <a:ea typeface="Calibri" pitchFamily="34" charset="-122"/>
                <a:cs typeface="Calibri" pitchFamily="34" charset="-120"/>
              </a:rPr>
              <a:t> Revenir au rythme de lancement de 2019 (552 nouveautés au lieu de 272)</a:t>
            </a:r>
            <a:endParaRPr lang="en-US" sz="1450" dirty="0"/>
          </a:p>
          <a:p>
            <a:pPr marL="0" indent="0">
              <a:spcAft>
                <a:spcPts val="800"/>
              </a:spcAft>
              <a:buNone/>
            </a:pPr>
            <a:r>
              <a:rPr lang="en-US" sz="1450" b="1" dirty="0">
                <a:solidFill>
                  <a:srgbClr val="2E5E55"/>
                </a:solidFill>
                <a:latin typeface="Calibri" pitchFamily="34" charset="0"/>
                <a:ea typeface="Calibri" pitchFamily="34" charset="-122"/>
                <a:cs typeface="Calibri" pitchFamily="34" charset="-120"/>
              </a:rPr>
              <a:t>•  </a:t>
            </a:r>
            <a:r>
              <a:rPr lang="en-US" sz="1450" b="1" dirty="0">
                <a:solidFill>
                  <a:srgbClr val="1F2A28"/>
                </a:solidFill>
                <a:latin typeface="Calibri" pitchFamily="34" charset="0"/>
                <a:ea typeface="Calibri" pitchFamily="34" charset="-122"/>
                <a:cs typeface="Calibri" pitchFamily="34" charset="-120"/>
              </a:rPr>
              <a:t>2.</a:t>
            </a:r>
            <a:r>
              <a:rPr lang="en-US" sz="1450" dirty="0">
                <a:solidFill>
                  <a:srgbClr val="1F2A28"/>
                </a:solidFill>
                <a:latin typeface="Calibri" pitchFamily="34" charset="0"/>
                <a:ea typeface="Calibri" pitchFamily="34" charset="-122"/>
                <a:cs typeface="Calibri" pitchFamily="34" charset="-120"/>
              </a:rPr>
              <a:t> Remettre les nouveautés en rayon dans tous les magasins</a:t>
            </a:r>
            <a:endParaRPr lang="en-US" sz="1450" dirty="0"/>
          </a:p>
          <a:p>
            <a:pPr marL="0" indent="0">
              <a:spcAft>
                <a:spcPts val="800"/>
              </a:spcAft>
              <a:buNone/>
            </a:pPr>
            <a:r>
              <a:rPr lang="en-US" sz="1450" b="1" dirty="0">
                <a:solidFill>
                  <a:srgbClr val="2E5E55"/>
                </a:solidFill>
                <a:latin typeface="Calibri" pitchFamily="34" charset="0"/>
                <a:ea typeface="Calibri" pitchFamily="34" charset="-122"/>
                <a:cs typeface="Calibri" pitchFamily="34" charset="-120"/>
              </a:rPr>
              <a:t>•  </a:t>
            </a:r>
            <a:r>
              <a:rPr lang="en-US" sz="1450" b="1" dirty="0">
                <a:solidFill>
                  <a:srgbClr val="1F2A28"/>
                </a:solidFill>
                <a:latin typeface="Calibri" pitchFamily="34" charset="0"/>
                <a:ea typeface="Calibri" pitchFamily="34" charset="-122"/>
                <a:cs typeface="Calibri" pitchFamily="34" charset="-120"/>
              </a:rPr>
              <a:t>3.</a:t>
            </a:r>
            <a:r>
              <a:rPr lang="en-US" sz="1450" dirty="0">
                <a:solidFill>
                  <a:srgbClr val="1F2A28"/>
                </a:solidFill>
                <a:latin typeface="Calibri" pitchFamily="34" charset="0"/>
                <a:ea typeface="Calibri" pitchFamily="34" charset="-122"/>
                <a:cs typeface="Calibri" pitchFamily="34" charset="-120"/>
              </a:rPr>
              <a:t> Libérer le stock dormant</a:t>
            </a:r>
            <a:endParaRPr lang="en-US" sz="1450" dirty="0"/>
          </a:p>
          <a:p>
            <a:pPr marL="0" indent="0">
              <a:spcAft>
                <a:spcPts val="800"/>
              </a:spcAft>
              <a:buNone/>
            </a:pPr>
            <a:r>
              <a:rPr lang="en-US" sz="1450" b="1" dirty="0">
                <a:solidFill>
                  <a:srgbClr val="2E5E55"/>
                </a:solidFill>
                <a:latin typeface="Calibri" pitchFamily="34" charset="0"/>
                <a:ea typeface="Calibri" pitchFamily="34" charset="-122"/>
                <a:cs typeface="Calibri" pitchFamily="34" charset="-120"/>
              </a:rPr>
              <a:t>•  </a:t>
            </a:r>
            <a:r>
              <a:rPr lang="en-US" sz="1450" dirty="0">
                <a:solidFill>
                  <a:srgbClr val="1F2A28"/>
                </a:solidFill>
                <a:latin typeface="Calibri" pitchFamily="34" charset="0"/>
                <a:ea typeface="Calibri" pitchFamily="34" charset="-122"/>
                <a:cs typeface="Calibri" pitchFamily="34" charset="-120"/>
              </a:rPr>
              <a:t>C'est aussi la condition pour </a:t>
            </a:r>
            <a:r>
              <a:rPr lang="en-US" sz="1450" b="1" dirty="0">
                <a:solidFill>
                  <a:srgbClr val="1F2A28"/>
                </a:solidFill>
                <a:latin typeface="Calibri" pitchFamily="34" charset="0"/>
                <a:ea typeface="Calibri" pitchFamily="34" charset="-122"/>
                <a:cs typeface="Calibri" pitchFamily="34" charset="-120"/>
              </a:rPr>
              <a:t>garder les clients professionnels</a:t>
            </a:r>
            <a:r>
              <a:rPr lang="en-US" sz="1450" dirty="0">
                <a:solidFill>
                  <a:srgbClr val="1F2A28"/>
                </a:solidFill>
                <a:latin typeface="Calibri" pitchFamily="34" charset="0"/>
                <a:ea typeface="Calibri" pitchFamily="34" charset="-122"/>
                <a:cs typeface="Calibri" pitchFamily="34" charset="-120"/>
              </a:rPr>
              <a:t> en ligne</a:t>
            </a:r>
            <a:endParaRPr lang="en-US" sz="1450" dirty="0"/>
          </a:p>
          <a:p>
            <a:pPr marL="0" indent="0">
              <a:spcAft>
                <a:spcPts val="800"/>
              </a:spcAft>
              <a:buNone/>
            </a:pPr>
            <a:r>
              <a:rPr lang="en-US" sz="1450" b="1" dirty="0">
                <a:solidFill>
                  <a:srgbClr val="2E5E55"/>
                </a:solidFill>
                <a:latin typeface="Calibri" pitchFamily="34" charset="0"/>
                <a:ea typeface="Calibri" pitchFamily="34" charset="-122"/>
                <a:cs typeface="Calibri" pitchFamily="34" charset="-120"/>
              </a:rPr>
              <a:t>•  </a:t>
            </a:r>
            <a:r>
              <a:rPr lang="en-US" sz="1450" dirty="0">
                <a:solidFill>
                  <a:srgbClr val="1F2A28"/>
                </a:solidFill>
                <a:latin typeface="Calibri" pitchFamily="34" charset="0"/>
                <a:ea typeface="Calibri" pitchFamily="34" charset="-122"/>
                <a:cs typeface="Calibri" pitchFamily="34" charset="-120"/>
              </a:rPr>
              <a:t>Volets chiffrés dans la partie rentabilité (bloc 3)</a:t>
            </a:r>
            <a:endParaRPr lang="en-US" sz="1450" dirty="0"/>
          </a:p>
        </p:txBody>
      </p:sp>
      <p:sp>
        <p:nvSpPr>
          <p:cNvPr id="20" name="Shape 17"/>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21" name="Shape 18"/>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22" name="Text 19"/>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Priorité : l'</a:t>
            </a:r>
            <a:r>
              <a:rPr lang="en-US" sz="1500" b="1" dirty="0">
                <a:solidFill>
                  <a:srgbClr val="17332E"/>
                </a:solidFill>
                <a:latin typeface="Calibri" pitchFamily="34" charset="0"/>
                <a:ea typeface="Calibri" pitchFamily="34" charset="-122"/>
                <a:cs typeface="Calibri" pitchFamily="34" charset="-120"/>
              </a:rPr>
              <a:t>assortiment</a:t>
            </a:r>
            <a:r>
              <a:rPr lang="en-US" sz="1500" dirty="0">
                <a:solidFill>
                  <a:srgbClr val="17332E"/>
                </a:solidFill>
                <a:latin typeface="Calibri" pitchFamily="34" charset="0"/>
                <a:ea typeface="Calibri" pitchFamily="34" charset="-122"/>
                <a:cs typeface="Calibri" pitchFamily="34" charset="-120"/>
              </a:rPr>
              <a:t>, les </a:t>
            </a:r>
            <a:r>
              <a:rPr lang="en-US" sz="1500" b="1" dirty="0">
                <a:solidFill>
                  <a:srgbClr val="17332E"/>
                </a:solidFill>
                <a:latin typeface="Calibri" pitchFamily="34" charset="0"/>
                <a:ea typeface="Calibri" pitchFamily="34" charset="-122"/>
                <a:cs typeface="Calibri" pitchFamily="34" charset="-120"/>
              </a:rPr>
              <a:t>grands comptes en ligne</a:t>
            </a:r>
            <a:r>
              <a:rPr lang="en-US" sz="1500" dirty="0">
                <a:solidFill>
                  <a:srgbClr val="17332E"/>
                </a:solidFill>
                <a:latin typeface="Calibri" pitchFamily="34" charset="0"/>
                <a:ea typeface="Calibri" pitchFamily="34" charset="-122"/>
                <a:cs typeface="Calibri" pitchFamily="34" charset="-120"/>
              </a:rPr>
              <a:t> et les </a:t>
            </a:r>
            <a:r>
              <a:rPr lang="en-US" sz="1500" b="1" dirty="0">
                <a:solidFill>
                  <a:srgbClr val="17332E"/>
                </a:solidFill>
                <a:latin typeface="Calibri" pitchFamily="34" charset="0"/>
                <a:ea typeface="Calibri" pitchFamily="34" charset="-122"/>
                <a:cs typeface="Calibri" pitchFamily="34" charset="-120"/>
              </a:rPr>
              <a:t>frais généraux</a:t>
            </a:r>
            <a:r>
              <a:rPr lang="en-US" sz="1500" dirty="0">
                <a:solidFill>
                  <a:srgbClr val="17332E"/>
                </a:solidFill>
                <a:latin typeface="Calibri" pitchFamily="34" charset="0"/>
                <a:ea typeface="Calibri" pitchFamily="34" charset="-122"/>
                <a:cs typeface="Calibri" pitchFamily="34" charset="-120"/>
              </a:rPr>
              <a:t> pèsent bien plus que promotions, remises et retours.</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Yacine Lezoul</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3 · Q1 : FACTEURS DE PERFORMANCE ET RENTABILITÉ</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Sur trois exercices, on vend moins à marge égale, et les canaux divergent</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Yacine Lezoul</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25</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943600" cy="1463040"/>
        </p:xfrm>
        <a:graphic>
          <a:graphicData uri="http://schemas.openxmlformats.org/drawingml/2006/table">
            <a:tbl>
              <a:tblPr/>
              <a:tblGrid>
                <a:gridCol w="2020824">
                  <a:extLst>
                    <a:ext uri="{9D8B030D-6E8A-4147-A177-3AD203B41FA5}">
                      <a16:colId xmlns:a16="http://schemas.microsoft.com/office/drawing/2014/main" val="20000"/>
                    </a:ext>
                  </a:extLst>
                </a:gridCol>
                <a:gridCol w="950976">
                  <a:extLst>
                    <a:ext uri="{9D8B030D-6E8A-4147-A177-3AD203B41FA5}">
                      <a16:colId xmlns:a16="http://schemas.microsoft.com/office/drawing/2014/main" val="20001"/>
                    </a:ext>
                  </a:extLst>
                </a:gridCol>
                <a:gridCol w="950976">
                  <a:extLst>
                    <a:ext uri="{9D8B030D-6E8A-4147-A177-3AD203B41FA5}">
                      <a16:colId xmlns:a16="http://schemas.microsoft.com/office/drawing/2014/main" val="20002"/>
                    </a:ext>
                  </a:extLst>
                </a:gridCol>
                <a:gridCol w="950976">
                  <a:extLst>
                    <a:ext uri="{9D8B030D-6E8A-4147-A177-3AD203B41FA5}">
                      <a16:colId xmlns:a16="http://schemas.microsoft.com/office/drawing/2014/main" val="20003"/>
                    </a:ext>
                  </a:extLst>
                </a:gridCol>
                <a:gridCol w="1069848">
                  <a:extLst>
                    <a:ext uri="{9D8B030D-6E8A-4147-A177-3AD203B41FA5}">
                      <a16:colId xmlns:a16="http://schemas.microsoft.com/office/drawing/2014/main" val="20004"/>
                    </a:ext>
                  </a:extLst>
                </a:gridCol>
              </a:tblGrid>
              <a:tr h="36576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Ensemble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2019</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2020</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2021</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2019 → 2021</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36576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Chiffre d'affaires net</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945,4 M$</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759,1 M$</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688,2 M$</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F2A28"/>
                          </a:solidFill>
                          <a:latin typeface="Calibri" pitchFamily="34" charset="0"/>
                          <a:ea typeface="Calibri" pitchFamily="34" charset="-122"/>
                          <a:cs typeface="Calibri" pitchFamily="34" charset="-120"/>
                        </a:rPr>
                        <a:t>−27,2 %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Marge nette des retours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530,4 M$</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426,2 M$</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387,2 M$</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−27,0 %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36576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Taux de marge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56,1 %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56,1 %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56,3 %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stable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51" name="Table 1"/>
          <p:cNvGraphicFramePr>
            <a:graphicFrameLocks noGrp="1"/>
          </p:cNvGraphicFramePr>
          <p:nvPr>
            <p:extLst>
              <p:ext uri="{D42A27DB-BD31-4B8C-83A1-F6EECF244321}">
                <p14:modId xmlns:p14="http://schemas.microsoft.com/office/powerpoint/2010/main" val="1579011935"/>
              </p:ext>
            </p:extLst>
          </p:nvPr>
        </p:nvGraphicFramePr>
        <p:xfrm>
          <a:off x="548640" y="3108960"/>
          <a:ext cx="5943600" cy="1463040"/>
        </p:xfrm>
        <a:graphic>
          <a:graphicData uri="http://schemas.openxmlformats.org/drawingml/2006/table">
            <a:tbl>
              <a:tblPr/>
              <a:tblGrid>
                <a:gridCol w="237744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tblGrid>
              <a:tr h="36576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Décomposition</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2019 → 2020</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2020 → 2021</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36576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Nombre de lignes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F2A28"/>
                          </a:solidFill>
                          <a:latin typeface="Calibri" pitchFamily="34" charset="0"/>
                          <a:ea typeface="Calibri" pitchFamily="34" charset="-122"/>
                          <a:cs typeface="Calibri" pitchFamily="34" charset="-120"/>
                        </a:rPr>
                        <a:t>−38,7 %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−18,9 %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Unités par ligne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+38,3 %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+44,2 %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36576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Prix moyen par unité</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−5,2 %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F2A28"/>
                          </a:solidFill>
                          <a:latin typeface="Calibri" pitchFamily="34" charset="0"/>
                          <a:ea typeface="Calibri" pitchFamily="34" charset="-122"/>
                          <a:cs typeface="Calibri" pitchFamily="34" charset="-120"/>
                        </a:rPr>
                        <a:t>−22,5 %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2" name="Text 7"/>
          <p:cNvSpPr/>
          <p:nvPr/>
        </p:nvSpPr>
        <p:spPr>
          <a:xfrm>
            <a:off x="548640" y="4754880"/>
            <a:ext cx="5943600" cy="640080"/>
          </a:xfrm>
          <a:prstGeom prst="rect">
            <a:avLst/>
          </a:prstGeom>
          <a:noFill/>
          <a:ln/>
        </p:spPr>
        <p:txBody>
          <a:bodyPr wrap="square" lIns="0" tIns="0" rIns="0" bIns="0" rtlCol="0" anchor="t"/>
          <a:lstStyle/>
          <a:p>
            <a:pPr marL="0" indent="0" algn="l">
              <a:buNone/>
            </a:pPr>
            <a:r>
              <a:rPr lang="en-US" sz="1400" b="1" dirty="0">
                <a:solidFill>
                  <a:srgbClr val="1F2A28"/>
                </a:solidFill>
                <a:latin typeface="Calibri" pitchFamily="34" charset="0"/>
                <a:ea typeface="Calibri" pitchFamily="34" charset="-122"/>
                <a:cs typeface="Calibri" pitchFamily="34" charset="-120"/>
              </a:rPr>
              <a:t>2020, une année de volume</a:t>
            </a:r>
            <a:r>
              <a:rPr lang="en-US" sz="1400" dirty="0">
                <a:solidFill>
                  <a:srgbClr val="1F2A28"/>
                </a:solidFill>
                <a:latin typeface="Calibri" pitchFamily="34" charset="0"/>
                <a:ea typeface="Calibri" pitchFamily="34" charset="-122"/>
                <a:cs typeface="Calibri" pitchFamily="34" charset="-120"/>
              </a:rPr>
              <a:t> : moins de ventes. </a:t>
            </a:r>
            <a:r>
              <a:rPr lang="en-US" sz="1400" b="1" dirty="0">
                <a:solidFill>
                  <a:srgbClr val="1F2A28"/>
                </a:solidFill>
                <a:latin typeface="Calibri" pitchFamily="34" charset="0"/>
                <a:ea typeface="Calibri" pitchFamily="34" charset="-122"/>
                <a:cs typeface="Calibri" pitchFamily="34" charset="-120"/>
              </a:rPr>
              <a:t>2021, une année de prix</a:t>
            </a:r>
            <a:r>
              <a:rPr lang="en-US" sz="1400" dirty="0">
                <a:solidFill>
                  <a:srgbClr val="1F2A28"/>
                </a:solidFill>
                <a:latin typeface="Calibri" pitchFamily="34" charset="0"/>
                <a:ea typeface="Calibri" pitchFamily="34" charset="-122"/>
                <a:cs typeface="Calibri" pitchFamily="34" charset="-120"/>
              </a:rPr>
              <a:t> : des produits moins chers.</a:t>
            </a:r>
            <a:endParaRPr lang="en-US" sz="1400" dirty="0"/>
          </a:p>
        </p:txBody>
      </p:sp>
      <p:pic>
        <p:nvPicPr>
          <p:cNvPr id="13" name="Image 0" descr="/tmp/claude-0/complet/reports/figures/06_ca_par_canal.png"/>
          <p:cNvPicPr>
            <a:picLocks noChangeAspect="1"/>
          </p:cNvPicPr>
          <p:nvPr/>
        </p:nvPicPr>
        <p:blipFill>
          <a:blip r:embed="rId3"/>
          <a:stretch>
            <a:fillRect/>
          </a:stretch>
        </p:blipFill>
        <p:spPr>
          <a:xfrm>
            <a:off x="6766560" y="1426496"/>
            <a:ext cx="4846320" cy="1947608"/>
          </a:xfrm>
          <a:prstGeom prst="rect">
            <a:avLst/>
          </a:prstGeom>
        </p:spPr>
      </p:pic>
      <p:graphicFrame>
        <p:nvGraphicFramePr>
          <p:cNvPr id="76" name="Table 2"/>
          <p:cNvGraphicFramePr>
            <a:graphicFrameLocks noGrp="1"/>
          </p:cNvGraphicFramePr>
          <p:nvPr>
            <p:extLst>
              <p:ext uri="{D42A27DB-BD31-4B8C-83A1-F6EECF244321}">
                <p14:modId xmlns:p14="http://schemas.microsoft.com/office/powerpoint/2010/main" val="1579011935"/>
              </p:ext>
            </p:extLst>
          </p:nvPr>
        </p:nvGraphicFramePr>
        <p:xfrm>
          <a:off x="6766560" y="3520440"/>
          <a:ext cx="4846321" cy="1463040"/>
        </p:xfrm>
        <a:graphic>
          <a:graphicData uri="http://schemas.openxmlformats.org/drawingml/2006/table">
            <a:tbl>
              <a:tblPr/>
              <a:tblGrid>
                <a:gridCol w="1163117">
                  <a:extLst>
                    <a:ext uri="{9D8B030D-6E8A-4147-A177-3AD203B41FA5}">
                      <a16:colId xmlns:a16="http://schemas.microsoft.com/office/drawing/2014/main" val="20000"/>
                    </a:ext>
                  </a:extLst>
                </a:gridCol>
                <a:gridCol w="920801">
                  <a:extLst>
                    <a:ext uri="{9D8B030D-6E8A-4147-A177-3AD203B41FA5}">
                      <a16:colId xmlns:a16="http://schemas.microsoft.com/office/drawing/2014/main" val="20001"/>
                    </a:ext>
                  </a:extLst>
                </a:gridCol>
                <a:gridCol w="920801">
                  <a:extLst>
                    <a:ext uri="{9D8B030D-6E8A-4147-A177-3AD203B41FA5}">
                      <a16:colId xmlns:a16="http://schemas.microsoft.com/office/drawing/2014/main" val="20002"/>
                    </a:ext>
                  </a:extLst>
                </a:gridCol>
                <a:gridCol w="920801">
                  <a:extLst>
                    <a:ext uri="{9D8B030D-6E8A-4147-A177-3AD203B41FA5}">
                      <a16:colId xmlns:a16="http://schemas.microsoft.com/office/drawing/2014/main" val="20003"/>
                    </a:ext>
                  </a:extLst>
                </a:gridCol>
                <a:gridCol w="920801">
                  <a:extLst>
                    <a:ext uri="{9D8B030D-6E8A-4147-A177-3AD203B41FA5}">
                      <a16:colId xmlns:a16="http://schemas.microsoft.com/office/drawing/2014/main" val="20004"/>
                    </a:ext>
                  </a:extLst>
                </a:gridCol>
              </a:tblGrid>
              <a:tr h="36576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Canal</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2019</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2021</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Évolution</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Lignes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365760">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Magasins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511,5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263,2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F2A28"/>
                          </a:solidFill>
                          <a:latin typeface="Calibri" pitchFamily="34" charset="0"/>
                          <a:ea typeface="Calibri" pitchFamily="34" charset="-122"/>
                          <a:cs typeface="Calibri" pitchFamily="34" charset="-120"/>
                        </a:rPr>
                        <a:t>−48,6 %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F2A28"/>
                          </a:solidFill>
                          <a:latin typeface="Calibri" pitchFamily="34" charset="0"/>
                          <a:ea typeface="Calibri" pitchFamily="34" charset="-122"/>
                          <a:cs typeface="Calibri" pitchFamily="34" charset="-120"/>
                        </a:rPr>
                        <a:t>−65,5 %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En ligne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251,9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268,8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+6,7 %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−21,3 %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365760">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Revendeur</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181,9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156,2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−14,1 %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−30,8 %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5" name="Shape 8"/>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6" name="Shape 9"/>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17" name="Text 10"/>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En 2021, </a:t>
            </a:r>
            <a:r>
              <a:rPr lang="en-US" sz="1500" b="1" dirty="0">
                <a:solidFill>
                  <a:srgbClr val="17332E"/>
                </a:solidFill>
                <a:latin typeface="Calibri" pitchFamily="34" charset="0"/>
                <a:ea typeface="Calibri" pitchFamily="34" charset="-122"/>
                <a:cs typeface="Calibri" pitchFamily="34" charset="-120"/>
              </a:rPr>
              <a:t>la boutique en ligne vend plus que les 54 magasins réunis</a:t>
            </a:r>
            <a:r>
              <a:rPr lang="en-US" sz="1500" dirty="0">
                <a:solidFill>
                  <a:srgbClr val="17332E"/>
                </a:solidFill>
                <a:latin typeface="Calibri" pitchFamily="34" charset="0"/>
                <a:ea typeface="Calibri" pitchFamily="34" charset="-122"/>
                <a:cs typeface="Calibri" pitchFamily="34" charset="-120"/>
              </a:rPr>
              <a:t>. Les magasins perdent des occasions de vente, pas du panier.</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Yacine Lezoul</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3 · Q1 : FACTEURS DE PERFORMANCE ET RENTABILITÉ</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Ni le calendrier ni la boutique ne font la différence</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Yacine Lezoul</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26</a:t>
            </a:r>
            <a:endParaRPr lang="en-US" sz="1000" dirty="0"/>
          </a:p>
        </p:txBody>
      </p:sp>
      <p:pic>
        <p:nvPicPr>
          <p:cNvPr id="10" name="Image 0" descr="/tmp/claude-0/complet/reports/figures/06_ca_mensuel.png"/>
          <p:cNvPicPr>
            <a:picLocks noChangeAspect="1"/>
          </p:cNvPicPr>
          <p:nvPr/>
        </p:nvPicPr>
        <p:blipFill>
          <a:blip r:embed="rId3"/>
          <a:stretch>
            <a:fillRect/>
          </a:stretch>
        </p:blipFill>
        <p:spPr>
          <a:xfrm>
            <a:off x="1144714" y="1417320"/>
            <a:ext cx="4842892" cy="2286000"/>
          </a:xfrm>
          <a:prstGeom prst="rect">
            <a:avLst/>
          </a:prstGeom>
        </p:spPr>
      </p:pic>
      <p:sp>
        <p:nvSpPr>
          <p:cNvPr id="11" name="Text 7"/>
          <p:cNvSpPr/>
          <p:nvPr/>
        </p:nvSpPr>
        <p:spPr>
          <a:xfrm>
            <a:off x="548640" y="3840480"/>
            <a:ext cx="6035040" cy="1737360"/>
          </a:xfrm>
          <a:prstGeom prst="rect">
            <a:avLst/>
          </a:prstGeom>
          <a:noFill/>
          <a:ln/>
        </p:spPr>
        <p:txBody>
          <a:bodyPr wrap="square" lIns="0" tIns="0" rIns="0" bIns="0" rtlCol="0" anchor="t"/>
          <a:lstStyle/>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b="1" dirty="0">
                <a:solidFill>
                  <a:srgbClr val="1F2A28"/>
                </a:solidFill>
                <a:latin typeface="Calibri" pitchFamily="34" charset="0"/>
                <a:ea typeface="Calibri" pitchFamily="34" charset="-122"/>
                <a:cs typeface="Calibri" pitchFamily="34" charset="-120"/>
              </a:rPr>
              <a:t>Janvier, le mois le plus faible</a:t>
            </a:r>
            <a:r>
              <a:rPr lang="en-US" sz="1400" dirty="0">
                <a:solidFill>
                  <a:srgbClr val="1F2A28"/>
                </a:solidFill>
                <a:latin typeface="Calibri" pitchFamily="34" charset="0"/>
                <a:ea typeface="Calibri" pitchFamily="34" charset="-122"/>
                <a:cs typeface="Calibri" pitchFamily="34" charset="-120"/>
              </a:rPr>
              <a:t> (indice 69 à 75), </a:t>
            </a:r>
            <a:r>
              <a:rPr lang="en-US" sz="1400" b="1" dirty="0">
                <a:solidFill>
                  <a:srgbClr val="1F2A28"/>
                </a:solidFill>
                <a:latin typeface="Calibri" pitchFamily="34" charset="0"/>
                <a:ea typeface="Calibri" pitchFamily="34" charset="-122"/>
                <a:cs typeface="Calibri" pitchFamily="34" charset="-120"/>
              </a:rPr>
              <a:t>aucun pic de fin d'année</a:t>
            </a:r>
            <a:endParaRPr lang="en-US" sz="1400" dirty="0"/>
          </a:p>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dirty="0">
                <a:solidFill>
                  <a:srgbClr val="1F2A28"/>
                </a:solidFill>
                <a:latin typeface="Calibri" pitchFamily="34" charset="0"/>
                <a:ea typeface="Calibri" pitchFamily="34" charset="-122"/>
                <a:cs typeface="Calibri" pitchFamily="34" charset="-120"/>
              </a:rPr>
              <a:t>Profils mensuels proches d'une année à l'autre (5,5 à 7,4 points)</a:t>
            </a:r>
            <a:endParaRPr lang="en-US" sz="1400" dirty="0"/>
          </a:p>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dirty="0">
                <a:solidFill>
                  <a:srgbClr val="1F2A28"/>
                </a:solidFill>
                <a:latin typeface="Calibri" pitchFamily="34" charset="0"/>
                <a:ea typeface="Calibri" pitchFamily="34" charset="-122"/>
                <a:cs typeface="Calibri" pitchFamily="34" charset="-120"/>
              </a:rPr>
              <a:t>Jour de la semaine : 14,20 % à 14,36 % du CA chacun</a:t>
            </a:r>
            <a:endParaRPr lang="en-US" sz="1400" dirty="0"/>
          </a:p>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dirty="0">
                <a:solidFill>
                  <a:srgbClr val="1F2A28"/>
                </a:solidFill>
                <a:latin typeface="Calibri" pitchFamily="34" charset="0"/>
                <a:ea typeface="Calibri" pitchFamily="34" charset="-122"/>
                <a:cs typeface="Calibri" pitchFamily="34" charset="-120"/>
              </a:rPr>
              <a:t>Jours fériés : corrélation de −0,011</a:t>
            </a:r>
            <a:endParaRPr lang="en-US" sz="1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858000" y="1463040"/>
          <a:ext cx="4754881" cy="1591056"/>
        </p:xfrm>
        <a:graphic>
          <a:graphicData uri="http://schemas.openxmlformats.org/drawingml/2006/table">
            <a:tbl>
              <a:tblPr/>
              <a:tblGrid>
                <a:gridCol w="1759306">
                  <a:extLst>
                    <a:ext uri="{9D8B030D-6E8A-4147-A177-3AD203B41FA5}">
                      <a16:colId xmlns:a16="http://schemas.microsoft.com/office/drawing/2014/main" val="20000"/>
                    </a:ext>
                  </a:extLst>
                </a:gridCol>
                <a:gridCol w="998525">
                  <a:extLst>
                    <a:ext uri="{9D8B030D-6E8A-4147-A177-3AD203B41FA5}">
                      <a16:colId xmlns:a16="http://schemas.microsoft.com/office/drawing/2014/main" val="20001"/>
                    </a:ext>
                  </a:extLst>
                </a:gridCol>
                <a:gridCol w="998525">
                  <a:extLst>
                    <a:ext uri="{9D8B030D-6E8A-4147-A177-3AD203B41FA5}">
                      <a16:colId xmlns:a16="http://schemas.microsoft.com/office/drawing/2014/main" val="20002"/>
                    </a:ext>
                  </a:extLst>
                </a:gridCol>
                <a:gridCol w="998525">
                  <a:extLst>
                    <a:ext uri="{9D8B030D-6E8A-4147-A177-3AD203B41FA5}">
                      <a16:colId xmlns:a16="http://schemas.microsoft.com/office/drawing/2014/main" val="20003"/>
                    </a:ext>
                  </a:extLst>
                </a:gridCol>
              </a:tblGrid>
              <a:tr h="38404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Magasins ouverts toute l'année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2019</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2020</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2021</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384048">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Nombre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48</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51</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53</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Chiffre d'affaires médian</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10,47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5,72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4,84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384048">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Moitié centrale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10,34 à 10,57</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5,64 à 5,84</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4,74 à 4,93</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3" name="Text 8"/>
          <p:cNvSpPr/>
          <p:nvPr/>
        </p:nvSpPr>
        <p:spPr>
          <a:xfrm>
            <a:off x="6858000" y="3246120"/>
            <a:ext cx="4754880" cy="2286000"/>
          </a:xfrm>
          <a:prstGeom prst="rect">
            <a:avLst/>
          </a:prstGeom>
          <a:noFill/>
          <a:ln/>
        </p:spPr>
        <p:txBody>
          <a:bodyPr wrap="square" lIns="0" tIns="0" rIns="0" bIns="0" rtlCol="0" anchor="t"/>
          <a:lstStyle/>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b="1" dirty="0">
                <a:solidFill>
                  <a:srgbClr val="1F2A28"/>
                </a:solidFill>
                <a:latin typeface="Calibri" pitchFamily="34" charset="0"/>
                <a:ea typeface="Calibri" pitchFamily="34" charset="-122"/>
                <a:cs typeface="Calibri" pitchFamily="34" charset="-120"/>
              </a:rPr>
              <a:t>Moscow No.2</a:t>
            </a:r>
            <a:r>
              <a:rPr lang="en-US" sz="1400" dirty="0">
                <a:solidFill>
                  <a:srgbClr val="1F2A28"/>
                </a:solidFill>
                <a:latin typeface="Calibri" pitchFamily="34" charset="0"/>
                <a:ea typeface="Calibri" pitchFamily="34" charset="-122"/>
                <a:cs typeface="Calibri" pitchFamily="34" charset="-120"/>
              </a:rPr>
              <a:t> : seul magasin en progrès (+23,6 %)</a:t>
            </a:r>
            <a:endParaRPr lang="en-US" sz="1400" dirty="0"/>
          </a:p>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b="1" dirty="0">
                <a:solidFill>
                  <a:srgbClr val="1F2A28"/>
                </a:solidFill>
                <a:latin typeface="Calibri" pitchFamily="34" charset="0"/>
                <a:ea typeface="Calibri" pitchFamily="34" charset="-122"/>
                <a:cs typeface="Calibri" pitchFamily="34" charset="-120"/>
              </a:rPr>
              <a:t>Cambridge</a:t>
            </a:r>
            <a:r>
              <a:rPr lang="en-US" sz="1400" dirty="0">
                <a:solidFill>
                  <a:srgbClr val="1F2A28"/>
                </a:solidFill>
                <a:latin typeface="Calibri" pitchFamily="34" charset="0"/>
                <a:ea typeface="Calibri" pitchFamily="34" charset="-122"/>
                <a:cs typeface="Calibri" pitchFamily="34" charset="-120"/>
              </a:rPr>
              <a:t> : recule moins que les autres (−39,8 %)</a:t>
            </a:r>
            <a:endParaRPr lang="en-US" sz="1400" dirty="0"/>
          </a:p>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dirty="0">
                <a:solidFill>
                  <a:srgbClr val="1F2A28"/>
                </a:solidFill>
                <a:latin typeface="Calibri" pitchFamily="34" charset="0"/>
                <a:ea typeface="Calibri" pitchFamily="34" charset="-122"/>
                <a:cs typeface="Calibri" pitchFamily="34" charset="-120"/>
              </a:rPr>
              <a:t>Par pays : 4,6 à 5,1 M$ par magasin, sauf la Russie</a:t>
            </a:r>
            <a:endParaRPr lang="en-US" sz="1400" dirty="0"/>
          </a:p>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dirty="0">
                <a:solidFill>
                  <a:srgbClr val="1F2A28"/>
                </a:solidFill>
                <a:latin typeface="Calibri" pitchFamily="34" charset="0"/>
                <a:ea typeface="Calibri" pitchFamily="34" charset="-122"/>
                <a:cs typeface="Calibri" pitchFamily="34" charset="-120"/>
              </a:rPr>
              <a:t>Surface et effectif : aucun lien avec les ventes (−0,14 et +0,01)</a:t>
            </a:r>
            <a:endParaRPr lang="en-US" sz="1400" dirty="0"/>
          </a:p>
        </p:txBody>
      </p:sp>
      <p:sp>
        <p:nvSpPr>
          <p:cNvPr id="14" name="Shape 9"/>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5" name="Shape 10"/>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16" name="Text 11"/>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La baisse est un </a:t>
            </a:r>
            <a:r>
              <a:rPr lang="en-US" sz="1500" b="1" dirty="0">
                <a:solidFill>
                  <a:srgbClr val="17332E"/>
                </a:solidFill>
                <a:latin typeface="Calibri" pitchFamily="34" charset="0"/>
                <a:ea typeface="Calibri" pitchFamily="34" charset="-122"/>
                <a:cs typeface="Calibri" pitchFamily="34" charset="-120"/>
              </a:rPr>
              <a:t>changement de niveau</a:t>
            </a:r>
            <a:r>
              <a:rPr lang="en-US" sz="1500" dirty="0">
                <a:solidFill>
                  <a:srgbClr val="17332E"/>
                </a:solidFill>
                <a:latin typeface="Calibri" pitchFamily="34" charset="0"/>
                <a:ea typeface="Calibri" pitchFamily="34" charset="-122"/>
                <a:cs typeface="Calibri" pitchFamily="34" charset="-120"/>
              </a:rPr>
              <a:t>, pas de saison. La moitié des magasins se tient à moins de 2 % de la médiane.</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Yacine Lezoul</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3 · Q1 : FACTEURS DE PERFORMANCE ET RENTABILITÉ</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Les produits : la gamme fixe la marge, et la clientèle descend en gamme</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Yacine Lezoul</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27</a:t>
            </a:r>
            <a:endParaRPr lang="en-US" sz="1000" dirty="0"/>
          </a:p>
        </p:txBody>
      </p:sp>
      <p:pic>
        <p:nvPicPr>
          <p:cNvPr id="10" name="Image 0" descr="/tmp/claude-0/complet/reports/figures/06_categories.png"/>
          <p:cNvPicPr>
            <a:picLocks noChangeAspect="1"/>
          </p:cNvPicPr>
          <p:nvPr/>
        </p:nvPicPr>
        <p:blipFill>
          <a:blip r:embed="rId3"/>
          <a:stretch>
            <a:fillRect/>
          </a:stretch>
        </p:blipFill>
        <p:spPr>
          <a:xfrm>
            <a:off x="548640" y="1584366"/>
            <a:ext cx="6400800" cy="2409107"/>
          </a:xfrm>
          <a:prstGeom prst="rect">
            <a:avLst/>
          </a:prstGeom>
        </p:spPr>
      </p:pic>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4206240"/>
          <a:ext cx="6400800" cy="1316736"/>
        </p:xfrm>
        <a:graphic>
          <a:graphicData uri="http://schemas.openxmlformats.org/drawingml/2006/table">
            <a:tbl>
              <a:tblPr/>
              <a:tblGrid>
                <a:gridCol w="1408176">
                  <a:extLst>
                    <a:ext uri="{9D8B030D-6E8A-4147-A177-3AD203B41FA5}">
                      <a16:colId xmlns:a16="http://schemas.microsoft.com/office/drawing/2014/main" val="20000"/>
                    </a:ext>
                  </a:extLst>
                </a:gridCol>
                <a:gridCol w="1216152">
                  <a:extLst>
                    <a:ext uri="{9D8B030D-6E8A-4147-A177-3AD203B41FA5}">
                      <a16:colId xmlns:a16="http://schemas.microsoft.com/office/drawing/2014/main" val="20001"/>
                    </a:ext>
                  </a:extLst>
                </a:gridCol>
                <a:gridCol w="1216152">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329184">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Gamme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Taux de marge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Prix moyen</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Part du CA 2019</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Part du CA 2021</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329184">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Économique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48,9 %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70 $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10,6 %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F2A28"/>
                          </a:solidFill>
                          <a:latin typeface="Calibri" pitchFamily="34" charset="0"/>
                          <a:ea typeface="Calibri" pitchFamily="34" charset="-122"/>
                          <a:cs typeface="Calibri" pitchFamily="34" charset="-120"/>
                        </a:rPr>
                        <a:t>21,6 %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Standard</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54,0 %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344 $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64,0 %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b="1" dirty="0">
                          <a:solidFill>
                            <a:srgbClr val="1F2A28"/>
                          </a:solidFill>
                          <a:latin typeface="Calibri" pitchFamily="34" charset="0"/>
                          <a:ea typeface="Calibri" pitchFamily="34" charset="-122"/>
                          <a:cs typeface="Calibri" pitchFamily="34" charset="-120"/>
                        </a:rPr>
                        <a:t>52,0 %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329184">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Luxe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65,5 %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596 $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25,4 %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26,4 %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2" name="Text 7"/>
          <p:cNvSpPr/>
          <p:nvPr/>
        </p:nvSpPr>
        <p:spPr>
          <a:xfrm>
            <a:off x="7223760" y="1508760"/>
            <a:ext cx="4389120" cy="4023360"/>
          </a:xfrm>
          <a:prstGeom prst="rect">
            <a:avLst/>
          </a:prstGeom>
          <a:noFill/>
          <a:ln/>
        </p:spPr>
        <p:txBody>
          <a:bodyPr wrap="square" lIns="0" tIns="0" rIns="0" bIns="0" rtlCol="0" anchor="t"/>
          <a:lstStyle/>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b="1" dirty="0">
                <a:solidFill>
                  <a:srgbClr val="1F2A28"/>
                </a:solidFill>
                <a:latin typeface="Calibri" pitchFamily="34" charset="0"/>
                <a:ea typeface="Calibri" pitchFamily="34" charset="-122"/>
                <a:cs typeface="Calibri" pitchFamily="34" charset="-120"/>
              </a:rPr>
              <a:t>3 catégories = 78,4 %</a:t>
            </a:r>
            <a:r>
              <a:rPr lang="en-US" sz="1400" dirty="0">
                <a:solidFill>
                  <a:srgbClr val="1F2A28"/>
                </a:solidFill>
                <a:latin typeface="Calibri" pitchFamily="34" charset="0"/>
                <a:ea typeface="Calibri" pitchFamily="34" charset="-122"/>
                <a:cs typeface="Calibri" pitchFamily="34" charset="-120"/>
              </a:rPr>
              <a:t> des ventes</a:t>
            </a:r>
            <a:endParaRPr lang="en-US" sz="1400" dirty="0"/>
          </a:p>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b="1" dirty="0">
                <a:solidFill>
                  <a:srgbClr val="1F2A28"/>
                </a:solidFill>
                <a:latin typeface="Calibri" pitchFamily="34" charset="0"/>
                <a:ea typeface="Calibri" pitchFamily="34" charset="-122"/>
                <a:cs typeface="Calibri" pitchFamily="34" charset="-120"/>
              </a:rPr>
              <a:t>Appareils photo : −50,9 %</a:t>
            </a:r>
            <a:r>
              <a:rPr lang="en-US" sz="1400" dirty="0">
                <a:solidFill>
                  <a:srgbClr val="1F2A28"/>
                </a:solidFill>
                <a:latin typeface="Calibri" pitchFamily="34" charset="0"/>
                <a:ea typeface="Calibri" pitchFamily="34" charset="-122"/>
                <a:cs typeface="Calibri" pitchFamily="34" charset="-120"/>
              </a:rPr>
              <a:t>, 45 % de la baisse, au taux de marge le plus élevé (59,8 %)</a:t>
            </a:r>
            <a:endParaRPr lang="en-US" sz="1400" dirty="0"/>
          </a:p>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b="1" dirty="0">
                <a:solidFill>
                  <a:srgbClr val="1F2A28"/>
                </a:solidFill>
                <a:latin typeface="Calibri" pitchFamily="34" charset="0"/>
                <a:ea typeface="Calibri" pitchFamily="34" charset="-122"/>
                <a:cs typeface="Calibri" pitchFamily="34" charset="-120"/>
              </a:rPr>
              <a:t>Ordinateurs : +15,5 %</a:t>
            </a:r>
            <a:r>
              <a:rPr lang="en-US" sz="1400" dirty="0">
                <a:solidFill>
                  <a:srgbClr val="1F2A28"/>
                </a:solidFill>
                <a:latin typeface="Calibri" pitchFamily="34" charset="0"/>
                <a:ea typeface="Calibri" pitchFamily="34" charset="-122"/>
                <a:cs typeface="Calibri" pitchFamily="34" charset="-120"/>
              </a:rPr>
              <a:t> en 2021, première catégorie</a:t>
            </a:r>
            <a:endParaRPr lang="en-US" sz="1400" dirty="0"/>
          </a:p>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dirty="0">
                <a:solidFill>
                  <a:srgbClr val="1F2A28"/>
                </a:solidFill>
                <a:latin typeface="Calibri" pitchFamily="34" charset="0"/>
                <a:ea typeface="Calibri" pitchFamily="34" charset="-122"/>
                <a:cs typeface="Calibri" pitchFamily="34" charset="-120"/>
              </a:rPr>
              <a:t>Taux de marge de chaque catégorie : moins de 3 points de variation</a:t>
            </a:r>
            <a:endParaRPr lang="en-US" sz="1400" dirty="0"/>
          </a:p>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b="1" dirty="0">
                <a:solidFill>
                  <a:srgbClr val="1F2A28"/>
                </a:solidFill>
                <a:latin typeface="Calibri" pitchFamily="34" charset="0"/>
                <a:ea typeface="Calibri" pitchFamily="34" charset="-122"/>
                <a:cs typeface="Calibri" pitchFamily="34" charset="-120"/>
              </a:rPr>
              <a:t>Pas de vedette</a:t>
            </a:r>
            <a:r>
              <a:rPr lang="en-US" sz="1400" dirty="0">
                <a:solidFill>
                  <a:srgbClr val="1F2A28"/>
                </a:solidFill>
                <a:latin typeface="Calibri" pitchFamily="34" charset="0"/>
                <a:ea typeface="Calibri" pitchFamily="34" charset="-122"/>
                <a:cs typeface="Calibri" pitchFamily="34" charset="-120"/>
              </a:rPr>
              <a:t> : 44 % des produits font 80 % des ventes</a:t>
            </a:r>
            <a:endParaRPr lang="en-US" sz="1400" dirty="0"/>
          </a:p>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dirty="0">
                <a:solidFill>
                  <a:srgbClr val="1F2A28"/>
                </a:solidFill>
                <a:latin typeface="Calibri" pitchFamily="34" charset="0"/>
                <a:ea typeface="Calibri" pitchFamily="34" charset="-122"/>
                <a:cs typeface="Calibri" pitchFamily="34" charset="-120"/>
              </a:rPr>
              <a:t>Marques : 53,0 % à 58,7 % de marge</a:t>
            </a:r>
            <a:endParaRPr lang="en-US" sz="1400" dirty="0"/>
          </a:p>
        </p:txBody>
      </p:sp>
      <p:sp>
        <p:nvSpPr>
          <p:cNvPr id="13" name="Shape 8"/>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4" name="Shape 9"/>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15" name="Text 10"/>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Glissement du </a:t>
            </a:r>
            <a:r>
              <a:rPr lang="en-US" sz="1500" b="1" dirty="0">
                <a:solidFill>
                  <a:srgbClr val="17332E"/>
                </a:solidFill>
                <a:latin typeface="Calibri" pitchFamily="34" charset="0"/>
                <a:ea typeface="Calibri" pitchFamily="34" charset="-122"/>
                <a:cs typeface="Calibri" pitchFamily="34" charset="-120"/>
              </a:rPr>
              <a:t>standard vers l'économique</a:t>
            </a:r>
            <a:r>
              <a:rPr lang="en-US" sz="1500" dirty="0">
                <a:solidFill>
                  <a:srgbClr val="17332E"/>
                </a:solidFill>
                <a:latin typeface="Calibri" pitchFamily="34" charset="0"/>
                <a:ea typeface="Calibri" pitchFamily="34" charset="-122"/>
                <a:cs typeface="Calibri" pitchFamily="34" charset="-120"/>
              </a:rPr>
              <a:t> : il faut cinq produits économiques pour le chiffre d'affaires d'un standard.</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Yacine Lezoul</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3 · Q1 : FACTEURS DE PERFORMANCE ET RENTABILITÉ</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Le produit fait le montant d'une vente, le nombre de ventes fait le magasin</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Yacine Lezoul</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28</a:t>
            </a:r>
            <a:endParaRPr lang="en-US" sz="1000" dirty="0"/>
          </a:p>
        </p:txBody>
      </p:sp>
      <p:pic>
        <p:nvPicPr>
          <p:cNvPr id="10" name="Image 0" descr="/tmp/claude-0/complet/reports/figures/06_poids_facteurs.png"/>
          <p:cNvPicPr>
            <a:picLocks noChangeAspect="1"/>
          </p:cNvPicPr>
          <p:nvPr/>
        </p:nvPicPr>
        <p:blipFill>
          <a:blip r:embed="rId3"/>
          <a:stretch>
            <a:fillRect/>
          </a:stretch>
        </p:blipFill>
        <p:spPr>
          <a:xfrm>
            <a:off x="548640" y="2003527"/>
            <a:ext cx="6766560" cy="2942386"/>
          </a:xfrm>
          <a:prstGeom prst="rect">
            <a:avLst/>
          </a:prstGeom>
        </p:spPr>
      </p:pic>
      <p:sp>
        <p:nvSpPr>
          <p:cNvPr id="11" name="Text 7"/>
          <p:cNvSpPr/>
          <p:nvPr/>
        </p:nvSpPr>
        <p:spPr>
          <a:xfrm>
            <a:off x="7589520" y="1463040"/>
            <a:ext cx="4023360" cy="731520"/>
          </a:xfrm>
          <a:prstGeom prst="rect">
            <a:avLst/>
          </a:prstGeom>
          <a:noFill/>
          <a:ln/>
        </p:spPr>
        <p:txBody>
          <a:bodyPr wrap="square" lIns="0" tIns="0" rIns="0" bIns="0" rtlCol="0" anchor="t"/>
          <a:lstStyle/>
          <a:p>
            <a:pPr marL="0" indent="0" algn="l">
              <a:buNone/>
            </a:pPr>
            <a:r>
              <a:rPr lang="en-US" sz="1400" b="1" dirty="0">
                <a:solidFill>
                  <a:srgbClr val="1F2A28"/>
                </a:solidFill>
                <a:latin typeface="Calibri" pitchFamily="34" charset="0"/>
                <a:ea typeface="Calibri" pitchFamily="34" charset="-122"/>
                <a:cs typeface="Calibri" pitchFamily="34" charset="-120"/>
              </a:rPr>
              <a:t>Niveau de la ligne</a:t>
            </a:r>
            <a:r>
              <a:rPr lang="en-US" sz="1400" dirty="0">
                <a:solidFill>
                  <a:srgbClr val="1F2A28"/>
                </a:solidFill>
                <a:latin typeface="Calibri" pitchFamily="34" charset="0"/>
                <a:ea typeface="Calibri" pitchFamily="34" charset="-122"/>
                <a:cs typeface="Calibri" pitchFamily="34" charset="-120"/>
              </a:rPr>
              <a:t> : produit 86,1 %, prix unitaire 77,6 %, boutique et pays moins de 1 %</a:t>
            </a:r>
            <a:endParaRPr lang="en-US" sz="1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589520" y="2331720"/>
          <a:ext cx="4023360" cy="1828800"/>
        </p:xfrm>
        <a:graphic>
          <a:graphicData uri="http://schemas.openxmlformats.org/drawingml/2006/table">
            <a:tbl>
              <a:tblPr/>
              <a:tblGrid>
                <a:gridCol w="1609344">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408176">
                  <a:extLst>
                    <a:ext uri="{9D8B030D-6E8A-4147-A177-3AD203B41FA5}">
                      <a16:colId xmlns:a16="http://schemas.microsoft.com/office/drawing/2014/main" val="20002"/>
                    </a:ext>
                  </a:extLst>
                </a:gridCol>
              </a:tblGrid>
              <a:tr h="36576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Magasin et mois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Tous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Sans Moscow No.2</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36576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Année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F2A28"/>
                          </a:solidFill>
                          <a:latin typeface="Calibri" pitchFamily="34" charset="0"/>
                          <a:ea typeface="Calibri" pitchFamily="34" charset="-122"/>
                          <a:cs typeface="Calibri" pitchFamily="34" charset="-120"/>
                        </a:rPr>
                        <a:t>69,7 %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F2A28"/>
                          </a:solidFill>
                          <a:latin typeface="Calibri" pitchFamily="34" charset="0"/>
                          <a:ea typeface="Calibri" pitchFamily="34" charset="-122"/>
                          <a:cs typeface="Calibri" pitchFamily="34" charset="-120"/>
                        </a:rPr>
                        <a:t>79,0 %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Boutique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10,9 %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4,3 %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36576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Mois de l'année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9,2 %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10,5 %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Pays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2,0 %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0,2 %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4"/>
                  </a:ext>
                </a:extLst>
              </a:tr>
            </a:tbl>
          </a:graphicData>
        </a:graphic>
      </p:graphicFrame>
      <p:sp>
        <p:nvSpPr>
          <p:cNvPr id="13" name="Text 8"/>
          <p:cNvSpPr/>
          <p:nvPr/>
        </p:nvSpPr>
        <p:spPr>
          <a:xfrm>
            <a:off x="7589520" y="4343400"/>
            <a:ext cx="4023360" cy="1097280"/>
          </a:xfrm>
          <a:prstGeom prst="rect">
            <a:avLst/>
          </a:prstGeom>
          <a:noFill/>
          <a:ln/>
        </p:spPr>
        <p:txBody>
          <a:bodyPr wrap="square" lIns="0" tIns="0" rIns="0" bIns="0" rtlCol="0" anchor="t"/>
          <a:lstStyle/>
          <a:p>
            <a:pPr marL="0" indent="0" algn="l">
              <a:buNone/>
            </a:pPr>
            <a:r>
              <a:rPr lang="en-US" sz="1400" b="1" dirty="0">
                <a:solidFill>
                  <a:srgbClr val="1F2A28"/>
                </a:solidFill>
                <a:latin typeface="Calibri" pitchFamily="34" charset="0"/>
                <a:ea typeface="Calibri" pitchFamily="34" charset="-122"/>
                <a:cs typeface="Calibri" pitchFamily="34" charset="-120"/>
              </a:rPr>
              <a:t>Nombre de lignes : 76,2 %</a:t>
            </a:r>
            <a:r>
              <a:rPr lang="en-US" sz="1400" dirty="0">
                <a:solidFill>
                  <a:srgbClr val="1F2A28"/>
                </a:solidFill>
                <a:latin typeface="Calibri" pitchFamily="34" charset="0"/>
                <a:ea typeface="Calibri" pitchFamily="34" charset="-122"/>
                <a:cs typeface="Calibri" pitchFamily="34" charset="-120"/>
              </a:rPr>
              <a:t> du chiffre d'affaires d'un magasin un mois donné, contre 5,5 % pour le montant par ligne.</a:t>
            </a:r>
            <a:endParaRPr lang="en-US" sz="1400" dirty="0"/>
          </a:p>
        </p:txBody>
      </p:sp>
      <p:sp>
        <p:nvSpPr>
          <p:cNvPr id="14" name="Shape 9"/>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5" name="Shape 10"/>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16" name="Text 11"/>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Deux étages : le </a:t>
            </a:r>
            <a:r>
              <a:rPr lang="en-US" sz="1500" b="1" dirty="0">
                <a:solidFill>
                  <a:srgbClr val="17332E"/>
                </a:solidFill>
                <a:latin typeface="Calibri" pitchFamily="34" charset="0"/>
                <a:ea typeface="Calibri" pitchFamily="34" charset="-122"/>
                <a:cs typeface="Calibri" pitchFamily="34" charset="-120"/>
              </a:rPr>
              <a:t>produit</a:t>
            </a:r>
            <a:r>
              <a:rPr lang="en-US" sz="1500" dirty="0">
                <a:solidFill>
                  <a:srgbClr val="17332E"/>
                </a:solidFill>
                <a:latin typeface="Calibri" pitchFamily="34" charset="0"/>
                <a:ea typeface="Calibri" pitchFamily="34" charset="-122"/>
                <a:cs typeface="Calibri" pitchFamily="34" charset="-120"/>
              </a:rPr>
              <a:t> fixe ce que rapporte une vente, le </a:t>
            </a:r>
            <a:r>
              <a:rPr lang="en-US" sz="1500" b="1" dirty="0">
                <a:solidFill>
                  <a:srgbClr val="17332E"/>
                </a:solidFill>
                <a:latin typeface="Calibri" pitchFamily="34" charset="0"/>
                <a:ea typeface="Calibri" pitchFamily="34" charset="-122"/>
                <a:cs typeface="Calibri" pitchFamily="34" charset="-120"/>
              </a:rPr>
              <a:t>nombre de ventes</a:t>
            </a:r>
            <a:r>
              <a:rPr lang="en-US" sz="1500" dirty="0">
                <a:solidFill>
                  <a:srgbClr val="17332E"/>
                </a:solidFill>
                <a:latin typeface="Calibri" pitchFamily="34" charset="0"/>
                <a:ea typeface="Calibri" pitchFamily="34" charset="-122"/>
                <a:cs typeface="Calibri" pitchFamily="34" charset="-120"/>
              </a:rPr>
              <a:t> fait le chiffre d'affaires du magasin.</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Yacine Lezoul</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3 · Q1 : FACTEURS DE PERFORMANCE ET RENTABILITÉ</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Les corrélations montrent le mécanisme de la perte : des frais qui ne suivent pas les ventes</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Yacine Lezoul</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29</a:t>
            </a:r>
            <a:endParaRPr lang="en-US" sz="1000" dirty="0"/>
          </a:p>
        </p:txBody>
      </p:sp>
      <p:pic>
        <p:nvPicPr>
          <p:cNvPr id="10" name="Image 0" descr="/tmp/claude-0/complet/reports/figures/06_correlations.png"/>
          <p:cNvPicPr>
            <a:picLocks noChangeAspect="1"/>
          </p:cNvPicPr>
          <p:nvPr/>
        </p:nvPicPr>
        <p:blipFill>
          <a:blip r:embed="rId3"/>
          <a:stretch>
            <a:fillRect/>
          </a:stretch>
        </p:blipFill>
        <p:spPr>
          <a:xfrm>
            <a:off x="548640" y="1384094"/>
            <a:ext cx="5212080" cy="4181252"/>
          </a:xfrm>
          <a:prstGeom prst="rect">
            <a:avLst/>
          </a:prstGeom>
        </p:spPr>
      </p:pic>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035040" y="1463040"/>
          <a:ext cx="5577840" cy="2560320"/>
        </p:xfrm>
        <a:graphic>
          <a:graphicData uri="http://schemas.openxmlformats.org/drawingml/2006/table">
            <a:tbl>
              <a:tblPr/>
              <a:tblGrid>
                <a:gridCol w="3012034">
                  <a:extLst>
                    <a:ext uri="{9D8B030D-6E8A-4147-A177-3AD203B41FA5}">
                      <a16:colId xmlns:a16="http://schemas.microsoft.com/office/drawing/2014/main" val="20000"/>
                    </a:ext>
                  </a:extLst>
                </a:gridCol>
                <a:gridCol w="1282903">
                  <a:extLst>
                    <a:ext uri="{9D8B030D-6E8A-4147-A177-3AD203B41FA5}">
                      <a16:colId xmlns:a16="http://schemas.microsoft.com/office/drawing/2014/main" val="20001"/>
                    </a:ext>
                  </a:extLst>
                </a:gridCol>
                <a:gridCol w="1282903">
                  <a:extLst>
                    <a:ext uri="{9D8B030D-6E8A-4147-A177-3AD203B41FA5}">
                      <a16:colId xmlns:a16="http://schemas.microsoft.com/office/drawing/2014/main" val="20002"/>
                    </a:ext>
                  </a:extLst>
                </a:gridCol>
              </a:tblGrid>
              <a:tr h="36576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Spearman, magasin et mois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CA net</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Résultat</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36576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Nombre de lignes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+0,79</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+0,60</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250" b="1" dirty="0">
                          <a:solidFill>
                            <a:srgbClr val="1F2A28"/>
                          </a:solidFill>
                          <a:latin typeface="Calibri" pitchFamily="34" charset="0"/>
                          <a:ea typeface="Calibri" pitchFamily="34" charset="-122"/>
                          <a:cs typeface="Calibri" pitchFamily="34" charset="-120"/>
                        </a:rPr>
                        <a:t>Taux de frais généraux</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b="1" dirty="0">
                          <a:solidFill>
                            <a:srgbClr val="1F2A28"/>
                          </a:solidFill>
                          <a:latin typeface="Calibri" pitchFamily="34" charset="0"/>
                          <a:ea typeface="Calibri" pitchFamily="34" charset="-122"/>
                          <a:cs typeface="Calibri" pitchFamily="34" charset="-120"/>
                        </a:rPr>
                        <a:t>−0,81</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b="1" dirty="0">
                          <a:solidFill>
                            <a:srgbClr val="1F2A28"/>
                          </a:solidFill>
                          <a:latin typeface="Calibri" pitchFamily="34" charset="0"/>
                          <a:ea typeface="Calibri" pitchFamily="34" charset="-122"/>
                          <a:cs typeface="Calibri" pitchFamily="34" charset="-120"/>
                        </a:rPr>
                        <a:t>−0,55</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36576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Frais généraux (montant)</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+0,22</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−0,05</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Prix moyen par unité</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+0,42</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+0,37</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4"/>
                  </a:ext>
                </a:extLst>
              </a:tr>
              <a:tr h="36576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Part des lignes en promotion</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−0,21</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−0,44</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Retour, surface, effectif, fériés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 0</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 0</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6"/>
                  </a:ext>
                </a:extLst>
              </a:tr>
            </a:tbl>
          </a:graphicData>
        </a:graphic>
      </p:graphicFrame>
      <p:sp>
        <p:nvSpPr>
          <p:cNvPr id="12" name="Text 7"/>
          <p:cNvSpPr/>
          <p:nvPr/>
        </p:nvSpPr>
        <p:spPr>
          <a:xfrm>
            <a:off x="6035040" y="4160520"/>
            <a:ext cx="5577840" cy="1371600"/>
          </a:xfrm>
          <a:prstGeom prst="rect">
            <a:avLst/>
          </a:prstGeom>
          <a:noFill/>
          <a:ln/>
        </p:spPr>
        <p:txBody>
          <a:bodyPr wrap="square" lIns="0" tIns="0" rIns="0" bIns="0" rtlCol="0" anchor="t"/>
          <a:lstStyle/>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dirty="0">
                <a:solidFill>
                  <a:srgbClr val="1F2A28"/>
                </a:solidFill>
                <a:latin typeface="Calibri" pitchFamily="34" charset="0"/>
                <a:ea typeface="Calibri" pitchFamily="34" charset="-122"/>
                <a:cs typeface="Calibri" pitchFamily="34" charset="-120"/>
              </a:rPr>
              <a:t>Les frais ne suivent pas les ventes : </a:t>
            </a:r>
            <a:r>
              <a:rPr lang="en-US" sz="1400" b="1" dirty="0">
                <a:solidFill>
                  <a:srgbClr val="1F2A28"/>
                </a:solidFill>
                <a:latin typeface="Calibri" pitchFamily="34" charset="0"/>
                <a:ea typeface="Calibri" pitchFamily="34" charset="-122"/>
                <a:cs typeface="Calibri" pitchFamily="34" charset="-120"/>
              </a:rPr>
              <a:t>leur poids explose</a:t>
            </a:r>
            <a:r>
              <a:rPr lang="en-US" sz="1400" dirty="0">
                <a:solidFill>
                  <a:srgbClr val="1F2A28"/>
                </a:solidFill>
                <a:latin typeface="Calibri" pitchFamily="34" charset="0"/>
                <a:ea typeface="Calibri" pitchFamily="34" charset="-122"/>
                <a:cs typeface="Calibri" pitchFamily="34" charset="-120"/>
              </a:rPr>
              <a:t> quand elles baissent</a:t>
            </a:r>
            <a:endParaRPr lang="en-US" sz="1400" dirty="0"/>
          </a:p>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dirty="0">
                <a:solidFill>
                  <a:srgbClr val="1F2A28"/>
                </a:solidFill>
                <a:latin typeface="Calibri" pitchFamily="34" charset="0"/>
                <a:ea typeface="Calibri" pitchFamily="34" charset="-122"/>
                <a:cs typeface="Calibri" pitchFamily="34" charset="-120"/>
              </a:rPr>
              <a:t>Promotion : à mois égal, la corrélation tombe à </a:t>
            </a:r>
            <a:r>
              <a:rPr lang="en-US" sz="1400" b="1" dirty="0">
                <a:solidFill>
                  <a:srgbClr val="1F2A28"/>
                </a:solidFill>
                <a:latin typeface="Calibri" pitchFamily="34" charset="0"/>
                <a:ea typeface="Calibri" pitchFamily="34" charset="-122"/>
                <a:cs typeface="Calibri" pitchFamily="34" charset="-120"/>
              </a:rPr>
              <a:t>−0,02</a:t>
            </a:r>
            <a:endParaRPr lang="en-US" sz="1400" dirty="0"/>
          </a:p>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dirty="0">
                <a:solidFill>
                  <a:srgbClr val="1F2A28"/>
                </a:solidFill>
                <a:latin typeface="Calibri" pitchFamily="34" charset="0"/>
                <a:ea typeface="Calibri" pitchFamily="34" charset="-122"/>
                <a:cs typeface="Calibri" pitchFamily="34" charset="-120"/>
              </a:rPr>
              <a:t>COVID-19, à mois égal : −0,031, aucun lien</a:t>
            </a:r>
            <a:endParaRPr lang="en-US" sz="1400" dirty="0"/>
          </a:p>
        </p:txBody>
      </p:sp>
      <p:sp>
        <p:nvSpPr>
          <p:cNvPr id="13" name="Shape 8"/>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4" name="Shape 9"/>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15" name="Text 10"/>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Ce qui transforme une baisse de ventes en déficit : des </a:t>
            </a:r>
            <a:r>
              <a:rPr lang="en-US" sz="1500" b="1" dirty="0">
                <a:solidFill>
                  <a:srgbClr val="17332E"/>
                </a:solidFill>
                <a:latin typeface="Calibri" pitchFamily="34" charset="0"/>
                <a:ea typeface="Calibri" pitchFamily="34" charset="-122"/>
                <a:cs typeface="Calibri" pitchFamily="34" charset="-120"/>
              </a:rPr>
              <a:t>frais généraux qui ne s'ajustent pas</a:t>
            </a:r>
            <a:r>
              <a:rPr lang="en-US" sz="1500" dirty="0">
                <a:solidFill>
                  <a:srgbClr val="17332E"/>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Yacine Lezoul</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3 · Q1 : FACTEURS DE PERFORMANCE ET RENTABILITÉ</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L'entreprise reste bénéficiaire, ce sont les magasins qui basculent</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Yacine Lezoul</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30</a:t>
            </a:r>
            <a:endParaRPr lang="en-US" sz="1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583682" cy="2084832"/>
        </p:xfrm>
        <a:graphic>
          <a:graphicData uri="http://schemas.openxmlformats.org/drawingml/2006/table">
            <a:tbl>
              <a:tblPr/>
              <a:tblGrid>
                <a:gridCol w="2106778">
                  <a:extLst>
                    <a:ext uri="{9D8B030D-6E8A-4147-A177-3AD203B41FA5}">
                      <a16:colId xmlns:a16="http://schemas.microsoft.com/office/drawing/2014/main" val="20000"/>
                    </a:ext>
                  </a:extLst>
                </a:gridCol>
                <a:gridCol w="1119226">
                  <a:extLst>
                    <a:ext uri="{9D8B030D-6E8A-4147-A177-3AD203B41FA5}">
                      <a16:colId xmlns:a16="http://schemas.microsoft.com/office/drawing/2014/main" val="20001"/>
                    </a:ext>
                  </a:extLst>
                </a:gridCol>
                <a:gridCol w="1119226">
                  <a:extLst>
                    <a:ext uri="{9D8B030D-6E8A-4147-A177-3AD203B41FA5}">
                      <a16:colId xmlns:a16="http://schemas.microsoft.com/office/drawing/2014/main" val="20002"/>
                    </a:ext>
                  </a:extLst>
                </a:gridCol>
                <a:gridCol w="1119226">
                  <a:extLst>
                    <a:ext uri="{9D8B030D-6E8A-4147-A177-3AD203B41FA5}">
                      <a16:colId xmlns:a16="http://schemas.microsoft.com/office/drawing/2014/main" val="20003"/>
                    </a:ext>
                  </a:extLst>
                </a:gridCol>
                <a:gridCol w="1119226">
                  <a:extLst>
                    <a:ext uri="{9D8B030D-6E8A-4147-A177-3AD203B41FA5}">
                      <a16:colId xmlns:a16="http://schemas.microsoft.com/office/drawing/2014/main" val="20004"/>
                    </a:ext>
                  </a:extLst>
                </a:gridCol>
              </a:tblGrid>
              <a:tr h="347472">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Ensemble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2019</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2020</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2021</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2019 → 2021</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347472">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Chiffre d'affaires net</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945,4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759,1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688,2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−27,2 %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Marge nette des retours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530,4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426,2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387,2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−27,0 %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347472">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Frais généraux</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155,0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168,8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181,3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F2A28"/>
                          </a:solidFill>
                          <a:latin typeface="Calibri" pitchFamily="34" charset="0"/>
                          <a:ea typeface="Calibri" pitchFamily="34" charset="-122"/>
                          <a:cs typeface="Calibri" pitchFamily="34" charset="-120"/>
                        </a:rPr>
                        <a:t>+17,0 %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Publicité</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84,7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72,8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64,2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−24,2 %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4"/>
                  </a:ext>
                </a:extLst>
              </a:tr>
              <a:tr h="347472">
                <a:tc>
                  <a:txBody>
                    <a:bodyPr/>
                    <a:lstStyle/>
                    <a:p>
                      <a:pPr marL="0" indent="0" algn="l">
                        <a:buNone/>
                      </a:pPr>
                      <a:r>
                        <a:rPr lang="en-US" sz="1200" b="1" dirty="0">
                          <a:solidFill>
                            <a:srgbClr val="1F2A28"/>
                          </a:solidFill>
                          <a:latin typeface="Calibri" pitchFamily="34" charset="0"/>
                          <a:ea typeface="Calibri" pitchFamily="34" charset="-122"/>
                          <a:cs typeface="Calibri" pitchFamily="34" charset="-120"/>
                        </a:rPr>
                        <a:t>Résultat d'exploitation</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F2A28"/>
                          </a:solidFill>
                          <a:latin typeface="Calibri" pitchFamily="34" charset="0"/>
                          <a:ea typeface="Calibri" pitchFamily="34" charset="-122"/>
                          <a:cs typeface="Calibri" pitchFamily="34" charset="-120"/>
                        </a:rPr>
                        <a:t>290,7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F2A28"/>
                          </a:solidFill>
                          <a:latin typeface="Calibri" pitchFamily="34" charset="0"/>
                          <a:ea typeface="Calibri" pitchFamily="34" charset="-122"/>
                          <a:cs typeface="Calibri" pitchFamily="34" charset="-120"/>
                        </a:rPr>
                        <a:t>184,6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F2A28"/>
                          </a:solidFill>
                          <a:latin typeface="Calibri" pitchFamily="34" charset="0"/>
                          <a:ea typeface="Calibri" pitchFamily="34" charset="-122"/>
                          <a:cs typeface="Calibri" pitchFamily="34" charset="-120"/>
                        </a:rPr>
                        <a:t>141,7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−51,3 %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61" name="Table 1"/>
          <p:cNvGraphicFramePr>
            <a:graphicFrameLocks noGrp="1"/>
          </p:cNvGraphicFramePr>
          <p:nvPr>
            <p:extLst>
              <p:ext uri="{D42A27DB-BD31-4B8C-83A1-F6EECF244321}">
                <p14:modId xmlns:p14="http://schemas.microsoft.com/office/powerpoint/2010/main" val="1579011935"/>
              </p:ext>
            </p:extLst>
          </p:nvPr>
        </p:nvGraphicFramePr>
        <p:xfrm>
          <a:off x="548640" y="3794760"/>
          <a:ext cx="6582766" cy="1389888"/>
        </p:xfrm>
        <a:graphic>
          <a:graphicData uri="http://schemas.openxmlformats.org/drawingml/2006/table">
            <a:tbl>
              <a:tblPr/>
              <a:tblGrid>
                <a:gridCol w="2111350">
                  <a:extLst>
                    <a:ext uri="{9D8B030D-6E8A-4147-A177-3AD203B41FA5}">
                      <a16:colId xmlns:a16="http://schemas.microsoft.com/office/drawing/2014/main" val="20000"/>
                    </a:ext>
                  </a:extLst>
                </a:gridCol>
                <a:gridCol w="1490472">
                  <a:extLst>
                    <a:ext uri="{9D8B030D-6E8A-4147-A177-3AD203B41FA5}">
                      <a16:colId xmlns:a16="http://schemas.microsoft.com/office/drawing/2014/main" val="20001"/>
                    </a:ext>
                  </a:extLst>
                </a:gridCol>
                <a:gridCol w="1490472">
                  <a:extLst>
                    <a:ext uri="{9D8B030D-6E8A-4147-A177-3AD203B41FA5}">
                      <a16:colId xmlns:a16="http://schemas.microsoft.com/office/drawing/2014/main" val="20002"/>
                    </a:ext>
                  </a:extLst>
                </a:gridCol>
                <a:gridCol w="1490472">
                  <a:extLst>
                    <a:ext uri="{9D8B030D-6E8A-4147-A177-3AD203B41FA5}">
                      <a16:colId xmlns:a16="http://schemas.microsoft.com/office/drawing/2014/main" val="20003"/>
                    </a:ext>
                  </a:extLst>
                </a:gridCol>
              </a:tblGrid>
              <a:tr h="347472">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Résultat d'exploitation</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2019</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2020</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2021</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347472">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En ligne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98,7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105,3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99,9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Revendeur</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70,4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66,3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52,6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347472">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Magasins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121,6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13,0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F2A28"/>
                          </a:solidFill>
                          <a:latin typeface="Calibri" pitchFamily="34" charset="0"/>
                          <a:ea typeface="Calibri" pitchFamily="34" charset="-122"/>
                          <a:cs typeface="Calibri" pitchFamily="34" charset="-120"/>
                        </a:rPr>
                        <a:t>−10,8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2" name="Text 7"/>
          <p:cNvSpPr/>
          <p:nvPr/>
        </p:nvSpPr>
        <p:spPr>
          <a:xfrm>
            <a:off x="7406640" y="1463040"/>
            <a:ext cx="4206240" cy="320040"/>
          </a:xfrm>
          <a:prstGeom prst="rect">
            <a:avLst/>
          </a:prstGeom>
          <a:noFill/>
          <a:ln/>
        </p:spPr>
        <p:txBody>
          <a:bodyPr wrap="square" lIns="0" tIns="0" rIns="0" bIns="0" rtlCol="0" anchor="t"/>
          <a:lstStyle/>
          <a:p>
            <a:pPr marL="0" indent="0" algn="l">
              <a:buNone/>
            </a:pPr>
            <a:r>
              <a:rPr lang="en-US" sz="1300" dirty="0">
                <a:solidFill>
                  <a:srgbClr val="5E6B68"/>
                </a:solidFill>
                <a:latin typeface="Calibri" pitchFamily="34" charset="0"/>
                <a:ea typeface="Calibri" pitchFamily="34" charset="-122"/>
                <a:cs typeface="Calibri" pitchFamily="34" charset="-120"/>
              </a:rPr>
              <a:t>Magasins bénéficiaires avant impôts</a:t>
            </a:r>
            <a:endParaRPr lang="en-US" sz="1300" dirty="0"/>
          </a:p>
        </p:txBody>
      </p:sp>
      <p:sp>
        <p:nvSpPr>
          <p:cNvPr id="13" name="Shape 8"/>
          <p:cNvSpPr/>
          <p:nvPr/>
        </p:nvSpPr>
        <p:spPr>
          <a:xfrm>
            <a:off x="7406640" y="1783080"/>
            <a:ext cx="1325880" cy="1005840"/>
          </a:xfrm>
          <a:prstGeom prst="rect">
            <a:avLst/>
          </a:prstGeom>
          <a:solidFill>
            <a:srgbClr val="EAF2EF"/>
          </a:solidFill>
          <a:ln w="9525">
            <a:solidFill>
              <a:srgbClr val="CFE0DA"/>
            </a:solidFill>
            <a:prstDash val="solid"/>
          </a:ln>
        </p:spPr>
        <p:txBody>
          <a:bodyPr/>
          <a:lstStyle/>
          <a:p>
            <a:endParaRPr lang="en-US"/>
          </a:p>
        </p:txBody>
      </p:sp>
      <p:sp>
        <p:nvSpPr>
          <p:cNvPr id="14" name="Text 9"/>
          <p:cNvSpPr/>
          <p:nvPr/>
        </p:nvSpPr>
        <p:spPr>
          <a:xfrm>
            <a:off x="7406640" y="1874520"/>
            <a:ext cx="1325880" cy="502920"/>
          </a:xfrm>
          <a:prstGeom prst="rect">
            <a:avLst/>
          </a:prstGeom>
          <a:noFill/>
          <a:ln/>
        </p:spPr>
        <p:txBody>
          <a:bodyPr wrap="square" lIns="0" tIns="0" rIns="0" bIns="0" rtlCol="0" anchor="ctr"/>
          <a:lstStyle/>
          <a:p>
            <a:pPr marL="0" indent="0" algn="ctr">
              <a:buNone/>
            </a:pPr>
            <a:r>
              <a:rPr lang="en-US" sz="2200" b="1" dirty="0">
                <a:solidFill>
                  <a:srgbClr val="17332E"/>
                </a:solidFill>
                <a:latin typeface="Cambria" pitchFamily="34" charset="0"/>
                <a:ea typeface="Cambria" pitchFamily="34" charset="-122"/>
                <a:cs typeface="Cambria" pitchFamily="34" charset="-120"/>
              </a:rPr>
              <a:t>48 / 48</a:t>
            </a:r>
            <a:endParaRPr lang="en-US" sz="2200" dirty="0"/>
          </a:p>
        </p:txBody>
      </p:sp>
      <p:sp>
        <p:nvSpPr>
          <p:cNvPr id="15" name="Text 10"/>
          <p:cNvSpPr/>
          <p:nvPr/>
        </p:nvSpPr>
        <p:spPr>
          <a:xfrm>
            <a:off x="7498080" y="2336292"/>
            <a:ext cx="1143000" cy="402336"/>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en 2019</a:t>
            </a:r>
            <a:endParaRPr lang="en-US" sz="1200" dirty="0"/>
          </a:p>
        </p:txBody>
      </p:sp>
      <p:sp>
        <p:nvSpPr>
          <p:cNvPr id="16" name="Shape 11"/>
          <p:cNvSpPr/>
          <p:nvPr/>
        </p:nvSpPr>
        <p:spPr>
          <a:xfrm>
            <a:off x="8842248" y="1783080"/>
            <a:ext cx="1325880" cy="1005840"/>
          </a:xfrm>
          <a:prstGeom prst="rect">
            <a:avLst/>
          </a:prstGeom>
          <a:solidFill>
            <a:srgbClr val="EAF2EF"/>
          </a:solidFill>
          <a:ln w="9525">
            <a:solidFill>
              <a:srgbClr val="CFE0DA"/>
            </a:solidFill>
            <a:prstDash val="solid"/>
          </a:ln>
        </p:spPr>
        <p:txBody>
          <a:bodyPr/>
          <a:lstStyle/>
          <a:p>
            <a:endParaRPr lang="en-US"/>
          </a:p>
        </p:txBody>
      </p:sp>
      <p:sp>
        <p:nvSpPr>
          <p:cNvPr id="17" name="Text 12"/>
          <p:cNvSpPr/>
          <p:nvPr/>
        </p:nvSpPr>
        <p:spPr>
          <a:xfrm>
            <a:off x="8842248" y="1874520"/>
            <a:ext cx="1325880" cy="502920"/>
          </a:xfrm>
          <a:prstGeom prst="rect">
            <a:avLst/>
          </a:prstGeom>
          <a:noFill/>
          <a:ln/>
        </p:spPr>
        <p:txBody>
          <a:bodyPr wrap="square" lIns="0" tIns="0" rIns="0" bIns="0" rtlCol="0" anchor="ctr"/>
          <a:lstStyle/>
          <a:p>
            <a:pPr marL="0" indent="0" algn="ctr">
              <a:buNone/>
            </a:pPr>
            <a:r>
              <a:rPr lang="en-US" sz="2200" b="1" dirty="0">
                <a:solidFill>
                  <a:srgbClr val="17332E"/>
                </a:solidFill>
                <a:latin typeface="Cambria" pitchFamily="34" charset="0"/>
                <a:ea typeface="Cambria" pitchFamily="34" charset="-122"/>
                <a:cs typeface="Cambria" pitchFamily="34" charset="-120"/>
              </a:rPr>
              <a:t>43 / 51</a:t>
            </a:r>
            <a:endParaRPr lang="en-US" sz="2200" dirty="0"/>
          </a:p>
        </p:txBody>
      </p:sp>
      <p:sp>
        <p:nvSpPr>
          <p:cNvPr id="18" name="Text 13"/>
          <p:cNvSpPr/>
          <p:nvPr/>
        </p:nvSpPr>
        <p:spPr>
          <a:xfrm>
            <a:off x="8933688" y="2336292"/>
            <a:ext cx="1143000" cy="402336"/>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en 2020</a:t>
            </a:r>
            <a:endParaRPr lang="en-US" sz="1200" dirty="0"/>
          </a:p>
        </p:txBody>
      </p:sp>
      <p:sp>
        <p:nvSpPr>
          <p:cNvPr id="19" name="Shape 14"/>
          <p:cNvSpPr/>
          <p:nvPr/>
        </p:nvSpPr>
        <p:spPr>
          <a:xfrm>
            <a:off x="10287000" y="1783080"/>
            <a:ext cx="1325880" cy="1005840"/>
          </a:xfrm>
          <a:prstGeom prst="rect">
            <a:avLst/>
          </a:prstGeom>
          <a:solidFill>
            <a:srgbClr val="EAF2EF"/>
          </a:solidFill>
          <a:ln w="9525">
            <a:solidFill>
              <a:srgbClr val="CFE0DA"/>
            </a:solidFill>
            <a:prstDash val="solid"/>
          </a:ln>
        </p:spPr>
        <p:txBody>
          <a:bodyPr/>
          <a:lstStyle/>
          <a:p>
            <a:endParaRPr lang="en-US"/>
          </a:p>
        </p:txBody>
      </p:sp>
      <p:sp>
        <p:nvSpPr>
          <p:cNvPr id="20" name="Text 15"/>
          <p:cNvSpPr/>
          <p:nvPr/>
        </p:nvSpPr>
        <p:spPr>
          <a:xfrm>
            <a:off x="10287000" y="1874520"/>
            <a:ext cx="1325880" cy="502920"/>
          </a:xfrm>
          <a:prstGeom prst="rect">
            <a:avLst/>
          </a:prstGeom>
          <a:noFill/>
          <a:ln/>
        </p:spPr>
        <p:txBody>
          <a:bodyPr wrap="square" lIns="0" tIns="0" rIns="0" bIns="0" rtlCol="0" anchor="ctr"/>
          <a:lstStyle/>
          <a:p>
            <a:pPr marL="0" indent="0" algn="ctr">
              <a:buNone/>
            </a:pPr>
            <a:r>
              <a:rPr lang="en-US" sz="2200" b="1" dirty="0">
                <a:solidFill>
                  <a:srgbClr val="B4442F"/>
                </a:solidFill>
                <a:latin typeface="Cambria" pitchFamily="34" charset="0"/>
                <a:ea typeface="Cambria" pitchFamily="34" charset="-122"/>
                <a:cs typeface="Cambria" pitchFamily="34" charset="-120"/>
              </a:rPr>
              <a:t>4 / 53</a:t>
            </a:r>
            <a:endParaRPr lang="en-US" sz="2200" dirty="0"/>
          </a:p>
        </p:txBody>
      </p:sp>
      <p:sp>
        <p:nvSpPr>
          <p:cNvPr id="21" name="Text 16"/>
          <p:cNvSpPr/>
          <p:nvPr/>
        </p:nvSpPr>
        <p:spPr>
          <a:xfrm>
            <a:off x="10378440" y="2336292"/>
            <a:ext cx="1143000" cy="402336"/>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en 2021</a:t>
            </a:r>
            <a:endParaRPr lang="en-US" sz="1200" dirty="0"/>
          </a:p>
        </p:txBody>
      </p:sp>
      <p:sp>
        <p:nvSpPr>
          <p:cNvPr id="22" name="Text 17"/>
          <p:cNvSpPr/>
          <p:nvPr/>
        </p:nvSpPr>
        <p:spPr>
          <a:xfrm>
            <a:off x="7406640" y="3017520"/>
            <a:ext cx="4206240" cy="2560320"/>
          </a:xfrm>
          <a:prstGeom prst="rect">
            <a:avLst/>
          </a:prstGeom>
          <a:noFill/>
          <a:ln/>
        </p:spPr>
        <p:txBody>
          <a:bodyPr wrap="square" lIns="0" tIns="0" rIns="0" bIns="0" rtlCol="0" anchor="t"/>
          <a:lstStyle/>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dirty="0">
                <a:solidFill>
                  <a:srgbClr val="1F2A28"/>
                </a:solidFill>
                <a:latin typeface="Calibri" pitchFamily="34" charset="0"/>
                <a:ea typeface="Calibri" pitchFamily="34" charset="-122"/>
                <a:cs typeface="Calibri" pitchFamily="34" charset="-120"/>
              </a:rPr>
              <a:t>Taux de marge des magasins </a:t>
            </a:r>
            <a:r>
              <a:rPr lang="en-US" sz="1400" b="1" dirty="0">
                <a:solidFill>
                  <a:srgbClr val="1F2A28"/>
                </a:solidFill>
                <a:latin typeface="Calibri" pitchFamily="34" charset="0"/>
                <a:ea typeface="Calibri" pitchFamily="34" charset="-122"/>
                <a:cs typeface="Calibri" pitchFamily="34" charset="-120"/>
              </a:rPr>
              <a:t>inchangé</a:t>
            </a:r>
            <a:r>
              <a:rPr lang="en-US" sz="1400" dirty="0">
                <a:solidFill>
                  <a:srgbClr val="1F2A28"/>
                </a:solidFill>
                <a:latin typeface="Calibri" pitchFamily="34" charset="0"/>
                <a:ea typeface="Calibri" pitchFamily="34" charset="-122"/>
                <a:cs typeface="Calibri" pitchFamily="34" charset="-120"/>
              </a:rPr>
              <a:t> (56,1 % à 56,4 %)</a:t>
            </a:r>
            <a:endParaRPr lang="en-US" sz="1400" dirty="0"/>
          </a:p>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dirty="0">
                <a:solidFill>
                  <a:srgbClr val="1F2A28"/>
                </a:solidFill>
                <a:latin typeface="Calibri" pitchFamily="34" charset="0"/>
                <a:ea typeface="Calibri" pitchFamily="34" charset="-122"/>
                <a:cs typeface="Calibri" pitchFamily="34" charset="-120"/>
              </a:rPr>
              <a:t>Frais généraux : </a:t>
            </a:r>
            <a:r>
              <a:rPr lang="en-US" sz="1400" b="1" dirty="0">
                <a:solidFill>
                  <a:srgbClr val="1F2A28"/>
                </a:solidFill>
                <a:latin typeface="Calibri" pitchFamily="34" charset="0"/>
                <a:ea typeface="Calibri" pitchFamily="34" charset="-122"/>
                <a:cs typeface="Calibri" pitchFamily="34" charset="-120"/>
              </a:rPr>
              <a:t>16,4 % → 36,8 %</a:t>
            </a:r>
            <a:r>
              <a:rPr lang="en-US" sz="1400" dirty="0">
                <a:solidFill>
                  <a:srgbClr val="1F2A28"/>
                </a:solidFill>
                <a:latin typeface="Calibri" pitchFamily="34" charset="0"/>
                <a:ea typeface="Calibri" pitchFamily="34" charset="-122"/>
                <a:cs typeface="Calibri" pitchFamily="34" charset="-120"/>
              </a:rPr>
              <a:t> de leur CA</a:t>
            </a:r>
            <a:endParaRPr lang="en-US" sz="1400" dirty="0"/>
          </a:p>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dirty="0">
                <a:solidFill>
                  <a:srgbClr val="1F2A28"/>
                </a:solidFill>
                <a:latin typeface="Calibri" pitchFamily="34" charset="0"/>
                <a:ea typeface="Calibri" pitchFamily="34" charset="-122"/>
                <a:cs typeface="Calibri" pitchFamily="34" charset="-120"/>
              </a:rPr>
              <a:t>Publicité : 16,0 % → 23,5 %</a:t>
            </a:r>
            <a:endParaRPr lang="en-US" sz="1400" dirty="0"/>
          </a:p>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dirty="0">
                <a:solidFill>
                  <a:srgbClr val="1F2A28"/>
                </a:solidFill>
                <a:latin typeface="Calibri" pitchFamily="34" charset="0"/>
                <a:ea typeface="Calibri" pitchFamily="34" charset="-122"/>
                <a:cs typeface="Calibri" pitchFamily="34" charset="-120"/>
              </a:rPr>
              <a:t>En ligne aussi, frais généraux </a:t>
            </a:r>
            <a:r>
              <a:rPr lang="en-US" sz="1400" b="1" dirty="0">
                <a:solidFill>
                  <a:srgbClr val="1F2A28"/>
                </a:solidFill>
                <a:latin typeface="Calibri" pitchFamily="34" charset="0"/>
                <a:ea typeface="Calibri" pitchFamily="34" charset="-122"/>
                <a:cs typeface="Calibri" pitchFamily="34" charset="-120"/>
              </a:rPr>
              <a:t>+22,6 %</a:t>
            </a:r>
            <a:r>
              <a:rPr lang="en-US" sz="1400" dirty="0">
                <a:solidFill>
                  <a:srgbClr val="1F2A28"/>
                </a:solidFill>
                <a:latin typeface="Calibri" pitchFamily="34" charset="0"/>
                <a:ea typeface="Calibri" pitchFamily="34" charset="-122"/>
                <a:cs typeface="Calibri" pitchFamily="34" charset="-120"/>
              </a:rPr>
              <a:t> : une décision pour toute l'entreprise</a:t>
            </a:r>
            <a:endParaRPr lang="en-US" sz="1400" dirty="0"/>
          </a:p>
        </p:txBody>
      </p:sp>
      <p:sp>
        <p:nvSpPr>
          <p:cNvPr id="23" name="Shape 18"/>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24" name="Shape 19"/>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25" name="Text 20"/>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À taux de marge inchangé, ce sont les </a:t>
            </a:r>
            <a:r>
              <a:rPr lang="en-US" sz="1500" b="1" dirty="0">
                <a:solidFill>
                  <a:srgbClr val="17332E"/>
                </a:solidFill>
                <a:latin typeface="Calibri" pitchFamily="34" charset="0"/>
                <a:ea typeface="Calibri" pitchFamily="34" charset="-122"/>
                <a:cs typeface="Calibri" pitchFamily="34" charset="-120"/>
              </a:rPr>
              <a:t>charges</a:t>
            </a:r>
            <a:r>
              <a:rPr lang="en-US" sz="1500" dirty="0">
                <a:solidFill>
                  <a:srgbClr val="17332E"/>
                </a:solidFill>
                <a:latin typeface="Calibri" pitchFamily="34" charset="0"/>
                <a:ea typeface="Calibri" pitchFamily="34" charset="-122"/>
                <a:cs typeface="Calibri" pitchFamily="34" charset="-120"/>
              </a:rPr>
              <a:t> qui font basculer les magasins.</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Yacine Lezoul</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3 · Q1 : FACTEURS DE PERFORMANCE ET RENTABILITÉ</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Le marché explique l'essentiel, mais deux décisions de gestion ont joué en sens contraire</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Yacine Lezoul</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31</a:t>
            </a:r>
            <a:endParaRPr lang="en-US" sz="1000" dirty="0"/>
          </a:p>
        </p:txBody>
      </p:sp>
      <p:pic>
        <p:nvPicPr>
          <p:cNvPr id="10" name="Image 0" descr="/tmp/claude-0/complet/reports/figures/06_pont_resultat_magasins.png"/>
          <p:cNvPicPr>
            <a:picLocks noChangeAspect="1"/>
          </p:cNvPicPr>
          <p:nvPr/>
        </p:nvPicPr>
        <p:blipFill>
          <a:blip r:embed="rId3"/>
          <a:stretch>
            <a:fillRect/>
          </a:stretch>
        </p:blipFill>
        <p:spPr>
          <a:xfrm>
            <a:off x="548640" y="1938827"/>
            <a:ext cx="6949440" cy="3071785"/>
          </a:xfrm>
          <a:prstGeom prst="rect">
            <a:avLst/>
          </a:prstGeom>
        </p:spPr>
      </p:pic>
      <p:sp>
        <p:nvSpPr>
          <p:cNvPr id="11" name="Shape 7"/>
          <p:cNvSpPr/>
          <p:nvPr/>
        </p:nvSpPr>
        <p:spPr>
          <a:xfrm>
            <a:off x="7772400" y="1463040"/>
            <a:ext cx="3840480" cy="960120"/>
          </a:xfrm>
          <a:prstGeom prst="rect">
            <a:avLst/>
          </a:prstGeom>
          <a:solidFill>
            <a:srgbClr val="EAF2EF"/>
          </a:solidFill>
          <a:ln w="9525">
            <a:solidFill>
              <a:srgbClr val="CFE0DA"/>
            </a:solidFill>
            <a:prstDash val="solid"/>
          </a:ln>
        </p:spPr>
        <p:txBody>
          <a:bodyPr/>
          <a:lstStyle/>
          <a:p>
            <a:endParaRPr lang="en-US"/>
          </a:p>
        </p:txBody>
      </p:sp>
      <p:sp>
        <p:nvSpPr>
          <p:cNvPr id="12" name="Text 8"/>
          <p:cNvSpPr/>
          <p:nvPr/>
        </p:nvSpPr>
        <p:spPr>
          <a:xfrm>
            <a:off x="7772400" y="1554480"/>
            <a:ext cx="3840480" cy="480060"/>
          </a:xfrm>
          <a:prstGeom prst="rect">
            <a:avLst/>
          </a:prstGeom>
          <a:noFill/>
          <a:ln/>
        </p:spPr>
        <p:txBody>
          <a:bodyPr wrap="square" lIns="0" tIns="0" rIns="0" bIns="0" rtlCol="0" anchor="ctr"/>
          <a:lstStyle/>
          <a:p>
            <a:pPr marL="0" indent="0" algn="ctr">
              <a:buNone/>
            </a:pPr>
            <a:r>
              <a:rPr lang="en-US" sz="2400" b="1" dirty="0">
                <a:solidFill>
                  <a:srgbClr val="B4442F"/>
                </a:solidFill>
                <a:latin typeface="Cambria" pitchFamily="34" charset="0"/>
                <a:ea typeface="Cambria" pitchFamily="34" charset="-122"/>
                <a:cs typeface="Cambria" pitchFamily="34" charset="-120"/>
              </a:rPr>
              <a:t>−139,2 M$</a:t>
            </a:r>
            <a:endParaRPr lang="en-US" sz="2400" dirty="0"/>
          </a:p>
        </p:txBody>
      </p:sp>
      <p:sp>
        <p:nvSpPr>
          <p:cNvPr id="13" name="Text 9"/>
          <p:cNvSpPr/>
          <p:nvPr/>
        </p:nvSpPr>
        <p:spPr>
          <a:xfrm>
            <a:off x="7863840" y="1991106"/>
            <a:ext cx="3657600" cy="384048"/>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marge perdue avec les ventes (marché)</a:t>
            </a:r>
            <a:endParaRPr lang="en-US" sz="1200" dirty="0"/>
          </a:p>
        </p:txBody>
      </p:sp>
      <p:sp>
        <p:nvSpPr>
          <p:cNvPr id="14" name="Shape 10"/>
          <p:cNvSpPr/>
          <p:nvPr/>
        </p:nvSpPr>
        <p:spPr>
          <a:xfrm>
            <a:off x="7772400" y="2560320"/>
            <a:ext cx="3840480" cy="960120"/>
          </a:xfrm>
          <a:prstGeom prst="rect">
            <a:avLst/>
          </a:prstGeom>
          <a:solidFill>
            <a:srgbClr val="EAF2EF"/>
          </a:solidFill>
          <a:ln w="9525">
            <a:solidFill>
              <a:srgbClr val="CFE0DA"/>
            </a:solidFill>
            <a:prstDash val="solid"/>
          </a:ln>
        </p:spPr>
        <p:txBody>
          <a:bodyPr/>
          <a:lstStyle/>
          <a:p>
            <a:endParaRPr lang="en-US"/>
          </a:p>
        </p:txBody>
      </p:sp>
      <p:sp>
        <p:nvSpPr>
          <p:cNvPr id="15" name="Text 11"/>
          <p:cNvSpPr/>
          <p:nvPr/>
        </p:nvSpPr>
        <p:spPr>
          <a:xfrm>
            <a:off x="7772400" y="2651760"/>
            <a:ext cx="3840480" cy="480060"/>
          </a:xfrm>
          <a:prstGeom prst="rect">
            <a:avLst/>
          </a:prstGeom>
          <a:noFill/>
          <a:ln/>
        </p:spPr>
        <p:txBody>
          <a:bodyPr wrap="square" lIns="0" tIns="0" rIns="0" bIns="0" rtlCol="0" anchor="ctr"/>
          <a:lstStyle/>
          <a:p>
            <a:pPr marL="0" indent="0" algn="ctr">
              <a:buNone/>
            </a:pPr>
            <a:r>
              <a:rPr lang="en-US" sz="2400" b="1" dirty="0">
                <a:solidFill>
                  <a:srgbClr val="B4442F"/>
                </a:solidFill>
                <a:latin typeface="Cambria" pitchFamily="34" charset="0"/>
                <a:ea typeface="Cambria" pitchFamily="34" charset="-122"/>
                <a:cs typeface="Cambria" pitchFamily="34" charset="-120"/>
              </a:rPr>
              <a:t>−12,9 M$</a:t>
            </a:r>
            <a:endParaRPr lang="en-US" sz="2400" dirty="0"/>
          </a:p>
        </p:txBody>
      </p:sp>
      <p:sp>
        <p:nvSpPr>
          <p:cNvPr id="16" name="Text 12"/>
          <p:cNvSpPr/>
          <p:nvPr/>
        </p:nvSpPr>
        <p:spPr>
          <a:xfrm>
            <a:off x="7863840" y="3088386"/>
            <a:ext cx="3657600" cy="384048"/>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hausse des frais généraux (décision)</a:t>
            </a:r>
            <a:endParaRPr lang="en-US" sz="1200" dirty="0"/>
          </a:p>
        </p:txBody>
      </p:sp>
      <p:sp>
        <p:nvSpPr>
          <p:cNvPr id="17" name="Shape 13"/>
          <p:cNvSpPr/>
          <p:nvPr/>
        </p:nvSpPr>
        <p:spPr>
          <a:xfrm>
            <a:off x="7772400" y="3657600"/>
            <a:ext cx="3840480" cy="960120"/>
          </a:xfrm>
          <a:prstGeom prst="rect">
            <a:avLst/>
          </a:prstGeom>
          <a:solidFill>
            <a:srgbClr val="EAF2EF"/>
          </a:solidFill>
          <a:ln w="9525">
            <a:solidFill>
              <a:srgbClr val="CFE0DA"/>
            </a:solidFill>
            <a:prstDash val="solid"/>
          </a:ln>
        </p:spPr>
        <p:txBody>
          <a:bodyPr/>
          <a:lstStyle/>
          <a:p>
            <a:endParaRPr lang="en-US"/>
          </a:p>
        </p:txBody>
      </p:sp>
      <p:sp>
        <p:nvSpPr>
          <p:cNvPr id="18" name="Text 14"/>
          <p:cNvSpPr/>
          <p:nvPr/>
        </p:nvSpPr>
        <p:spPr>
          <a:xfrm>
            <a:off x="7772400" y="3749040"/>
            <a:ext cx="3840480" cy="480060"/>
          </a:xfrm>
          <a:prstGeom prst="rect">
            <a:avLst/>
          </a:prstGeom>
          <a:noFill/>
          <a:ln/>
        </p:spPr>
        <p:txBody>
          <a:bodyPr wrap="square" lIns="0" tIns="0" rIns="0" bIns="0" rtlCol="0" anchor="ctr"/>
          <a:lstStyle/>
          <a:p>
            <a:pPr marL="0" indent="0" algn="ctr">
              <a:buNone/>
            </a:pPr>
            <a:r>
              <a:rPr lang="en-US" sz="2400" b="1" dirty="0">
                <a:solidFill>
                  <a:srgbClr val="17332E"/>
                </a:solidFill>
                <a:latin typeface="Cambria" pitchFamily="34" charset="0"/>
                <a:ea typeface="Cambria" pitchFamily="34" charset="-122"/>
                <a:cs typeface="Cambria" pitchFamily="34" charset="-120"/>
              </a:rPr>
              <a:t>+19,8 M$</a:t>
            </a:r>
            <a:endParaRPr lang="en-US" sz="2400" dirty="0"/>
          </a:p>
        </p:txBody>
      </p:sp>
      <p:sp>
        <p:nvSpPr>
          <p:cNvPr id="19" name="Text 15"/>
          <p:cNvSpPr/>
          <p:nvPr/>
        </p:nvSpPr>
        <p:spPr>
          <a:xfrm>
            <a:off x="7863840" y="4185666"/>
            <a:ext cx="3657600" cy="384048"/>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baisse de la publicité (décision)</a:t>
            </a:r>
            <a:endParaRPr lang="en-US" sz="1200" dirty="0"/>
          </a:p>
        </p:txBody>
      </p:sp>
      <p:sp>
        <p:nvSpPr>
          <p:cNvPr id="20" name="Text 16"/>
          <p:cNvSpPr/>
          <p:nvPr/>
        </p:nvSpPr>
        <p:spPr>
          <a:xfrm>
            <a:off x="7772400" y="4800600"/>
            <a:ext cx="3840480" cy="640080"/>
          </a:xfrm>
          <a:prstGeom prst="rect">
            <a:avLst/>
          </a:prstGeom>
          <a:noFill/>
          <a:ln/>
        </p:spPr>
        <p:txBody>
          <a:bodyPr wrap="square" lIns="0" tIns="0" rIns="0" bIns="0" rtlCol="0" anchor="t"/>
          <a:lstStyle/>
          <a:p>
            <a:pPr marL="0" indent="0" algn="l">
              <a:buNone/>
            </a:pPr>
            <a:r>
              <a:rPr lang="en-US" sz="1400" dirty="0">
                <a:solidFill>
                  <a:srgbClr val="1F2A28"/>
                </a:solidFill>
                <a:latin typeface="Calibri" pitchFamily="34" charset="0"/>
                <a:ea typeface="Calibri" pitchFamily="34" charset="-122"/>
                <a:cs typeface="Calibri" pitchFamily="34" charset="-120"/>
              </a:rPr>
              <a:t>À frais généraux de 2019 : </a:t>
            </a:r>
            <a:r>
              <a:rPr lang="en-US" sz="1400" b="1" dirty="0">
                <a:solidFill>
                  <a:srgbClr val="1F2A28"/>
                </a:solidFill>
                <a:latin typeface="Calibri" pitchFamily="34" charset="0"/>
                <a:ea typeface="Calibri" pitchFamily="34" charset="-122"/>
                <a:cs typeface="Calibri" pitchFamily="34" charset="-120"/>
              </a:rPr>
              <a:t>+2,1 M$</a:t>
            </a:r>
            <a:r>
              <a:rPr lang="en-US" sz="1400" dirty="0">
                <a:solidFill>
                  <a:srgbClr val="1F2A28"/>
                </a:solidFill>
                <a:latin typeface="Calibri" pitchFamily="34" charset="0"/>
                <a:ea typeface="Calibri" pitchFamily="34" charset="-122"/>
                <a:cs typeface="Calibri" pitchFamily="34" charset="-120"/>
              </a:rPr>
              <a:t> en 2021.</a:t>
            </a:r>
            <a:endParaRPr lang="en-US" sz="1400" dirty="0"/>
          </a:p>
        </p:txBody>
      </p:sp>
      <p:sp>
        <p:nvSpPr>
          <p:cNvPr id="21" name="Shape 17"/>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22" name="Shape 18"/>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23" name="Text 19"/>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Les hausses de frais généraux (</a:t>
            </a:r>
            <a:r>
              <a:rPr lang="en-US" sz="1500" b="1" dirty="0">
                <a:solidFill>
                  <a:srgbClr val="17332E"/>
                </a:solidFill>
                <a:latin typeface="Calibri" pitchFamily="34" charset="0"/>
                <a:ea typeface="Calibri" pitchFamily="34" charset="-122"/>
                <a:cs typeface="Calibri" pitchFamily="34" charset="-120"/>
              </a:rPr>
              <a:t>12,9 M$</a:t>
            </a:r>
            <a:r>
              <a:rPr lang="en-US" sz="1500" dirty="0">
                <a:solidFill>
                  <a:srgbClr val="17332E"/>
                </a:solidFill>
                <a:latin typeface="Calibri" pitchFamily="34" charset="0"/>
                <a:ea typeface="Calibri" pitchFamily="34" charset="-122"/>
                <a:cs typeface="Calibri" pitchFamily="34" charset="-120"/>
              </a:rPr>
              <a:t>) dépassent à elles seules le déficit de 2021 (</a:t>
            </a:r>
            <a:r>
              <a:rPr lang="en-US" sz="1500" b="1" dirty="0">
                <a:solidFill>
                  <a:srgbClr val="17332E"/>
                </a:solidFill>
                <a:latin typeface="Calibri" pitchFamily="34" charset="0"/>
                <a:ea typeface="Calibri" pitchFamily="34" charset="-122"/>
                <a:cs typeface="Calibri" pitchFamily="34" charset="-120"/>
              </a:rPr>
              <a:t>10,8 M$</a:t>
            </a:r>
            <a:r>
              <a:rPr lang="en-US" sz="1500" dirty="0">
                <a:solidFill>
                  <a:srgbClr val="17332E"/>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Yacine Lezoul</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3 · Q1 : FACTEURS DE PERFORMANCE ET RENTABILITÉ</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La publicité : une coupe de 24 % sans trace mesurable sur les ventes</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Yacine Lezoul</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32</a:t>
            </a:r>
            <a:endParaRPr lang="en-US" sz="1000" dirty="0"/>
          </a:p>
        </p:txBody>
      </p:sp>
      <p:sp>
        <p:nvSpPr>
          <p:cNvPr id="10" name="Text 7"/>
          <p:cNvSpPr/>
          <p:nvPr/>
        </p:nvSpPr>
        <p:spPr>
          <a:xfrm>
            <a:off x="548640" y="1417320"/>
            <a:ext cx="11064240" cy="640080"/>
          </a:xfrm>
          <a:prstGeom prst="rect">
            <a:avLst/>
          </a:prstGeom>
          <a:noFill/>
          <a:ln/>
        </p:spPr>
        <p:txBody>
          <a:bodyPr wrap="square" lIns="0" tIns="0" rIns="0" bIns="0" rtlCol="0" anchor="t"/>
          <a:lstStyle/>
          <a:p>
            <a:pPr marL="0" indent="0" algn="l">
              <a:buNone/>
            </a:pPr>
            <a:r>
              <a:rPr lang="en-US" sz="1450" dirty="0">
                <a:solidFill>
                  <a:srgbClr val="1F2A28"/>
                </a:solidFill>
                <a:latin typeface="Calibri" pitchFamily="34" charset="0"/>
                <a:ea typeface="Calibri" pitchFamily="34" charset="-122"/>
                <a:cs typeface="Calibri" pitchFamily="34" charset="-120"/>
              </a:rPr>
              <a:t>Budget par boutique : </a:t>
            </a:r>
            <a:r>
              <a:rPr lang="en-US" sz="1450" b="1" dirty="0">
                <a:solidFill>
                  <a:srgbClr val="1F2A28"/>
                </a:solidFill>
                <a:latin typeface="Calibri" pitchFamily="34" charset="0"/>
                <a:ea typeface="Calibri" pitchFamily="34" charset="-122"/>
                <a:cs typeface="Calibri" pitchFamily="34" charset="-120"/>
              </a:rPr>
              <a:t>1,54 M$</a:t>
            </a:r>
            <a:r>
              <a:rPr lang="en-US" sz="1450" dirty="0">
                <a:solidFill>
                  <a:srgbClr val="1F2A28"/>
                </a:solidFill>
                <a:latin typeface="Calibri" pitchFamily="34" charset="0"/>
                <a:ea typeface="Calibri" pitchFamily="34" charset="-122"/>
                <a:cs typeface="Calibri" pitchFamily="34" charset="-120"/>
              </a:rPr>
              <a:t> (2019), </a:t>
            </a:r>
            <a:r>
              <a:rPr lang="en-US" sz="1450" b="1" dirty="0">
                <a:solidFill>
                  <a:srgbClr val="1F2A28"/>
                </a:solidFill>
                <a:latin typeface="Calibri" pitchFamily="34" charset="0"/>
                <a:ea typeface="Calibri" pitchFamily="34" charset="-122"/>
                <a:cs typeface="Calibri" pitchFamily="34" charset="-120"/>
              </a:rPr>
              <a:t>1,37 M$</a:t>
            </a:r>
            <a:r>
              <a:rPr lang="en-US" sz="1450" dirty="0">
                <a:solidFill>
                  <a:srgbClr val="1F2A28"/>
                </a:solidFill>
                <a:latin typeface="Calibri" pitchFamily="34" charset="0"/>
                <a:ea typeface="Calibri" pitchFamily="34" charset="-122"/>
                <a:cs typeface="Calibri" pitchFamily="34" charset="-120"/>
              </a:rPr>
              <a:t> (2020), </a:t>
            </a:r>
            <a:r>
              <a:rPr lang="en-US" sz="1450" b="1" dirty="0">
                <a:solidFill>
                  <a:srgbClr val="1F2A28"/>
                </a:solidFill>
                <a:latin typeface="Calibri" pitchFamily="34" charset="0"/>
                <a:ea typeface="Calibri" pitchFamily="34" charset="-122"/>
                <a:cs typeface="Calibri" pitchFamily="34" charset="-120"/>
              </a:rPr>
              <a:t>1,17 M$</a:t>
            </a:r>
            <a:r>
              <a:rPr lang="en-US" sz="1450" dirty="0">
                <a:solidFill>
                  <a:srgbClr val="1F2A28"/>
                </a:solidFill>
                <a:latin typeface="Calibri" pitchFamily="34" charset="0"/>
                <a:ea typeface="Calibri" pitchFamily="34" charset="-122"/>
                <a:cs typeface="Calibri" pitchFamily="34" charset="-120"/>
              </a:rPr>
              <a:t> (2021), soit </a:t>
            </a:r>
            <a:r>
              <a:rPr lang="en-US" sz="1450" b="1" dirty="0">
                <a:solidFill>
                  <a:srgbClr val="1F2A28"/>
                </a:solidFill>
                <a:latin typeface="Calibri" pitchFamily="34" charset="0"/>
                <a:ea typeface="Calibri" pitchFamily="34" charset="-122"/>
                <a:cs typeface="Calibri" pitchFamily="34" charset="-120"/>
              </a:rPr>
              <a:t>−24,3 %</a:t>
            </a:r>
            <a:r>
              <a:rPr lang="en-US" sz="1450" dirty="0">
                <a:solidFill>
                  <a:srgbClr val="1F2A28"/>
                </a:solidFill>
                <a:latin typeface="Calibri" pitchFamily="34" charset="0"/>
                <a:ea typeface="Calibri" pitchFamily="34" charset="-122"/>
                <a:cs typeface="Calibri" pitchFamily="34" charset="-120"/>
              </a:rPr>
              <a:t>, identique dans chaque campagne et chaque canal. Sans la coupe, déficit des magasins en 2021 : </a:t>
            </a:r>
            <a:r>
              <a:rPr lang="en-US" sz="1450" b="1" dirty="0">
                <a:solidFill>
                  <a:srgbClr val="1F2A28"/>
                </a:solidFill>
                <a:latin typeface="Calibri" pitchFamily="34" charset="0"/>
                <a:ea typeface="Calibri" pitchFamily="34" charset="-122"/>
                <a:cs typeface="Calibri" pitchFamily="34" charset="-120"/>
              </a:rPr>
              <a:t>30,5 M$</a:t>
            </a:r>
            <a:r>
              <a:rPr lang="en-US" sz="1450" dirty="0">
                <a:solidFill>
                  <a:srgbClr val="1F2A28"/>
                </a:solidFill>
                <a:latin typeface="Calibri" pitchFamily="34" charset="0"/>
                <a:ea typeface="Calibri" pitchFamily="34" charset="-122"/>
                <a:cs typeface="Calibri" pitchFamily="34" charset="-120"/>
              </a:rPr>
              <a:t> au lieu de 10,8 M$.</a:t>
            </a:r>
            <a:endParaRPr lang="en-US" sz="14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11064240" cy="3291840"/>
        </p:xfrm>
        <a:graphic>
          <a:graphicData uri="http://schemas.openxmlformats.org/drawingml/2006/table">
            <a:tbl>
              <a:tblPr/>
              <a:tblGrid>
                <a:gridCol w="3651199">
                  <a:extLst>
                    <a:ext uri="{9D8B030D-6E8A-4147-A177-3AD203B41FA5}">
                      <a16:colId xmlns:a16="http://schemas.microsoft.com/office/drawing/2014/main" val="20000"/>
                    </a:ext>
                  </a:extLst>
                </a:gridCol>
                <a:gridCol w="5532120">
                  <a:extLst>
                    <a:ext uri="{9D8B030D-6E8A-4147-A177-3AD203B41FA5}">
                      <a16:colId xmlns:a16="http://schemas.microsoft.com/office/drawing/2014/main" val="20001"/>
                    </a:ext>
                  </a:extLst>
                </a:gridCol>
                <a:gridCol w="1880921">
                  <a:extLst>
                    <a:ext uri="{9D8B030D-6E8A-4147-A177-3AD203B41FA5}">
                      <a16:colId xmlns:a16="http://schemas.microsoft.com/office/drawing/2014/main" val="20002"/>
                    </a:ext>
                  </a:extLst>
                </a:gridCol>
              </a:tblGrid>
              <a:tr h="658368">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Test : si la publicité faisait vendre…</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Ce que montrent les données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Verdict</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658368">
                <a:tc>
                  <a:txBody>
                    <a:bodyPr/>
                    <a:lstStyle/>
                    <a:p>
                      <a:pPr marL="0" indent="0" algn="l">
                        <a:buNone/>
                      </a:pPr>
                      <a:r>
                        <a:rPr lang="en-US" sz="1300" b="1" dirty="0">
                          <a:solidFill>
                            <a:srgbClr val="1F2A28"/>
                          </a:solidFill>
                          <a:latin typeface="Calibri" pitchFamily="34" charset="0"/>
                          <a:ea typeface="Calibri" pitchFamily="34" charset="-122"/>
                          <a:cs typeface="Calibri" pitchFamily="34" charset="-120"/>
                        </a:rPr>
                        <a:t>A. Mois</a:t>
                      </a:r>
                      <a:r>
                        <a:rPr lang="en-US" sz="1300" dirty="0">
                          <a:solidFill>
                            <a:srgbClr val="1F2A28"/>
                          </a:solidFill>
                          <a:latin typeface="Calibri" pitchFamily="34" charset="0"/>
                          <a:ea typeface="Calibri" pitchFamily="34" charset="-122"/>
                          <a:cs typeface="Calibri" pitchFamily="34" charset="-120"/>
                        </a:rPr>
                        <a:t> : les mois sans publicité reculeraient plus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Mois de campagne −48,0 %, mois sans campagne −47,4 %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Non soutenu</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lgn="l">
                        <a:buNone/>
                      </a:pPr>
                      <a:r>
                        <a:rPr lang="en-US" sz="1300" b="1" dirty="0">
                          <a:solidFill>
                            <a:srgbClr val="1F2A28"/>
                          </a:solidFill>
                          <a:latin typeface="Calibri" pitchFamily="34" charset="0"/>
                          <a:ea typeface="Calibri" pitchFamily="34" charset="-122"/>
                          <a:cs typeface="Calibri" pitchFamily="34" charset="-120"/>
                        </a:rPr>
                        <a:t>B. Canaux</a:t>
                      </a:r>
                      <a:r>
                        <a:rPr lang="en-US" sz="1300" dirty="0">
                          <a:solidFill>
                            <a:srgbClr val="1F2A28"/>
                          </a:solidFill>
                          <a:latin typeface="Calibri" pitchFamily="34" charset="0"/>
                          <a:ea typeface="Calibri" pitchFamily="34" charset="-122"/>
                          <a:cs typeface="Calibri" pitchFamily="34" charset="-120"/>
                        </a:rPr>
                        <a:t> : la même coupe ferait reculer tous les canaux</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Même coupe de −24,3 % ; en ligne +6,7 %, revendeur −14,1 %, magasins −48,6 %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Non soutenu</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658368">
                <a:tc>
                  <a:txBody>
                    <a:bodyPr/>
                    <a:lstStyle/>
                    <a:p>
                      <a:pPr marL="0" indent="0" algn="l">
                        <a:buNone/>
                      </a:pPr>
                      <a:r>
                        <a:rPr lang="en-US" sz="1300" b="1" dirty="0">
                          <a:solidFill>
                            <a:srgbClr val="1F2A28"/>
                          </a:solidFill>
                          <a:latin typeface="Calibri" pitchFamily="34" charset="0"/>
                          <a:ea typeface="Calibri" pitchFamily="34" charset="-122"/>
                          <a:cs typeface="Calibri" pitchFamily="34" charset="-120"/>
                        </a:rPr>
                        <a:t>C. Catégories</a:t>
                      </a:r>
                      <a:r>
                        <a:rPr lang="en-US" sz="1300" dirty="0">
                          <a:solidFill>
                            <a:srgbClr val="1F2A28"/>
                          </a:solidFill>
                          <a:latin typeface="Calibri" pitchFamily="34" charset="0"/>
                          <a:ea typeface="Calibri" pitchFamily="34" charset="-122"/>
                          <a:cs typeface="Calibri" pitchFamily="34" charset="-120"/>
                        </a:rPr>
                        <a:t> : les ventes suivraient la publicité</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Publicité −24,2 % partout ; ventes des magasins de −72,2 % à +24,6 % (ρ = +0,14)</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Non soutenu</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lgn="l">
                        <a:buNone/>
                      </a:pPr>
                      <a:r>
                        <a:rPr lang="en-US" sz="1300" b="1" dirty="0">
                          <a:solidFill>
                            <a:srgbClr val="1F2A28"/>
                          </a:solidFill>
                          <a:latin typeface="Calibri" pitchFamily="34" charset="0"/>
                          <a:ea typeface="Calibri" pitchFamily="34" charset="-122"/>
                          <a:cs typeface="Calibri" pitchFamily="34" charset="-120"/>
                        </a:rPr>
                        <a:t>D. Mois suivant</a:t>
                      </a:r>
                      <a:r>
                        <a:rPr lang="en-US" sz="1300" dirty="0">
                          <a:solidFill>
                            <a:srgbClr val="1F2A28"/>
                          </a:solidFill>
                          <a:latin typeface="Calibri" pitchFamily="34" charset="0"/>
                          <a:ea typeface="Calibri" pitchFamily="34" charset="-122"/>
                          <a:cs typeface="Calibri" pitchFamily="34" charset="-120"/>
                        </a:rPr>
                        <a:t> : plus de publicité, plus de ventes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+0,35, +0,66 à mois égal, mais porté par la tendance commune</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Non concluant</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4"/>
                  </a:ext>
                </a:extLst>
              </a:tr>
            </a:tbl>
          </a:graphicData>
        </a:graphic>
      </p:graphicFrame>
      <p:sp>
        <p:nvSpPr>
          <p:cNvPr id="12" name="Shape 8"/>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3" name="Shape 9"/>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14" name="Text 10"/>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Aucune trace mesurable, sans preuve d'inutilité : il faut un </a:t>
            </a:r>
            <a:r>
              <a:rPr lang="en-US" sz="1500" b="1" dirty="0">
                <a:solidFill>
                  <a:srgbClr val="17332E"/>
                </a:solidFill>
                <a:latin typeface="Calibri" pitchFamily="34" charset="0"/>
                <a:ea typeface="Calibri" pitchFamily="34" charset="-122"/>
                <a:cs typeface="Calibri" pitchFamily="34" charset="-120"/>
              </a:rPr>
              <a:t>test piloté</a:t>
            </a:r>
            <a:r>
              <a:rPr lang="en-US" sz="1500" dirty="0">
                <a:solidFill>
                  <a:srgbClr val="17332E"/>
                </a:solidFill>
                <a:latin typeface="Calibri" pitchFamily="34" charset="0"/>
                <a:ea typeface="Calibri" pitchFamily="34" charset="-122"/>
                <a:cs typeface="Calibri" pitchFamily="34" charset="-120"/>
              </a:rPr>
              <a:t> avec des magasins témoins.</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Yacine Lezoul</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3 · Q1 : FACTEURS DE PERFORMANCE ET RENTABILITÉ</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Le déficit tombe de janvier à mars, et vient de la façon de répartir la publicité</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Yacine Lezoul</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33</a:t>
            </a:r>
            <a:endParaRPr lang="en-US" sz="1000" dirty="0"/>
          </a:p>
        </p:txBody>
      </p:sp>
      <p:pic>
        <p:nvPicPr>
          <p:cNvPr id="10" name="Image 0" descr="/tmp/claude-0/complet/reports/figures/06_resultat_mensuel_magasins.png"/>
          <p:cNvPicPr>
            <a:picLocks noChangeAspect="1"/>
          </p:cNvPicPr>
          <p:nvPr/>
        </p:nvPicPr>
        <p:blipFill>
          <a:blip r:embed="rId3"/>
          <a:stretch>
            <a:fillRect/>
          </a:stretch>
        </p:blipFill>
        <p:spPr>
          <a:xfrm>
            <a:off x="548640" y="1450926"/>
            <a:ext cx="6766560" cy="2996028"/>
          </a:xfrm>
          <a:prstGeom prst="rect">
            <a:avLst/>
          </a:prstGeom>
        </p:spPr>
      </p:pic>
      <p:sp>
        <p:nvSpPr>
          <p:cNvPr id="11" name="Text 7"/>
          <p:cNvSpPr/>
          <p:nvPr/>
        </p:nvSpPr>
        <p:spPr>
          <a:xfrm>
            <a:off x="548640" y="4572000"/>
            <a:ext cx="6766560" cy="1005840"/>
          </a:xfrm>
          <a:prstGeom prst="rect">
            <a:avLst/>
          </a:prstGeom>
          <a:noFill/>
          <a:ln/>
        </p:spPr>
        <p:txBody>
          <a:bodyPr wrap="square" lIns="0" tIns="0" rIns="0" bIns="0" rtlCol="0" anchor="t"/>
          <a:lstStyle/>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dirty="0">
                <a:solidFill>
                  <a:srgbClr val="1F2A28"/>
                </a:solidFill>
                <a:latin typeface="Calibri" pitchFamily="34" charset="0"/>
                <a:ea typeface="Calibri" pitchFamily="34" charset="-122"/>
                <a:cs typeface="Calibri" pitchFamily="34" charset="-120"/>
              </a:rPr>
              <a:t>2021 : </a:t>
            </a:r>
            <a:r>
              <a:rPr lang="en-US" sz="1400" b="1" dirty="0">
                <a:solidFill>
                  <a:srgbClr val="1F2A28"/>
                </a:solidFill>
                <a:latin typeface="Calibri" pitchFamily="34" charset="0"/>
                <a:ea typeface="Calibri" pitchFamily="34" charset="-122"/>
                <a:cs typeface="Calibri" pitchFamily="34" charset="-120"/>
              </a:rPr>
              <a:t>−12,4, −15,3 et −15,8 M$</a:t>
            </a:r>
            <a:r>
              <a:rPr lang="en-US" sz="1400" dirty="0">
                <a:solidFill>
                  <a:srgbClr val="1F2A28"/>
                </a:solidFill>
                <a:latin typeface="Calibri" pitchFamily="34" charset="0"/>
                <a:ea typeface="Calibri" pitchFamily="34" charset="-122"/>
                <a:cs typeface="Calibri" pitchFamily="34" charset="-120"/>
              </a:rPr>
              <a:t> en janvier, février, mars</a:t>
            </a:r>
            <a:endParaRPr lang="en-US" sz="1400" dirty="0"/>
          </a:p>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dirty="0">
                <a:solidFill>
                  <a:srgbClr val="1F2A28"/>
                </a:solidFill>
                <a:latin typeface="Calibri" pitchFamily="34" charset="0"/>
                <a:ea typeface="Calibri" pitchFamily="34" charset="-122"/>
                <a:cs typeface="Calibri" pitchFamily="34" charset="-120"/>
              </a:rPr>
              <a:t>Publicité des Fêtes : </a:t>
            </a:r>
            <a:r>
              <a:rPr lang="en-US" sz="1400" b="1" dirty="0">
                <a:solidFill>
                  <a:srgbClr val="1F2A28"/>
                </a:solidFill>
                <a:latin typeface="Calibri" pitchFamily="34" charset="0"/>
                <a:ea typeface="Calibri" pitchFamily="34" charset="-122"/>
                <a:cs typeface="Calibri" pitchFamily="34" charset="-120"/>
              </a:rPr>
              <a:t>44,5 M$, 69 % du budget</a:t>
            </a:r>
            <a:r>
              <a:rPr lang="en-US" sz="1400" dirty="0">
                <a:solidFill>
                  <a:srgbClr val="1F2A28"/>
                </a:solidFill>
                <a:latin typeface="Calibri" pitchFamily="34" charset="0"/>
                <a:ea typeface="Calibri" pitchFamily="34" charset="-122"/>
                <a:cs typeface="Calibri" pitchFamily="34" charset="-120"/>
              </a:rPr>
              <a:t>, rien d'octobre à décembre</a:t>
            </a:r>
            <a:endParaRPr lang="en-US" sz="14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7589520" y="1463040"/>
          <a:ext cx="4023360" cy="1658112"/>
        </p:xfrm>
        <a:graphic>
          <a:graphicData uri="http://schemas.openxmlformats.org/drawingml/2006/table">
            <a:tbl>
              <a:tblPr/>
              <a:tblGrid>
                <a:gridCol w="885139">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126541">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41148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2021</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Publicité actuelle</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Publicité selon les ventes</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Résultat simulé</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411480">
                <a:tc>
                  <a:txBody>
                    <a:bodyPr/>
                    <a:lstStyle/>
                    <a:p>
                      <a:pPr marL="0" indent="0" algn="l">
                        <a:buNone/>
                      </a:pPr>
                      <a:r>
                        <a:rPr lang="en-US" sz="1150" dirty="0">
                          <a:solidFill>
                            <a:srgbClr val="1F2A28"/>
                          </a:solidFill>
                          <a:latin typeface="Calibri" pitchFamily="34" charset="0"/>
                          <a:ea typeface="Calibri" pitchFamily="34" charset="-122"/>
                          <a:cs typeface="Calibri" pitchFamily="34" charset="-120"/>
                        </a:rPr>
                        <a:t>En ligne</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F2A28"/>
                          </a:solidFill>
                          <a:latin typeface="Calibri" pitchFamily="34" charset="0"/>
                          <a:ea typeface="Calibri" pitchFamily="34" charset="-122"/>
                          <a:cs typeface="Calibri" pitchFamily="34" charset="-120"/>
                        </a:rPr>
                        <a:t>1,2 M$</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F2A28"/>
                          </a:solidFill>
                          <a:latin typeface="Calibri" pitchFamily="34" charset="0"/>
                          <a:ea typeface="Calibri" pitchFamily="34" charset="-122"/>
                          <a:cs typeface="Calibri" pitchFamily="34" charset="-120"/>
                        </a:rPr>
                        <a:t>25,1 M$</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F2A28"/>
                          </a:solidFill>
                          <a:latin typeface="Calibri" pitchFamily="34" charset="0"/>
                          <a:ea typeface="Calibri" pitchFamily="34" charset="-122"/>
                          <a:cs typeface="Calibri" pitchFamily="34" charset="-120"/>
                        </a:rPr>
                        <a:t>75,9 M$</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150" dirty="0">
                          <a:solidFill>
                            <a:srgbClr val="1F2A28"/>
                          </a:solidFill>
                          <a:latin typeface="Calibri" pitchFamily="34" charset="0"/>
                          <a:ea typeface="Calibri" pitchFamily="34" charset="-122"/>
                          <a:cs typeface="Calibri" pitchFamily="34" charset="-120"/>
                        </a:rPr>
                        <a:t>Revendeur</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150" dirty="0">
                          <a:solidFill>
                            <a:srgbClr val="1F2A28"/>
                          </a:solidFill>
                          <a:latin typeface="Calibri" pitchFamily="34" charset="0"/>
                          <a:ea typeface="Calibri" pitchFamily="34" charset="-122"/>
                          <a:cs typeface="Calibri" pitchFamily="34" charset="-120"/>
                        </a:rPr>
                        <a:t>1,2 M$</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150" dirty="0">
                          <a:solidFill>
                            <a:srgbClr val="1F2A28"/>
                          </a:solidFill>
                          <a:latin typeface="Calibri" pitchFamily="34" charset="0"/>
                          <a:ea typeface="Calibri" pitchFamily="34" charset="-122"/>
                          <a:cs typeface="Calibri" pitchFamily="34" charset="-120"/>
                        </a:rPr>
                        <a:t>14,6 M$</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150" dirty="0">
                          <a:solidFill>
                            <a:srgbClr val="1F2A28"/>
                          </a:solidFill>
                          <a:latin typeface="Calibri" pitchFamily="34" charset="0"/>
                          <a:ea typeface="Calibri" pitchFamily="34" charset="-122"/>
                          <a:cs typeface="Calibri" pitchFamily="34" charset="-120"/>
                        </a:rPr>
                        <a:t>39,2 M$</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411480">
                <a:tc>
                  <a:txBody>
                    <a:bodyPr/>
                    <a:lstStyle/>
                    <a:p>
                      <a:pPr marL="0" indent="0" algn="l">
                        <a:buNone/>
                      </a:pPr>
                      <a:r>
                        <a:rPr lang="en-US" sz="1150" dirty="0">
                          <a:solidFill>
                            <a:srgbClr val="1F2A28"/>
                          </a:solidFill>
                          <a:latin typeface="Calibri" pitchFamily="34" charset="0"/>
                          <a:ea typeface="Calibri" pitchFamily="34" charset="-122"/>
                          <a:cs typeface="Calibri" pitchFamily="34" charset="-120"/>
                        </a:rPr>
                        <a:t>Magasins</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F2A28"/>
                          </a:solidFill>
                          <a:latin typeface="Calibri" pitchFamily="34" charset="0"/>
                          <a:ea typeface="Calibri" pitchFamily="34" charset="-122"/>
                          <a:cs typeface="Calibri" pitchFamily="34" charset="-120"/>
                        </a:rPr>
                        <a:t>61,9 M$</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F2A28"/>
                          </a:solidFill>
                          <a:latin typeface="Calibri" pitchFamily="34" charset="0"/>
                          <a:ea typeface="Calibri" pitchFamily="34" charset="-122"/>
                          <a:cs typeface="Calibri" pitchFamily="34" charset="-120"/>
                        </a:rPr>
                        <a:t>24,6 M$</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F2A28"/>
                          </a:solidFill>
                          <a:latin typeface="Calibri" pitchFamily="34" charset="0"/>
                          <a:ea typeface="Calibri" pitchFamily="34" charset="-122"/>
                          <a:cs typeface="Calibri" pitchFamily="34" charset="-120"/>
                        </a:rPr>
                        <a:t>+26,5 M$</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3" name="Text 8"/>
          <p:cNvSpPr/>
          <p:nvPr/>
        </p:nvSpPr>
        <p:spPr>
          <a:xfrm>
            <a:off x="7589520" y="3246120"/>
            <a:ext cx="4023360" cy="2286000"/>
          </a:xfrm>
          <a:prstGeom prst="rect">
            <a:avLst/>
          </a:prstGeom>
          <a:noFill/>
          <a:ln/>
        </p:spPr>
        <p:txBody>
          <a:bodyPr wrap="square" lIns="0" tIns="0" rIns="0" bIns="0" rtlCol="0" anchor="t"/>
          <a:lstStyle/>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dirty="0">
                <a:solidFill>
                  <a:srgbClr val="1F2A28"/>
                </a:solidFill>
                <a:latin typeface="Calibri" pitchFamily="34" charset="0"/>
                <a:ea typeface="Calibri" pitchFamily="34" charset="-122"/>
                <a:cs typeface="Calibri" pitchFamily="34" charset="-120"/>
              </a:rPr>
              <a:t>Même budget, réparti à </a:t>
            </a:r>
            <a:r>
              <a:rPr lang="en-US" sz="1400" b="1" dirty="0">
                <a:solidFill>
                  <a:srgbClr val="1F2A28"/>
                </a:solidFill>
                <a:latin typeface="Calibri" pitchFamily="34" charset="0"/>
                <a:ea typeface="Calibri" pitchFamily="34" charset="-122"/>
                <a:cs typeface="Calibri" pitchFamily="34" charset="-120"/>
              </a:rPr>
              <a:t>9,3 % des ventes</a:t>
            </a:r>
            <a:endParaRPr lang="en-US" sz="1400" dirty="0"/>
          </a:p>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dirty="0">
                <a:solidFill>
                  <a:srgbClr val="1F2A28"/>
                </a:solidFill>
                <a:latin typeface="Calibri" pitchFamily="34" charset="0"/>
                <a:ea typeface="Calibri" pitchFamily="34" charset="-122"/>
                <a:cs typeface="Calibri" pitchFamily="34" charset="-120"/>
              </a:rPr>
              <a:t>Résultat de l'entreprise inchangé : </a:t>
            </a:r>
            <a:r>
              <a:rPr lang="en-US" sz="1400" b="1" dirty="0">
                <a:solidFill>
                  <a:srgbClr val="1F2A28"/>
                </a:solidFill>
                <a:latin typeface="Calibri" pitchFamily="34" charset="0"/>
                <a:ea typeface="Calibri" pitchFamily="34" charset="-122"/>
                <a:cs typeface="Calibri" pitchFamily="34" charset="-120"/>
              </a:rPr>
              <a:t>141,7 M$</a:t>
            </a:r>
            <a:endParaRPr lang="en-US" sz="1400" dirty="0"/>
          </a:p>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dirty="0">
                <a:solidFill>
                  <a:srgbClr val="1F2A28"/>
                </a:solidFill>
                <a:latin typeface="Calibri" pitchFamily="34" charset="0"/>
                <a:ea typeface="Calibri" pitchFamily="34" charset="-122"/>
                <a:cs typeface="Calibri" pitchFamily="34" charset="-120"/>
              </a:rPr>
              <a:t>Magasins déficitaires : </a:t>
            </a:r>
            <a:r>
              <a:rPr lang="en-US" sz="1400" b="1" dirty="0">
                <a:solidFill>
                  <a:srgbClr val="1F2A28"/>
                </a:solidFill>
                <a:latin typeface="Calibri" pitchFamily="34" charset="0"/>
                <a:ea typeface="Calibri" pitchFamily="34" charset="-122"/>
                <a:cs typeface="Calibri" pitchFamily="34" charset="-120"/>
              </a:rPr>
              <a:t>49 → 0</a:t>
            </a:r>
            <a:endParaRPr lang="en-US" sz="1400" dirty="0"/>
          </a:p>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dirty="0">
                <a:solidFill>
                  <a:srgbClr val="1F2A28"/>
                </a:solidFill>
                <a:latin typeface="Calibri" pitchFamily="34" charset="0"/>
                <a:ea typeface="Calibri" pitchFamily="34" charset="-122"/>
                <a:cs typeface="Calibri" pitchFamily="34" charset="-120"/>
              </a:rPr>
              <a:t>Avant de juger un magasin, lui imputer la publicité qui le sert</a:t>
            </a:r>
            <a:endParaRPr lang="en-US" sz="1400" dirty="0"/>
          </a:p>
        </p:txBody>
      </p:sp>
      <p:sp>
        <p:nvSpPr>
          <p:cNvPr id="14" name="Shape 9"/>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5" name="Shape 10"/>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16" name="Text 11"/>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Question au </a:t>
            </a:r>
            <a:r>
              <a:rPr lang="en-US" sz="1500" b="1" dirty="0">
                <a:solidFill>
                  <a:srgbClr val="17332E"/>
                </a:solidFill>
                <a:latin typeface="Calibri" pitchFamily="34" charset="0"/>
                <a:ea typeface="Calibri" pitchFamily="34" charset="-122"/>
                <a:cs typeface="Calibri" pitchFamily="34" charset="-120"/>
              </a:rPr>
              <a:t>marketing</a:t>
            </a:r>
            <a:r>
              <a:rPr lang="en-US" sz="1500" dirty="0">
                <a:solidFill>
                  <a:srgbClr val="17332E"/>
                </a:solidFill>
                <a:latin typeface="Calibri" pitchFamily="34" charset="0"/>
                <a:ea typeface="Calibri" pitchFamily="34" charset="-122"/>
                <a:cs typeface="Calibri" pitchFamily="34" charset="-120"/>
              </a:rPr>
              <a:t> : la publicité des Fêtes est-elle diffusée de janvier à mars, ou seulement payée ?</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Yacine Lezoul</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3 · Q1 : FACTEURS DE PERFORMANCE ET RENTABILITÉ</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Les charges décidées ont augmenté dans tous les magasins pendant que les ventes se divisaient par deux</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Yacine Lezoul</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34</a:t>
            </a:r>
            <a:endParaRPr lang="en-US" sz="1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3511296"/>
        </p:xfrm>
        <a:graphic>
          <a:graphicData uri="http://schemas.openxmlformats.org/drawingml/2006/table">
            <a:tbl>
              <a:tblPr/>
              <a:tblGrid>
                <a:gridCol w="2212848">
                  <a:extLst>
                    <a:ext uri="{9D8B030D-6E8A-4147-A177-3AD203B41FA5}">
                      <a16:colId xmlns:a16="http://schemas.microsoft.com/office/drawing/2014/main" val="20000"/>
                    </a:ext>
                  </a:extLst>
                </a:gridCol>
                <a:gridCol w="1106424">
                  <a:extLst>
                    <a:ext uri="{9D8B030D-6E8A-4147-A177-3AD203B41FA5}">
                      <a16:colId xmlns:a16="http://schemas.microsoft.com/office/drawing/2014/main" val="20001"/>
                    </a:ext>
                  </a:extLst>
                </a:gridCol>
                <a:gridCol w="1106424">
                  <a:extLst>
                    <a:ext uri="{9D8B030D-6E8A-4147-A177-3AD203B41FA5}">
                      <a16:colId xmlns:a16="http://schemas.microsoft.com/office/drawing/2014/main" val="20002"/>
                    </a:ext>
                  </a:extLst>
                </a:gridCol>
                <a:gridCol w="1106424">
                  <a:extLst>
                    <a:ext uri="{9D8B030D-6E8A-4147-A177-3AD203B41FA5}">
                      <a16:colId xmlns:a16="http://schemas.microsoft.com/office/drawing/2014/main" val="20003"/>
                    </a:ext>
                  </a:extLst>
                </a:gridCol>
                <a:gridCol w="1991563">
                  <a:extLst>
                    <a:ext uri="{9D8B030D-6E8A-4147-A177-3AD203B41FA5}">
                      <a16:colId xmlns:a16="http://schemas.microsoft.com/office/drawing/2014/main" val="20004"/>
                    </a:ext>
                  </a:extLst>
                </a:gridCol>
                <a:gridCol w="1880921">
                  <a:extLst>
                    <a:ext uri="{9D8B030D-6E8A-4147-A177-3AD203B41FA5}">
                      <a16:colId xmlns:a16="http://schemas.microsoft.com/office/drawing/2014/main" val="20005"/>
                    </a:ext>
                  </a:extLst>
                </a:gridCol>
                <a:gridCol w="1659636">
                  <a:extLst>
                    <a:ext uri="{9D8B030D-6E8A-4147-A177-3AD203B41FA5}">
                      <a16:colId xmlns:a16="http://schemas.microsoft.com/office/drawing/2014/main" val="20006"/>
                    </a:ext>
                  </a:extLst>
                </a:gridCol>
              </a:tblGrid>
              <a:tr h="38404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Compte (48 magasins)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2019</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2020</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2021</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Évolution par an</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Part des ventes 2019 → 2021</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Nature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384048">
                <a:tc>
                  <a:txBody>
                    <a:bodyPr/>
                    <a:lstStyle/>
                    <a:p>
                      <a:pPr marL="0" indent="0" algn="l">
                        <a:buNone/>
                      </a:pPr>
                      <a:r>
                        <a:rPr lang="en-US" sz="1200" b="1" dirty="0">
                          <a:solidFill>
                            <a:srgbClr val="1F2A28"/>
                          </a:solidFill>
                          <a:latin typeface="Calibri" pitchFamily="34" charset="0"/>
                          <a:ea typeface="Calibri" pitchFamily="34" charset="-122"/>
                          <a:cs typeface="Calibri" pitchFamily="34" charset="-120"/>
                        </a:rPr>
                        <a:t>Ventes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509,8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288,3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245,4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F2A28"/>
                          </a:solidFill>
                          <a:latin typeface="Calibri" pitchFamily="34" charset="0"/>
                          <a:ea typeface="Calibri" pitchFamily="34" charset="-122"/>
                          <a:cs typeface="Calibri" pitchFamily="34" charset="-120"/>
                        </a:rPr>
                        <a:t>−43,4 %</a:t>
                      </a:r>
                      <a:r>
                        <a:rPr lang="en-US" sz="1200" dirty="0">
                          <a:solidFill>
                            <a:srgbClr val="1F2A28"/>
                          </a:solidFill>
                          <a:latin typeface="Calibri" pitchFamily="34" charset="0"/>
                          <a:ea typeface="Calibri" pitchFamily="34" charset="-122"/>
                          <a:cs typeface="Calibri" pitchFamily="34" charset="-120"/>
                        </a:rPr>
                        <a:t> · </a:t>
                      </a:r>
                      <a:r>
                        <a:rPr lang="en-US" sz="1200" b="1" dirty="0">
                          <a:solidFill>
                            <a:srgbClr val="1F2A28"/>
                          </a:solidFill>
                          <a:latin typeface="Calibri" pitchFamily="34" charset="0"/>
                          <a:ea typeface="Calibri" pitchFamily="34" charset="-122"/>
                          <a:cs typeface="Calibri" pitchFamily="34" charset="-120"/>
                        </a:rPr>
                        <a:t>−14,9 %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Personnel</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22,0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23,9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25,8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+8,4 % · +8,1 %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4,3 % → </a:t>
                      </a:r>
                      <a:r>
                        <a:rPr lang="en-US" sz="1200" b="1" dirty="0">
                          <a:solidFill>
                            <a:srgbClr val="1F2A28"/>
                          </a:solidFill>
                          <a:latin typeface="Calibri" pitchFamily="34" charset="0"/>
                          <a:ea typeface="Calibri" pitchFamily="34" charset="-122"/>
                          <a:cs typeface="Calibri" pitchFamily="34" charset="-120"/>
                        </a:rPr>
                        <a:t>10,5 %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décidé</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384048">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Administration</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11,0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12,7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14,6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F2A28"/>
                          </a:solidFill>
                          <a:latin typeface="Calibri" pitchFamily="34" charset="0"/>
                          <a:ea typeface="Calibri" pitchFamily="34" charset="-122"/>
                          <a:cs typeface="Calibri" pitchFamily="34" charset="-120"/>
                        </a:rPr>
                        <a:t>+15,3 % · +15,0 %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2,2 % → 5,9 %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décidé</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Informatique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11,0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11,9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12,9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+8,4 % · +8,1 %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2,2 % → 5,2 %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décidé</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4"/>
                  </a:ext>
                </a:extLst>
              </a:tr>
              <a:tr h="384048">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Loyers et immobilier</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22,0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22,1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22,8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+0,5 % · +3,2 %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4,3 % → 9,3 %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engagé (baux)</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Énergie et communication</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11,0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11,9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12,8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+8,5 % · +8,0 %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2,1 % → 5,2 %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subi (prix)</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6"/>
                  </a:ext>
                </a:extLst>
              </a:tr>
              <a:tr h="384048">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Autres charges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5,4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3,0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2,6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−43,9 % · −14,5 %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1,1 % stable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suit les ventes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84048">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Impôts et taxes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54,9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31,0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26,4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−43,5 % · −14,8 %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10,8 % stable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suit les ventes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8"/>
                  </a:ext>
                </a:extLst>
              </a:tr>
            </a:tbl>
          </a:graphicData>
        </a:graphic>
      </p:graphicFrame>
      <p:sp>
        <p:nvSpPr>
          <p:cNvPr id="11" name="Text 7"/>
          <p:cNvSpPr/>
          <p:nvPr/>
        </p:nvSpPr>
        <p:spPr>
          <a:xfrm>
            <a:off x="548640" y="5029200"/>
            <a:ext cx="11064240" cy="548640"/>
          </a:xfrm>
          <a:prstGeom prst="rect">
            <a:avLst/>
          </a:prstGeom>
          <a:noFill/>
          <a:ln/>
        </p:spPr>
        <p:txBody>
          <a:bodyPr wrap="square" lIns="0" tIns="0" rIns="0" bIns="0" rtlCol="0" anchor="t"/>
          <a:lstStyle/>
          <a:p>
            <a:pPr marL="0" indent="0" algn="l">
              <a:buNone/>
            </a:pPr>
            <a:r>
              <a:rPr lang="en-US" sz="1350" dirty="0">
                <a:solidFill>
                  <a:srgbClr val="1F2A28"/>
                </a:solidFill>
                <a:latin typeface="Calibri" pitchFamily="34" charset="0"/>
                <a:ea typeface="Calibri" pitchFamily="34" charset="-122"/>
                <a:cs typeface="Calibri" pitchFamily="34" charset="-120"/>
              </a:rPr>
              <a:t>Piste : </a:t>
            </a:r>
            <a:r>
              <a:rPr lang="en-US" sz="1350" b="1" dirty="0">
                <a:solidFill>
                  <a:srgbClr val="1F2A28"/>
                </a:solidFill>
                <a:latin typeface="Calibri" pitchFamily="34" charset="0"/>
                <a:ea typeface="Calibri" pitchFamily="34" charset="-122"/>
                <a:cs typeface="Calibri" pitchFamily="34" charset="-120"/>
              </a:rPr>
              <a:t>un bureau par pays</a:t>
            </a:r>
            <a:r>
              <a:rPr lang="en-US" sz="1350" dirty="0">
                <a:solidFill>
                  <a:srgbClr val="1F2A28"/>
                </a:solidFill>
                <a:latin typeface="Calibri" pitchFamily="34" charset="0"/>
                <a:ea typeface="Calibri" pitchFamily="34" charset="-122"/>
                <a:cs typeface="Calibri" pitchFamily="34" charset="-120"/>
              </a:rPr>
              <a:t> (5 pays, 41 magasins) pour l'administration et l'informatique : </a:t>
            </a:r>
            <a:r>
              <a:rPr lang="en-US" sz="1350" b="1" dirty="0">
                <a:solidFill>
                  <a:srgbClr val="1F2A28"/>
                </a:solidFill>
                <a:latin typeface="Calibri" pitchFamily="34" charset="0"/>
                <a:ea typeface="Calibri" pitchFamily="34" charset="-122"/>
                <a:cs typeface="Calibri" pitchFamily="34" charset="-120"/>
              </a:rPr>
              <a:t>4,4 à 8,8 M$ par an</a:t>
            </a:r>
            <a:r>
              <a:rPr lang="en-US" sz="1350" dirty="0">
                <a:solidFill>
                  <a:srgbClr val="1F2A28"/>
                </a:solidFill>
                <a:latin typeface="Calibri" pitchFamily="34" charset="0"/>
                <a:ea typeface="Calibri" pitchFamily="34" charset="-122"/>
                <a:cs typeface="Calibri" pitchFamily="34" charset="-120"/>
              </a:rPr>
              <a:t> selon la part économisable. Recoupe le retour au montant de 2019 : ne s'additionne pas.</a:t>
            </a:r>
            <a:endParaRPr lang="en-US" sz="1350" dirty="0"/>
          </a:p>
        </p:txBody>
      </p:sp>
      <p:sp>
        <p:nvSpPr>
          <p:cNvPr id="12" name="Shape 8"/>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3" name="Shape 9"/>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14" name="Text 10"/>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Personnel, administration, informatique : </a:t>
            </a:r>
            <a:r>
              <a:rPr lang="en-US" sz="1500" b="1" dirty="0">
                <a:solidFill>
                  <a:srgbClr val="17332E"/>
                </a:solidFill>
                <a:latin typeface="Calibri" pitchFamily="34" charset="0"/>
                <a:ea typeface="Calibri" pitchFamily="34" charset="-122"/>
                <a:cs typeface="Calibri" pitchFamily="34" charset="-120"/>
              </a:rPr>
              <a:t>en hausse dans les 48 magasins, sans exception</a:t>
            </a:r>
            <a:r>
              <a:rPr lang="en-US" sz="1500" dirty="0">
                <a:solidFill>
                  <a:srgbClr val="17332E"/>
                </a:solidFill>
                <a:latin typeface="Calibri" pitchFamily="34" charset="0"/>
                <a:ea typeface="Calibri" pitchFamily="34" charset="-122"/>
                <a:cs typeface="Calibri" pitchFamily="34" charset="-120"/>
              </a:rPr>
              <a:t>. Des décisions de budget.</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Yacine Lezoul</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3 · Q1 : FACTEURS DE PERFORMANCE ET RENTABILITÉ</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Un dollar de vente rapporte 55 cents, et un magasin déficitaire n'est qu'à 12,5 % de son équilibre</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Yacine Lezoul</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35</a:t>
            </a:r>
            <a:endParaRPr lang="en-US" sz="1000" dirty="0"/>
          </a:p>
        </p:txBody>
      </p:sp>
      <p:sp>
        <p:nvSpPr>
          <p:cNvPr id="10" name="Shape 7"/>
          <p:cNvSpPr/>
          <p:nvPr/>
        </p:nvSpPr>
        <p:spPr>
          <a:xfrm>
            <a:off x="548640" y="1463040"/>
            <a:ext cx="3566160" cy="1097280"/>
          </a:xfrm>
          <a:prstGeom prst="rect">
            <a:avLst/>
          </a:prstGeom>
          <a:solidFill>
            <a:srgbClr val="EAF2EF"/>
          </a:solidFill>
          <a:ln w="9525">
            <a:solidFill>
              <a:srgbClr val="CFE0DA"/>
            </a:solidFill>
            <a:prstDash val="solid"/>
          </a:ln>
        </p:spPr>
        <p:txBody>
          <a:bodyPr/>
          <a:lstStyle/>
          <a:p>
            <a:endParaRPr lang="en-US"/>
          </a:p>
        </p:txBody>
      </p:sp>
      <p:sp>
        <p:nvSpPr>
          <p:cNvPr id="11" name="Text 8"/>
          <p:cNvSpPr/>
          <p:nvPr/>
        </p:nvSpPr>
        <p:spPr>
          <a:xfrm>
            <a:off x="548640" y="1554480"/>
            <a:ext cx="3566160" cy="548640"/>
          </a:xfrm>
          <a:prstGeom prst="rect">
            <a:avLst/>
          </a:prstGeom>
          <a:noFill/>
          <a:ln/>
        </p:spPr>
        <p:txBody>
          <a:bodyPr wrap="square" lIns="0" tIns="0" rIns="0" bIns="0" rtlCol="0" anchor="ctr"/>
          <a:lstStyle/>
          <a:p>
            <a:pPr marL="0" indent="0" algn="ctr">
              <a:buNone/>
            </a:pPr>
            <a:r>
              <a:rPr lang="en-US" sz="2600" b="1" dirty="0">
                <a:solidFill>
                  <a:srgbClr val="17332E"/>
                </a:solidFill>
                <a:latin typeface="Cambria" pitchFamily="34" charset="0"/>
                <a:ea typeface="Cambria" pitchFamily="34" charset="-122"/>
                <a:cs typeface="Cambria" pitchFamily="34" charset="-120"/>
              </a:rPr>
              <a:t>0,552 $</a:t>
            </a:r>
            <a:endParaRPr lang="en-US" sz="2600" dirty="0"/>
          </a:p>
        </p:txBody>
      </p:sp>
      <p:sp>
        <p:nvSpPr>
          <p:cNvPr id="12" name="Text 9"/>
          <p:cNvSpPr/>
          <p:nvPr/>
        </p:nvSpPr>
        <p:spPr>
          <a:xfrm>
            <a:off x="640080" y="2066544"/>
            <a:ext cx="3383280" cy="438912"/>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de résultat pour 1 $ de vente, dans les trois canaux</a:t>
            </a:r>
            <a:endParaRPr lang="en-US" sz="1200" dirty="0"/>
          </a:p>
        </p:txBody>
      </p:sp>
      <p:sp>
        <p:nvSpPr>
          <p:cNvPr id="13" name="Shape 10"/>
          <p:cNvSpPr/>
          <p:nvPr/>
        </p:nvSpPr>
        <p:spPr>
          <a:xfrm>
            <a:off x="4297680" y="1463040"/>
            <a:ext cx="3566160" cy="1097280"/>
          </a:xfrm>
          <a:prstGeom prst="rect">
            <a:avLst/>
          </a:prstGeom>
          <a:solidFill>
            <a:srgbClr val="EAF2EF"/>
          </a:solidFill>
          <a:ln w="9525">
            <a:solidFill>
              <a:srgbClr val="CFE0DA"/>
            </a:solidFill>
            <a:prstDash val="solid"/>
          </a:ln>
        </p:spPr>
        <p:txBody>
          <a:bodyPr/>
          <a:lstStyle/>
          <a:p>
            <a:endParaRPr lang="en-US"/>
          </a:p>
        </p:txBody>
      </p:sp>
      <p:sp>
        <p:nvSpPr>
          <p:cNvPr id="14" name="Text 11"/>
          <p:cNvSpPr/>
          <p:nvPr/>
        </p:nvSpPr>
        <p:spPr>
          <a:xfrm>
            <a:off x="4297680" y="1554480"/>
            <a:ext cx="3566160" cy="548640"/>
          </a:xfrm>
          <a:prstGeom prst="rect">
            <a:avLst/>
          </a:prstGeom>
          <a:noFill/>
          <a:ln/>
        </p:spPr>
        <p:txBody>
          <a:bodyPr wrap="square" lIns="0" tIns="0" rIns="0" bIns="0" rtlCol="0" anchor="ctr"/>
          <a:lstStyle/>
          <a:p>
            <a:pPr marL="0" indent="0" algn="ctr">
              <a:buNone/>
            </a:pPr>
            <a:r>
              <a:rPr lang="en-US" sz="2600" b="1" dirty="0">
                <a:solidFill>
                  <a:srgbClr val="B4442F"/>
                </a:solidFill>
                <a:latin typeface="Cambria" pitchFamily="34" charset="0"/>
                <a:ea typeface="Cambria" pitchFamily="34" charset="-122"/>
                <a:cs typeface="Cambria" pitchFamily="34" charset="-120"/>
              </a:rPr>
              <a:t>+12,5 %</a:t>
            </a:r>
            <a:endParaRPr lang="en-US" sz="2600" dirty="0"/>
          </a:p>
        </p:txBody>
      </p:sp>
      <p:sp>
        <p:nvSpPr>
          <p:cNvPr id="15" name="Text 12"/>
          <p:cNvSpPr/>
          <p:nvPr/>
        </p:nvSpPr>
        <p:spPr>
          <a:xfrm>
            <a:off x="4389120" y="2066544"/>
            <a:ext cx="3383280" cy="438912"/>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de ventes pour qu'un magasin déficitaire atteigne l'équilibre</a:t>
            </a:r>
            <a:endParaRPr lang="en-US" sz="1200" dirty="0"/>
          </a:p>
        </p:txBody>
      </p:sp>
      <p:sp>
        <p:nvSpPr>
          <p:cNvPr id="16" name="Shape 13"/>
          <p:cNvSpPr/>
          <p:nvPr/>
        </p:nvSpPr>
        <p:spPr>
          <a:xfrm>
            <a:off x="8046720" y="1463040"/>
            <a:ext cx="3566160" cy="1097280"/>
          </a:xfrm>
          <a:prstGeom prst="rect">
            <a:avLst/>
          </a:prstGeom>
          <a:solidFill>
            <a:srgbClr val="EAF2EF"/>
          </a:solidFill>
          <a:ln w="9525">
            <a:solidFill>
              <a:srgbClr val="CFE0DA"/>
            </a:solidFill>
            <a:prstDash val="solid"/>
          </a:ln>
        </p:spPr>
        <p:txBody>
          <a:bodyPr/>
          <a:lstStyle/>
          <a:p>
            <a:endParaRPr lang="en-US"/>
          </a:p>
        </p:txBody>
      </p:sp>
      <p:sp>
        <p:nvSpPr>
          <p:cNvPr id="17" name="Text 14"/>
          <p:cNvSpPr/>
          <p:nvPr/>
        </p:nvSpPr>
        <p:spPr>
          <a:xfrm>
            <a:off x="8046720" y="1554480"/>
            <a:ext cx="3566160" cy="548640"/>
          </a:xfrm>
          <a:prstGeom prst="rect">
            <a:avLst/>
          </a:prstGeom>
          <a:noFill/>
          <a:ln/>
        </p:spPr>
        <p:txBody>
          <a:bodyPr wrap="square" lIns="0" tIns="0" rIns="0" bIns="0" rtlCol="0" anchor="ctr"/>
          <a:lstStyle/>
          <a:p>
            <a:pPr marL="0" indent="0" algn="ctr">
              <a:buNone/>
            </a:pPr>
            <a:r>
              <a:rPr lang="en-US" sz="2600" b="1" dirty="0">
                <a:solidFill>
                  <a:srgbClr val="17332E"/>
                </a:solidFill>
                <a:latin typeface="Cambria" pitchFamily="34" charset="0"/>
                <a:ea typeface="Cambria" pitchFamily="34" charset="-122"/>
                <a:cs typeface="Cambria" pitchFamily="34" charset="-120"/>
              </a:rPr>
              <a:t>20 % · 39 %</a:t>
            </a:r>
            <a:endParaRPr lang="en-US" sz="2600" dirty="0"/>
          </a:p>
        </p:txBody>
      </p:sp>
      <p:sp>
        <p:nvSpPr>
          <p:cNvPr id="18" name="Text 15"/>
          <p:cNvSpPr/>
          <p:nvPr/>
        </p:nvSpPr>
        <p:spPr>
          <a:xfrm>
            <a:off x="8138160" y="2066544"/>
            <a:ext cx="3383280" cy="438912"/>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frais généraux ÷ CA : bénéficiaires · déficitaires</a:t>
            </a:r>
            <a:endParaRPr lang="en-US" sz="1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2788920"/>
          <a:ext cx="5486400" cy="1152144"/>
        </p:xfrm>
        <a:graphic>
          <a:graphicData uri="http://schemas.openxmlformats.org/drawingml/2006/table">
            <a:tbl>
              <a:tblPr/>
              <a:tblGrid>
                <a:gridCol w="1536192">
                  <a:extLst>
                    <a:ext uri="{9D8B030D-6E8A-4147-A177-3AD203B41FA5}">
                      <a16:colId xmlns:a16="http://schemas.microsoft.com/office/drawing/2014/main" val="20000"/>
                    </a:ext>
                  </a:extLst>
                </a:gridCol>
                <a:gridCol w="877824">
                  <a:extLst>
                    <a:ext uri="{9D8B030D-6E8A-4147-A177-3AD203B41FA5}">
                      <a16:colId xmlns:a16="http://schemas.microsoft.com/office/drawing/2014/main" val="20001"/>
                    </a:ext>
                  </a:extLst>
                </a:gridCol>
                <a:gridCol w="987552">
                  <a:extLst>
                    <a:ext uri="{9D8B030D-6E8A-4147-A177-3AD203B41FA5}">
                      <a16:colId xmlns:a16="http://schemas.microsoft.com/office/drawing/2014/main" val="20002"/>
                    </a:ext>
                  </a:extLst>
                </a:gridCol>
                <a:gridCol w="987552">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384048">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2021, médianes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Magasins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CA</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Seuil</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Manque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384048">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Bénéficiaires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4,64 M$</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3,43 M$</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aucun</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Déficitaires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49</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4,84 M$</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5,46 M$</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b="1" dirty="0">
                          <a:solidFill>
                            <a:srgbClr val="1F2A28"/>
                          </a:solidFill>
                          <a:latin typeface="Calibri" pitchFamily="34" charset="0"/>
                          <a:ea typeface="Calibri" pitchFamily="34" charset="-122"/>
                          <a:cs typeface="Calibri" pitchFamily="34" charset="-120"/>
                        </a:rPr>
                        <a:t>0,62 M$</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bl>
          </a:graphicData>
        </a:graphic>
      </p:graphicFrame>
      <p:sp>
        <p:nvSpPr>
          <p:cNvPr id="20" name="Text 16"/>
          <p:cNvSpPr/>
          <p:nvPr/>
        </p:nvSpPr>
        <p:spPr>
          <a:xfrm>
            <a:off x="548640" y="4114800"/>
            <a:ext cx="5486400" cy="1371600"/>
          </a:xfrm>
          <a:prstGeom prst="rect">
            <a:avLst/>
          </a:prstGeom>
          <a:noFill/>
          <a:ln/>
        </p:spPr>
        <p:txBody>
          <a:bodyPr wrap="square" lIns="0" tIns="0" rIns="0" bIns="0" rtlCol="0" anchor="t"/>
          <a:lstStyle/>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dirty="0">
                <a:solidFill>
                  <a:srgbClr val="1F2A28"/>
                </a:solidFill>
                <a:latin typeface="Calibri" pitchFamily="34" charset="0"/>
                <a:ea typeface="Calibri" pitchFamily="34" charset="-122"/>
                <a:cs typeface="Calibri" pitchFamily="34" charset="-120"/>
              </a:rPr>
              <a:t>Seuil = charges fixes ÷ 0,552 $</a:t>
            </a:r>
            <a:endParaRPr lang="en-US" sz="1400" dirty="0"/>
          </a:p>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dirty="0">
                <a:solidFill>
                  <a:srgbClr val="1F2A28"/>
                </a:solidFill>
                <a:latin typeface="Calibri" pitchFamily="34" charset="0"/>
                <a:ea typeface="Calibri" pitchFamily="34" charset="-122"/>
                <a:cs typeface="Calibri" pitchFamily="34" charset="-120"/>
              </a:rPr>
              <a:t>Il manque moins que la perte de 2021 (−14,9 %)</a:t>
            </a:r>
            <a:endParaRPr lang="en-US" sz="1400" dirty="0"/>
          </a:p>
        </p:txBody>
      </p:sp>
      <p:graphicFrame>
        <p:nvGraphicFramePr>
          <p:cNvPr id="71" name="Table 1"/>
          <p:cNvGraphicFramePr>
            <a:graphicFrameLocks noGrp="1"/>
          </p:cNvGraphicFramePr>
          <p:nvPr>
            <p:extLst>
              <p:ext uri="{D42A27DB-BD31-4B8C-83A1-F6EECF244321}">
                <p14:modId xmlns:p14="http://schemas.microsoft.com/office/powerpoint/2010/main" val="1579011935"/>
              </p:ext>
            </p:extLst>
          </p:nvPr>
        </p:nvGraphicFramePr>
        <p:xfrm>
          <a:off x="6309360" y="2788920"/>
          <a:ext cx="5303520" cy="1901952"/>
        </p:xfrm>
        <a:graphic>
          <a:graphicData uri="http://schemas.openxmlformats.org/drawingml/2006/table">
            <a:tbl>
              <a:tblPr/>
              <a:tblGrid>
                <a:gridCol w="2121408">
                  <a:extLst>
                    <a:ext uri="{9D8B030D-6E8A-4147-A177-3AD203B41FA5}">
                      <a16:colId xmlns:a16="http://schemas.microsoft.com/office/drawing/2014/main" val="20000"/>
                    </a:ext>
                  </a:extLst>
                </a:gridCol>
                <a:gridCol w="1060704">
                  <a:extLst>
                    <a:ext uri="{9D8B030D-6E8A-4147-A177-3AD203B41FA5}">
                      <a16:colId xmlns:a16="http://schemas.microsoft.com/office/drawing/2014/main" val="20001"/>
                    </a:ext>
                  </a:extLst>
                </a:gridCol>
                <a:gridCol w="1060704">
                  <a:extLst>
                    <a:ext uri="{9D8B030D-6E8A-4147-A177-3AD203B41FA5}">
                      <a16:colId xmlns:a16="http://schemas.microsoft.com/office/drawing/2014/main" val="20002"/>
                    </a:ext>
                  </a:extLst>
                </a:gridCol>
                <a:gridCol w="1060704">
                  <a:extLst>
                    <a:ext uri="{9D8B030D-6E8A-4147-A177-3AD203B41FA5}">
                      <a16:colId xmlns:a16="http://schemas.microsoft.com/office/drawing/2014/main" val="20003"/>
                    </a:ext>
                  </a:extLst>
                </a:gridCol>
              </a:tblGrid>
              <a:tr h="36576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Les 4 bénéficiaires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CA 2021</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Frais gén. ÷ CA</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Résultat</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365760">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Moscow No.2</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13,08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18,5 %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+3,79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Cambridge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5,57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28,1 %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+0,37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365760">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Berlin (ouvert en 2020)</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3,71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17,9 %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+0,26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Marseille (ouvert en 2020)</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3,60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21,6 %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+0,10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4"/>
                  </a:ext>
                </a:extLst>
              </a:tr>
            </a:tbl>
          </a:graphicData>
        </a:graphic>
      </p:graphicFrame>
      <p:sp>
        <p:nvSpPr>
          <p:cNvPr id="22" name="Text 17"/>
          <p:cNvSpPr/>
          <p:nvPr/>
        </p:nvSpPr>
        <p:spPr>
          <a:xfrm>
            <a:off x="6309360" y="4754880"/>
            <a:ext cx="5303520" cy="731520"/>
          </a:xfrm>
          <a:prstGeom prst="rect">
            <a:avLst/>
          </a:prstGeom>
          <a:noFill/>
          <a:ln/>
        </p:spPr>
        <p:txBody>
          <a:bodyPr wrap="square" lIns="0" tIns="0" rIns="0" bIns="0" rtlCol="0" anchor="t"/>
          <a:lstStyle/>
          <a:p>
            <a:pPr marL="0" indent="0" algn="l">
              <a:buNone/>
            </a:pPr>
            <a:r>
              <a:rPr lang="en-US" sz="1400" dirty="0">
                <a:solidFill>
                  <a:srgbClr val="1F2A28"/>
                </a:solidFill>
                <a:latin typeface="Calibri" pitchFamily="34" charset="0"/>
                <a:ea typeface="Calibri" pitchFamily="34" charset="-122"/>
                <a:cs typeface="Calibri" pitchFamily="34" charset="-120"/>
              </a:rPr>
              <a:t>Deux voies : </a:t>
            </a:r>
            <a:r>
              <a:rPr lang="en-US" sz="1400" b="1" dirty="0">
                <a:solidFill>
                  <a:srgbClr val="1F2A28"/>
                </a:solidFill>
                <a:latin typeface="Calibri" pitchFamily="34" charset="0"/>
                <a:ea typeface="Calibri" pitchFamily="34" charset="-122"/>
                <a:cs typeface="Calibri" pitchFamily="34" charset="-120"/>
              </a:rPr>
              <a:t>des ventes qui ont résisté</a:t>
            </a:r>
            <a:r>
              <a:rPr lang="en-US" sz="1400" dirty="0">
                <a:solidFill>
                  <a:srgbClr val="1F2A28"/>
                </a:solidFill>
                <a:latin typeface="Calibri" pitchFamily="34" charset="0"/>
                <a:ea typeface="Calibri" pitchFamily="34" charset="-122"/>
                <a:cs typeface="Calibri" pitchFamily="34" charset="-120"/>
              </a:rPr>
              <a:t>, ou </a:t>
            </a:r>
            <a:r>
              <a:rPr lang="en-US" sz="1400" b="1" dirty="0">
                <a:solidFill>
                  <a:srgbClr val="1F2A28"/>
                </a:solidFill>
                <a:latin typeface="Calibri" pitchFamily="34" charset="0"/>
                <a:ea typeface="Calibri" pitchFamily="34" charset="-122"/>
                <a:cs typeface="Calibri" pitchFamily="34" charset="-120"/>
              </a:rPr>
              <a:t>des charges à la mesure des ventes</a:t>
            </a:r>
            <a:r>
              <a:rPr lang="en-US" sz="1400" dirty="0">
                <a:solidFill>
                  <a:srgbClr val="1F2A28"/>
                </a:solidFill>
                <a:latin typeface="Calibri" pitchFamily="34" charset="0"/>
                <a:ea typeface="Calibri" pitchFamily="34" charset="-122"/>
                <a:cs typeface="Calibri" pitchFamily="34" charset="-120"/>
              </a:rPr>
              <a:t>.</a:t>
            </a:r>
            <a:endParaRPr lang="en-US" sz="1400" dirty="0"/>
          </a:p>
        </p:txBody>
      </p:sp>
      <p:sp>
        <p:nvSpPr>
          <p:cNvPr id="23" name="Shape 18"/>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24" name="Shape 19"/>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25" name="Text 20"/>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Pas des magasins trop petits : des </a:t>
            </a:r>
            <a:r>
              <a:rPr lang="en-US" sz="1500" b="1" dirty="0">
                <a:solidFill>
                  <a:srgbClr val="17332E"/>
                </a:solidFill>
                <a:latin typeface="Calibri" pitchFamily="34" charset="0"/>
                <a:ea typeface="Calibri" pitchFamily="34" charset="-122"/>
                <a:cs typeface="Calibri" pitchFamily="34" charset="-120"/>
              </a:rPr>
              <a:t>charges dimensionnées sur 2019</a:t>
            </a:r>
            <a:r>
              <a:rPr lang="en-US" sz="1500" dirty="0">
                <a:solidFill>
                  <a:srgbClr val="17332E"/>
                </a:solidFill>
                <a:latin typeface="Calibri" pitchFamily="34" charset="0"/>
                <a:ea typeface="Calibri" pitchFamily="34" charset="-122"/>
                <a:cs typeface="Calibri" pitchFamily="34" charset="-120"/>
              </a:rPr>
              <a:t>, avec deux fois moins de ventes.</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Yacine Lezoul</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3 · Q1 : FACTEURS DE PERFORMANCE ET RENTABILITÉ</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Les leviers : l'assortiment d'abord, puis les charges et la publicité</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Yacine Lezoul</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36</a:t>
            </a:r>
            <a:endParaRPr lang="en-US" sz="1000" dirty="0"/>
          </a:p>
        </p:txBody>
      </p:sp>
      <p:pic>
        <p:nvPicPr>
          <p:cNvPr id="10" name="Image 0" descr="/tmp/claude-0/complet/reports/figures/06_leviers_de_rentabilite.png"/>
          <p:cNvPicPr>
            <a:picLocks noChangeAspect="1"/>
          </p:cNvPicPr>
          <p:nvPr/>
        </p:nvPicPr>
        <p:blipFill>
          <a:blip r:embed="rId3"/>
          <a:stretch>
            <a:fillRect/>
          </a:stretch>
        </p:blipFill>
        <p:spPr>
          <a:xfrm>
            <a:off x="548640" y="1757282"/>
            <a:ext cx="6766560" cy="3434877"/>
          </a:xfrm>
          <a:prstGeom prst="rect">
            <a:avLst/>
          </a:prstGeom>
        </p:spPr>
      </p:pic>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7589520" y="1463040"/>
          <a:ext cx="4023360" cy="2487168"/>
        </p:xfrm>
        <a:graphic>
          <a:graphicData uri="http://schemas.openxmlformats.org/drawingml/2006/table">
            <a:tbl>
              <a:tblPr/>
              <a:tblGrid>
                <a:gridCol w="2574950">
                  <a:extLst>
                    <a:ext uri="{9D8B030D-6E8A-4147-A177-3AD203B41FA5}">
                      <a16:colId xmlns:a16="http://schemas.microsoft.com/office/drawing/2014/main" val="20000"/>
                    </a:ext>
                  </a:extLst>
                </a:gridCol>
                <a:gridCol w="1448410">
                  <a:extLst>
                    <a:ext uri="{9D8B030D-6E8A-4147-A177-3AD203B41FA5}">
                      <a16:colId xmlns:a16="http://schemas.microsoft.com/office/drawing/2014/main" val="20001"/>
                    </a:ext>
                  </a:extLst>
                </a:gridCol>
              </a:tblGrid>
              <a:tr h="310896">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Par famille, sans double compte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Gain par an</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310896">
                <a:tc>
                  <a:txBody>
                    <a:bodyPr/>
                    <a:lstStyle/>
                    <a:p>
                      <a:pPr marL="0" indent="0" algn="l">
                        <a:buNone/>
                      </a:pPr>
                      <a:r>
                        <a:rPr lang="en-US" sz="1200" b="1" dirty="0">
                          <a:solidFill>
                            <a:srgbClr val="1F2A28"/>
                          </a:solidFill>
                          <a:latin typeface="Calibri" pitchFamily="34" charset="0"/>
                          <a:ea typeface="Calibri" pitchFamily="34" charset="-122"/>
                          <a:cs typeface="Calibri" pitchFamily="34" charset="-120"/>
                        </a:rPr>
                        <a:t>Assortiment</a:t>
                      </a:r>
                      <a:r>
                        <a:rPr lang="en-US" sz="1200" dirty="0">
                          <a:solidFill>
                            <a:srgbClr val="1F2A28"/>
                          </a:solidFill>
                          <a:latin typeface="Calibri" pitchFamily="34" charset="0"/>
                          <a:ea typeface="Calibri" pitchFamily="34" charset="-122"/>
                          <a:cs typeface="Calibri" pitchFamily="34" charset="-120"/>
                        </a:rPr>
                        <a:t> (46,05 + 3,77)</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F2A28"/>
                          </a:solidFill>
                          <a:latin typeface="Calibri" pitchFamily="34" charset="0"/>
                          <a:ea typeface="Calibri" pitchFamily="34" charset="-122"/>
                          <a:cs typeface="Calibri" pitchFamily="34" charset="-120"/>
                        </a:rPr>
                        <a:t>49,8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Charges (montant de 2019)</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9,2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310896">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Promotions et remises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8,4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Publicité (−10 %)</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6,2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4"/>
                  </a:ext>
                </a:extLst>
              </a:tr>
              <a:tr h="310896">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Retours (moitié)</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2,6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Gamme (1 % vers le luxe)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00" dirty="0">
                          <a:solidFill>
                            <a:srgbClr val="1F2A28"/>
                          </a:solidFill>
                          <a:latin typeface="Calibri" pitchFamily="34" charset="0"/>
                          <a:ea typeface="Calibri" pitchFamily="34" charset="-122"/>
                          <a:cs typeface="Calibri" pitchFamily="34" charset="-120"/>
                        </a:rPr>
                        <a:t>1,1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6"/>
                  </a:ext>
                </a:extLst>
              </a:tr>
              <a:tr h="310896">
                <a:tc>
                  <a:txBody>
                    <a:bodyPr/>
                    <a:lstStyle/>
                    <a:p>
                      <a:pPr marL="0" indent="0" algn="l">
                        <a:buNone/>
                      </a:pPr>
                      <a:r>
                        <a:rPr lang="en-US" sz="1200" b="1" dirty="0">
                          <a:solidFill>
                            <a:srgbClr val="1F2A28"/>
                          </a:solidFill>
                          <a:latin typeface="Calibri" pitchFamily="34" charset="0"/>
                          <a:ea typeface="Calibri" pitchFamily="34" charset="-122"/>
                          <a:cs typeface="Calibri" pitchFamily="34" charset="-120"/>
                        </a:rPr>
                        <a:t>Total, ordre de grandeur</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F2A28"/>
                          </a:solidFill>
                          <a:latin typeface="Calibri" pitchFamily="34" charset="0"/>
                          <a:ea typeface="Calibri" pitchFamily="34" charset="-122"/>
                          <a:cs typeface="Calibri" pitchFamily="34" charset="-120"/>
                        </a:rPr>
                        <a:t>77,3 M$</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2" name="Shape 7"/>
          <p:cNvSpPr/>
          <p:nvPr/>
        </p:nvSpPr>
        <p:spPr>
          <a:xfrm>
            <a:off x="7589520" y="4114800"/>
            <a:ext cx="4023360" cy="1417320"/>
          </a:xfrm>
          <a:prstGeom prst="rect">
            <a:avLst/>
          </a:prstGeom>
          <a:solidFill>
            <a:srgbClr val="EAF2EF"/>
          </a:solidFill>
          <a:ln w="9525">
            <a:solidFill>
              <a:srgbClr val="CFE0DA"/>
            </a:solidFill>
            <a:prstDash val="solid"/>
          </a:ln>
        </p:spPr>
        <p:txBody>
          <a:bodyPr/>
          <a:lstStyle/>
          <a:p>
            <a:endParaRPr lang="en-US"/>
          </a:p>
        </p:txBody>
      </p:sp>
      <p:sp>
        <p:nvSpPr>
          <p:cNvPr id="13" name="Text 8"/>
          <p:cNvSpPr/>
          <p:nvPr/>
        </p:nvSpPr>
        <p:spPr>
          <a:xfrm>
            <a:off x="7772400" y="4224528"/>
            <a:ext cx="3657600" cy="411480"/>
          </a:xfrm>
          <a:prstGeom prst="rect">
            <a:avLst/>
          </a:prstGeom>
          <a:noFill/>
          <a:ln/>
        </p:spPr>
        <p:txBody>
          <a:bodyPr wrap="square" lIns="0" tIns="0" rIns="0" bIns="0" rtlCol="0" anchor="ctr"/>
          <a:lstStyle/>
          <a:p>
            <a:pPr marL="0" indent="0">
              <a:buNone/>
            </a:pPr>
            <a:r>
              <a:rPr lang="en-US" sz="1500" b="1" dirty="0">
                <a:solidFill>
                  <a:srgbClr val="17332E"/>
                </a:solidFill>
                <a:latin typeface="Cambria" pitchFamily="34" charset="0"/>
                <a:ea typeface="Cambria" pitchFamily="34" charset="-122"/>
                <a:cs typeface="Cambria" pitchFamily="34" charset="-120"/>
              </a:rPr>
              <a:t>Stock dormant : 180,2 M$</a:t>
            </a:r>
            <a:endParaRPr lang="en-US" sz="1500" dirty="0"/>
          </a:p>
        </p:txBody>
      </p:sp>
      <p:sp>
        <p:nvSpPr>
          <p:cNvPr id="14" name="Text 9"/>
          <p:cNvSpPr/>
          <p:nvPr/>
        </p:nvSpPr>
        <p:spPr>
          <a:xfrm>
            <a:off x="7772400" y="4709160"/>
            <a:ext cx="3657600" cy="731520"/>
          </a:xfrm>
          <a:prstGeom prst="rect">
            <a:avLst/>
          </a:prstGeom>
          <a:noFill/>
          <a:ln/>
        </p:spPr>
        <p:txBody>
          <a:bodyPr wrap="square" lIns="0" tIns="0" rIns="0" bIns="0" rtlCol="0" anchor="t"/>
          <a:lstStyle/>
          <a:p>
            <a:pPr marL="0" indent="0">
              <a:spcAft>
                <a:spcPts val="800"/>
              </a:spcAft>
              <a:buNone/>
            </a:pPr>
            <a:r>
              <a:rPr lang="en-US" sz="1250" b="1" dirty="0">
                <a:solidFill>
                  <a:srgbClr val="2E5E55"/>
                </a:solidFill>
                <a:latin typeface="Calibri" pitchFamily="34" charset="0"/>
                <a:ea typeface="Calibri" pitchFamily="34" charset="-122"/>
                <a:cs typeface="Calibri" pitchFamily="34" charset="-120"/>
              </a:rPr>
              <a:t>•  </a:t>
            </a:r>
            <a:r>
              <a:rPr lang="en-US" sz="1250" dirty="0">
                <a:solidFill>
                  <a:srgbClr val="1F2A28"/>
                </a:solidFill>
                <a:latin typeface="Calibri" pitchFamily="34" charset="0"/>
                <a:ea typeface="Calibri" pitchFamily="34" charset="-122"/>
                <a:cs typeface="Calibri" pitchFamily="34" charset="-120"/>
              </a:rPr>
              <a:t>59 % des couples sans vente en 2021</a:t>
            </a:r>
            <a:endParaRPr lang="en-US" sz="1250" dirty="0"/>
          </a:p>
          <a:p>
            <a:pPr marL="0" indent="0">
              <a:spcAft>
                <a:spcPts val="800"/>
              </a:spcAft>
              <a:buNone/>
            </a:pPr>
            <a:r>
              <a:rPr lang="en-US" sz="1250" b="1" dirty="0">
                <a:solidFill>
                  <a:srgbClr val="2E5E55"/>
                </a:solidFill>
                <a:latin typeface="Calibri" pitchFamily="34" charset="0"/>
                <a:ea typeface="Calibri" pitchFamily="34" charset="-122"/>
                <a:cs typeface="Calibri" pitchFamily="34" charset="-120"/>
              </a:rPr>
              <a:t>•  </a:t>
            </a:r>
            <a:r>
              <a:rPr lang="en-US" sz="1250" b="1" dirty="0">
                <a:solidFill>
                  <a:srgbClr val="1F2A28"/>
                </a:solidFill>
                <a:latin typeface="Calibri" pitchFamily="34" charset="0"/>
                <a:ea typeface="Calibri" pitchFamily="34" charset="-122"/>
                <a:cs typeface="Calibri" pitchFamily="34" charset="-120"/>
              </a:rPr>
              <a:t>45, 90 ou 135 M$</a:t>
            </a:r>
            <a:r>
              <a:rPr lang="en-US" sz="1250" dirty="0">
                <a:solidFill>
                  <a:srgbClr val="1F2A28"/>
                </a:solidFill>
                <a:latin typeface="Calibri" pitchFamily="34" charset="0"/>
                <a:ea typeface="Calibri" pitchFamily="34" charset="-122"/>
                <a:cs typeface="Calibri" pitchFamily="34" charset="-120"/>
              </a:rPr>
              <a:t>, une seule fois</a:t>
            </a:r>
            <a:endParaRPr lang="en-US" sz="1250" dirty="0"/>
          </a:p>
        </p:txBody>
      </p:sp>
      <p:sp>
        <p:nvSpPr>
          <p:cNvPr id="15" name="Shape 10"/>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6" name="Shape 11"/>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17" name="Text 12"/>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Promotions, remises et retours </a:t>
            </a:r>
            <a:r>
              <a:rPr lang="en-US" sz="1500" b="1" dirty="0">
                <a:solidFill>
                  <a:srgbClr val="17332E"/>
                </a:solidFill>
                <a:latin typeface="Calibri" pitchFamily="34" charset="0"/>
                <a:ea typeface="Calibri" pitchFamily="34" charset="-122"/>
                <a:cs typeface="Calibri" pitchFamily="34" charset="-120"/>
              </a:rPr>
              <a:t>ne sont pas prioritaires</a:t>
            </a:r>
            <a:r>
              <a:rPr lang="en-US" sz="1500" dirty="0">
                <a:solidFill>
                  <a:srgbClr val="17332E"/>
                </a:solidFill>
                <a:latin typeface="Calibri" pitchFamily="34" charset="0"/>
                <a:ea typeface="Calibri" pitchFamily="34" charset="-122"/>
                <a:cs typeface="Calibri" pitchFamily="34" charset="-120"/>
              </a:rPr>
              <a:t> : l'assortiment, les frais généraux et les grands comptes en ligne pèsent bien plus.</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Mouncif Bouchachi</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4 · Q2 À Q5 : PROMOTIONS, REMISES ET RETOURS</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Q2 · Une seule promotion, générale, reconduite à l'identique trois exercices</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Mouncif Bouchachi</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37</a:t>
            </a:r>
            <a:endParaRPr lang="en-US" sz="1000" dirty="0"/>
          </a:p>
        </p:txBody>
      </p:sp>
      <p:pic>
        <p:nvPicPr>
          <p:cNvPr id="10" name="Image 0" descr="/tmp/claude-0/complet/reports/figures/07_calendrier_promotions.png"/>
          <p:cNvPicPr>
            <a:picLocks noChangeAspect="1"/>
          </p:cNvPicPr>
          <p:nvPr/>
        </p:nvPicPr>
        <p:blipFill>
          <a:blip r:embed="rId3"/>
          <a:stretch>
            <a:fillRect/>
          </a:stretch>
        </p:blipFill>
        <p:spPr>
          <a:xfrm>
            <a:off x="548640" y="1857335"/>
            <a:ext cx="6949440" cy="3234770"/>
          </a:xfrm>
          <a:prstGeom prst="rect">
            <a:avLst/>
          </a:prstGeom>
        </p:spPr>
      </p:pic>
      <p:sp>
        <p:nvSpPr>
          <p:cNvPr id="11" name="Text 7"/>
          <p:cNvSpPr/>
          <p:nvPr/>
        </p:nvSpPr>
        <p:spPr>
          <a:xfrm>
            <a:off x="7772400" y="1463040"/>
            <a:ext cx="3840480" cy="4114800"/>
          </a:xfrm>
          <a:prstGeom prst="rect">
            <a:avLst/>
          </a:prstGeom>
          <a:noFill/>
          <a:ln/>
        </p:spPr>
        <p:txBody>
          <a:bodyPr wrap="square" lIns="0" tIns="0" rIns="0" bIns="0" rtlCol="0" anchor="t"/>
          <a:lstStyle/>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b="1" dirty="0">
                <a:solidFill>
                  <a:srgbClr val="1F2A28"/>
                </a:solidFill>
                <a:latin typeface="Calibri" pitchFamily="34" charset="0"/>
                <a:ea typeface="Calibri" pitchFamily="34" charset="-122"/>
                <a:cs typeface="Calibri" pitchFamily="34" charset="-120"/>
              </a:rPr>
              <a:t>20 %</a:t>
            </a:r>
            <a:r>
              <a:rPr lang="en-US" sz="1400" dirty="0">
                <a:solidFill>
                  <a:srgbClr val="1F2A28"/>
                </a:solidFill>
                <a:latin typeface="Calibri" pitchFamily="34" charset="0"/>
                <a:ea typeface="Calibri" pitchFamily="34" charset="-122"/>
                <a:cs typeface="Calibri" pitchFamily="34" charset="-120"/>
              </a:rPr>
              <a:t> d'octobre à janvier · </a:t>
            </a:r>
            <a:r>
              <a:rPr lang="en-US" sz="1400" b="1" dirty="0">
                <a:solidFill>
                  <a:srgbClr val="1F2A28"/>
                </a:solidFill>
                <a:latin typeface="Calibri" pitchFamily="34" charset="0"/>
                <a:ea typeface="Calibri" pitchFamily="34" charset="-122"/>
                <a:cs typeface="Calibri" pitchFamily="34" charset="-120"/>
              </a:rPr>
              <a:t>7 %</a:t>
            </a:r>
            <a:r>
              <a:rPr lang="en-US" sz="1400" dirty="0">
                <a:solidFill>
                  <a:srgbClr val="1F2A28"/>
                </a:solidFill>
                <a:latin typeface="Calibri" pitchFamily="34" charset="0"/>
                <a:ea typeface="Calibri" pitchFamily="34" charset="-122"/>
                <a:cs typeface="Calibri" pitchFamily="34" charset="-120"/>
              </a:rPr>
              <a:t> de février à avril · </a:t>
            </a:r>
            <a:r>
              <a:rPr lang="en-US" sz="1400" b="1" dirty="0">
                <a:solidFill>
                  <a:srgbClr val="1F2A28"/>
                </a:solidFill>
                <a:latin typeface="Calibri" pitchFamily="34" charset="0"/>
                <a:ea typeface="Calibri" pitchFamily="34" charset="-122"/>
                <a:cs typeface="Calibri" pitchFamily="34" charset="-120"/>
              </a:rPr>
              <a:t>rien</a:t>
            </a:r>
            <a:r>
              <a:rPr lang="en-US" sz="1400" dirty="0">
                <a:solidFill>
                  <a:srgbClr val="1F2A28"/>
                </a:solidFill>
                <a:latin typeface="Calibri" pitchFamily="34" charset="0"/>
                <a:ea typeface="Calibri" pitchFamily="34" charset="-122"/>
                <a:cs typeface="Calibri" pitchFamily="34" charset="-120"/>
              </a:rPr>
              <a:t> de mai à juillet · </a:t>
            </a:r>
            <a:r>
              <a:rPr lang="en-US" sz="1400" b="1" dirty="0">
                <a:solidFill>
                  <a:srgbClr val="1F2A28"/>
                </a:solidFill>
                <a:latin typeface="Calibri" pitchFamily="34" charset="0"/>
                <a:ea typeface="Calibri" pitchFamily="34" charset="-122"/>
                <a:cs typeface="Calibri" pitchFamily="34" charset="-120"/>
              </a:rPr>
              <a:t>10 %</a:t>
            </a:r>
            <a:r>
              <a:rPr lang="en-US" sz="1400" dirty="0">
                <a:solidFill>
                  <a:srgbClr val="1F2A28"/>
                </a:solidFill>
                <a:latin typeface="Calibri" pitchFamily="34" charset="0"/>
                <a:ea typeface="Calibri" pitchFamily="34" charset="-122"/>
                <a:cs typeface="Calibri" pitchFamily="34" charset="-120"/>
              </a:rPr>
              <a:t> en août et septembre</a:t>
            </a:r>
            <a:endParaRPr lang="en-US" sz="1400" dirty="0"/>
          </a:p>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b="1" dirty="0">
                <a:solidFill>
                  <a:srgbClr val="1F2A28"/>
                </a:solidFill>
                <a:latin typeface="Calibri" pitchFamily="34" charset="0"/>
                <a:ea typeface="Calibri" pitchFamily="34" charset="-122"/>
                <a:cs typeface="Calibri" pitchFamily="34" charset="-120"/>
              </a:rPr>
              <a:t>Neuf mois sur douze</a:t>
            </a:r>
            <a:r>
              <a:rPr lang="en-US" sz="1400" dirty="0">
                <a:solidFill>
                  <a:srgbClr val="1F2A28"/>
                </a:solidFill>
                <a:latin typeface="Calibri" pitchFamily="34" charset="0"/>
                <a:ea typeface="Calibri" pitchFamily="34" charset="-122"/>
                <a:cs typeface="Calibri" pitchFamily="34" charset="-120"/>
              </a:rPr>
              <a:t> en promotion, 74,5 % des lignes</a:t>
            </a:r>
            <a:endParaRPr lang="en-US" sz="1400" dirty="0"/>
          </a:p>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b="1" dirty="0">
                <a:solidFill>
                  <a:srgbClr val="1F2A28"/>
                </a:solidFill>
                <a:latin typeface="Calibri" pitchFamily="34" charset="0"/>
                <a:ea typeface="Calibri" pitchFamily="34" charset="-122"/>
                <a:cs typeface="Calibri" pitchFamily="34" charset="-120"/>
              </a:rPr>
              <a:t>Générale</a:t>
            </a:r>
            <a:r>
              <a:rPr lang="en-US" sz="1400" dirty="0">
                <a:solidFill>
                  <a:srgbClr val="1F2A28"/>
                </a:solidFill>
                <a:latin typeface="Calibri" pitchFamily="34" charset="0"/>
                <a:ea typeface="Calibri" pitchFamily="34" charset="-122"/>
                <a:cs typeface="Calibri" pitchFamily="34" charset="-120"/>
              </a:rPr>
              <a:t> : tous les produits, toutes les boutiques, les trois canaux</a:t>
            </a:r>
            <a:endParaRPr lang="en-US" sz="1400" dirty="0"/>
          </a:p>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b="1" dirty="0">
                <a:solidFill>
                  <a:srgbClr val="1F2A28"/>
                </a:solidFill>
                <a:latin typeface="Calibri" pitchFamily="34" charset="0"/>
                <a:ea typeface="Calibri" pitchFamily="34" charset="-122"/>
                <a:cs typeface="Calibri" pitchFamily="34" charset="-120"/>
              </a:rPr>
              <a:t>Pas de ciblage</a:t>
            </a:r>
            <a:r>
              <a:rPr lang="en-US" sz="1400" dirty="0">
                <a:solidFill>
                  <a:srgbClr val="1F2A28"/>
                </a:solidFill>
                <a:latin typeface="Calibri" pitchFamily="34" charset="0"/>
                <a:ea typeface="Calibri" pitchFamily="34" charset="-122"/>
                <a:cs typeface="Calibri" pitchFamily="34" charset="-120"/>
              </a:rPr>
              <a:t> : 71 % à 77 % de lignes en promotion, nouveautés comme gammes</a:t>
            </a:r>
            <a:endParaRPr lang="en-US" sz="1400" dirty="0"/>
          </a:p>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dirty="0">
                <a:solidFill>
                  <a:srgbClr val="1F2A28"/>
                </a:solidFill>
                <a:latin typeface="Calibri" pitchFamily="34" charset="0"/>
                <a:ea typeface="Calibri" pitchFamily="34" charset="-122"/>
                <a:cs typeface="Calibri" pitchFamily="34" charset="-120"/>
              </a:rPr>
              <a:t>Une exception : </a:t>
            </a:r>
            <a:r>
              <a:rPr lang="en-US" sz="1400" b="1" dirty="0">
                <a:solidFill>
                  <a:srgbClr val="1F2A28"/>
                </a:solidFill>
                <a:latin typeface="Calibri" pitchFamily="34" charset="0"/>
                <a:ea typeface="Calibri" pitchFamily="34" charset="-122"/>
                <a:cs typeface="Calibri" pitchFamily="34" charset="-120"/>
              </a:rPr>
              <a:t>Cambridge</a:t>
            </a:r>
            <a:r>
              <a:rPr lang="en-US" sz="1400" dirty="0">
                <a:solidFill>
                  <a:srgbClr val="1F2A28"/>
                </a:solidFill>
                <a:latin typeface="Calibri" pitchFamily="34" charset="0"/>
                <a:ea typeface="Calibri" pitchFamily="34" charset="-122"/>
                <a:cs typeface="Calibri" pitchFamily="34" charset="-120"/>
              </a:rPr>
              <a:t>, calendrier nord-américain</a:t>
            </a:r>
            <a:endParaRPr lang="en-US" sz="1400" dirty="0"/>
          </a:p>
          <a:p>
            <a:pPr marL="0" indent="0">
              <a:spcAft>
                <a:spcPts val="800"/>
              </a:spcAft>
              <a:buNone/>
            </a:pPr>
            <a:r>
              <a:rPr lang="en-US" sz="1400" b="1" dirty="0">
                <a:solidFill>
                  <a:srgbClr val="2E5E55"/>
                </a:solidFill>
                <a:latin typeface="Calibri" pitchFamily="34" charset="0"/>
                <a:ea typeface="Calibri" pitchFamily="34" charset="-122"/>
                <a:cs typeface="Calibri" pitchFamily="34" charset="-120"/>
              </a:rPr>
              <a:t>•  </a:t>
            </a:r>
            <a:r>
              <a:rPr lang="en-US" sz="1400" dirty="0">
                <a:solidFill>
                  <a:srgbClr val="1F2A28"/>
                </a:solidFill>
                <a:latin typeface="Calibri" pitchFamily="34" charset="0"/>
                <a:ea typeface="Calibri" pitchFamily="34" charset="-122"/>
                <a:cs typeface="Calibri" pitchFamily="34" charset="-120"/>
              </a:rPr>
              <a:t>« 20 % » affichés = </a:t>
            </a:r>
            <a:r>
              <a:rPr lang="en-US" sz="1400" b="1" dirty="0">
                <a:solidFill>
                  <a:srgbClr val="1F2A28"/>
                </a:solidFill>
                <a:latin typeface="Calibri" pitchFamily="34" charset="0"/>
                <a:ea typeface="Calibri" pitchFamily="34" charset="-122"/>
                <a:cs typeface="Calibri" pitchFamily="34" charset="-120"/>
              </a:rPr>
              <a:t>5,07 %</a:t>
            </a:r>
            <a:r>
              <a:rPr lang="en-US" sz="1400" dirty="0">
                <a:solidFill>
                  <a:srgbClr val="1F2A28"/>
                </a:solidFill>
                <a:latin typeface="Calibri" pitchFamily="34" charset="0"/>
                <a:ea typeface="Calibri" pitchFamily="34" charset="-122"/>
                <a:cs typeface="Calibri" pitchFamily="34" charset="-120"/>
              </a:rPr>
              <a:t> du montant réel</a:t>
            </a:r>
            <a:endParaRPr lang="en-US" sz="1400" dirty="0"/>
          </a:p>
        </p:txBody>
      </p:sp>
      <p:sp>
        <p:nvSpPr>
          <p:cNvPr id="12" name="Shape 8"/>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3" name="Shape 9"/>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14" name="Text 10"/>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Pas de produit ni de boutique comparable hors promotion le même mois : </a:t>
            </a:r>
            <a:r>
              <a:rPr lang="en-US" sz="1500" b="1" dirty="0">
                <a:solidFill>
                  <a:srgbClr val="17332E"/>
                </a:solidFill>
                <a:latin typeface="Calibri" pitchFamily="34" charset="0"/>
                <a:ea typeface="Calibri" pitchFamily="34" charset="-122"/>
                <a:cs typeface="Calibri" pitchFamily="34" charset="-120"/>
              </a:rPr>
              <a:t>aucun groupe témoin</a:t>
            </a:r>
            <a:r>
              <a:rPr lang="en-US" sz="1500" dirty="0">
                <a:solidFill>
                  <a:srgbClr val="17332E"/>
                </a:solidFill>
                <a:latin typeface="Calibri" pitchFamily="34" charset="0"/>
                <a:ea typeface="Calibri" pitchFamily="34" charset="-122"/>
                <a:cs typeface="Calibri" pitchFamily="34" charset="-120"/>
              </a:rPr>
              <a:t> naturel.</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Mouncif Bouchachi</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4 · Q2 À Q5 : PROMOTIONS, REMISES ET RETOURS</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Q2 · Le piège : comparer avec et sans promotion, c'est comparer deux saisons</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Mouncif Bouchachi</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38</a:t>
            </a:r>
            <a:endParaRPr lang="en-US" sz="1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949440" cy="2514600"/>
        </p:xfrm>
        <a:graphic>
          <a:graphicData uri="http://schemas.openxmlformats.org/drawingml/2006/table">
            <a:tbl>
              <a:tblPr/>
              <a:tblGrid>
                <a:gridCol w="2779776">
                  <a:extLst>
                    <a:ext uri="{9D8B030D-6E8A-4147-A177-3AD203B41FA5}">
                      <a16:colId xmlns:a16="http://schemas.microsoft.com/office/drawing/2014/main" val="20000"/>
                    </a:ext>
                  </a:extLst>
                </a:gridCol>
                <a:gridCol w="1042416">
                  <a:extLst>
                    <a:ext uri="{9D8B030D-6E8A-4147-A177-3AD203B41FA5}">
                      <a16:colId xmlns:a16="http://schemas.microsoft.com/office/drawing/2014/main" val="20001"/>
                    </a:ext>
                  </a:extLst>
                </a:gridCol>
                <a:gridCol w="1042416">
                  <a:extLst>
                    <a:ext uri="{9D8B030D-6E8A-4147-A177-3AD203B41FA5}">
                      <a16:colId xmlns:a16="http://schemas.microsoft.com/office/drawing/2014/main" val="20002"/>
                    </a:ext>
                  </a:extLst>
                </a:gridCol>
                <a:gridCol w="1042416">
                  <a:extLst>
                    <a:ext uri="{9D8B030D-6E8A-4147-A177-3AD203B41FA5}">
                      <a16:colId xmlns:a16="http://schemas.microsoft.com/office/drawing/2014/main" val="20003"/>
                    </a:ext>
                  </a:extLst>
                </a:gridCol>
                <a:gridCol w="1042416">
                  <a:extLst>
                    <a:ext uri="{9D8B030D-6E8A-4147-A177-3AD203B41FA5}">
                      <a16:colId xmlns:a16="http://schemas.microsoft.com/office/drawing/2014/main" val="20004"/>
                    </a:ext>
                  </a:extLst>
                </a:gridCol>
              </a:tblGrid>
              <a:tr h="50292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Toutes boutiques sauf Cambridge, trois exercices</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Sans promotion</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7 %</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10 %</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20 %</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502920">
                <a:tc>
                  <a:txBody>
                    <a:bodyPr/>
                    <a:lstStyle/>
                    <a:p>
                      <a:pPr marL="0" indent="0" algn="l">
                        <a:buNone/>
                      </a:pPr>
                      <a:r>
                        <a:rPr lang="en-US" sz="1350" dirty="0">
                          <a:solidFill>
                            <a:srgbClr val="1F2A28"/>
                          </a:solidFill>
                          <a:latin typeface="Calibri" pitchFamily="34" charset="0"/>
                          <a:ea typeface="Calibri" pitchFamily="34" charset="-122"/>
                          <a:cs typeface="Calibri" pitchFamily="34" charset="-120"/>
                        </a:rPr>
                        <a:t>Lignes par jour</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650</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618</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655</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659</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350" dirty="0">
                          <a:solidFill>
                            <a:srgbClr val="1F2A28"/>
                          </a:solidFill>
                          <a:latin typeface="Calibri" pitchFamily="34" charset="0"/>
                          <a:ea typeface="Calibri" pitchFamily="34" charset="-122"/>
                          <a:cs typeface="Calibri" pitchFamily="34" charset="-120"/>
                        </a:rPr>
                        <a:t>Unités par ligne</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15,3</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17,2</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13,6</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12,1</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502920">
                <a:tc>
                  <a:txBody>
                    <a:bodyPr/>
                    <a:lstStyle/>
                    <a:p>
                      <a:pPr marL="0" indent="0" algn="l">
                        <a:buNone/>
                      </a:pPr>
                      <a:r>
                        <a:rPr lang="en-US" sz="1350" dirty="0">
                          <a:solidFill>
                            <a:srgbClr val="1F2A28"/>
                          </a:solidFill>
                          <a:latin typeface="Calibri" pitchFamily="34" charset="0"/>
                          <a:ea typeface="Calibri" pitchFamily="34" charset="-122"/>
                          <a:cs typeface="Calibri" pitchFamily="34" charset="-120"/>
                        </a:rPr>
                        <a:t>Chiffre d'affaires par jour</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2,38 M$</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2,45 M$</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2,12 M$</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1F2A28"/>
                          </a:solidFill>
                          <a:latin typeface="Calibri" pitchFamily="34" charset="0"/>
                          <a:ea typeface="Calibri" pitchFamily="34" charset="-122"/>
                          <a:cs typeface="Calibri" pitchFamily="34" charset="-120"/>
                        </a:rPr>
                        <a:t>1,82 M$</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350" dirty="0">
                          <a:solidFill>
                            <a:srgbClr val="1F2A28"/>
                          </a:solidFill>
                          <a:latin typeface="Calibri" pitchFamily="34" charset="0"/>
                          <a:ea typeface="Calibri" pitchFamily="34" charset="-122"/>
                          <a:cs typeface="Calibri" pitchFamily="34" charset="-120"/>
                        </a:rPr>
                        <a:t>Taux de marge</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57,1 %</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56,1 %</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56,5 %</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50" dirty="0">
                          <a:solidFill>
                            <a:srgbClr val="1F2A28"/>
                          </a:solidFill>
                          <a:latin typeface="Calibri" pitchFamily="34" charset="0"/>
                          <a:ea typeface="Calibri" pitchFamily="34" charset="-122"/>
                          <a:cs typeface="Calibri" pitchFamily="34" charset="-120"/>
                        </a:rPr>
                        <a:t>55,1 %</a:t>
                      </a:r>
                      <a:endParaRPr lang="en-US" sz="13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4"/>
                  </a:ext>
                </a:extLst>
              </a:tr>
            </a:tbl>
          </a:graphicData>
        </a:graphic>
      </p:graphicFrame>
      <p:sp>
        <p:nvSpPr>
          <p:cNvPr id="11" name="Shape 7"/>
          <p:cNvSpPr/>
          <p:nvPr/>
        </p:nvSpPr>
        <p:spPr>
          <a:xfrm>
            <a:off x="7863840" y="1463040"/>
            <a:ext cx="3749040" cy="1371600"/>
          </a:xfrm>
          <a:prstGeom prst="rect">
            <a:avLst/>
          </a:prstGeom>
          <a:solidFill>
            <a:srgbClr val="EAF2EF"/>
          </a:solidFill>
          <a:ln w="9525">
            <a:solidFill>
              <a:srgbClr val="CFE0DA"/>
            </a:solidFill>
            <a:prstDash val="solid"/>
          </a:ln>
        </p:spPr>
        <p:txBody>
          <a:bodyPr/>
          <a:lstStyle/>
          <a:p>
            <a:endParaRPr lang="en-US"/>
          </a:p>
        </p:txBody>
      </p:sp>
      <p:sp>
        <p:nvSpPr>
          <p:cNvPr id="12" name="Text 8"/>
          <p:cNvSpPr/>
          <p:nvPr/>
        </p:nvSpPr>
        <p:spPr>
          <a:xfrm>
            <a:off x="7863840" y="1554480"/>
            <a:ext cx="3749040" cy="685800"/>
          </a:xfrm>
          <a:prstGeom prst="rect">
            <a:avLst/>
          </a:prstGeom>
          <a:noFill/>
          <a:ln/>
        </p:spPr>
        <p:txBody>
          <a:bodyPr wrap="square" lIns="0" tIns="0" rIns="0" bIns="0" rtlCol="0" anchor="ctr"/>
          <a:lstStyle/>
          <a:p>
            <a:pPr marL="0" indent="0" algn="ctr">
              <a:buNone/>
            </a:pPr>
            <a:r>
              <a:rPr lang="en-US" sz="3200" b="1" dirty="0">
                <a:solidFill>
                  <a:srgbClr val="B4442F"/>
                </a:solidFill>
                <a:latin typeface="Cambria" pitchFamily="34" charset="0"/>
                <a:ea typeface="Cambria" pitchFamily="34" charset="-122"/>
                <a:cs typeface="Cambria" pitchFamily="34" charset="-120"/>
              </a:rPr>
              <a:t>−23,6 %</a:t>
            </a:r>
            <a:endParaRPr lang="en-US" sz="3200" dirty="0"/>
          </a:p>
        </p:txBody>
      </p:sp>
      <p:sp>
        <p:nvSpPr>
          <p:cNvPr id="13" name="Text 9"/>
          <p:cNvSpPr/>
          <p:nvPr/>
        </p:nvSpPr>
        <p:spPr>
          <a:xfrm>
            <a:off x="7955280" y="2217420"/>
            <a:ext cx="3566160" cy="548640"/>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chiffre d'affaires par jour sous promotion à 20 %, en comparaison directe</a:t>
            </a:r>
            <a:endParaRPr lang="en-US" sz="1200" dirty="0"/>
          </a:p>
        </p:txBody>
      </p:sp>
      <p:sp>
        <p:nvSpPr>
          <p:cNvPr id="14" name="Shape 10"/>
          <p:cNvSpPr/>
          <p:nvPr/>
        </p:nvSpPr>
        <p:spPr>
          <a:xfrm>
            <a:off x="7863840" y="3017520"/>
            <a:ext cx="3749040" cy="2286000"/>
          </a:xfrm>
          <a:prstGeom prst="rect">
            <a:avLst/>
          </a:prstGeom>
          <a:solidFill>
            <a:srgbClr val="FBF3E4"/>
          </a:solidFill>
          <a:ln w="9525">
            <a:solidFill>
              <a:srgbClr val="CFE0DA"/>
            </a:solidFill>
            <a:prstDash val="solid"/>
          </a:ln>
        </p:spPr>
        <p:txBody>
          <a:bodyPr/>
          <a:lstStyle/>
          <a:p>
            <a:endParaRPr lang="en-US"/>
          </a:p>
        </p:txBody>
      </p:sp>
      <p:sp>
        <p:nvSpPr>
          <p:cNvPr id="15" name="Text 11"/>
          <p:cNvSpPr/>
          <p:nvPr/>
        </p:nvSpPr>
        <p:spPr>
          <a:xfrm>
            <a:off x="8046720" y="3127248"/>
            <a:ext cx="3383280" cy="411480"/>
          </a:xfrm>
          <a:prstGeom prst="rect">
            <a:avLst/>
          </a:prstGeom>
          <a:noFill/>
          <a:ln/>
        </p:spPr>
        <p:txBody>
          <a:bodyPr wrap="square" lIns="0" tIns="0" rIns="0" bIns="0" rtlCol="0" anchor="ctr"/>
          <a:lstStyle/>
          <a:p>
            <a:pPr marL="0" indent="0">
              <a:buNone/>
            </a:pPr>
            <a:r>
              <a:rPr lang="en-US" sz="1500" b="1" dirty="0">
                <a:solidFill>
                  <a:srgbClr val="17332E"/>
                </a:solidFill>
                <a:latin typeface="Cambria" pitchFamily="34" charset="0"/>
                <a:ea typeface="Cambria" pitchFamily="34" charset="-122"/>
                <a:cs typeface="Cambria" pitchFamily="34" charset="-120"/>
              </a:rPr>
              <a:t>Mais la saison est la même</a:t>
            </a:r>
            <a:endParaRPr lang="en-US" sz="1500" dirty="0"/>
          </a:p>
        </p:txBody>
      </p:sp>
      <p:sp>
        <p:nvSpPr>
          <p:cNvPr id="16" name="Text 12"/>
          <p:cNvSpPr/>
          <p:nvPr/>
        </p:nvSpPr>
        <p:spPr>
          <a:xfrm>
            <a:off x="8046720" y="3611880"/>
            <a:ext cx="3383280" cy="1600200"/>
          </a:xfrm>
          <a:prstGeom prst="rect">
            <a:avLst/>
          </a:prstGeom>
          <a:noFill/>
          <a:ln/>
        </p:spPr>
        <p:txBody>
          <a:bodyPr wrap="square" lIns="0" tIns="0" rIns="0" bIns="0" rtlCol="0" anchor="t"/>
          <a:lstStyle/>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Mois à 20 % : indice </a:t>
            </a:r>
            <a:r>
              <a:rPr lang="en-US" sz="1300" b="1" dirty="0">
                <a:solidFill>
                  <a:srgbClr val="1F2A28"/>
                </a:solidFill>
                <a:latin typeface="Calibri" pitchFamily="34" charset="0"/>
                <a:ea typeface="Calibri" pitchFamily="34" charset="-122"/>
                <a:cs typeface="Calibri" pitchFamily="34" charset="-120"/>
              </a:rPr>
              <a:t>86, 83, 86</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Mois sans promotion : indice </a:t>
            </a:r>
            <a:r>
              <a:rPr lang="en-US" sz="1300" b="1" dirty="0">
                <a:solidFill>
                  <a:srgbClr val="1F2A28"/>
                </a:solidFill>
                <a:latin typeface="Calibri" pitchFamily="34" charset="0"/>
                <a:ea typeface="Calibri" pitchFamily="34" charset="-122"/>
                <a:cs typeface="Calibri" pitchFamily="34" charset="-120"/>
              </a:rPr>
              <a:t>106, 111, 116</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Le nombre de lignes par jour ne bouge presque pas</a:t>
            </a:r>
            <a:endParaRPr lang="en-US" sz="1300" dirty="0"/>
          </a:p>
        </p:txBody>
      </p:sp>
      <p:sp>
        <p:nvSpPr>
          <p:cNvPr id="17" name="Text 13"/>
          <p:cNvSpPr/>
          <p:nvPr/>
        </p:nvSpPr>
        <p:spPr>
          <a:xfrm>
            <a:off x="548640" y="4160520"/>
            <a:ext cx="6949440" cy="365760"/>
          </a:xfrm>
          <a:prstGeom prst="rect">
            <a:avLst/>
          </a:prstGeom>
          <a:noFill/>
          <a:ln/>
        </p:spPr>
        <p:txBody>
          <a:bodyPr wrap="square" lIns="0" tIns="0" rIns="0" bIns="0" rtlCol="0" anchor="t"/>
          <a:lstStyle/>
          <a:p>
            <a:pPr marL="0" indent="0" algn="l">
              <a:buNone/>
            </a:pPr>
            <a:r>
              <a:rPr lang="en-US" sz="1200" i="1" dirty="0">
                <a:solidFill>
                  <a:srgbClr val="5E6B68"/>
                </a:solidFill>
                <a:latin typeface="Calibri" pitchFamily="34" charset="0"/>
                <a:ea typeface="Calibri" pitchFamily="34" charset="-122"/>
                <a:cs typeface="Calibri" pitchFamily="34" charset="-120"/>
              </a:rPr>
              <a:t>Indice de saisonnalité : 100 = mois moyen de l'exercice.</a:t>
            </a:r>
            <a:endParaRPr lang="en-US" sz="1200" dirty="0"/>
          </a:p>
        </p:txBody>
      </p:sp>
      <p:sp>
        <p:nvSpPr>
          <p:cNvPr id="18" name="Shape 14"/>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9" name="Shape 15"/>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20" name="Text 16"/>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Un chiffre vrai, une lecture fausse : il faut une comparaison qui </a:t>
            </a:r>
            <a:r>
              <a:rPr lang="en-US" sz="1500" b="1" dirty="0">
                <a:solidFill>
                  <a:srgbClr val="17332E"/>
                </a:solidFill>
                <a:latin typeface="Calibri" pitchFamily="34" charset="0"/>
                <a:ea typeface="Calibri" pitchFamily="34" charset="-122"/>
                <a:cs typeface="Calibri" pitchFamily="34" charset="-120"/>
              </a:rPr>
              <a:t>neutralise la saison</a:t>
            </a:r>
            <a:r>
              <a:rPr lang="en-US" sz="1500" dirty="0">
                <a:solidFill>
                  <a:srgbClr val="17332E"/>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Mouncif Bouchachi</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4 · Q2 À Q5 : PROMOTIONS, REMISES ET RETOURS</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Q2 · Angle A : les ventes reculent quand le taux monte, repartent quand il baisse</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Mouncif Bouchachi</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39</a:t>
            </a:r>
            <a:endParaRPr lang="en-US" sz="1000" dirty="0"/>
          </a:p>
        </p:txBody>
      </p:sp>
      <p:pic>
        <p:nvPicPr>
          <p:cNvPr id="10" name="Image 0" descr="/tmp/claude-0/complet/reports/figures/07_bascules.png"/>
          <p:cNvPicPr>
            <a:picLocks noChangeAspect="1"/>
          </p:cNvPicPr>
          <p:nvPr/>
        </p:nvPicPr>
        <p:blipFill>
          <a:blip r:embed="rId3"/>
          <a:stretch>
            <a:fillRect/>
          </a:stretch>
        </p:blipFill>
        <p:spPr>
          <a:xfrm>
            <a:off x="548640" y="1678842"/>
            <a:ext cx="6766560" cy="3591757"/>
          </a:xfrm>
          <a:prstGeom prst="rect">
            <a:avLst/>
          </a:prstGeom>
        </p:spPr>
      </p:pic>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7589520" y="1463040"/>
          <a:ext cx="4023360" cy="1828800"/>
        </p:xfrm>
        <a:graphic>
          <a:graphicData uri="http://schemas.openxmlformats.org/drawingml/2006/table">
            <a:tbl>
              <a:tblPr/>
              <a:tblGrid>
                <a:gridCol w="2011680">
                  <a:extLst>
                    <a:ext uri="{9D8B030D-6E8A-4147-A177-3AD203B41FA5}">
                      <a16:colId xmlns:a16="http://schemas.microsoft.com/office/drawing/2014/main" val="20000"/>
                    </a:ext>
                  </a:extLst>
                </a:gridCol>
                <a:gridCol w="804672">
                  <a:extLst>
                    <a:ext uri="{9D8B030D-6E8A-4147-A177-3AD203B41FA5}">
                      <a16:colId xmlns:a16="http://schemas.microsoft.com/office/drawing/2014/main" val="20001"/>
                    </a:ext>
                  </a:extLst>
                </a:gridCol>
                <a:gridCol w="1207008">
                  <a:extLst>
                    <a:ext uri="{9D8B030D-6E8A-4147-A177-3AD203B41FA5}">
                      <a16:colId xmlns:a16="http://schemas.microsoft.com/office/drawing/2014/main" val="20002"/>
                    </a:ext>
                  </a:extLst>
                </a:gridCol>
              </a:tblGrid>
              <a:tr h="45720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Nature de la date</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Dates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Variation</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457200">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Le taux monte</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F2A28"/>
                          </a:solidFill>
                          <a:latin typeface="Calibri" pitchFamily="34" charset="0"/>
                          <a:ea typeface="Calibri" pitchFamily="34" charset="-122"/>
                          <a:cs typeface="Calibri" pitchFamily="34" charset="-120"/>
                        </a:rPr>
                        <a:t>−10,9 %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Le taux baisse</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b="1" dirty="0">
                          <a:solidFill>
                            <a:srgbClr val="1F2A28"/>
                          </a:solidFill>
                          <a:latin typeface="Calibri" pitchFamily="34" charset="0"/>
                          <a:ea typeface="Calibri" pitchFamily="34" charset="-122"/>
                          <a:cs typeface="Calibri" pitchFamily="34" charset="-120"/>
                        </a:rPr>
                        <a:t>+23,8 %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457200">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Taux inchangé (placebo)</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21</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+0,1 %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2" name="Text 7"/>
          <p:cNvSpPr/>
          <p:nvPr/>
        </p:nvSpPr>
        <p:spPr>
          <a:xfrm>
            <a:off x="7589520" y="3520440"/>
            <a:ext cx="4023360" cy="1920240"/>
          </a:xfrm>
          <a:prstGeom prst="rect">
            <a:avLst/>
          </a:prstGeom>
          <a:noFill/>
          <a:ln/>
        </p:spPr>
        <p:txBody>
          <a:bodyPr wrap="square" lIns="0" tIns="0" rIns="0" bIns="0" rtlCol="0" anchor="t"/>
          <a:lstStyle/>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14 jours avant contre 14 jours après chaque 1er du mois</a:t>
            </a:r>
            <a:endParaRPr lang="en-US" sz="1350" dirty="0"/>
          </a:p>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Même sens dans les </a:t>
            </a:r>
            <a:r>
              <a:rPr lang="en-US" sz="1350" b="1" dirty="0">
                <a:solidFill>
                  <a:srgbClr val="1F2A28"/>
                </a:solidFill>
                <a:latin typeface="Calibri" pitchFamily="34" charset="0"/>
                <a:ea typeface="Calibri" pitchFamily="34" charset="-122"/>
                <a:cs typeface="Calibri" pitchFamily="34" charset="-120"/>
              </a:rPr>
              <a:t>trois canaux</a:t>
            </a:r>
            <a:endParaRPr lang="en-US" sz="1350" dirty="0"/>
          </a:p>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Corrélation taux et ventes : </a:t>
            </a:r>
            <a:r>
              <a:rPr lang="en-US" sz="1350" b="1" dirty="0">
                <a:solidFill>
                  <a:srgbClr val="1F2A28"/>
                </a:solidFill>
                <a:latin typeface="Calibri" pitchFamily="34" charset="0"/>
                <a:ea typeface="Calibri" pitchFamily="34" charset="-122"/>
                <a:cs typeface="Calibri" pitchFamily="34" charset="-120"/>
              </a:rPr>
              <a:t>−0,50</a:t>
            </a:r>
            <a:r>
              <a:rPr lang="en-US" sz="1350" dirty="0">
                <a:solidFill>
                  <a:srgbClr val="1F2A28"/>
                </a:solidFill>
                <a:latin typeface="Calibri" pitchFamily="34" charset="0"/>
                <a:ea typeface="Calibri" pitchFamily="34" charset="-122"/>
                <a:cs typeface="Calibri" pitchFamily="34" charset="-120"/>
              </a:rPr>
              <a:t>, sous le seuil corrigé</a:t>
            </a:r>
            <a:endParaRPr lang="en-US" sz="1350" dirty="0"/>
          </a:p>
        </p:txBody>
      </p:sp>
      <p:sp>
        <p:nvSpPr>
          <p:cNvPr id="13" name="Shape 8"/>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4" name="Shape 9"/>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15" name="Text 10"/>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Quand la promotion se renforce, on vend </a:t>
            </a:r>
            <a:r>
              <a:rPr lang="en-US" sz="1500" b="1" dirty="0">
                <a:solidFill>
                  <a:srgbClr val="17332E"/>
                </a:solidFill>
                <a:latin typeface="Calibri" pitchFamily="34" charset="0"/>
                <a:ea typeface="Calibri" pitchFamily="34" charset="-122"/>
                <a:cs typeface="Calibri" pitchFamily="34" charset="-120"/>
              </a:rPr>
              <a:t>moins</a:t>
            </a:r>
            <a:r>
              <a:rPr lang="en-US" sz="1500" dirty="0">
                <a:solidFill>
                  <a:srgbClr val="17332E"/>
                </a:solidFill>
                <a:latin typeface="Calibri" pitchFamily="34" charset="0"/>
                <a:ea typeface="Calibri" pitchFamily="34" charset="-122"/>
                <a:cs typeface="Calibri" pitchFamily="34" charset="-120"/>
              </a:rPr>
              <a:t>, pas plus. Le placebo écarte un simple effet de date.</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Mouncif Bouchachi</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4 · Q2 À Q5 : PROMOTIONS, REMISES ET RETOURS</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Q2 · Angles B et C : Cambridge ne vend pas plus, et en magasin la ligne ne grossit pas</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Mouncif Bouchachi</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40</a:t>
            </a:r>
            <a:endParaRPr lang="en-US" sz="1000" dirty="0"/>
          </a:p>
        </p:txBody>
      </p:sp>
      <p:pic>
        <p:nvPicPr>
          <p:cNvPr id="10" name="Image 0" descr="/tmp/claude-0/complet/reports/figures/07_magasin_temoin.png"/>
          <p:cNvPicPr>
            <a:picLocks noChangeAspect="1"/>
          </p:cNvPicPr>
          <p:nvPr/>
        </p:nvPicPr>
        <p:blipFill>
          <a:blip r:embed="rId3"/>
          <a:stretch>
            <a:fillRect/>
          </a:stretch>
        </p:blipFill>
        <p:spPr>
          <a:xfrm>
            <a:off x="548640" y="1757610"/>
            <a:ext cx="6583680" cy="3434221"/>
          </a:xfrm>
          <a:prstGeom prst="rect">
            <a:avLst/>
          </a:prstGeom>
        </p:spPr>
      </p:pic>
      <p:sp>
        <p:nvSpPr>
          <p:cNvPr id="11" name="Shape 7"/>
          <p:cNvSpPr/>
          <p:nvPr/>
        </p:nvSpPr>
        <p:spPr>
          <a:xfrm>
            <a:off x="7406640" y="1463040"/>
            <a:ext cx="4206240" cy="2148840"/>
          </a:xfrm>
          <a:prstGeom prst="rect">
            <a:avLst/>
          </a:prstGeom>
          <a:solidFill>
            <a:srgbClr val="EAF2EF"/>
          </a:solidFill>
          <a:ln w="9525">
            <a:solidFill>
              <a:srgbClr val="CFE0DA"/>
            </a:solidFill>
            <a:prstDash val="solid"/>
          </a:ln>
        </p:spPr>
        <p:txBody>
          <a:bodyPr/>
          <a:lstStyle/>
          <a:p>
            <a:endParaRPr lang="en-US"/>
          </a:p>
        </p:txBody>
      </p:sp>
      <p:sp>
        <p:nvSpPr>
          <p:cNvPr id="12" name="Text 8"/>
          <p:cNvSpPr/>
          <p:nvPr/>
        </p:nvSpPr>
        <p:spPr>
          <a:xfrm>
            <a:off x="7589520" y="1572768"/>
            <a:ext cx="3840480" cy="411480"/>
          </a:xfrm>
          <a:prstGeom prst="rect">
            <a:avLst/>
          </a:prstGeom>
          <a:noFill/>
          <a:ln/>
        </p:spPr>
        <p:txBody>
          <a:bodyPr wrap="square" lIns="0" tIns="0" rIns="0" bIns="0" rtlCol="0" anchor="ctr"/>
          <a:lstStyle/>
          <a:p>
            <a:pPr marL="0" indent="0">
              <a:buNone/>
            </a:pPr>
            <a:r>
              <a:rPr lang="en-US" sz="1450" b="1" dirty="0">
                <a:solidFill>
                  <a:srgbClr val="17332E"/>
                </a:solidFill>
                <a:latin typeface="Cambria" pitchFamily="34" charset="0"/>
                <a:ea typeface="Cambria" pitchFamily="34" charset="-122"/>
                <a:cs typeface="Cambria" pitchFamily="34" charset="-120"/>
              </a:rPr>
              <a:t>B · Cambridge, magasin témoin</a:t>
            </a:r>
            <a:endParaRPr lang="en-US" sz="1450" dirty="0"/>
          </a:p>
        </p:txBody>
      </p:sp>
      <p:sp>
        <p:nvSpPr>
          <p:cNvPr id="13" name="Text 9"/>
          <p:cNvSpPr/>
          <p:nvPr/>
        </p:nvSpPr>
        <p:spPr>
          <a:xfrm>
            <a:off x="7589520" y="2057400"/>
            <a:ext cx="3840480" cy="1463040"/>
          </a:xfrm>
          <a:prstGeom prst="rect">
            <a:avLst/>
          </a:prstGeom>
          <a:noFill/>
          <a:ln/>
        </p:spPr>
        <p:txBody>
          <a:bodyPr wrap="square" lIns="0" tIns="0" rIns="0" bIns="0" rtlCol="0" anchor="t"/>
          <a:lstStyle/>
          <a:p>
            <a:pPr marL="0" indent="0">
              <a:spcAft>
                <a:spcPts val="800"/>
              </a:spcAft>
              <a:buNone/>
            </a:pPr>
            <a:r>
              <a:rPr lang="en-US" sz="1250" b="1" dirty="0">
                <a:solidFill>
                  <a:srgbClr val="2E5E55"/>
                </a:solidFill>
                <a:latin typeface="Calibri" pitchFamily="34" charset="0"/>
                <a:ea typeface="Calibri" pitchFamily="34" charset="-122"/>
                <a:cs typeface="Calibri" pitchFamily="34" charset="-120"/>
              </a:rPr>
              <a:t>•  </a:t>
            </a:r>
            <a:r>
              <a:rPr lang="en-US" sz="1250" dirty="0">
                <a:solidFill>
                  <a:srgbClr val="1F2A28"/>
                </a:solidFill>
                <a:latin typeface="Calibri" pitchFamily="34" charset="0"/>
                <a:ea typeface="Calibri" pitchFamily="34" charset="-122"/>
                <a:cs typeface="Calibri" pitchFamily="34" charset="-120"/>
              </a:rPr>
              <a:t>Plus de promotion que les autres (juillet) : </a:t>
            </a:r>
            <a:r>
              <a:rPr lang="en-US" sz="1250" b="1" dirty="0">
                <a:solidFill>
                  <a:srgbClr val="1F2A28"/>
                </a:solidFill>
                <a:latin typeface="Calibri" pitchFamily="34" charset="0"/>
                <a:ea typeface="Calibri" pitchFamily="34" charset="-122"/>
                <a:cs typeface="Calibri" pitchFamily="34" charset="-120"/>
              </a:rPr>
              <a:t>ne vend pas plus</a:t>
            </a:r>
            <a:endParaRPr lang="en-US" sz="1250" dirty="0"/>
          </a:p>
          <a:p>
            <a:pPr marL="0" indent="0">
              <a:spcAft>
                <a:spcPts val="800"/>
              </a:spcAft>
              <a:buNone/>
            </a:pPr>
            <a:r>
              <a:rPr lang="en-US" sz="1250" b="1" dirty="0">
                <a:solidFill>
                  <a:srgbClr val="2E5E55"/>
                </a:solidFill>
                <a:latin typeface="Calibri" pitchFamily="34" charset="0"/>
                <a:ea typeface="Calibri" pitchFamily="34" charset="-122"/>
                <a:cs typeface="Calibri" pitchFamily="34" charset="-120"/>
              </a:rPr>
              <a:t>•  </a:t>
            </a:r>
            <a:r>
              <a:rPr lang="en-US" sz="1250" dirty="0">
                <a:solidFill>
                  <a:srgbClr val="1F2A28"/>
                </a:solidFill>
                <a:latin typeface="Calibri" pitchFamily="34" charset="0"/>
                <a:ea typeface="Calibri" pitchFamily="34" charset="-122"/>
                <a:cs typeface="Calibri" pitchFamily="34" charset="-120"/>
              </a:rPr>
              <a:t>Pas de rebond en février : le rebond des autres vient de </a:t>
            </a:r>
            <a:r>
              <a:rPr lang="en-US" sz="1250" b="1" dirty="0">
                <a:solidFill>
                  <a:srgbClr val="1F2A28"/>
                </a:solidFill>
                <a:latin typeface="Calibri" pitchFamily="34" charset="0"/>
                <a:ea typeface="Calibri" pitchFamily="34" charset="-122"/>
                <a:cs typeface="Calibri" pitchFamily="34" charset="-120"/>
              </a:rPr>
              <a:t>la fin du 20 %</a:t>
            </a:r>
            <a:endParaRPr lang="en-US" sz="1250" dirty="0"/>
          </a:p>
          <a:p>
            <a:pPr marL="0" indent="0">
              <a:spcAft>
                <a:spcPts val="800"/>
              </a:spcAft>
              <a:buNone/>
            </a:pPr>
            <a:r>
              <a:rPr lang="en-US" sz="1250" b="1" dirty="0">
                <a:solidFill>
                  <a:srgbClr val="2E5E55"/>
                </a:solidFill>
                <a:latin typeface="Calibri" pitchFamily="34" charset="0"/>
                <a:ea typeface="Calibri" pitchFamily="34" charset="-122"/>
                <a:cs typeface="Calibri" pitchFamily="34" charset="-120"/>
              </a:rPr>
              <a:t>•  </a:t>
            </a:r>
            <a:r>
              <a:rPr lang="en-US" sz="1250" dirty="0">
                <a:solidFill>
                  <a:srgbClr val="1F2A28"/>
                </a:solidFill>
                <a:latin typeface="Calibri" pitchFamily="34" charset="0"/>
                <a:ea typeface="Calibri" pitchFamily="34" charset="-122"/>
                <a:cs typeface="Calibri" pitchFamily="34" charset="-120"/>
              </a:rPr>
              <a:t>Indice : un seul magasin</a:t>
            </a:r>
            <a:endParaRPr lang="en-US" sz="1250" dirty="0"/>
          </a:p>
        </p:txBody>
      </p:sp>
      <p:sp>
        <p:nvSpPr>
          <p:cNvPr id="14" name="Shape 10"/>
          <p:cNvSpPr/>
          <p:nvPr/>
        </p:nvSpPr>
        <p:spPr>
          <a:xfrm>
            <a:off x="7406640" y="3749040"/>
            <a:ext cx="4206240" cy="1783080"/>
          </a:xfrm>
          <a:prstGeom prst="rect">
            <a:avLst/>
          </a:prstGeom>
          <a:solidFill>
            <a:srgbClr val="EAF2EF"/>
          </a:solidFill>
          <a:ln w="9525">
            <a:solidFill>
              <a:srgbClr val="CFE0DA"/>
            </a:solidFill>
            <a:prstDash val="solid"/>
          </a:ln>
        </p:spPr>
        <p:txBody>
          <a:bodyPr/>
          <a:lstStyle/>
          <a:p>
            <a:endParaRPr lang="en-US"/>
          </a:p>
        </p:txBody>
      </p:sp>
      <p:sp>
        <p:nvSpPr>
          <p:cNvPr id="15" name="Text 11"/>
          <p:cNvSpPr/>
          <p:nvPr/>
        </p:nvSpPr>
        <p:spPr>
          <a:xfrm>
            <a:off x="7589520" y="3858768"/>
            <a:ext cx="3840480" cy="411480"/>
          </a:xfrm>
          <a:prstGeom prst="rect">
            <a:avLst/>
          </a:prstGeom>
          <a:noFill/>
          <a:ln/>
        </p:spPr>
        <p:txBody>
          <a:bodyPr wrap="square" lIns="0" tIns="0" rIns="0" bIns="0" rtlCol="0" anchor="ctr"/>
          <a:lstStyle/>
          <a:p>
            <a:pPr marL="0" indent="0">
              <a:buNone/>
            </a:pPr>
            <a:r>
              <a:rPr lang="en-US" sz="1450" b="1" dirty="0">
                <a:solidFill>
                  <a:srgbClr val="17332E"/>
                </a:solidFill>
                <a:latin typeface="Cambria" pitchFamily="34" charset="0"/>
                <a:ea typeface="Cambria" pitchFamily="34" charset="-122"/>
                <a:cs typeface="Cambria" pitchFamily="34" charset="-120"/>
              </a:rPr>
              <a:t>C · Lignes remisées, même produit, même mois</a:t>
            </a:r>
            <a:endParaRPr lang="en-US" sz="1450" dirty="0"/>
          </a:p>
        </p:txBody>
      </p:sp>
      <p:sp>
        <p:nvSpPr>
          <p:cNvPr id="16" name="Text 12"/>
          <p:cNvSpPr/>
          <p:nvPr/>
        </p:nvSpPr>
        <p:spPr>
          <a:xfrm>
            <a:off x="7589520" y="4343400"/>
            <a:ext cx="3840480" cy="1097280"/>
          </a:xfrm>
          <a:prstGeom prst="rect">
            <a:avLst/>
          </a:prstGeom>
          <a:noFill/>
          <a:ln/>
        </p:spPr>
        <p:txBody>
          <a:bodyPr wrap="square" lIns="0" tIns="0" rIns="0" bIns="0" rtlCol="0" anchor="t"/>
          <a:lstStyle/>
          <a:p>
            <a:pPr marL="0" indent="0">
              <a:spcAft>
                <a:spcPts val="800"/>
              </a:spcAft>
              <a:buNone/>
            </a:pPr>
            <a:r>
              <a:rPr lang="en-US" sz="1250" b="1" dirty="0">
                <a:solidFill>
                  <a:srgbClr val="2E5E55"/>
                </a:solidFill>
                <a:latin typeface="Calibri" pitchFamily="34" charset="0"/>
                <a:ea typeface="Calibri" pitchFamily="34" charset="-122"/>
                <a:cs typeface="Calibri" pitchFamily="34" charset="-120"/>
              </a:rPr>
              <a:t>•  </a:t>
            </a:r>
            <a:r>
              <a:rPr lang="en-US" sz="1250" dirty="0">
                <a:solidFill>
                  <a:srgbClr val="1F2A28"/>
                </a:solidFill>
                <a:latin typeface="Calibri" pitchFamily="34" charset="0"/>
                <a:ea typeface="Calibri" pitchFamily="34" charset="-122"/>
                <a:cs typeface="Calibri" pitchFamily="34" charset="-120"/>
              </a:rPr>
              <a:t>Magasins : </a:t>
            </a:r>
            <a:r>
              <a:rPr lang="en-US" sz="1250" b="1" dirty="0">
                <a:solidFill>
                  <a:srgbClr val="1F2A28"/>
                </a:solidFill>
                <a:latin typeface="Calibri" pitchFamily="34" charset="0"/>
                <a:ea typeface="Calibri" pitchFamily="34" charset="-122"/>
                <a:cs typeface="Calibri" pitchFamily="34" charset="-120"/>
              </a:rPr>
              <a:t>écart médian nul</a:t>
            </a:r>
            <a:r>
              <a:rPr lang="en-US" sz="1250" dirty="0">
                <a:solidFill>
                  <a:srgbClr val="1F2A28"/>
                </a:solidFill>
                <a:latin typeface="Calibri" pitchFamily="34" charset="0"/>
                <a:ea typeface="Calibri" pitchFamily="34" charset="-122"/>
                <a:cs typeface="Calibri" pitchFamily="34" charset="-120"/>
              </a:rPr>
              <a:t>, trois exercices</a:t>
            </a:r>
            <a:endParaRPr lang="en-US" sz="1250" dirty="0"/>
          </a:p>
          <a:p>
            <a:pPr marL="0" indent="0">
              <a:spcAft>
                <a:spcPts val="800"/>
              </a:spcAft>
              <a:buNone/>
            </a:pPr>
            <a:r>
              <a:rPr lang="en-US" sz="1250" b="1" dirty="0">
                <a:solidFill>
                  <a:srgbClr val="2E5E55"/>
                </a:solidFill>
                <a:latin typeface="Calibri" pitchFamily="34" charset="0"/>
                <a:ea typeface="Calibri" pitchFamily="34" charset="-122"/>
                <a:cs typeface="Calibri" pitchFamily="34" charset="-120"/>
              </a:rPr>
              <a:t>•  </a:t>
            </a:r>
            <a:r>
              <a:rPr lang="en-US" sz="1250" dirty="0">
                <a:solidFill>
                  <a:srgbClr val="1F2A28"/>
                </a:solidFill>
                <a:latin typeface="Calibri" pitchFamily="34" charset="0"/>
                <a:ea typeface="Calibri" pitchFamily="34" charset="-122"/>
                <a:cs typeface="Calibri" pitchFamily="34" charset="-120"/>
              </a:rPr>
              <a:t>En ligne, revendeur : lignes plus grosses, lien en partie mécanique</a:t>
            </a:r>
            <a:endParaRPr lang="en-US" sz="1250" dirty="0"/>
          </a:p>
        </p:txBody>
      </p:sp>
      <p:sp>
        <p:nvSpPr>
          <p:cNvPr id="17" name="Shape 13"/>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8" name="Shape 14"/>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19" name="Text 15"/>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À saison égale, </a:t>
            </a:r>
            <a:r>
              <a:rPr lang="en-US" sz="1500" b="1" dirty="0">
                <a:solidFill>
                  <a:srgbClr val="17332E"/>
                </a:solidFill>
                <a:latin typeface="Calibri" pitchFamily="34" charset="0"/>
                <a:ea typeface="Calibri" pitchFamily="34" charset="-122"/>
                <a:cs typeface="Calibri" pitchFamily="34" charset="-120"/>
              </a:rPr>
              <a:t>plus de promotion ne fait pas vendre plus</a:t>
            </a:r>
            <a:r>
              <a:rPr lang="en-US" sz="1500" dirty="0">
                <a:solidFill>
                  <a:srgbClr val="17332E"/>
                </a:solidFill>
                <a:latin typeface="Calibri" pitchFamily="34" charset="0"/>
                <a:ea typeface="Calibri" pitchFamily="34" charset="-122"/>
                <a:cs typeface="Calibri" pitchFamily="34" charset="-120"/>
              </a:rPr>
              <a:t>, ni à Cambridge, ni dans une ligne de magasin.</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Mouncif Bouchachi</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4 · Q2 À Q5 : PROMOTIONS, REMISES ET RETOURS</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Q2 · La corrélation de −0,44 avec le résultat vient du calendrier, pas de la promotion</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Mouncif Bouchachi</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41</a:t>
            </a:r>
            <a:endParaRPr lang="en-US" sz="1000" dirty="0"/>
          </a:p>
        </p:txBody>
      </p:sp>
      <p:pic>
        <p:nvPicPr>
          <p:cNvPr id="10" name="Image 0" descr="/tmp/claude-0/complet/reports/figures/07_correlation_promotion_resultat.png"/>
          <p:cNvPicPr>
            <a:picLocks noChangeAspect="1"/>
          </p:cNvPicPr>
          <p:nvPr/>
        </p:nvPicPr>
        <p:blipFill>
          <a:blip r:embed="rId3"/>
          <a:stretch>
            <a:fillRect/>
          </a:stretch>
        </p:blipFill>
        <p:spPr>
          <a:xfrm>
            <a:off x="548640" y="1975166"/>
            <a:ext cx="7680960" cy="2999108"/>
          </a:xfrm>
          <a:prstGeom prst="rect">
            <a:avLst/>
          </a:prstGeom>
        </p:spPr>
      </p:pic>
      <p:sp>
        <p:nvSpPr>
          <p:cNvPr id="11" name="Text 7"/>
          <p:cNvSpPr/>
          <p:nvPr/>
        </p:nvSpPr>
        <p:spPr>
          <a:xfrm>
            <a:off x="8503920" y="1645920"/>
            <a:ext cx="3108960" cy="3840480"/>
          </a:xfrm>
          <a:prstGeom prst="rect">
            <a:avLst/>
          </a:prstGeom>
          <a:noFill/>
          <a:ln/>
        </p:spPr>
        <p:txBody>
          <a:bodyPr wrap="square" lIns="0" tIns="0" rIns="0" bIns="0" rtlCol="0" anchor="t"/>
          <a:lstStyle/>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Le </a:t>
            </a:r>
            <a:r>
              <a:rPr lang="en-US" sz="1350" b="1" dirty="0">
                <a:solidFill>
                  <a:srgbClr val="1F2A28"/>
                </a:solidFill>
                <a:latin typeface="Calibri" pitchFamily="34" charset="0"/>
                <a:ea typeface="Calibri" pitchFamily="34" charset="-122"/>
                <a:cs typeface="Calibri" pitchFamily="34" charset="-120"/>
              </a:rPr>
              <a:t>mois</a:t>
            </a:r>
            <a:r>
              <a:rPr lang="en-US" sz="1350" dirty="0">
                <a:solidFill>
                  <a:srgbClr val="1F2A28"/>
                </a:solidFill>
                <a:latin typeface="Calibri" pitchFamily="34" charset="0"/>
                <a:ea typeface="Calibri" pitchFamily="34" charset="-122"/>
                <a:cs typeface="Calibri" pitchFamily="34" charset="-120"/>
              </a:rPr>
              <a:t> explique 97,4 % de la part en promotion, le magasin 0,1 %</a:t>
            </a:r>
            <a:endParaRPr lang="en-US" sz="1350" dirty="0"/>
          </a:p>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Sans la publicité : </a:t>
            </a:r>
            <a:r>
              <a:rPr lang="en-US" sz="1350" b="1" dirty="0">
                <a:solidFill>
                  <a:srgbClr val="1F2A28"/>
                </a:solidFill>
                <a:latin typeface="Calibri" pitchFamily="34" charset="0"/>
                <a:ea typeface="Calibri" pitchFamily="34" charset="-122"/>
                <a:cs typeface="Calibri" pitchFamily="34" charset="-120"/>
              </a:rPr>
              <a:t>−0,21</a:t>
            </a:r>
            <a:endParaRPr lang="en-US" sz="1350" dirty="0"/>
          </a:p>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À mois égal : </a:t>
            </a:r>
            <a:r>
              <a:rPr lang="en-US" sz="1350" b="1" dirty="0">
                <a:solidFill>
                  <a:srgbClr val="1F2A28"/>
                </a:solidFill>
                <a:latin typeface="Calibri" pitchFamily="34" charset="0"/>
                <a:ea typeface="Calibri" pitchFamily="34" charset="-122"/>
                <a:cs typeface="Calibri" pitchFamily="34" charset="-120"/>
              </a:rPr>
              <a:t>−0,02</a:t>
            </a:r>
            <a:endParaRPr lang="en-US" sz="1350" dirty="0"/>
          </a:p>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Janvier à mars : mois de promotion </a:t>
            </a:r>
            <a:r>
              <a:rPr lang="en-US" sz="1350" b="1" dirty="0">
                <a:solidFill>
                  <a:srgbClr val="1F2A28"/>
                </a:solidFill>
                <a:latin typeface="Calibri" pitchFamily="34" charset="0"/>
                <a:ea typeface="Calibri" pitchFamily="34" charset="-122"/>
                <a:cs typeface="Calibri" pitchFamily="34" charset="-120"/>
              </a:rPr>
              <a:t>et</a:t>
            </a:r>
            <a:r>
              <a:rPr lang="en-US" sz="1350" dirty="0">
                <a:solidFill>
                  <a:srgbClr val="1F2A28"/>
                </a:solidFill>
                <a:latin typeface="Calibri" pitchFamily="34" charset="0"/>
                <a:ea typeface="Calibri" pitchFamily="34" charset="-122"/>
                <a:cs typeface="Calibri" pitchFamily="34" charset="-120"/>
              </a:rPr>
              <a:t> de publicité</a:t>
            </a:r>
            <a:endParaRPr lang="en-US" sz="1350" dirty="0"/>
          </a:p>
        </p:txBody>
      </p:sp>
      <p:sp>
        <p:nvSpPr>
          <p:cNvPr id="12" name="Shape 8"/>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3" name="Shape 9"/>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14" name="Text 10"/>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On ne perd pas d'argent </a:t>
            </a:r>
            <a:r>
              <a:rPr lang="en-US" sz="1500" b="1" dirty="0">
                <a:solidFill>
                  <a:srgbClr val="17332E"/>
                </a:solidFill>
                <a:latin typeface="Calibri" pitchFamily="34" charset="0"/>
                <a:ea typeface="Calibri" pitchFamily="34" charset="-122"/>
                <a:cs typeface="Calibri" pitchFamily="34" charset="-120"/>
              </a:rPr>
              <a:t>parce qu'on</a:t>
            </a:r>
            <a:r>
              <a:rPr lang="en-US" sz="1500" dirty="0">
                <a:solidFill>
                  <a:srgbClr val="17332E"/>
                </a:solidFill>
                <a:latin typeface="Calibri" pitchFamily="34" charset="0"/>
                <a:ea typeface="Calibri" pitchFamily="34" charset="-122"/>
                <a:cs typeface="Calibri" pitchFamily="34" charset="-120"/>
              </a:rPr>
              <a:t> promeut : on promeut </a:t>
            </a:r>
            <a:r>
              <a:rPr lang="en-US" sz="1500" b="1" dirty="0">
                <a:solidFill>
                  <a:srgbClr val="17332E"/>
                </a:solidFill>
                <a:latin typeface="Calibri" pitchFamily="34" charset="0"/>
                <a:ea typeface="Calibri" pitchFamily="34" charset="-122"/>
                <a:cs typeface="Calibri" pitchFamily="34" charset="-120"/>
              </a:rPr>
              <a:t>quand</a:t>
            </a:r>
            <a:r>
              <a:rPr lang="en-US" sz="1500" dirty="0">
                <a:solidFill>
                  <a:srgbClr val="17332E"/>
                </a:solidFill>
                <a:latin typeface="Calibri" pitchFamily="34" charset="0"/>
                <a:ea typeface="Calibri" pitchFamily="34" charset="-122"/>
                <a:cs typeface="Calibri" pitchFamily="34" charset="-120"/>
              </a:rPr>
              <a:t> le résultat est bas.</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Mouncif Bouchachi</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4 · Q2 À Q5 : PROMOTIONS, REMISES ET RETOURS</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Q2 · Un coût certain : il faudrait 5,1 % de ventes en plus pour payer les promotions</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Mouncif Bouchachi</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42</a:t>
            </a:r>
            <a:endParaRPr lang="en-US" sz="1000" dirty="0"/>
          </a:p>
        </p:txBody>
      </p:sp>
      <p:pic>
        <p:nvPicPr>
          <p:cNvPr id="10" name="Image 0" descr="/tmp/claude-0/complet/reports/figures/07_seuil_rentabilite_promotions.png"/>
          <p:cNvPicPr>
            <a:picLocks noChangeAspect="1"/>
          </p:cNvPicPr>
          <p:nvPr/>
        </p:nvPicPr>
        <p:blipFill>
          <a:blip r:embed="rId3"/>
          <a:stretch>
            <a:fillRect/>
          </a:stretch>
        </p:blipFill>
        <p:spPr>
          <a:xfrm>
            <a:off x="548640" y="1596657"/>
            <a:ext cx="6949440" cy="2750286"/>
          </a:xfrm>
          <a:prstGeom prst="rect">
            <a:avLst/>
          </a:prstGeom>
        </p:spPr>
      </p:pic>
      <p:sp>
        <p:nvSpPr>
          <p:cNvPr id="11" name="Shape 7"/>
          <p:cNvSpPr/>
          <p:nvPr/>
        </p:nvSpPr>
        <p:spPr>
          <a:xfrm>
            <a:off x="548640" y="4572000"/>
            <a:ext cx="2240280" cy="960120"/>
          </a:xfrm>
          <a:prstGeom prst="rect">
            <a:avLst/>
          </a:prstGeom>
          <a:solidFill>
            <a:srgbClr val="EAF2EF"/>
          </a:solidFill>
          <a:ln w="9525">
            <a:solidFill>
              <a:srgbClr val="CFE0DA"/>
            </a:solidFill>
            <a:prstDash val="solid"/>
          </a:ln>
        </p:spPr>
        <p:txBody>
          <a:bodyPr/>
          <a:lstStyle/>
          <a:p>
            <a:endParaRPr lang="en-US"/>
          </a:p>
        </p:txBody>
      </p:sp>
      <p:sp>
        <p:nvSpPr>
          <p:cNvPr id="12" name="Text 8"/>
          <p:cNvSpPr/>
          <p:nvPr/>
        </p:nvSpPr>
        <p:spPr>
          <a:xfrm>
            <a:off x="548640" y="4663440"/>
            <a:ext cx="2240280" cy="480060"/>
          </a:xfrm>
          <a:prstGeom prst="rect">
            <a:avLst/>
          </a:prstGeom>
          <a:noFill/>
          <a:ln/>
        </p:spPr>
        <p:txBody>
          <a:bodyPr wrap="square" lIns="0" tIns="0" rIns="0" bIns="0" rtlCol="0" anchor="ctr"/>
          <a:lstStyle/>
          <a:p>
            <a:pPr marL="0" indent="0" algn="ctr">
              <a:buNone/>
            </a:pPr>
            <a:r>
              <a:rPr lang="en-US" sz="2200" b="1" dirty="0">
                <a:solidFill>
                  <a:srgbClr val="17332E"/>
                </a:solidFill>
                <a:latin typeface="Cambria" pitchFamily="34" charset="0"/>
                <a:ea typeface="Cambria" pitchFamily="34" charset="-122"/>
                <a:cs typeface="Cambria" pitchFamily="34" charset="-120"/>
              </a:rPr>
              <a:t>13,9 M$</a:t>
            </a:r>
            <a:endParaRPr lang="en-US" sz="2200" dirty="0"/>
          </a:p>
        </p:txBody>
      </p:sp>
      <p:sp>
        <p:nvSpPr>
          <p:cNvPr id="13" name="Text 9"/>
          <p:cNvSpPr/>
          <p:nvPr/>
        </p:nvSpPr>
        <p:spPr>
          <a:xfrm>
            <a:off x="640080" y="5100066"/>
            <a:ext cx="2057400" cy="384048"/>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remises en 2021</a:t>
            </a:r>
            <a:endParaRPr lang="en-US" sz="1200" dirty="0"/>
          </a:p>
        </p:txBody>
      </p:sp>
      <p:sp>
        <p:nvSpPr>
          <p:cNvPr id="14" name="Shape 10"/>
          <p:cNvSpPr/>
          <p:nvPr/>
        </p:nvSpPr>
        <p:spPr>
          <a:xfrm>
            <a:off x="2898648" y="4572000"/>
            <a:ext cx="2240280" cy="960120"/>
          </a:xfrm>
          <a:prstGeom prst="rect">
            <a:avLst/>
          </a:prstGeom>
          <a:solidFill>
            <a:srgbClr val="EAF2EF"/>
          </a:solidFill>
          <a:ln w="9525">
            <a:solidFill>
              <a:srgbClr val="CFE0DA"/>
            </a:solidFill>
            <a:prstDash val="solid"/>
          </a:ln>
        </p:spPr>
        <p:txBody>
          <a:bodyPr/>
          <a:lstStyle/>
          <a:p>
            <a:endParaRPr lang="en-US"/>
          </a:p>
        </p:txBody>
      </p:sp>
      <p:sp>
        <p:nvSpPr>
          <p:cNvPr id="15" name="Text 11"/>
          <p:cNvSpPr/>
          <p:nvPr/>
        </p:nvSpPr>
        <p:spPr>
          <a:xfrm>
            <a:off x="2898648" y="4663440"/>
            <a:ext cx="2240280" cy="480060"/>
          </a:xfrm>
          <a:prstGeom prst="rect">
            <a:avLst/>
          </a:prstGeom>
          <a:noFill/>
          <a:ln/>
        </p:spPr>
        <p:txBody>
          <a:bodyPr wrap="square" lIns="0" tIns="0" rIns="0" bIns="0" rtlCol="0" anchor="ctr"/>
          <a:lstStyle/>
          <a:p>
            <a:pPr marL="0" indent="0" algn="ctr">
              <a:buNone/>
            </a:pPr>
            <a:r>
              <a:rPr lang="en-US" sz="2200" b="1" dirty="0">
                <a:solidFill>
                  <a:srgbClr val="17332E"/>
                </a:solidFill>
                <a:latin typeface="Cambria" pitchFamily="34" charset="0"/>
                <a:ea typeface="Cambria" pitchFamily="34" charset="-122"/>
                <a:cs typeface="Cambria" pitchFamily="34" charset="-120"/>
              </a:rPr>
              <a:t>13,7 M$</a:t>
            </a:r>
            <a:endParaRPr lang="en-US" sz="2200" dirty="0"/>
          </a:p>
        </p:txBody>
      </p:sp>
      <p:sp>
        <p:nvSpPr>
          <p:cNvPr id="16" name="Text 12"/>
          <p:cNvSpPr/>
          <p:nvPr/>
        </p:nvSpPr>
        <p:spPr>
          <a:xfrm>
            <a:off x="2990088" y="5100066"/>
            <a:ext cx="2057400" cy="384048"/>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coût au résultat</a:t>
            </a:r>
            <a:endParaRPr lang="en-US" sz="1200" dirty="0"/>
          </a:p>
        </p:txBody>
      </p:sp>
      <p:sp>
        <p:nvSpPr>
          <p:cNvPr id="17" name="Shape 13"/>
          <p:cNvSpPr/>
          <p:nvPr/>
        </p:nvSpPr>
        <p:spPr>
          <a:xfrm>
            <a:off x="5248656" y="4572000"/>
            <a:ext cx="2240280" cy="960120"/>
          </a:xfrm>
          <a:prstGeom prst="rect">
            <a:avLst/>
          </a:prstGeom>
          <a:solidFill>
            <a:srgbClr val="EAF2EF"/>
          </a:solidFill>
          <a:ln w="9525">
            <a:solidFill>
              <a:srgbClr val="CFE0DA"/>
            </a:solidFill>
            <a:prstDash val="solid"/>
          </a:ln>
        </p:spPr>
        <p:txBody>
          <a:bodyPr/>
          <a:lstStyle/>
          <a:p>
            <a:endParaRPr lang="en-US"/>
          </a:p>
        </p:txBody>
      </p:sp>
      <p:sp>
        <p:nvSpPr>
          <p:cNvPr id="18" name="Text 14"/>
          <p:cNvSpPr/>
          <p:nvPr/>
        </p:nvSpPr>
        <p:spPr>
          <a:xfrm>
            <a:off x="5248656" y="4663440"/>
            <a:ext cx="2240280" cy="480060"/>
          </a:xfrm>
          <a:prstGeom prst="rect">
            <a:avLst/>
          </a:prstGeom>
          <a:noFill/>
          <a:ln/>
        </p:spPr>
        <p:txBody>
          <a:bodyPr wrap="square" lIns="0" tIns="0" rIns="0" bIns="0" rtlCol="0" anchor="ctr"/>
          <a:lstStyle/>
          <a:p>
            <a:pPr marL="0" indent="0" algn="ctr">
              <a:buNone/>
            </a:pPr>
            <a:r>
              <a:rPr lang="en-US" sz="2200" b="1" dirty="0">
                <a:solidFill>
                  <a:srgbClr val="17332E"/>
                </a:solidFill>
                <a:latin typeface="Cambria" pitchFamily="34" charset="0"/>
                <a:ea typeface="Cambria" pitchFamily="34" charset="-122"/>
                <a:cs typeface="Cambria" pitchFamily="34" charset="-120"/>
              </a:rPr>
              <a:t>+5,1 %</a:t>
            </a:r>
            <a:endParaRPr lang="en-US" sz="2200" dirty="0"/>
          </a:p>
        </p:txBody>
      </p:sp>
      <p:sp>
        <p:nvSpPr>
          <p:cNvPr id="19" name="Text 15"/>
          <p:cNvSpPr/>
          <p:nvPr/>
        </p:nvSpPr>
        <p:spPr>
          <a:xfrm>
            <a:off x="5340096" y="5100066"/>
            <a:ext cx="2057400" cy="384048"/>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de ventes pour se payer</a:t>
            </a:r>
            <a:endParaRPr lang="en-US" sz="1200" dirty="0"/>
          </a:p>
        </p:txBody>
      </p:sp>
      <p:sp>
        <p:nvSpPr>
          <p:cNvPr id="20" name="Shape 16"/>
          <p:cNvSpPr/>
          <p:nvPr/>
        </p:nvSpPr>
        <p:spPr>
          <a:xfrm>
            <a:off x="7772400" y="1463040"/>
            <a:ext cx="3840480" cy="2194560"/>
          </a:xfrm>
          <a:prstGeom prst="rect">
            <a:avLst/>
          </a:prstGeom>
          <a:solidFill>
            <a:srgbClr val="EAF2EF"/>
          </a:solidFill>
          <a:ln w="9525">
            <a:solidFill>
              <a:srgbClr val="CFE0DA"/>
            </a:solidFill>
            <a:prstDash val="solid"/>
          </a:ln>
        </p:spPr>
        <p:txBody>
          <a:bodyPr/>
          <a:lstStyle/>
          <a:p>
            <a:endParaRPr lang="en-US"/>
          </a:p>
        </p:txBody>
      </p:sp>
      <p:sp>
        <p:nvSpPr>
          <p:cNvPr id="21" name="Text 17"/>
          <p:cNvSpPr/>
          <p:nvPr/>
        </p:nvSpPr>
        <p:spPr>
          <a:xfrm>
            <a:off x="7955280" y="1572768"/>
            <a:ext cx="3474720" cy="411480"/>
          </a:xfrm>
          <a:prstGeom prst="rect">
            <a:avLst/>
          </a:prstGeom>
          <a:noFill/>
          <a:ln/>
        </p:spPr>
        <p:txBody>
          <a:bodyPr wrap="square" lIns="0" tIns="0" rIns="0" bIns="0" rtlCol="0" anchor="ctr"/>
          <a:lstStyle/>
          <a:p>
            <a:pPr marL="0" indent="0">
              <a:buNone/>
            </a:pPr>
            <a:r>
              <a:rPr lang="en-US" sz="1500" b="1" dirty="0">
                <a:solidFill>
                  <a:srgbClr val="17332E"/>
                </a:solidFill>
                <a:latin typeface="Cambria" pitchFamily="34" charset="0"/>
                <a:ea typeface="Cambria" pitchFamily="34" charset="-122"/>
                <a:cs typeface="Cambria" pitchFamily="34" charset="-120"/>
              </a:rPr>
              <a:t>Réponse à Q2</a:t>
            </a:r>
            <a:endParaRPr lang="en-US" sz="1500" dirty="0"/>
          </a:p>
        </p:txBody>
      </p:sp>
      <p:sp>
        <p:nvSpPr>
          <p:cNvPr id="22" name="Text 18"/>
          <p:cNvSpPr/>
          <p:nvPr/>
        </p:nvSpPr>
        <p:spPr>
          <a:xfrm>
            <a:off x="7955280" y="2057400"/>
            <a:ext cx="3474720" cy="1508760"/>
          </a:xfrm>
          <a:prstGeom prst="rect">
            <a:avLst/>
          </a:prstGeom>
          <a:noFill/>
          <a:ln/>
        </p:spPr>
        <p:txBody>
          <a:bodyPr wrap="square" lIns="0" tIns="0" rIns="0" bIns="0" rtlCol="0" anchor="t"/>
          <a:lstStyle/>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b="1" dirty="0">
                <a:solidFill>
                  <a:srgbClr val="1F2A28"/>
                </a:solidFill>
                <a:latin typeface="Calibri" pitchFamily="34" charset="0"/>
                <a:ea typeface="Calibri" pitchFamily="34" charset="-122"/>
                <a:cs typeface="Calibri" pitchFamily="34" charset="-120"/>
              </a:rPr>
              <a:t>Gain non démontré</a:t>
            </a:r>
            <a:r>
              <a:rPr lang="en-US" sz="1300" dirty="0">
                <a:solidFill>
                  <a:srgbClr val="1F2A28"/>
                </a:solidFill>
                <a:latin typeface="Calibri" pitchFamily="34" charset="0"/>
                <a:ea typeface="Calibri" pitchFamily="34" charset="-122"/>
                <a:cs typeface="Calibri" pitchFamily="34" charset="-120"/>
              </a:rPr>
              <a:t>, indices contraires</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Promotion à 20 % en magasin : il faudrait </a:t>
            </a:r>
            <a:r>
              <a:rPr lang="en-US" sz="1300" b="1" dirty="0">
                <a:solidFill>
                  <a:srgbClr val="1F2A28"/>
                </a:solidFill>
                <a:latin typeface="Calibri" pitchFamily="34" charset="0"/>
                <a:ea typeface="Calibri" pitchFamily="34" charset="-122"/>
                <a:cs typeface="Calibri" pitchFamily="34" charset="-120"/>
              </a:rPr>
              <a:t>+9,2 %</a:t>
            </a:r>
            <a:r>
              <a:rPr lang="en-US" sz="1300" dirty="0">
                <a:solidFill>
                  <a:srgbClr val="1F2A28"/>
                </a:solidFill>
                <a:latin typeface="Calibri" pitchFamily="34" charset="0"/>
                <a:ea typeface="Calibri" pitchFamily="34" charset="-122"/>
                <a:cs typeface="Calibri" pitchFamily="34" charset="-120"/>
              </a:rPr>
              <a:t>, on observe </a:t>
            </a:r>
            <a:r>
              <a:rPr lang="en-US" sz="1300" b="1" dirty="0">
                <a:solidFill>
                  <a:srgbClr val="1F2A28"/>
                </a:solidFill>
                <a:latin typeface="Calibri" pitchFamily="34" charset="0"/>
                <a:ea typeface="Calibri" pitchFamily="34" charset="-122"/>
                <a:cs typeface="Calibri" pitchFamily="34" charset="-120"/>
              </a:rPr>
              <a:t>−11,1 %</a:t>
            </a:r>
            <a:endParaRPr lang="en-US" sz="1300" dirty="0"/>
          </a:p>
        </p:txBody>
      </p:sp>
      <p:sp>
        <p:nvSpPr>
          <p:cNvPr id="23" name="Shape 19"/>
          <p:cNvSpPr/>
          <p:nvPr/>
        </p:nvSpPr>
        <p:spPr>
          <a:xfrm>
            <a:off x="7772400" y="3794760"/>
            <a:ext cx="3840480" cy="1737360"/>
          </a:xfrm>
          <a:prstGeom prst="rect">
            <a:avLst/>
          </a:prstGeom>
          <a:solidFill>
            <a:srgbClr val="FBF3E4"/>
          </a:solidFill>
          <a:ln w="9525">
            <a:solidFill>
              <a:srgbClr val="CFE0DA"/>
            </a:solidFill>
            <a:prstDash val="solid"/>
          </a:ln>
        </p:spPr>
        <p:txBody>
          <a:bodyPr/>
          <a:lstStyle/>
          <a:p>
            <a:endParaRPr lang="en-US"/>
          </a:p>
        </p:txBody>
      </p:sp>
      <p:sp>
        <p:nvSpPr>
          <p:cNvPr id="24" name="Text 20"/>
          <p:cNvSpPr/>
          <p:nvPr/>
        </p:nvSpPr>
        <p:spPr>
          <a:xfrm>
            <a:off x="7955280" y="3904488"/>
            <a:ext cx="3474720" cy="411480"/>
          </a:xfrm>
          <a:prstGeom prst="rect">
            <a:avLst/>
          </a:prstGeom>
          <a:noFill/>
          <a:ln/>
        </p:spPr>
        <p:txBody>
          <a:bodyPr wrap="square" lIns="0" tIns="0" rIns="0" bIns="0" rtlCol="0" anchor="ctr"/>
          <a:lstStyle/>
          <a:p>
            <a:pPr marL="0" indent="0">
              <a:buNone/>
            </a:pPr>
            <a:r>
              <a:rPr lang="en-US" sz="1500" b="1" dirty="0">
                <a:solidFill>
                  <a:srgbClr val="17332E"/>
                </a:solidFill>
                <a:latin typeface="Cambria" pitchFamily="34" charset="0"/>
                <a:ea typeface="Cambria" pitchFamily="34" charset="-122"/>
                <a:cs typeface="Cambria" pitchFamily="34" charset="-120"/>
              </a:rPr>
              <a:t>Interprétation (hypothèse)</a:t>
            </a:r>
            <a:endParaRPr lang="en-US" sz="1500" dirty="0"/>
          </a:p>
        </p:txBody>
      </p:sp>
      <p:sp>
        <p:nvSpPr>
          <p:cNvPr id="25" name="Text 21"/>
          <p:cNvSpPr/>
          <p:nvPr/>
        </p:nvSpPr>
        <p:spPr>
          <a:xfrm>
            <a:off x="7955280" y="4389120"/>
            <a:ext cx="3474720" cy="1051560"/>
          </a:xfrm>
          <a:prstGeom prst="rect">
            <a:avLst/>
          </a:prstGeom>
          <a:noFill/>
          <a:ln/>
        </p:spPr>
        <p:txBody>
          <a:bodyPr wrap="square" lIns="0" tIns="0" rIns="0" bIns="0" rtlCol="0" anchor="t"/>
          <a:lstStyle/>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Neuf mois sur douze, la remise devient </a:t>
            </a:r>
            <a:r>
              <a:rPr lang="en-US" sz="1300" b="1" dirty="0">
                <a:solidFill>
                  <a:srgbClr val="1F2A28"/>
                </a:solidFill>
                <a:latin typeface="Calibri" pitchFamily="34" charset="0"/>
                <a:ea typeface="Calibri" pitchFamily="34" charset="-122"/>
                <a:cs typeface="Calibri" pitchFamily="34" charset="-120"/>
              </a:rPr>
              <a:t>le prix normal</a:t>
            </a:r>
            <a:endParaRPr lang="en-US" sz="1300" dirty="0"/>
          </a:p>
        </p:txBody>
      </p:sp>
      <p:sp>
        <p:nvSpPr>
          <p:cNvPr id="26" name="Shape 22"/>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27" name="Shape 23"/>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28" name="Text 24"/>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En magasin, la publicité coûte </a:t>
            </a:r>
            <a:r>
              <a:rPr lang="en-US" sz="1500" b="1" dirty="0">
                <a:solidFill>
                  <a:srgbClr val="17332E"/>
                </a:solidFill>
                <a:latin typeface="Calibri" pitchFamily="34" charset="0"/>
                <a:ea typeface="Calibri" pitchFamily="34" charset="-122"/>
                <a:cs typeface="Calibri" pitchFamily="34" charset="-120"/>
              </a:rPr>
              <a:t>11,3 fois</a:t>
            </a:r>
            <a:r>
              <a:rPr lang="en-US" sz="1500" dirty="0">
                <a:solidFill>
                  <a:srgbClr val="17332E"/>
                </a:solidFill>
                <a:latin typeface="Calibri" pitchFamily="34" charset="0"/>
                <a:ea typeface="Calibri" pitchFamily="34" charset="-122"/>
                <a:cs typeface="Calibri" pitchFamily="34" charset="-120"/>
              </a:rPr>
              <a:t> les remises : la promotion n'est pas le premier levier.</a:t>
            </a:r>
            <a:endParaRPr lang="en-US"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Mouncif Bouchachi</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4 · Q2 À Q5 : PROMOTIONS, REMISES ET RETOURS</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Q5 · Pas de « taux optimal » à chercher, et des remises qui n'expliquent pas la dégradation</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Mouncif Bouchachi</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43</a:t>
            </a:r>
            <a:endParaRPr lang="en-US" sz="1000" dirty="0"/>
          </a:p>
        </p:txBody>
      </p:sp>
      <p:pic>
        <p:nvPicPr>
          <p:cNvPr id="10" name="Image 0" descr="/tmp/claude-0/complet/reports/figures/09_cout_des_remises.png"/>
          <p:cNvPicPr>
            <a:picLocks noChangeAspect="1"/>
          </p:cNvPicPr>
          <p:nvPr/>
        </p:nvPicPr>
        <p:blipFill>
          <a:blip r:embed="rId3"/>
          <a:stretch>
            <a:fillRect/>
          </a:stretch>
        </p:blipFill>
        <p:spPr>
          <a:xfrm>
            <a:off x="548640" y="2079282"/>
            <a:ext cx="6766560" cy="2790877"/>
          </a:xfrm>
          <a:prstGeom prst="rect">
            <a:avLst/>
          </a:prstGeom>
        </p:spPr>
      </p:pic>
      <p:sp>
        <p:nvSpPr>
          <p:cNvPr id="11" name="Text 7"/>
          <p:cNvSpPr/>
          <p:nvPr/>
        </p:nvSpPr>
        <p:spPr>
          <a:xfrm>
            <a:off x="7589520" y="1463040"/>
            <a:ext cx="4023360" cy="4114800"/>
          </a:xfrm>
          <a:prstGeom prst="rect">
            <a:avLst/>
          </a:prstGeom>
          <a:noFill/>
          <a:ln/>
        </p:spPr>
        <p:txBody>
          <a:bodyPr wrap="square" lIns="0" tIns="0" rIns="0" bIns="0" rtlCol="0" anchor="t"/>
          <a:lstStyle/>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b="1" dirty="0">
                <a:solidFill>
                  <a:srgbClr val="1F2A28"/>
                </a:solidFill>
                <a:latin typeface="Calibri" pitchFamily="34" charset="0"/>
                <a:ea typeface="Calibri" pitchFamily="34" charset="-122"/>
                <a:cs typeface="Calibri" pitchFamily="34" charset="-120"/>
              </a:rPr>
              <a:t>Trois niveaux</a:t>
            </a:r>
            <a:r>
              <a:rPr lang="en-US" sz="1350" dirty="0">
                <a:solidFill>
                  <a:srgbClr val="1F2A28"/>
                </a:solidFill>
                <a:latin typeface="Calibri" pitchFamily="34" charset="0"/>
                <a:ea typeface="Calibri" pitchFamily="34" charset="-122"/>
                <a:cs typeface="Calibri" pitchFamily="34" charset="-120"/>
              </a:rPr>
              <a:t> seulement, chacun attaché à une saison</a:t>
            </a:r>
            <a:endParaRPr lang="en-US" sz="1350" dirty="0"/>
          </a:p>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Question retenue : </a:t>
            </a:r>
            <a:r>
              <a:rPr lang="en-US" sz="1350" b="1" dirty="0">
                <a:solidFill>
                  <a:srgbClr val="1F2A28"/>
                </a:solidFill>
                <a:latin typeface="Calibri" pitchFamily="34" charset="0"/>
                <a:ea typeface="Calibri" pitchFamily="34" charset="-122"/>
                <a:cs typeface="Calibri" pitchFamily="34" charset="-120"/>
              </a:rPr>
              <a:t>à produit et mois égaux</a:t>
            </a:r>
            <a:r>
              <a:rPr lang="en-US" sz="1350" dirty="0">
                <a:solidFill>
                  <a:srgbClr val="1F2A28"/>
                </a:solidFill>
                <a:latin typeface="Calibri" pitchFamily="34" charset="0"/>
                <a:ea typeface="Calibri" pitchFamily="34" charset="-122"/>
                <a:cs typeface="Calibri" pitchFamily="34" charset="-120"/>
              </a:rPr>
              <a:t>, que rapporte une ligne remisée ?</a:t>
            </a:r>
            <a:endParaRPr lang="en-US" sz="1350" dirty="0"/>
          </a:p>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Une remise porte sur </a:t>
            </a:r>
            <a:r>
              <a:rPr lang="en-US" sz="1350" b="1" dirty="0">
                <a:solidFill>
                  <a:srgbClr val="1F2A28"/>
                </a:solidFill>
                <a:latin typeface="Calibri" pitchFamily="34" charset="0"/>
                <a:ea typeface="Calibri" pitchFamily="34" charset="-122"/>
                <a:cs typeface="Calibri" pitchFamily="34" charset="-120"/>
              </a:rPr>
              <a:t>1 à 4 unités</a:t>
            </a:r>
            <a:r>
              <a:rPr lang="en-US" sz="1350" dirty="0">
                <a:solidFill>
                  <a:srgbClr val="1F2A28"/>
                </a:solidFill>
                <a:latin typeface="Calibri" pitchFamily="34" charset="0"/>
                <a:ea typeface="Calibri" pitchFamily="34" charset="-122"/>
                <a:cs typeface="Calibri" pitchFamily="34" charset="-120"/>
              </a:rPr>
              <a:t>, 2,9 en moyenne</a:t>
            </a:r>
            <a:endParaRPr lang="en-US" sz="1350" dirty="0"/>
          </a:p>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Le </a:t>
            </a:r>
            <a:r>
              <a:rPr lang="en-US" sz="1350" b="1" dirty="0">
                <a:solidFill>
                  <a:srgbClr val="1F2A28"/>
                </a:solidFill>
                <a:latin typeface="Calibri" pitchFamily="34" charset="0"/>
                <a:ea typeface="Calibri" pitchFamily="34" charset="-122"/>
                <a:cs typeface="Calibri" pitchFamily="34" charset="-120"/>
              </a:rPr>
              <a:t>20 %</a:t>
            </a:r>
            <a:r>
              <a:rPr lang="en-US" sz="1350" dirty="0">
                <a:solidFill>
                  <a:srgbClr val="1F2A28"/>
                </a:solidFill>
                <a:latin typeface="Calibri" pitchFamily="34" charset="0"/>
                <a:ea typeface="Calibri" pitchFamily="34" charset="-122"/>
                <a:cs typeface="Calibri" pitchFamily="34" charset="-120"/>
              </a:rPr>
              <a:t> fait 70 à 72 % du coût</a:t>
            </a:r>
            <a:endParaRPr lang="en-US" sz="1350" dirty="0"/>
          </a:p>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Magasins : remises </a:t>
            </a:r>
            <a:r>
              <a:rPr lang="en-US" sz="1350" b="1" dirty="0">
                <a:solidFill>
                  <a:srgbClr val="1F2A28"/>
                </a:solidFill>
                <a:latin typeface="Calibri" pitchFamily="34" charset="0"/>
                <a:ea typeface="Calibri" pitchFamily="34" charset="-122"/>
                <a:cs typeface="Calibri" pitchFamily="34" charset="-120"/>
              </a:rPr>
              <a:t>12,4 → 5,5 M$</a:t>
            </a:r>
            <a:r>
              <a:rPr lang="en-US" sz="1350" dirty="0">
                <a:solidFill>
                  <a:srgbClr val="1F2A28"/>
                </a:solidFill>
                <a:latin typeface="Calibri" pitchFamily="34" charset="0"/>
                <a:ea typeface="Calibri" pitchFamily="34" charset="-122"/>
                <a:cs typeface="Calibri" pitchFamily="34" charset="-120"/>
              </a:rPr>
              <a:t>, résultat </a:t>
            </a:r>
            <a:r>
              <a:rPr lang="en-US" sz="1350" b="1" dirty="0">
                <a:solidFill>
                  <a:srgbClr val="1F2A28"/>
                </a:solidFill>
                <a:latin typeface="Calibri" pitchFamily="34" charset="0"/>
                <a:ea typeface="Calibri" pitchFamily="34" charset="-122"/>
                <a:cs typeface="Calibri" pitchFamily="34" charset="-120"/>
              </a:rPr>
              <a:t>−132,4 M$</a:t>
            </a:r>
            <a:endParaRPr lang="en-US" sz="1350" dirty="0"/>
          </a:p>
        </p:txBody>
      </p:sp>
      <p:sp>
        <p:nvSpPr>
          <p:cNvPr id="12" name="Shape 8"/>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3" name="Shape 9"/>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14" name="Text 10"/>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Les remises des magasins ont </a:t>
            </a:r>
            <a:r>
              <a:rPr lang="en-US" sz="1500" b="1" dirty="0">
                <a:solidFill>
                  <a:srgbClr val="17332E"/>
                </a:solidFill>
                <a:latin typeface="Calibri" pitchFamily="34" charset="0"/>
                <a:ea typeface="Calibri" pitchFamily="34" charset="-122"/>
                <a:cs typeface="Calibri" pitchFamily="34" charset="-120"/>
              </a:rPr>
              <a:t>baissé</a:t>
            </a:r>
            <a:r>
              <a:rPr lang="en-US" sz="1500" dirty="0">
                <a:solidFill>
                  <a:srgbClr val="17332E"/>
                </a:solidFill>
                <a:latin typeface="Calibri" pitchFamily="34" charset="0"/>
                <a:ea typeface="Calibri" pitchFamily="34" charset="-122"/>
                <a:cs typeface="Calibri" pitchFamily="34" charset="-120"/>
              </a:rPr>
              <a:t> pendant que leur résultat s'effondrait : elles n'expliquent pas la dégradation.</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Mouncif Bouchachi</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4 · Q2 À Q5 : PROMOTIONS, REMISES ET RETOURS</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Q5 · En magasin, l'unité remisée remplace une unité payée au plein tarif</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Mouncif Bouchachi</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44</a:t>
            </a:r>
            <a:endParaRPr lang="en-US" sz="1000" dirty="0"/>
          </a:p>
        </p:txBody>
      </p:sp>
      <p:pic>
        <p:nvPicPr>
          <p:cNvPr id="10" name="Image 0" descr="/tmp/claude-0/complet/reports/figures/09_unites_avec_sans_remise.png"/>
          <p:cNvPicPr>
            <a:picLocks noChangeAspect="1"/>
          </p:cNvPicPr>
          <p:nvPr/>
        </p:nvPicPr>
        <p:blipFill>
          <a:blip r:embed="rId3"/>
          <a:stretch>
            <a:fillRect/>
          </a:stretch>
        </p:blipFill>
        <p:spPr>
          <a:xfrm>
            <a:off x="3107375" y="1417320"/>
            <a:ext cx="5946770" cy="2331720"/>
          </a:xfrm>
          <a:prstGeom prst="rect">
            <a:avLst/>
          </a:prstGeom>
        </p:spPr>
      </p:pic>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3840480"/>
          <a:ext cx="11064239" cy="1536192"/>
        </p:xfrm>
        <a:graphic>
          <a:graphicData uri="http://schemas.openxmlformats.org/drawingml/2006/table">
            <a:tbl>
              <a:tblPr/>
              <a:tblGrid>
                <a:gridCol w="4093769">
                  <a:extLst>
                    <a:ext uri="{9D8B030D-6E8A-4147-A177-3AD203B41FA5}">
                      <a16:colId xmlns:a16="http://schemas.microsoft.com/office/drawing/2014/main" val="20000"/>
                    </a:ext>
                  </a:extLst>
                </a:gridCol>
                <a:gridCol w="2323490">
                  <a:extLst>
                    <a:ext uri="{9D8B030D-6E8A-4147-A177-3AD203B41FA5}">
                      <a16:colId xmlns:a16="http://schemas.microsoft.com/office/drawing/2014/main" val="20001"/>
                    </a:ext>
                  </a:extLst>
                </a:gridCol>
                <a:gridCol w="2323490">
                  <a:extLst>
                    <a:ext uri="{9D8B030D-6E8A-4147-A177-3AD203B41FA5}">
                      <a16:colId xmlns:a16="http://schemas.microsoft.com/office/drawing/2014/main" val="20002"/>
                    </a:ext>
                  </a:extLst>
                </a:gridCol>
                <a:gridCol w="2323490">
                  <a:extLst>
                    <a:ext uri="{9D8B030D-6E8A-4147-A177-3AD203B41FA5}">
                      <a16:colId xmlns:a16="http://schemas.microsoft.com/office/drawing/2014/main" val="20003"/>
                    </a:ext>
                  </a:extLst>
                </a:gridCol>
              </a:tblGrid>
              <a:tr h="384048">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Ligne remisée contre non remisée (2019 · 2020 · 2021)</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Magasins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En ligne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Revendeur</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384048">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Unités en plus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+0,7 · −1,5 · −1,9 %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+44,7 · +37,0 · +31,9 %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+33,8 · +27,2 · +18,9 %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Marge en plus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b="1" dirty="0">
                          <a:solidFill>
                            <a:srgbClr val="1F2A28"/>
                          </a:solidFill>
                          <a:latin typeface="Calibri" pitchFamily="34" charset="0"/>
                          <a:ea typeface="Calibri" pitchFamily="34" charset="-122"/>
                          <a:cs typeface="Calibri" pitchFamily="34" charset="-120"/>
                        </a:rPr>
                        <a:t>−7,1 · −8,4 · −8,1 %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+35,0 · +26,6 · +27,9 %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+25,2 · +16,8 · +15,4 %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384048">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Cas où la ligne remisée rapporte plus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15 % (trois exercices)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68 · 61 · 55 %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57 · 45 · 36 %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2" name="Shape 7"/>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3" name="Shape 8"/>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14" name="Text 9"/>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En magasin, la remise est </a:t>
            </a:r>
            <a:r>
              <a:rPr lang="en-US" sz="1500" b="1" dirty="0">
                <a:solidFill>
                  <a:srgbClr val="17332E"/>
                </a:solidFill>
                <a:latin typeface="Calibri" pitchFamily="34" charset="0"/>
                <a:ea typeface="Calibri" pitchFamily="34" charset="-122"/>
                <a:cs typeface="Calibri" pitchFamily="34" charset="-120"/>
              </a:rPr>
              <a:t>un pur coût</a:t>
            </a:r>
            <a:r>
              <a:rPr lang="en-US" sz="1500" dirty="0">
                <a:solidFill>
                  <a:srgbClr val="17332E"/>
                </a:solidFill>
                <a:latin typeface="Calibri" pitchFamily="34" charset="0"/>
                <a:ea typeface="Calibri" pitchFamily="34" charset="-122"/>
                <a:cs typeface="Calibri" pitchFamily="34" charset="-120"/>
              </a:rPr>
              <a:t>. Ailleurs, la remise cause les grosses lignes </a:t>
            </a:r>
            <a:r>
              <a:rPr lang="en-US" sz="1500" b="1" dirty="0">
                <a:solidFill>
                  <a:srgbClr val="17332E"/>
                </a:solidFill>
                <a:latin typeface="Calibri" pitchFamily="34" charset="0"/>
                <a:ea typeface="Calibri" pitchFamily="34" charset="-122"/>
                <a:cs typeface="Calibri" pitchFamily="34" charset="-120"/>
              </a:rPr>
              <a:t>ou</a:t>
            </a:r>
            <a:r>
              <a:rPr lang="en-US" sz="1500" dirty="0">
                <a:solidFill>
                  <a:srgbClr val="17332E"/>
                </a:solidFill>
                <a:latin typeface="Calibri" pitchFamily="34" charset="0"/>
                <a:ea typeface="Calibri" pitchFamily="34" charset="-122"/>
                <a:cs typeface="Calibri" pitchFamily="34" charset="-120"/>
              </a:rPr>
              <a:t> les grosses lignes obtiennent la remise.</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Mouncif Bouchachi</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4 · Q2 À Q5 : PROMOTIONS, REMISES ET RETOURS</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Q5 · Une remise plus forte ne rapporte nulle part davantage</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Mouncif Bouchachi</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45</a:t>
            </a:r>
            <a:endParaRPr lang="en-US" sz="1000" dirty="0"/>
          </a:p>
        </p:txBody>
      </p:sp>
      <p:pic>
        <p:nvPicPr>
          <p:cNvPr id="10" name="Image 0" descr="/tmp/claude-0/complet/reports/figures/09_gain_de_marge_par_niveau.png"/>
          <p:cNvPicPr>
            <a:picLocks noChangeAspect="1"/>
          </p:cNvPicPr>
          <p:nvPr/>
        </p:nvPicPr>
        <p:blipFill>
          <a:blip r:embed="rId3"/>
          <a:stretch>
            <a:fillRect/>
          </a:stretch>
        </p:blipFill>
        <p:spPr>
          <a:xfrm>
            <a:off x="2854002" y="1417320"/>
            <a:ext cx="6453516" cy="2514600"/>
          </a:xfrm>
          <a:prstGeom prst="rect">
            <a:avLst/>
          </a:prstGeom>
        </p:spPr>
      </p:pic>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4023360"/>
          <a:ext cx="6949440" cy="1463040"/>
        </p:xfrm>
        <a:graphic>
          <a:graphicData uri="http://schemas.openxmlformats.org/drawingml/2006/table">
            <a:tbl>
              <a:tblPr/>
              <a:tblGrid>
                <a:gridCol w="2779776">
                  <a:extLst>
                    <a:ext uri="{9D8B030D-6E8A-4147-A177-3AD203B41FA5}">
                      <a16:colId xmlns:a16="http://schemas.microsoft.com/office/drawing/2014/main" val="20000"/>
                    </a:ext>
                  </a:extLst>
                </a:gridCol>
                <a:gridCol w="1389888">
                  <a:extLst>
                    <a:ext uri="{9D8B030D-6E8A-4147-A177-3AD203B41FA5}">
                      <a16:colId xmlns:a16="http://schemas.microsoft.com/office/drawing/2014/main" val="20001"/>
                    </a:ext>
                  </a:extLst>
                </a:gridCol>
                <a:gridCol w="1389888">
                  <a:extLst>
                    <a:ext uri="{9D8B030D-6E8A-4147-A177-3AD203B41FA5}">
                      <a16:colId xmlns:a16="http://schemas.microsoft.com/office/drawing/2014/main" val="20002"/>
                    </a:ext>
                  </a:extLst>
                </a:gridCol>
                <a:gridCol w="1389888">
                  <a:extLst>
                    <a:ext uri="{9D8B030D-6E8A-4147-A177-3AD203B41FA5}">
                      <a16:colId xmlns:a16="http://schemas.microsoft.com/office/drawing/2014/main" val="20003"/>
                    </a:ext>
                  </a:extLst>
                </a:gridCol>
              </a:tblGrid>
              <a:tr h="36576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Marge en plus d'une ligne remisée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7 %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10 %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20 %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36576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Magasins (produit médian)</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−3,6 %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−6,1 %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F2A28"/>
                          </a:solidFill>
                          <a:latin typeface="Calibri" pitchFamily="34" charset="0"/>
                          <a:ea typeface="Calibri" pitchFamily="34" charset="-122"/>
                          <a:cs typeface="Calibri" pitchFamily="34" charset="-120"/>
                        </a:rPr>
                        <a:t>−11,5 %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En ligne (2019 à 2021)</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+30,6 %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b="1" dirty="0">
                          <a:solidFill>
                            <a:srgbClr val="1F2A28"/>
                          </a:solidFill>
                          <a:latin typeface="Calibri" pitchFamily="34" charset="0"/>
                          <a:ea typeface="Calibri" pitchFamily="34" charset="-122"/>
                          <a:cs typeface="Calibri" pitchFamily="34" charset="-120"/>
                        </a:rPr>
                        <a:t>+39,1 %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+23,6 %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36576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Revendeur (2019 à 2021)</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F2A28"/>
                          </a:solidFill>
                          <a:latin typeface="Calibri" pitchFamily="34" charset="0"/>
                          <a:ea typeface="Calibri" pitchFamily="34" charset="-122"/>
                          <a:cs typeface="Calibri" pitchFamily="34" charset="-120"/>
                        </a:rPr>
                        <a:t>+24,7 %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+21,5 %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+14,7 %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2" name="Text 7"/>
          <p:cNvSpPr/>
          <p:nvPr/>
        </p:nvSpPr>
        <p:spPr>
          <a:xfrm>
            <a:off x="7772400" y="4069080"/>
            <a:ext cx="3840480" cy="1508760"/>
          </a:xfrm>
          <a:prstGeom prst="rect">
            <a:avLst/>
          </a:prstGeom>
          <a:noFill/>
          <a:ln/>
        </p:spPr>
        <p:txBody>
          <a:bodyPr wrap="square" lIns="0" tIns="0" rIns="0" bIns="0" rtlCol="0" anchor="t"/>
          <a:lstStyle/>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Magasins : </a:t>
            </a:r>
            <a:r>
              <a:rPr lang="en-US" sz="1300" b="1" dirty="0">
                <a:solidFill>
                  <a:srgbClr val="1F2A28"/>
                </a:solidFill>
                <a:latin typeface="Calibri" pitchFamily="34" charset="0"/>
                <a:ea typeface="Calibri" pitchFamily="34" charset="-122"/>
                <a:cs typeface="Calibri" pitchFamily="34" charset="-120"/>
              </a:rPr>
              <a:t>plus la remise est forte, plus la ligne perd</a:t>
            </a:r>
            <a:r>
              <a:rPr lang="en-US" sz="1300" dirty="0">
                <a:solidFill>
                  <a:srgbClr val="1F2A28"/>
                </a:solidFill>
                <a:latin typeface="Calibri" pitchFamily="34" charset="0"/>
                <a:ea typeface="Calibri" pitchFamily="34" charset="-122"/>
                <a:cs typeface="Calibri" pitchFamily="34" charset="-120"/>
              </a:rPr>
              <a:t>, dans toutes les gammes et catégories</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Ailleurs : le 20 % ne fait pas de plus grosses lignes</a:t>
            </a:r>
            <a:endParaRPr lang="en-US" sz="1300" dirty="0"/>
          </a:p>
        </p:txBody>
      </p:sp>
      <p:sp>
        <p:nvSpPr>
          <p:cNvPr id="13" name="Shape 8"/>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4" name="Shape 9"/>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15" name="Text 10"/>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Le niveau à </a:t>
            </a:r>
            <a:r>
              <a:rPr lang="en-US" sz="1500" b="1" dirty="0">
                <a:solidFill>
                  <a:srgbClr val="17332E"/>
                </a:solidFill>
                <a:latin typeface="Calibri" pitchFamily="34" charset="0"/>
                <a:ea typeface="Calibri" pitchFamily="34" charset="-122"/>
                <a:cs typeface="Calibri" pitchFamily="34" charset="-120"/>
              </a:rPr>
              <a:t>20 %</a:t>
            </a:r>
            <a:r>
              <a:rPr lang="en-US" sz="1500" dirty="0">
                <a:solidFill>
                  <a:srgbClr val="17332E"/>
                </a:solidFill>
                <a:latin typeface="Calibri" pitchFamily="34" charset="0"/>
                <a:ea typeface="Calibri" pitchFamily="34" charset="-122"/>
                <a:cs typeface="Calibri" pitchFamily="34" charset="-120"/>
              </a:rPr>
              <a:t> pèse 70 à 72 % du coût des remises et n'est le meilleur </a:t>
            </a:r>
            <a:r>
              <a:rPr lang="en-US" sz="1500" b="1" dirty="0">
                <a:solidFill>
                  <a:srgbClr val="17332E"/>
                </a:solidFill>
                <a:latin typeface="Calibri" pitchFamily="34" charset="0"/>
                <a:ea typeface="Calibri" pitchFamily="34" charset="-122"/>
                <a:cs typeface="Calibri" pitchFamily="34" charset="-120"/>
              </a:rPr>
              <a:t>nulle part</a:t>
            </a:r>
            <a:r>
              <a:rPr lang="en-US" sz="1500" dirty="0">
                <a:solidFill>
                  <a:srgbClr val="17332E"/>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Mouncif Bouchachi</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4 · Q2 À Q5 : PROMOTIONS, REMISES ET RETOURS</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Q5 · Arrêter les remises en magasin rapporte, quelle que soit la lecture</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Mouncif Bouchachi</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46</a:t>
            </a:r>
            <a:endParaRPr lang="en-US" sz="1000" dirty="0"/>
          </a:p>
        </p:txBody>
      </p:sp>
      <p:pic>
        <p:nvPicPr>
          <p:cNvPr id="10" name="Image 0" descr="/tmp/claude-0/complet/reports/figures/09_leviers_remises.png"/>
          <p:cNvPicPr>
            <a:picLocks noChangeAspect="1"/>
          </p:cNvPicPr>
          <p:nvPr/>
        </p:nvPicPr>
        <p:blipFill>
          <a:blip r:embed="rId3"/>
          <a:stretch>
            <a:fillRect/>
          </a:stretch>
        </p:blipFill>
        <p:spPr>
          <a:xfrm>
            <a:off x="548640" y="1838151"/>
            <a:ext cx="6766560" cy="3273138"/>
          </a:xfrm>
          <a:prstGeom prst="rect">
            <a:avLst/>
          </a:prstGeom>
        </p:spPr>
      </p:pic>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7498080" y="1463040"/>
          <a:ext cx="4114800" cy="2286000"/>
        </p:xfrm>
        <a:graphic>
          <a:graphicData uri="http://schemas.openxmlformats.org/drawingml/2006/table">
            <a:tbl>
              <a:tblPr/>
              <a:tblGrid>
                <a:gridCol w="1563624">
                  <a:extLst>
                    <a:ext uri="{9D8B030D-6E8A-4147-A177-3AD203B41FA5}">
                      <a16:colId xmlns:a16="http://schemas.microsoft.com/office/drawing/2014/main" val="20000"/>
                    </a:ext>
                  </a:extLst>
                </a:gridCol>
                <a:gridCol w="781812">
                  <a:extLst>
                    <a:ext uri="{9D8B030D-6E8A-4147-A177-3AD203B41FA5}">
                      <a16:colId xmlns:a16="http://schemas.microsoft.com/office/drawing/2014/main" val="20001"/>
                    </a:ext>
                  </a:extLst>
                </a:gridCol>
                <a:gridCol w="781812">
                  <a:extLst>
                    <a:ext uri="{9D8B030D-6E8A-4147-A177-3AD203B41FA5}">
                      <a16:colId xmlns:a16="http://schemas.microsoft.com/office/drawing/2014/main" val="20002"/>
                    </a:ext>
                  </a:extLst>
                </a:gridCol>
                <a:gridCol w="987552">
                  <a:extLst>
                    <a:ext uri="{9D8B030D-6E8A-4147-A177-3AD203B41FA5}">
                      <a16:colId xmlns:a16="http://schemas.microsoft.com/office/drawing/2014/main" val="20003"/>
                    </a:ext>
                  </a:extLst>
                </a:gridCol>
              </a:tblGrid>
              <a:tr h="45720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Levier (2021)</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Lecture A</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Lecture B</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Verdict</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457200">
                <a:tc>
                  <a:txBody>
                    <a:bodyPr/>
                    <a:lstStyle/>
                    <a:p>
                      <a:pPr marL="0" indent="0" algn="l">
                        <a:buNone/>
                      </a:pPr>
                      <a:r>
                        <a:rPr lang="en-US" sz="1150" dirty="0">
                          <a:solidFill>
                            <a:srgbClr val="1F2A28"/>
                          </a:solidFill>
                          <a:latin typeface="Calibri" pitchFamily="34" charset="0"/>
                          <a:ea typeface="Calibri" pitchFamily="34" charset="-122"/>
                          <a:cs typeface="Calibri" pitchFamily="34" charset="-120"/>
                        </a:rPr>
                        <a:t>Supprimer en magasin</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F2A28"/>
                          </a:solidFill>
                          <a:latin typeface="Calibri" pitchFamily="34" charset="0"/>
                          <a:ea typeface="Calibri" pitchFamily="34" charset="-122"/>
                          <a:cs typeface="Calibri" pitchFamily="34" charset="-120"/>
                        </a:rPr>
                        <a:t>+5,4 M$</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F2A28"/>
                          </a:solidFill>
                          <a:latin typeface="Calibri" pitchFamily="34" charset="0"/>
                          <a:ea typeface="Calibri" pitchFamily="34" charset="-122"/>
                          <a:cs typeface="Calibri" pitchFamily="34" charset="-120"/>
                        </a:rPr>
                        <a:t>+6,1 M$</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150" b="1" dirty="0">
                          <a:solidFill>
                            <a:srgbClr val="1F2A28"/>
                          </a:solidFill>
                          <a:latin typeface="Calibri" pitchFamily="34" charset="0"/>
                          <a:ea typeface="Calibri" pitchFamily="34" charset="-122"/>
                          <a:cs typeface="Calibri" pitchFamily="34" charset="-120"/>
                        </a:rPr>
                        <a:t>Gain sûr</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150" dirty="0">
                          <a:solidFill>
                            <a:srgbClr val="1F2A28"/>
                          </a:solidFill>
                          <a:latin typeface="Calibri" pitchFamily="34" charset="0"/>
                          <a:ea typeface="Calibri" pitchFamily="34" charset="-122"/>
                          <a:cs typeface="Calibri" pitchFamily="34" charset="-120"/>
                        </a:rPr>
                        <a:t>Supprimer en ligne</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150" dirty="0">
                          <a:solidFill>
                            <a:srgbClr val="1F2A28"/>
                          </a:solidFill>
                          <a:latin typeface="Calibri" pitchFamily="34" charset="0"/>
                          <a:ea typeface="Calibri" pitchFamily="34" charset="-122"/>
                          <a:cs typeface="Calibri" pitchFamily="34" charset="-120"/>
                        </a:rPr>
                        <a:t>+5,2 M$</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150" dirty="0">
                          <a:solidFill>
                            <a:srgbClr val="1F2A28"/>
                          </a:solidFill>
                          <a:latin typeface="Calibri" pitchFamily="34" charset="0"/>
                          <a:ea typeface="Calibri" pitchFamily="34" charset="-122"/>
                          <a:cs typeface="Calibri" pitchFamily="34" charset="-120"/>
                        </a:rPr>
                        <a:t>−18,6 M$</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150" dirty="0">
                          <a:solidFill>
                            <a:srgbClr val="1F2A28"/>
                          </a:solidFill>
                          <a:latin typeface="Calibri" pitchFamily="34" charset="0"/>
                          <a:ea typeface="Calibri" pitchFamily="34" charset="-122"/>
                          <a:cs typeface="Calibri" pitchFamily="34" charset="-120"/>
                        </a:rPr>
                        <a:t>Indéterminé</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457200">
                <a:tc>
                  <a:txBody>
                    <a:bodyPr/>
                    <a:lstStyle/>
                    <a:p>
                      <a:pPr marL="0" indent="0" algn="l">
                        <a:buNone/>
                      </a:pPr>
                      <a:r>
                        <a:rPr lang="en-US" sz="1150" dirty="0">
                          <a:solidFill>
                            <a:srgbClr val="1F2A28"/>
                          </a:solidFill>
                          <a:latin typeface="Calibri" pitchFamily="34" charset="0"/>
                          <a:ea typeface="Calibri" pitchFamily="34" charset="-122"/>
                          <a:cs typeface="Calibri" pitchFamily="34" charset="-120"/>
                        </a:rPr>
                        <a:t>Supprimer chez le revendeur</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F2A28"/>
                          </a:solidFill>
                          <a:latin typeface="Calibri" pitchFamily="34" charset="0"/>
                          <a:ea typeface="Calibri" pitchFamily="34" charset="-122"/>
                          <a:cs typeface="Calibri" pitchFamily="34" charset="-120"/>
                        </a:rPr>
                        <a:t>+3,1 M$</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F2A28"/>
                          </a:solidFill>
                          <a:latin typeface="Calibri" pitchFamily="34" charset="0"/>
                          <a:ea typeface="Calibri" pitchFamily="34" charset="-122"/>
                          <a:cs typeface="Calibri" pitchFamily="34" charset="-120"/>
                        </a:rPr>
                        <a:t>−7,4 M$</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F2A28"/>
                          </a:solidFill>
                          <a:latin typeface="Calibri" pitchFamily="34" charset="0"/>
                          <a:ea typeface="Calibri" pitchFamily="34" charset="-122"/>
                          <a:cs typeface="Calibri" pitchFamily="34" charset="-120"/>
                        </a:rPr>
                        <a:t>Indéterminé</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150" dirty="0">
                          <a:solidFill>
                            <a:srgbClr val="1F2A28"/>
                          </a:solidFill>
                          <a:latin typeface="Calibri" pitchFamily="34" charset="0"/>
                          <a:ea typeface="Calibri" pitchFamily="34" charset="-122"/>
                          <a:cs typeface="Calibri" pitchFamily="34" charset="-120"/>
                        </a:rPr>
                        <a:t>Plafonner à 10 % hors magasins</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150" dirty="0">
                          <a:solidFill>
                            <a:srgbClr val="1F2A28"/>
                          </a:solidFill>
                          <a:latin typeface="Calibri" pitchFamily="34" charset="0"/>
                          <a:ea typeface="Calibri" pitchFamily="34" charset="-122"/>
                          <a:cs typeface="Calibri" pitchFamily="34" charset="-120"/>
                        </a:rPr>
                        <a:t>+2,9 M$</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150" dirty="0">
                          <a:solidFill>
                            <a:srgbClr val="1F2A28"/>
                          </a:solidFill>
                          <a:latin typeface="Calibri" pitchFamily="34" charset="0"/>
                          <a:ea typeface="Calibri" pitchFamily="34" charset="-122"/>
                          <a:cs typeface="Calibri" pitchFamily="34" charset="-120"/>
                        </a:rPr>
                        <a:t>+5,8 M$</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150" dirty="0">
                          <a:solidFill>
                            <a:srgbClr val="1F2A28"/>
                          </a:solidFill>
                          <a:latin typeface="Calibri" pitchFamily="34" charset="0"/>
                          <a:ea typeface="Calibri" pitchFamily="34" charset="-122"/>
                          <a:cs typeface="Calibri" pitchFamily="34" charset="-120"/>
                        </a:rPr>
                        <a:t>Indice, à tester</a:t>
                      </a:r>
                      <a:endParaRPr lang="en-US" sz="11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4"/>
                  </a:ext>
                </a:extLst>
              </a:tr>
            </a:tbl>
          </a:graphicData>
        </a:graphic>
      </p:graphicFrame>
      <p:sp>
        <p:nvSpPr>
          <p:cNvPr id="12" name="Text 7"/>
          <p:cNvSpPr/>
          <p:nvPr/>
        </p:nvSpPr>
        <p:spPr>
          <a:xfrm>
            <a:off x="7498080" y="3977640"/>
            <a:ext cx="4114800" cy="731520"/>
          </a:xfrm>
          <a:prstGeom prst="rect">
            <a:avLst/>
          </a:prstGeom>
          <a:noFill/>
          <a:ln/>
        </p:spPr>
        <p:txBody>
          <a:bodyPr wrap="square" lIns="0" tIns="0" rIns="0" bIns="0" rtlCol="0" anchor="t"/>
          <a:lstStyle/>
          <a:p>
            <a:pPr marL="0" indent="0" algn="l">
              <a:buNone/>
            </a:pPr>
            <a:r>
              <a:rPr lang="en-US" sz="1250" b="1" dirty="0">
                <a:solidFill>
                  <a:srgbClr val="5E6B68"/>
                </a:solidFill>
                <a:latin typeface="Calibri" pitchFamily="34" charset="0"/>
                <a:ea typeface="Calibri" pitchFamily="34" charset="-122"/>
                <a:cs typeface="Calibri" pitchFamily="34" charset="-120"/>
              </a:rPr>
              <a:t>A</a:t>
            </a:r>
            <a:r>
              <a:rPr lang="en-US" sz="1250" dirty="0">
                <a:solidFill>
                  <a:srgbClr val="5E6B68"/>
                </a:solidFill>
                <a:latin typeface="Calibri" pitchFamily="34" charset="0"/>
                <a:ea typeface="Calibri" pitchFamily="34" charset="-122"/>
                <a:cs typeface="Calibri" pitchFamily="34" charset="-120"/>
              </a:rPr>
              <a:t> : les lignes resteraient les mêmes.
</a:t>
            </a:r>
            <a:r>
              <a:rPr lang="en-US" sz="1250" b="1" dirty="0">
                <a:solidFill>
                  <a:srgbClr val="5E6B68"/>
                </a:solidFill>
                <a:latin typeface="Calibri" pitchFamily="34" charset="0"/>
                <a:ea typeface="Calibri" pitchFamily="34" charset="-122"/>
                <a:cs typeface="Calibri" pitchFamily="34" charset="-120"/>
              </a:rPr>
              <a:t>B</a:t>
            </a:r>
            <a:r>
              <a:rPr lang="en-US" sz="1250" dirty="0">
                <a:solidFill>
                  <a:srgbClr val="5E6B68"/>
                </a:solidFill>
                <a:latin typeface="Calibri" pitchFamily="34" charset="0"/>
                <a:ea typeface="Calibri" pitchFamily="34" charset="-122"/>
                <a:cs typeface="Calibri" pitchFamily="34" charset="-120"/>
              </a:rPr>
              <a:t> : la ligne ressemblerait à une ligne non remisée.</a:t>
            </a:r>
            <a:endParaRPr lang="en-US" sz="1250" dirty="0"/>
          </a:p>
        </p:txBody>
      </p:sp>
      <p:sp>
        <p:nvSpPr>
          <p:cNvPr id="13" name="Text 8"/>
          <p:cNvSpPr/>
          <p:nvPr/>
        </p:nvSpPr>
        <p:spPr>
          <a:xfrm>
            <a:off x="7498080" y="4754880"/>
            <a:ext cx="4114800" cy="731520"/>
          </a:xfrm>
          <a:prstGeom prst="rect">
            <a:avLst/>
          </a:prstGeom>
          <a:noFill/>
          <a:ln/>
        </p:spPr>
        <p:txBody>
          <a:bodyPr wrap="square" lIns="0" tIns="0" rIns="0" bIns="0" rtlCol="0" anchor="t"/>
          <a:lstStyle/>
          <a:p>
            <a:pPr marL="0" indent="0" algn="l">
              <a:buNone/>
            </a:pPr>
            <a:r>
              <a:rPr lang="en-US" sz="1250" dirty="0">
                <a:solidFill>
                  <a:srgbClr val="1F2A28"/>
                </a:solidFill>
                <a:latin typeface="Calibri" pitchFamily="34" charset="0"/>
                <a:ea typeface="Calibri" pitchFamily="34" charset="-122"/>
                <a:cs typeface="Calibri" pitchFamily="34" charset="-120"/>
              </a:rPr>
              <a:t>Seuil en magasin : le gain disparaît si les ventes en promotion reculent de plus de </a:t>
            </a:r>
            <a:r>
              <a:rPr lang="en-US" sz="1250" b="1" dirty="0">
                <a:solidFill>
                  <a:srgbClr val="1F2A28"/>
                </a:solidFill>
                <a:latin typeface="Calibri" pitchFamily="34" charset="0"/>
                <a:ea typeface="Calibri" pitchFamily="34" charset="-122"/>
                <a:cs typeface="Calibri" pitchFamily="34" charset="-120"/>
              </a:rPr>
              <a:t>5,2 %</a:t>
            </a:r>
            <a:r>
              <a:rPr lang="en-US" sz="1250" dirty="0">
                <a:solidFill>
                  <a:srgbClr val="1F2A28"/>
                </a:solidFill>
                <a:latin typeface="Calibri" pitchFamily="34" charset="0"/>
                <a:ea typeface="Calibri" pitchFamily="34" charset="-122"/>
                <a:cs typeface="Calibri" pitchFamily="34" charset="-120"/>
              </a:rPr>
              <a:t>.</a:t>
            </a:r>
            <a:endParaRPr lang="en-US" sz="1250" dirty="0"/>
          </a:p>
        </p:txBody>
      </p:sp>
      <p:sp>
        <p:nvSpPr>
          <p:cNvPr id="14" name="Shape 9"/>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5" name="Shape 10"/>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16" name="Text 11"/>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Nous ne prouvons pas un « non-effet » : nous montrons que la décision </a:t>
            </a:r>
            <a:r>
              <a:rPr lang="en-US" sz="1500" b="1" dirty="0">
                <a:solidFill>
                  <a:srgbClr val="17332E"/>
                </a:solidFill>
                <a:latin typeface="Calibri" pitchFamily="34" charset="0"/>
                <a:ea typeface="Calibri" pitchFamily="34" charset="-122"/>
                <a:cs typeface="Calibri" pitchFamily="34" charset="-120"/>
              </a:rPr>
              <a:t>ne change pas</a:t>
            </a:r>
            <a:r>
              <a:rPr lang="en-US" sz="1500" dirty="0">
                <a:solidFill>
                  <a:srgbClr val="17332E"/>
                </a:solidFill>
                <a:latin typeface="Calibri" pitchFamily="34" charset="0"/>
                <a:ea typeface="Calibri" pitchFamily="34" charset="-122"/>
                <a:cs typeface="Calibri" pitchFamily="34" charset="-120"/>
              </a:rPr>
              <a:t>, quelle que soit la lecture.</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Mouncif Bouchachi</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4 · Q2 À Q5 : PROMOTIONS, REMISES ET RETOURS</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Q2 et Q5 · Des réponses nettes, un levier réel mais secondaire</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Mouncif Bouchachi</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47</a:t>
            </a:r>
            <a:endParaRPr lang="en-US" sz="1000" dirty="0"/>
          </a:p>
        </p:txBody>
      </p:sp>
      <p:sp>
        <p:nvSpPr>
          <p:cNvPr id="10" name="Shape 7"/>
          <p:cNvSpPr/>
          <p:nvPr/>
        </p:nvSpPr>
        <p:spPr>
          <a:xfrm>
            <a:off x="548640" y="1463040"/>
            <a:ext cx="3657600" cy="1600200"/>
          </a:xfrm>
          <a:prstGeom prst="rect">
            <a:avLst/>
          </a:prstGeom>
          <a:solidFill>
            <a:srgbClr val="EAF2EF"/>
          </a:solidFill>
          <a:ln w="9525">
            <a:solidFill>
              <a:srgbClr val="CFE0DA"/>
            </a:solidFill>
            <a:prstDash val="solid"/>
          </a:ln>
        </p:spPr>
        <p:txBody>
          <a:bodyPr/>
          <a:lstStyle/>
          <a:p>
            <a:endParaRPr lang="en-US"/>
          </a:p>
        </p:txBody>
      </p:sp>
      <p:sp>
        <p:nvSpPr>
          <p:cNvPr id="11" name="Text 8"/>
          <p:cNvSpPr/>
          <p:nvPr/>
        </p:nvSpPr>
        <p:spPr>
          <a:xfrm>
            <a:off x="731520" y="1572768"/>
            <a:ext cx="3291840" cy="411480"/>
          </a:xfrm>
          <a:prstGeom prst="rect">
            <a:avLst/>
          </a:prstGeom>
          <a:noFill/>
          <a:ln/>
        </p:spPr>
        <p:txBody>
          <a:bodyPr wrap="square" lIns="0" tIns="0" rIns="0" bIns="0" rtlCol="0" anchor="ctr"/>
          <a:lstStyle/>
          <a:p>
            <a:pPr marL="0" indent="0">
              <a:buNone/>
            </a:pPr>
            <a:r>
              <a:rPr lang="en-US" sz="1500" b="1" dirty="0">
                <a:solidFill>
                  <a:srgbClr val="17332E"/>
                </a:solidFill>
                <a:latin typeface="Cambria" pitchFamily="34" charset="0"/>
                <a:ea typeface="Cambria" pitchFamily="34" charset="-122"/>
                <a:cs typeface="Cambria" pitchFamily="34" charset="-120"/>
              </a:rPr>
              <a:t>Réponse à Q2</a:t>
            </a:r>
            <a:endParaRPr lang="en-US" sz="1500" dirty="0"/>
          </a:p>
        </p:txBody>
      </p:sp>
      <p:sp>
        <p:nvSpPr>
          <p:cNvPr id="12" name="Text 9"/>
          <p:cNvSpPr/>
          <p:nvPr/>
        </p:nvSpPr>
        <p:spPr>
          <a:xfrm>
            <a:off x="731520" y="2057400"/>
            <a:ext cx="3291840" cy="914400"/>
          </a:xfrm>
          <a:prstGeom prst="rect">
            <a:avLst/>
          </a:prstGeom>
          <a:noFill/>
          <a:ln/>
        </p:spPr>
        <p:txBody>
          <a:bodyPr wrap="square" lIns="0" tIns="0" rIns="0" bIns="0" rtlCol="0" anchor="t"/>
          <a:lstStyle/>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b="1" dirty="0">
                <a:solidFill>
                  <a:srgbClr val="1F2A28"/>
                </a:solidFill>
                <a:latin typeface="Calibri" pitchFamily="34" charset="0"/>
                <a:ea typeface="Calibri" pitchFamily="34" charset="-122"/>
                <a:cs typeface="Calibri" pitchFamily="34" charset="-120"/>
              </a:rPr>
              <a:t>Pas de ventes en plus</a:t>
            </a:r>
            <a:r>
              <a:rPr lang="en-US" sz="1300" dirty="0">
                <a:solidFill>
                  <a:srgbClr val="1F2A28"/>
                </a:solidFill>
                <a:latin typeface="Calibri" pitchFamily="34" charset="0"/>
                <a:ea typeface="Calibri" pitchFamily="34" charset="-122"/>
                <a:cs typeface="Calibri" pitchFamily="34" charset="-120"/>
              </a:rPr>
              <a:t>, indices contraires. Coût : 13,7 M$ en 2021</a:t>
            </a:r>
            <a:endParaRPr lang="en-US" sz="1300" dirty="0"/>
          </a:p>
        </p:txBody>
      </p:sp>
      <p:sp>
        <p:nvSpPr>
          <p:cNvPr id="13" name="Shape 10"/>
          <p:cNvSpPr/>
          <p:nvPr/>
        </p:nvSpPr>
        <p:spPr>
          <a:xfrm>
            <a:off x="548640" y="3200400"/>
            <a:ext cx="3657600" cy="2286000"/>
          </a:xfrm>
          <a:prstGeom prst="rect">
            <a:avLst/>
          </a:prstGeom>
          <a:solidFill>
            <a:srgbClr val="EAF2EF"/>
          </a:solidFill>
          <a:ln w="9525">
            <a:solidFill>
              <a:srgbClr val="CFE0DA"/>
            </a:solidFill>
            <a:prstDash val="solid"/>
          </a:ln>
        </p:spPr>
        <p:txBody>
          <a:bodyPr/>
          <a:lstStyle/>
          <a:p>
            <a:endParaRPr lang="en-US"/>
          </a:p>
        </p:txBody>
      </p:sp>
      <p:sp>
        <p:nvSpPr>
          <p:cNvPr id="14" name="Text 11"/>
          <p:cNvSpPr/>
          <p:nvPr/>
        </p:nvSpPr>
        <p:spPr>
          <a:xfrm>
            <a:off x="731520" y="3310128"/>
            <a:ext cx="3291840" cy="411480"/>
          </a:xfrm>
          <a:prstGeom prst="rect">
            <a:avLst/>
          </a:prstGeom>
          <a:noFill/>
          <a:ln/>
        </p:spPr>
        <p:txBody>
          <a:bodyPr wrap="square" lIns="0" tIns="0" rIns="0" bIns="0" rtlCol="0" anchor="ctr"/>
          <a:lstStyle/>
          <a:p>
            <a:pPr marL="0" indent="0">
              <a:buNone/>
            </a:pPr>
            <a:r>
              <a:rPr lang="en-US" sz="1500" b="1" dirty="0">
                <a:solidFill>
                  <a:srgbClr val="17332E"/>
                </a:solidFill>
                <a:latin typeface="Cambria" pitchFamily="34" charset="0"/>
                <a:ea typeface="Cambria" pitchFamily="34" charset="-122"/>
                <a:cs typeface="Cambria" pitchFamily="34" charset="-120"/>
              </a:rPr>
              <a:t>Réponse à Q5</a:t>
            </a:r>
            <a:endParaRPr lang="en-US" sz="1500" dirty="0"/>
          </a:p>
        </p:txBody>
      </p:sp>
      <p:sp>
        <p:nvSpPr>
          <p:cNvPr id="15" name="Text 12"/>
          <p:cNvSpPr/>
          <p:nvPr/>
        </p:nvSpPr>
        <p:spPr>
          <a:xfrm>
            <a:off x="731520" y="3794760"/>
            <a:ext cx="3291840" cy="1600200"/>
          </a:xfrm>
          <a:prstGeom prst="rect">
            <a:avLst/>
          </a:prstGeom>
          <a:noFill/>
          <a:ln/>
        </p:spPr>
        <p:txBody>
          <a:bodyPr wrap="square" lIns="0" tIns="0" rIns="0" bIns="0" rtlCol="0" anchor="t"/>
          <a:lstStyle/>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Magasins : </a:t>
            </a:r>
            <a:r>
              <a:rPr lang="en-US" sz="1300" b="1" dirty="0">
                <a:solidFill>
                  <a:srgbClr val="1F2A28"/>
                </a:solidFill>
                <a:latin typeface="Calibri" pitchFamily="34" charset="0"/>
                <a:ea typeface="Calibri" pitchFamily="34" charset="-122"/>
                <a:cs typeface="Calibri" pitchFamily="34" charset="-120"/>
              </a:rPr>
              <a:t>aucune remise</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En ligne : </a:t>
            </a:r>
            <a:r>
              <a:rPr lang="en-US" sz="1300" b="1" dirty="0">
                <a:solidFill>
                  <a:srgbClr val="1F2A28"/>
                </a:solidFill>
                <a:latin typeface="Calibri" pitchFamily="34" charset="0"/>
                <a:ea typeface="Calibri" pitchFamily="34" charset="-122"/>
                <a:cs typeface="Calibri" pitchFamily="34" charset="-120"/>
              </a:rPr>
              <a:t>10 %</a:t>
            </a:r>
            <a:r>
              <a:rPr lang="en-US" sz="1300" dirty="0">
                <a:solidFill>
                  <a:srgbClr val="1F2A28"/>
                </a:solidFill>
                <a:latin typeface="Calibri" pitchFamily="34" charset="0"/>
                <a:ea typeface="Calibri" pitchFamily="34" charset="-122"/>
                <a:cs typeface="Calibri" pitchFamily="34" charset="-120"/>
              </a:rPr>
              <a:t>, pas 20 %</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Revendeur : </a:t>
            </a:r>
            <a:r>
              <a:rPr lang="en-US" sz="1300" b="1" dirty="0">
                <a:solidFill>
                  <a:srgbClr val="1F2A28"/>
                </a:solidFill>
                <a:latin typeface="Calibri" pitchFamily="34" charset="0"/>
                <a:ea typeface="Calibri" pitchFamily="34" charset="-122"/>
                <a:cs typeface="Calibri" pitchFamily="34" charset="-120"/>
              </a:rPr>
              <a:t>7 %</a:t>
            </a:r>
            <a:r>
              <a:rPr lang="en-US" sz="1300" dirty="0">
                <a:solidFill>
                  <a:srgbClr val="1F2A28"/>
                </a:solidFill>
                <a:latin typeface="Calibri" pitchFamily="34" charset="0"/>
                <a:ea typeface="Calibri" pitchFamily="34" charset="-122"/>
                <a:cs typeface="Calibri" pitchFamily="34" charset="-120"/>
              </a:rPr>
              <a:t>, pas 20 %</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Hors magasins : cause ouverte</a:t>
            </a:r>
            <a:endParaRPr lang="en-US" sz="1300" dirty="0"/>
          </a:p>
        </p:txBody>
      </p:sp>
      <p:sp>
        <p:nvSpPr>
          <p:cNvPr id="16" name="Shape 13"/>
          <p:cNvSpPr/>
          <p:nvPr/>
        </p:nvSpPr>
        <p:spPr>
          <a:xfrm>
            <a:off x="4480560" y="1554480"/>
            <a:ext cx="384048" cy="384048"/>
          </a:xfrm>
          <a:prstGeom prst="ellipse">
            <a:avLst/>
          </a:prstGeom>
          <a:solidFill>
            <a:srgbClr val="E9A23B"/>
          </a:solidFill>
          <a:ln w="12700">
            <a:solidFill>
              <a:srgbClr val="E9A23B"/>
            </a:solidFill>
            <a:prstDash val="solid"/>
          </a:ln>
        </p:spPr>
        <p:txBody>
          <a:bodyPr/>
          <a:lstStyle/>
          <a:p>
            <a:endParaRPr lang="en-US"/>
          </a:p>
        </p:txBody>
      </p:sp>
      <p:sp>
        <p:nvSpPr>
          <p:cNvPr id="17" name="Text 14"/>
          <p:cNvSpPr/>
          <p:nvPr/>
        </p:nvSpPr>
        <p:spPr>
          <a:xfrm>
            <a:off x="4480560" y="1554480"/>
            <a:ext cx="384048" cy="384048"/>
          </a:xfrm>
          <a:prstGeom prst="rect">
            <a:avLst/>
          </a:prstGeom>
          <a:noFill/>
          <a:ln/>
        </p:spPr>
        <p:txBody>
          <a:bodyPr wrap="square" lIns="0" tIns="0" rIns="0" bIns="0" rtlCol="0" anchor="ctr"/>
          <a:lstStyle/>
          <a:p>
            <a:pPr marL="0" indent="0" algn="ctr">
              <a:buNone/>
            </a:pPr>
            <a:r>
              <a:rPr lang="en-US" sz="1400" b="1" dirty="0">
                <a:solidFill>
                  <a:srgbClr val="17332E"/>
                </a:solidFill>
                <a:latin typeface="Calibri" pitchFamily="34" charset="0"/>
                <a:ea typeface="Calibri" pitchFamily="34" charset="-122"/>
                <a:cs typeface="Calibri" pitchFamily="34" charset="-120"/>
              </a:rPr>
              <a:t>1</a:t>
            </a:r>
            <a:endParaRPr lang="en-US" sz="1400" dirty="0"/>
          </a:p>
        </p:txBody>
      </p:sp>
      <p:sp>
        <p:nvSpPr>
          <p:cNvPr id="18" name="Text 15"/>
          <p:cNvSpPr/>
          <p:nvPr/>
        </p:nvSpPr>
        <p:spPr>
          <a:xfrm>
            <a:off x="4983480" y="1508760"/>
            <a:ext cx="3108960" cy="914400"/>
          </a:xfrm>
          <a:prstGeom prst="rect">
            <a:avLst/>
          </a:prstGeom>
          <a:noFill/>
          <a:ln/>
        </p:spPr>
        <p:txBody>
          <a:bodyPr wrap="square" lIns="0" tIns="0" rIns="0" bIns="0" rtlCol="0" anchor="t"/>
          <a:lstStyle/>
          <a:p>
            <a:pPr marL="0" indent="0" algn="l">
              <a:buNone/>
            </a:pPr>
            <a:r>
              <a:rPr lang="en-US" sz="1300" b="1" dirty="0">
                <a:solidFill>
                  <a:srgbClr val="1F2A28"/>
                </a:solidFill>
                <a:latin typeface="Calibri" pitchFamily="34" charset="0"/>
                <a:ea typeface="Calibri" pitchFamily="34" charset="-122"/>
                <a:cs typeface="Calibri" pitchFamily="34" charset="-120"/>
              </a:rPr>
              <a:t>Arrêter les remises en magasin</a:t>
            </a:r>
            <a:r>
              <a:rPr lang="en-US" sz="1300" dirty="0">
                <a:solidFill>
                  <a:srgbClr val="1F2A28"/>
                </a:solidFill>
                <a:latin typeface="Calibri" pitchFamily="34" charset="0"/>
                <a:ea typeface="Calibri" pitchFamily="34" charset="-122"/>
                <a:cs typeface="Calibri" pitchFamily="34" charset="-120"/>
              </a:rPr>
              <a:t> : 5,4 à 6,1 M$ par an, compté une fois. C'est aussi le test</a:t>
            </a:r>
            <a:endParaRPr lang="en-US" sz="1300" dirty="0"/>
          </a:p>
        </p:txBody>
      </p:sp>
      <p:sp>
        <p:nvSpPr>
          <p:cNvPr id="19" name="Shape 16"/>
          <p:cNvSpPr/>
          <p:nvPr/>
        </p:nvSpPr>
        <p:spPr>
          <a:xfrm>
            <a:off x="4480560" y="2697480"/>
            <a:ext cx="384048" cy="384048"/>
          </a:xfrm>
          <a:prstGeom prst="ellipse">
            <a:avLst/>
          </a:prstGeom>
          <a:solidFill>
            <a:srgbClr val="E9A23B"/>
          </a:solidFill>
          <a:ln w="12700">
            <a:solidFill>
              <a:srgbClr val="E9A23B"/>
            </a:solidFill>
            <a:prstDash val="solid"/>
          </a:ln>
        </p:spPr>
        <p:txBody>
          <a:bodyPr/>
          <a:lstStyle/>
          <a:p>
            <a:endParaRPr lang="en-US"/>
          </a:p>
        </p:txBody>
      </p:sp>
      <p:sp>
        <p:nvSpPr>
          <p:cNvPr id="20" name="Text 17"/>
          <p:cNvSpPr/>
          <p:nvPr/>
        </p:nvSpPr>
        <p:spPr>
          <a:xfrm>
            <a:off x="4480560" y="2697480"/>
            <a:ext cx="384048" cy="384048"/>
          </a:xfrm>
          <a:prstGeom prst="rect">
            <a:avLst/>
          </a:prstGeom>
          <a:noFill/>
          <a:ln/>
        </p:spPr>
        <p:txBody>
          <a:bodyPr wrap="square" lIns="0" tIns="0" rIns="0" bIns="0" rtlCol="0" anchor="ctr"/>
          <a:lstStyle/>
          <a:p>
            <a:pPr marL="0" indent="0" algn="ctr">
              <a:buNone/>
            </a:pPr>
            <a:r>
              <a:rPr lang="en-US" sz="1400" b="1" dirty="0">
                <a:solidFill>
                  <a:srgbClr val="17332E"/>
                </a:solidFill>
                <a:latin typeface="Calibri" pitchFamily="34" charset="0"/>
                <a:ea typeface="Calibri" pitchFamily="34" charset="-122"/>
                <a:cs typeface="Calibri" pitchFamily="34" charset="-120"/>
              </a:rPr>
              <a:t>2</a:t>
            </a:r>
            <a:endParaRPr lang="en-US" sz="1400" dirty="0"/>
          </a:p>
        </p:txBody>
      </p:sp>
      <p:sp>
        <p:nvSpPr>
          <p:cNvPr id="21" name="Text 18"/>
          <p:cNvSpPr/>
          <p:nvPr/>
        </p:nvSpPr>
        <p:spPr>
          <a:xfrm>
            <a:off x="4983480" y="2651760"/>
            <a:ext cx="3108960" cy="914400"/>
          </a:xfrm>
          <a:prstGeom prst="rect">
            <a:avLst/>
          </a:prstGeom>
          <a:noFill/>
          <a:ln/>
        </p:spPr>
        <p:txBody>
          <a:bodyPr wrap="square" lIns="0" tIns="0" rIns="0" bIns="0" rtlCol="0" anchor="t"/>
          <a:lstStyle/>
          <a:p>
            <a:pPr marL="0" indent="0" algn="l">
              <a:buNone/>
            </a:pPr>
            <a:r>
              <a:rPr lang="en-US" sz="1300" b="1" dirty="0">
                <a:solidFill>
                  <a:srgbClr val="1F2A28"/>
                </a:solidFill>
                <a:latin typeface="Calibri" pitchFamily="34" charset="0"/>
                <a:ea typeface="Calibri" pitchFamily="34" charset="-122"/>
                <a:cs typeface="Calibri" pitchFamily="34" charset="-120"/>
              </a:rPr>
              <a:t>En ligne et revendeur</a:t>
            </a:r>
            <a:r>
              <a:rPr lang="en-US" sz="1300" dirty="0">
                <a:solidFill>
                  <a:srgbClr val="1F2A28"/>
                </a:solidFill>
                <a:latin typeface="Calibri" pitchFamily="34" charset="0"/>
                <a:ea typeface="Calibri" pitchFamily="34" charset="-122"/>
                <a:cs typeface="Calibri" pitchFamily="34" charset="-120"/>
              </a:rPr>
              <a:t> : rien sans essai ; tester un plafond à 10 % avec un groupe témoin</a:t>
            </a:r>
            <a:endParaRPr lang="en-US" sz="1300" dirty="0"/>
          </a:p>
        </p:txBody>
      </p:sp>
      <p:sp>
        <p:nvSpPr>
          <p:cNvPr id="22" name="Shape 19"/>
          <p:cNvSpPr/>
          <p:nvPr/>
        </p:nvSpPr>
        <p:spPr>
          <a:xfrm>
            <a:off x="4480560" y="3840480"/>
            <a:ext cx="384048" cy="384048"/>
          </a:xfrm>
          <a:prstGeom prst="ellipse">
            <a:avLst/>
          </a:prstGeom>
          <a:solidFill>
            <a:srgbClr val="E9A23B"/>
          </a:solidFill>
          <a:ln w="12700">
            <a:solidFill>
              <a:srgbClr val="E9A23B"/>
            </a:solidFill>
            <a:prstDash val="solid"/>
          </a:ln>
        </p:spPr>
        <p:txBody>
          <a:bodyPr/>
          <a:lstStyle/>
          <a:p>
            <a:endParaRPr lang="en-US"/>
          </a:p>
        </p:txBody>
      </p:sp>
      <p:sp>
        <p:nvSpPr>
          <p:cNvPr id="23" name="Text 20"/>
          <p:cNvSpPr/>
          <p:nvPr/>
        </p:nvSpPr>
        <p:spPr>
          <a:xfrm>
            <a:off x="4480560" y="3840480"/>
            <a:ext cx="384048" cy="384048"/>
          </a:xfrm>
          <a:prstGeom prst="rect">
            <a:avLst/>
          </a:prstGeom>
          <a:noFill/>
          <a:ln/>
        </p:spPr>
        <p:txBody>
          <a:bodyPr wrap="square" lIns="0" tIns="0" rIns="0" bIns="0" rtlCol="0" anchor="ctr"/>
          <a:lstStyle/>
          <a:p>
            <a:pPr marL="0" indent="0" algn="ctr">
              <a:buNone/>
            </a:pPr>
            <a:r>
              <a:rPr lang="en-US" sz="1400" b="1" dirty="0">
                <a:solidFill>
                  <a:srgbClr val="17332E"/>
                </a:solidFill>
                <a:latin typeface="Calibri" pitchFamily="34" charset="0"/>
                <a:ea typeface="Calibri" pitchFamily="34" charset="-122"/>
                <a:cs typeface="Calibri" pitchFamily="34" charset="-120"/>
              </a:rPr>
              <a:t>3</a:t>
            </a:r>
            <a:endParaRPr lang="en-US" sz="1400" dirty="0"/>
          </a:p>
        </p:txBody>
      </p:sp>
      <p:sp>
        <p:nvSpPr>
          <p:cNvPr id="24" name="Text 21"/>
          <p:cNvSpPr/>
          <p:nvPr/>
        </p:nvSpPr>
        <p:spPr>
          <a:xfrm>
            <a:off x="4983480" y="3794760"/>
            <a:ext cx="3108960" cy="914400"/>
          </a:xfrm>
          <a:prstGeom prst="rect">
            <a:avLst/>
          </a:prstGeom>
          <a:noFill/>
          <a:ln/>
        </p:spPr>
        <p:txBody>
          <a:bodyPr wrap="square" lIns="0" tIns="0" rIns="0" bIns="0" rtlCol="0" anchor="t"/>
          <a:lstStyle/>
          <a:p>
            <a:pPr marL="0" indent="0" algn="l">
              <a:buNone/>
            </a:pPr>
            <a:r>
              <a:rPr lang="en-US" sz="1300" b="1" dirty="0">
                <a:solidFill>
                  <a:srgbClr val="1F2A28"/>
                </a:solidFill>
                <a:latin typeface="Calibri" pitchFamily="34" charset="0"/>
                <a:ea typeface="Calibri" pitchFamily="34" charset="-122"/>
                <a:cs typeface="Calibri" pitchFamily="34" charset="-120"/>
              </a:rPr>
              <a:t>Repenser la promotion</a:t>
            </a:r>
            <a:r>
              <a:rPr lang="en-US" sz="1300" dirty="0">
                <a:solidFill>
                  <a:srgbClr val="1F2A28"/>
                </a:solidFill>
                <a:latin typeface="Calibri" pitchFamily="34" charset="0"/>
                <a:ea typeface="Calibri" pitchFamily="34" charset="-122"/>
                <a:cs typeface="Calibri" pitchFamily="34" charset="-120"/>
              </a:rPr>
              <a:t> : ciblée par canal, limitée dans le temps, mesurée</a:t>
            </a:r>
            <a:endParaRPr lang="en-US" sz="1300" dirty="0"/>
          </a:p>
        </p:txBody>
      </p:sp>
      <p:sp>
        <p:nvSpPr>
          <p:cNvPr id="25" name="Shape 22"/>
          <p:cNvSpPr/>
          <p:nvPr/>
        </p:nvSpPr>
        <p:spPr>
          <a:xfrm>
            <a:off x="8412480" y="1463040"/>
            <a:ext cx="3200400" cy="1234440"/>
          </a:xfrm>
          <a:prstGeom prst="rect">
            <a:avLst/>
          </a:prstGeom>
          <a:solidFill>
            <a:srgbClr val="EAF2EF"/>
          </a:solidFill>
          <a:ln w="9525">
            <a:solidFill>
              <a:srgbClr val="CFE0DA"/>
            </a:solidFill>
            <a:prstDash val="solid"/>
          </a:ln>
        </p:spPr>
        <p:txBody>
          <a:bodyPr/>
          <a:lstStyle/>
          <a:p>
            <a:endParaRPr lang="en-US"/>
          </a:p>
        </p:txBody>
      </p:sp>
      <p:sp>
        <p:nvSpPr>
          <p:cNvPr id="26" name="Text 23"/>
          <p:cNvSpPr/>
          <p:nvPr/>
        </p:nvSpPr>
        <p:spPr>
          <a:xfrm>
            <a:off x="8412480" y="1554480"/>
            <a:ext cx="3200400" cy="617220"/>
          </a:xfrm>
          <a:prstGeom prst="rect">
            <a:avLst/>
          </a:prstGeom>
          <a:noFill/>
          <a:ln/>
        </p:spPr>
        <p:txBody>
          <a:bodyPr wrap="square" lIns="0" tIns="0" rIns="0" bIns="0" rtlCol="0" anchor="ctr"/>
          <a:lstStyle/>
          <a:p>
            <a:pPr marL="0" indent="0" algn="ctr">
              <a:buNone/>
            </a:pPr>
            <a:r>
              <a:rPr lang="en-US" sz="2600" b="1" dirty="0">
                <a:solidFill>
                  <a:srgbClr val="17332E"/>
                </a:solidFill>
                <a:latin typeface="Cambria" pitchFamily="34" charset="0"/>
                <a:ea typeface="Cambria" pitchFamily="34" charset="-122"/>
                <a:cs typeface="Cambria" pitchFamily="34" charset="-120"/>
              </a:rPr>
              <a:t>46,1 M$</a:t>
            </a:r>
            <a:endParaRPr lang="en-US" sz="2600" dirty="0"/>
          </a:p>
        </p:txBody>
      </p:sp>
      <p:sp>
        <p:nvSpPr>
          <p:cNvPr id="27" name="Text 24"/>
          <p:cNvSpPr/>
          <p:nvPr/>
        </p:nvSpPr>
        <p:spPr>
          <a:xfrm>
            <a:off x="8503920" y="2141982"/>
            <a:ext cx="3017520" cy="493776"/>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renouvellement de l'assortiment</a:t>
            </a:r>
            <a:endParaRPr lang="en-US" sz="1200" dirty="0"/>
          </a:p>
        </p:txBody>
      </p:sp>
      <p:sp>
        <p:nvSpPr>
          <p:cNvPr id="28" name="Shape 25"/>
          <p:cNvSpPr/>
          <p:nvPr/>
        </p:nvSpPr>
        <p:spPr>
          <a:xfrm>
            <a:off x="8412480" y="2816352"/>
            <a:ext cx="3200400" cy="1234440"/>
          </a:xfrm>
          <a:prstGeom prst="rect">
            <a:avLst/>
          </a:prstGeom>
          <a:solidFill>
            <a:srgbClr val="EAF2EF"/>
          </a:solidFill>
          <a:ln w="9525">
            <a:solidFill>
              <a:srgbClr val="CFE0DA"/>
            </a:solidFill>
            <a:prstDash val="solid"/>
          </a:ln>
        </p:spPr>
        <p:txBody>
          <a:bodyPr/>
          <a:lstStyle/>
          <a:p>
            <a:endParaRPr lang="en-US"/>
          </a:p>
        </p:txBody>
      </p:sp>
      <p:sp>
        <p:nvSpPr>
          <p:cNvPr id="29" name="Text 26"/>
          <p:cNvSpPr/>
          <p:nvPr/>
        </p:nvSpPr>
        <p:spPr>
          <a:xfrm>
            <a:off x="8412480" y="2907792"/>
            <a:ext cx="3200400" cy="617220"/>
          </a:xfrm>
          <a:prstGeom prst="rect">
            <a:avLst/>
          </a:prstGeom>
          <a:noFill/>
          <a:ln/>
        </p:spPr>
        <p:txBody>
          <a:bodyPr wrap="square" lIns="0" tIns="0" rIns="0" bIns="0" rtlCol="0" anchor="ctr"/>
          <a:lstStyle/>
          <a:p>
            <a:pPr marL="0" indent="0" algn="ctr">
              <a:buNone/>
            </a:pPr>
            <a:r>
              <a:rPr lang="en-US" sz="2600" b="1" dirty="0">
                <a:solidFill>
                  <a:srgbClr val="17332E"/>
                </a:solidFill>
                <a:latin typeface="Cambria" pitchFamily="34" charset="0"/>
                <a:ea typeface="Cambria" pitchFamily="34" charset="-122"/>
                <a:cs typeface="Cambria" pitchFamily="34" charset="-120"/>
              </a:rPr>
              <a:t>9,2 M$</a:t>
            </a:r>
            <a:endParaRPr lang="en-US" sz="2600" dirty="0"/>
          </a:p>
        </p:txBody>
      </p:sp>
      <p:sp>
        <p:nvSpPr>
          <p:cNvPr id="30" name="Text 27"/>
          <p:cNvSpPr/>
          <p:nvPr/>
        </p:nvSpPr>
        <p:spPr>
          <a:xfrm>
            <a:off x="8503920" y="3495294"/>
            <a:ext cx="3017520" cy="493776"/>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frais généraux</a:t>
            </a:r>
            <a:endParaRPr lang="en-US" sz="1200" dirty="0"/>
          </a:p>
        </p:txBody>
      </p:sp>
      <p:sp>
        <p:nvSpPr>
          <p:cNvPr id="31" name="Shape 28"/>
          <p:cNvSpPr/>
          <p:nvPr/>
        </p:nvSpPr>
        <p:spPr>
          <a:xfrm>
            <a:off x="8412480" y="4169664"/>
            <a:ext cx="3200400" cy="1234440"/>
          </a:xfrm>
          <a:prstGeom prst="rect">
            <a:avLst/>
          </a:prstGeom>
          <a:solidFill>
            <a:srgbClr val="EAF2EF"/>
          </a:solidFill>
          <a:ln w="9525">
            <a:solidFill>
              <a:srgbClr val="CFE0DA"/>
            </a:solidFill>
            <a:prstDash val="solid"/>
          </a:ln>
        </p:spPr>
        <p:txBody>
          <a:bodyPr/>
          <a:lstStyle/>
          <a:p>
            <a:endParaRPr lang="en-US"/>
          </a:p>
        </p:txBody>
      </p:sp>
      <p:sp>
        <p:nvSpPr>
          <p:cNvPr id="32" name="Text 29"/>
          <p:cNvSpPr/>
          <p:nvPr/>
        </p:nvSpPr>
        <p:spPr>
          <a:xfrm>
            <a:off x="8412480" y="4261104"/>
            <a:ext cx="3200400" cy="617220"/>
          </a:xfrm>
          <a:prstGeom prst="rect">
            <a:avLst/>
          </a:prstGeom>
          <a:noFill/>
          <a:ln/>
        </p:spPr>
        <p:txBody>
          <a:bodyPr wrap="square" lIns="0" tIns="0" rIns="0" bIns="0" rtlCol="0" anchor="ctr"/>
          <a:lstStyle/>
          <a:p>
            <a:pPr marL="0" indent="0" algn="ctr">
              <a:buNone/>
            </a:pPr>
            <a:r>
              <a:rPr lang="en-US" sz="2600" b="1" dirty="0">
                <a:solidFill>
                  <a:srgbClr val="5E6B68"/>
                </a:solidFill>
                <a:latin typeface="Cambria" pitchFamily="34" charset="0"/>
                <a:ea typeface="Cambria" pitchFamily="34" charset="-122"/>
                <a:cs typeface="Cambria" pitchFamily="34" charset="-120"/>
              </a:rPr>
              <a:t>5,4 M$</a:t>
            </a:r>
            <a:endParaRPr lang="en-US" sz="2600" dirty="0"/>
          </a:p>
        </p:txBody>
      </p:sp>
      <p:sp>
        <p:nvSpPr>
          <p:cNvPr id="33" name="Text 30"/>
          <p:cNvSpPr/>
          <p:nvPr/>
        </p:nvSpPr>
        <p:spPr>
          <a:xfrm>
            <a:off x="8503920" y="4848606"/>
            <a:ext cx="3017520" cy="493776"/>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remises en magasin</a:t>
            </a:r>
            <a:endParaRPr lang="en-US" sz="1200" dirty="0"/>
          </a:p>
        </p:txBody>
      </p:sp>
      <p:sp>
        <p:nvSpPr>
          <p:cNvPr id="34" name="Shape 31"/>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35" name="Shape 32"/>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36" name="Text 33"/>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Promotions et remises : un levier </a:t>
            </a:r>
            <a:r>
              <a:rPr lang="en-US" sz="1500" b="1" dirty="0">
                <a:solidFill>
                  <a:srgbClr val="17332E"/>
                </a:solidFill>
                <a:latin typeface="Calibri" pitchFamily="34" charset="0"/>
                <a:ea typeface="Calibri" pitchFamily="34" charset="-122"/>
                <a:cs typeface="Calibri" pitchFamily="34" charset="-120"/>
              </a:rPr>
              <a:t>réel mais secondaire</a:t>
            </a:r>
            <a:r>
              <a:rPr lang="en-US" sz="1500" dirty="0">
                <a:solidFill>
                  <a:srgbClr val="17332E"/>
                </a:solidFill>
                <a:latin typeface="Calibri" pitchFamily="34" charset="0"/>
                <a:ea typeface="Calibri" pitchFamily="34" charset="-122"/>
                <a:cs typeface="Calibri" pitchFamily="34" charset="-120"/>
              </a:rPr>
              <a:t>, loin derrière l'assortiment et les frais généraux.</a:t>
            </a:r>
            <a:endParaRPr lang="en-US" sz="15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Mouncif Bouchachi</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4 · Q2 À Q5 : PROMOTIONS, REMISES ET RETOURS</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Q3 · Un retour est fréquent mais petit, et sa fréquence ne bouge pas en trois exercices</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Mouncif Bouchachi</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48</a:t>
            </a:r>
            <a:endParaRPr lang="en-US" sz="1000" dirty="0"/>
          </a:p>
        </p:txBody>
      </p:sp>
      <p:sp>
        <p:nvSpPr>
          <p:cNvPr id="10" name="Shape 7"/>
          <p:cNvSpPr/>
          <p:nvPr/>
        </p:nvSpPr>
        <p:spPr>
          <a:xfrm>
            <a:off x="548640" y="1463040"/>
            <a:ext cx="2606040" cy="1188720"/>
          </a:xfrm>
          <a:prstGeom prst="rect">
            <a:avLst/>
          </a:prstGeom>
          <a:solidFill>
            <a:srgbClr val="EAF2EF"/>
          </a:solidFill>
          <a:ln w="9525">
            <a:solidFill>
              <a:srgbClr val="CFE0DA"/>
            </a:solidFill>
            <a:prstDash val="solid"/>
          </a:ln>
        </p:spPr>
        <p:txBody>
          <a:bodyPr/>
          <a:lstStyle/>
          <a:p>
            <a:endParaRPr lang="en-US"/>
          </a:p>
        </p:txBody>
      </p:sp>
      <p:sp>
        <p:nvSpPr>
          <p:cNvPr id="11" name="Text 8"/>
          <p:cNvSpPr/>
          <p:nvPr/>
        </p:nvSpPr>
        <p:spPr>
          <a:xfrm>
            <a:off x="548640" y="1554480"/>
            <a:ext cx="2606040" cy="594360"/>
          </a:xfrm>
          <a:prstGeom prst="rect">
            <a:avLst/>
          </a:prstGeom>
          <a:noFill/>
          <a:ln/>
        </p:spPr>
        <p:txBody>
          <a:bodyPr wrap="square" lIns="0" tIns="0" rIns="0" bIns="0" rtlCol="0" anchor="ctr"/>
          <a:lstStyle/>
          <a:p>
            <a:pPr marL="0" indent="0" algn="ctr">
              <a:buNone/>
            </a:pPr>
            <a:r>
              <a:rPr lang="en-US" sz="2800" b="1" dirty="0">
                <a:solidFill>
                  <a:srgbClr val="17332E"/>
                </a:solidFill>
                <a:latin typeface="Cambria" pitchFamily="34" charset="0"/>
                <a:ea typeface="Cambria" pitchFamily="34" charset="-122"/>
                <a:cs typeface="Cambria" pitchFamily="34" charset="-120"/>
              </a:rPr>
              <a:t>1 sur 7</a:t>
            </a:r>
            <a:endParaRPr lang="en-US" sz="2800" dirty="0"/>
          </a:p>
        </p:txBody>
      </p:sp>
      <p:sp>
        <p:nvSpPr>
          <p:cNvPr id="12" name="Text 9"/>
          <p:cNvSpPr/>
          <p:nvPr/>
        </p:nvSpPr>
        <p:spPr>
          <a:xfrm>
            <a:off x="640080" y="2116836"/>
            <a:ext cx="2423160" cy="475488"/>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lignes avec un retour (14,5 % en 2021)</a:t>
            </a:r>
            <a:endParaRPr lang="en-US" sz="1200" dirty="0"/>
          </a:p>
        </p:txBody>
      </p:sp>
      <p:sp>
        <p:nvSpPr>
          <p:cNvPr id="13" name="Shape 10"/>
          <p:cNvSpPr/>
          <p:nvPr/>
        </p:nvSpPr>
        <p:spPr>
          <a:xfrm>
            <a:off x="3364992" y="1463040"/>
            <a:ext cx="2606040" cy="1188720"/>
          </a:xfrm>
          <a:prstGeom prst="rect">
            <a:avLst/>
          </a:prstGeom>
          <a:solidFill>
            <a:srgbClr val="EAF2EF"/>
          </a:solidFill>
          <a:ln w="9525">
            <a:solidFill>
              <a:srgbClr val="CFE0DA"/>
            </a:solidFill>
            <a:prstDash val="solid"/>
          </a:ln>
        </p:spPr>
        <p:txBody>
          <a:bodyPr/>
          <a:lstStyle/>
          <a:p>
            <a:endParaRPr lang="en-US"/>
          </a:p>
        </p:txBody>
      </p:sp>
      <p:sp>
        <p:nvSpPr>
          <p:cNvPr id="14" name="Text 11"/>
          <p:cNvSpPr/>
          <p:nvPr/>
        </p:nvSpPr>
        <p:spPr>
          <a:xfrm>
            <a:off x="3364992" y="1554480"/>
            <a:ext cx="2606040" cy="594360"/>
          </a:xfrm>
          <a:prstGeom prst="rect">
            <a:avLst/>
          </a:prstGeom>
          <a:noFill/>
          <a:ln/>
        </p:spPr>
        <p:txBody>
          <a:bodyPr wrap="square" lIns="0" tIns="0" rIns="0" bIns="0" rtlCol="0" anchor="ctr"/>
          <a:lstStyle/>
          <a:p>
            <a:pPr marL="0" indent="0" algn="ctr">
              <a:buNone/>
            </a:pPr>
            <a:r>
              <a:rPr lang="en-US" sz="2800" b="1" dirty="0">
                <a:solidFill>
                  <a:srgbClr val="17332E"/>
                </a:solidFill>
                <a:latin typeface="Cambria" pitchFamily="34" charset="0"/>
                <a:ea typeface="Cambria" pitchFamily="34" charset="-122"/>
                <a:cs typeface="Cambria" pitchFamily="34" charset="-120"/>
              </a:rPr>
              <a:t>97,3 %</a:t>
            </a:r>
            <a:endParaRPr lang="en-US" sz="2800" dirty="0"/>
          </a:p>
        </p:txBody>
      </p:sp>
      <p:sp>
        <p:nvSpPr>
          <p:cNvPr id="15" name="Text 12"/>
          <p:cNvSpPr/>
          <p:nvPr/>
        </p:nvSpPr>
        <p:spPr>
          <a:xfrm>
            <a:off x="3456432" y="2116836"/>
            <a:ext cx="2423160" cy="475488"/>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des retours portent sur une seule unité</a:t>
            </a:r>
            <a:endParaRPr lang="en-US" sz="1200" dirty="0"/>
          </a:p>
        </p:txBody>
      </p:sp>
      <p:sp>
        <p:nvSpPr>
          <p:cNvPr id="16" name="Shape 13"/>
          <p:cNvSpPr/>
          <p:nvPr/>
        </p:nvSpPr>
        <p:spPr>
          <a:xfrm>
            <a:off x="6190488" y="1463040"/>
            <a:ext cx="2606040" cy="1188720"/>
          </a:xfrm>
          <a:prstGeom prst="rect">
            <a:avLst/>
          </a:prstGeom>
          <a:solidFill>
            <a:srgbClr val="EAF2EF"/>
          </a:solidFill>
          <a:ln w="9525">
            <a:solidFill>
              <a:srgbClr val="CFE0DA"/>
            </a:solidFill>
            <a:prstDash val="solid"/>
          </a:ln>
        </p:spPr>
        <p:txBody>
          <a:bodyPr/>
          <a:lstStyle/>
          <a:p>
            <a:endParaRPr lang="en-US"/>
          </a:p>
        </p:txBody>
      </p:sp>
      <p:sp>
        <p:nvSpPr>
          <p:cNvPr id="17" name="Text 14"/>
          <p:cNvSpPr/>
          <p:nvPr/>
        </p:nvSpPr>
        <p:spPr>
          <a:xfrm>
            <a:off x="6190488" y="1554480"/>
            <a:ext cx="2606040" cy="594360"/>
          </a:xfrm>
          <a:prstGeom prst="rect">
            <a:avLst/>
          </a:prstGeom>
          <a:noFill/>
          <a:ln/>
        </p:spPr>
        <p:txBody>
          <a:bodyPr wrap="square" lIns="0" tIns="0" rIns="0" bIns="0" rtlCol="0" anchor="ctr"/>
          <a:lstStyle/>
          <a:p>
            <a:pPr marL="0" indent="0" algn="ctr">
              <a:buNone/>
            </a:pPr>
            <a:r>
              <a:rPr lang="en-US" sz="2800" b="1" dirty="0">
                <a:solidFill>
                  <a:srgbClr val="17332E"/>
                </a:solidFill>
                <a:latin typeface="Cambria" pitchFamily="34" charset="0"/>
                <a:ea typeface="Cambria" pitchFamily="34" charset="-122"/>
                <a:cs typeface="Cambria" pitchFamily="34" charset="-120"/>
              </a:rPr>
              <a:t>5,34 M$</a:t>
            </a:r>
            <a:endParaRPr lang="en-US" sz="2800" dirty="0"/>
          </a:p>
        </p:txBody>
      </p:sp>
      <p:sp>
        <p:nvSpPr>
          <p:cNvPr id="18" name="Text 15"/>
          <p:cNvSpPr/>
          <p:nvPr/>
        </p:nvSpPr>
        <p:spPr>
          <a:xfrm>
            <a:off x="6281928" y="2116836"/>
            <a:ext cx="2423160" cy="475488"/>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de marge perdue en 2021</a:t>
            </a:r>
            <a:endParaRPr lang="en-US" sz="1200" dirty="0"/>
          </a:p>
        </p:txBody>
      </p:sp>
      <p:sp>
        <p:nvSpPr>
          <p:cNvPr id="19" name="Shape 16"/>
          <p:cNvSpPr/>
          <p:nvPr/>
        </p:nvSpPr>
        <p:spPr>
          <a:xfrm>
            <a:off x="9006840" y="1463040"/>
            <a:ext cx="2606040" cy="1188720"/>
          </a:xfrm>
          <a:prstGeom prst="rect">
            <a:avLst/>
          </a:prstGeom>
          <a:solidFill>
            <a:srgbClr val="EAF2EF"/>
          </a:solidFill>
          <a:ln w="9525">
            <a:solidFill>
              <a:srgbClr val="CFE0DA"/>
            </a:solidFill>
            <a:prstDash val="solid"/>
          </a:ln>
        </p:spPr>
        <p:txBody>
          <a:bodyPr/>
          <a:lstStyle/>
          <a:p>
            <a:endParaRPr lang="en-US"/>
          </a:p>
        </p:txBody>
      </p:sp>
      <p:sp>
        <p:nvSpPr>
          <p:cNvPr id="20" name="Text 17"/>
          <p:cNvSpPr/>
          <p:nvPr/>
        </p:nvSpPr>
        <p:spPr>
          <a:xfrm>
            <a:off x="9006840" y="1554480"/>
            <a:ext cx="2606040" cy="594360"/>
          </a:xfrm>
          <a:prstGeom prst="rect">
            <a:avLst/>
          </a:prstGeom>
          <a:noFill/>
          <a:ln/>
        </p:spPr>
        <p:txBody>
          <a:bodyPr wrap="square" lIns="0" tIns="0" rIns="0" bIns="0" rtlCol="0" anchor="ctr"/>
          <a:lstStyle/>
          <a:p>
            <a:pPr marL="0" indent="0" algn="ctr">
              <a:buNone/>
            </a:pPr>
            <a:r>
              <a:rPr lang="en-US" sz="2800" b="1" dirty="0">
                <a:solidFill>
                  <a:srgbClr val="17332E"/>
                </a:solidFill>
                <a:latin typeface="Cambria" pitchFamily="34" charset="0"/>
                <a:ea typeface="Cambria" pitchFamily="34" charset="-122"/>
                <a:cs typeface="Cambria" pitchFamily="34" charset="-120"/>
              </a:rPr>
              <a:t>3,8 %</a:t>
            </a:r>
            <a:endParaRPr lang="en-US" sz="2800" dirty="0"/>
          </a:p>
        </p:txBody>
      </p:sp>
      <p:sp>
        <p:nvSpPr>
          <p:cNvPr id="21" name="Text 18"/>
          <p:cNvSpPr/>
          <p:nvPr/>
        </p:nvSpPr>
        <p:spPr>
          <a:xfrm>
            <a:off x="9098280" y="2116836"/>
            <a:ext cx="2423160" cy="475488"/>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du résultat d'exploitation de 2021</a:t>
            </a:r>
            <a:endParaRPr lang="en-US" sz="12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2880360"/>
          <a:ext cx="5120640" cy="1828800"/>
        </p:xfrm>
        <a:graphic>
          <a:graphicData uri="http://schemas.openxmlformats.org/drawingml/2006/table">
            <a:tbl>
              <a:tblPr/>
              <a:tblGrid>
                <a:gridCol w="2048256">
                  <a:extLst>
                    <a:ext uri="{9D8B030D-6E8A-4147-A177-3AD203B41FA5}">
                      <a16:colId xmlns:a16="http://schemas.microsoft.com/office/drawing/2014/main" val="20000"/>
                    </a:ext>
                  </a:extLst>
                </a:gridCol>
                <a:gridCol w="1024128">
                  <a:extLst>
                    <a:ext uri="{9D8B030D-6E8A-4147-A177-3AD203B41FA5}">
                      <a16:colId xmlns:a16="http://schemas.microsoft.com/office/drawing/2014/main" val="20001"/>
                    </a:ext>
                  </a:extLst>
                </a:gridCol>
                <a:gridCol w="1024128">
                  <a:extLst>
                    <a:ext uri="{9D8B030D-6E8A-4147-A177-3AD203B41FA5}">
                      <a16:colId xmlns:a16="http://schemas.microsoft.com/office/drawing/2014/main" val="20002"/>
                    </a:ext>
                  </a:extLst>
                </a:gridCol>
                <a:gridCol w="1024128">
                  <a:extLst>
                    <a:ext uri="{9D8B030D-6E8A-4147-A177-3AD203B41FA5}">
                      <a16:colId xmlns:a16="http://schemas.microsoft.com/office/drawing/2014/main" val="20003"/>
                    </a:ext>
                  </a:extLst>
                </a:gridCol>
              </a:tblGrid>
              <a:tr h="457200">
                <a:tc>
                  <a:txBody>
                    <a:bodyPr/>
                    <a:lstStyle/>
                    <a:p>
                      <a:pPr marL="0" indent="0" algn="l">
                        <a:buNone/>
                      </a:pP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2019</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2020</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2021</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457200">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Lignes avec retour</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14,41 %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14,70 %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14,47 %</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Marge perdue</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8,0 M$</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5,8 M$</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5,3 M$</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457200">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Chiffre d'affaires brut</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959,6 M$</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769,2 M$</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697,4 M$</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3" name="Text 19"/>
          <p:cNvSpPr/>
          <p:nvPr/>
        </p:nvSpPr>
        <p:spPr>
          <a:xfrm>
            <a:off x="548640" y="4800600"/>
            <a:ext cx="5120640" cy="731520"/>
          </a:xfrm>
          <a:prstGeom prst="rect">
            <a:avLst/>
          </a:prstGeom>
          <a:noFill/>
          <a:ln/>
        </p:spPr>
        <p:txBody>
          <a:bodyPr wrap="square" lIns="0" tIns="0" rIns="0" bIns="0" rtlCol="0" anchor="t"/>
          <a:lstStyle/>
          <a:p>
            <a:pPr marL="0" indent="0" algn="l">
              <a:buNone/>
            </a:pPr>
            <a:r>
              <a:rPr lang="en-US" sz="1250" i="1" dirty="0">
                <a:solidFill>
                  <a:srgbClr val="5E6B68"/>
                </a:solidFill>
                <a:latin typeface="Calibri" pitchFamily="34" charset="0"/>
                <a:ea typeface="Calibri" pitchFamily="34" charset="-122"/>
                <a:cs typeface="Calibri" pitchFamily="34" charset="-120"/>
              </a:rPr>
              <a:t>Hypothèse : l'article retourné revient en stock. Sinon, le coût monte, au plus jusqu'à 9,2 M$ (montant remboursé en 2021).</a:t>
            </a:r>
            <a:endParaRPr lang="en-US" sz="1250" dirty="0"/>
          </a:p>
        </p:txBody>
      </p:sp>
      <p:pic>
        <p:nvPicPr>
          <p:cNvPr id="24" name="Image 0" descr="/tmp/claude-0/complet/reports/figures/08_retours_par_mois.png"/>
          <p:cNvPicPr>
            <a:picLocks noChangeAspect="1"/>
          </p:cNvPicPr>
          <p:nvPr/>
        </p:nvPicPr>
        <p:blipFill>
          <a:blip r:embed="rId3"/>
          <a:stretch>
            <a:fillRect/>
          </a:stretch>
        </p:blipFill>
        <p:spPr>
          <a:xfrm>
            <a:off x="5949303" y="2834640"/>
            <a:ext cx="5612154" cy="2743200"/>
          </a:xfrm>
          <a:prstGeom prst="rect">
            <a:avLst/>
          </a:prstGeom>
        </p:spPr>
      </p:pic>
      <p:sp>
        <p:nvSpPr>
          <p:cNvPr id="25" name="Shape 20"/>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26" name="Shape 21"/>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27" name="Text 22"/>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Fréquence </a:t>
            </a:r>
            <a:r>
              <a:rPr lang="en-US" sz="1500" b="1" dirty="0">
                <a:solidFill>
                  <a:srgbClr val="17332E"/>
                </a:solidFill>
                <a:latin typeface="Calibri" pitchFamily="34" charset="0"/>
                <a:ea typeface="Calibri" pitchFamily="34" charset="-122"/>
                <a:cs typeface="Calibri" pitchFamily="34" charset="-120"/>
              </a:rPr>
              <a:t>stable</a:t>
            </a:r>
            <a:r>
              <a:rPr lang="en-US" sz="1500" dirty="0">
                <a:solidFill>
                  <a:srgbClr val="17332E"/>
                </a:solidFill>
                <a:latin typeface="Calibri" pitchFamily="34" charset="0"/>
                <a:ea typeface="Calibri" pitchFamily="34" charset="-122"/>
                <a:cs typeface="Calibri" pitchFamily="34" charset="-120"/>
              </a:rPr>
              <a:t> depuis 2019 ; le coût baisse </a:t>
            </a:r>
            <a:r>
              <a:rPr lang="en-US" sz="1500" b="1" dirty="0">
                <a:solidFill>
                  <a:srgbClr val="17332E"/>
                </a:solidFill>
                <a:latin typeface="Calibri" pitchFamily="34" charset="0"/>
                <a:ea typeface="Calibri" pitchFamily="34" charset="-122"/>
                <a:cs typeface="Calibri" pitchFamily="34" charset="-120"/>
              </a:rPr>
              <a:t>avec les ventes</a:t>
            </a:r>
            <a:r>
              <a:rPr lang="en-US" sz="1500" dirty="0">
                <a:solidFill>
                  <a:srgbClr val="17332E"/>
                </a:solidFill>
                <a:latin typeface="Calibri" pitchFamily="34" charset="0"/>
                <a:ea typeface="Calibri" pitchFamily="34" charset="-122"/>
                <a:cs typeface="Calibri" pitchFamily="34" charset="-120"/>
              </a:rPr>
              <a:t>. Un sujet réel, mais </a:t>
            </a:r>
            <a:r>
              <a:rPr lang="en-US" sz="1500" b="1" dirty="0">
                <a:solidFill>
                  <a:srgbClr val="17332E"/>
                </a:solidFill>
                <a:latin typeface="Calibri" pitchFamily="34" charset="0"/>
                <a:ea typeface="Calibri" pitchFamily="34" charset="-122"/>
                <a:cs typeface="Calibri" pitchFamily="34" charset="-120"/>
              </a:rPr>
              <a:t>secondaire</a:t>
            </a:r>
            <a:r>
              <a:rPr lang="en-US" sz="1500" dirty="0">
                <a:solidFill>
                  <a:srgbClr val="17332E"/>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Mouncif Bouchachi</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4 · Q2 À Q5 : PROMOTIONS, REMISES ET RETOURS</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Q3 · Le taux en unités trompe : il mesure la taille des lignes</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Mouncif Bouchachi</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49</a:t>
            </a:r>
            <a:endParaRPr lang="en-US" sz="1000" dirty="0"/>
          </a:p>
        </p:txBody>
      </p:sp>
      <p:pic>
        <p:nvPicPr>
          <p:cNvPr id="10" name="Image 0" descr="/tmp/claude-0/complet/reports/figures/08_choix_de_la_mesure.png"/>
          <p:cNvPicPr>
            <a:picLocks noChangeAspect="1"/>
          </p:cNvPicPr>
          <p:nvPr/>
        </p:nvPicPr>
        <p:blipFill>
          <a:blip r:embed="rId3"/>
          <a:stretch>
            <a:fillRect/>
          </a:stretch>
        </p:blipFill>
        <p:spPr>
          <a:xfrm>
            <a:off x="548640" y="1432064"/>
            <a:ext cx="7589520" cy="2530831"/>
          </a:xfrm>
          <a:prstGeom prst="rect">
            <a:avLst/>
          </a:prstGeom>
        </p:spPr>
      </p:pic>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4069080"/>
          <a:ext cx="7589520" cy="1463040"/>
        </p:xfrm>
        <a:graphic>
          <a:graphicData uri="http://schemas.openxmlformats.org/drawingml/2006/table">
            <a:tbl>
              <a:tblPr/>
              <a:tblGrid>
                <a:gridCol w="2884018">
                  <a:extLst>
                    <a:ext uri="{9D8B030D-6E8A-4147-A177-3AD203B41FA5}">
                      <a16:colId xmlns:a16="http://schemas.microsoft.com/office/drawing/2014/main" val="20000"/>
                    </a:ext>
                  </a:extLst>
                </a:gridCol>
                <a:gridCol w="4705502">
                  <a:extLst>
                    <a:ext uri="{9D8B030D-6E8A-4147-A177-3AD203B41FA5}">
                      <a16:colId xmlns:a16="http://schemas.microsoft.com/office/drawing/2014/main" val="20001"/>
                    </a:ext>
                  </a:extLst>
                </a:gridCol>
              </a:tblGrid>
              <a:tr h="36576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Question</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Mesure retenue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36576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Qui retourne le plus souvent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F2A28"/>
                          </a:solidFill>
                          <a:latin typeface="Calibri" pitchFamily="34" charset="0"/>
                          <a:ea typeface="Calibri" pitchFamily="34" charset="-122"/>
                          <a:cs typeface="Calibri" pitchFamily="34" charset="-120"/>
                        </a:rPr>
                        <a:t>Fréquence</a:t>
                      </a:r>
                      <a:r>
                        <a:rPr lang="en-US" sz="1250" dirty="0">
                          <a:solidFill>
                            <a:srgbClr val="1F2A28"/>
                          </a:solidFill>
                          <a:latin typeface="Calibri" pitchFamily="34" charset="0"/>
                          <a:ea typeface="Calibri" pitchFamily="34" charset="-122"/>
                          <a:cs typeface="Calibri" pitchFamily="34" charset="-120"/>
                        </a:rPr>
                        <a:t> : part des lignes avec retour</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Qu'est-ce que cela coûte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b="1" dirty="0">
                          <a:solidFill>
                            <a:srgbClr val="1F2A28"/>
                          </a:solidFill>
                          <a:latin typeface="Calibri" pitchFamily="34" charset="0"/>
                          <a:ea typeface="Calibri" pitchFamily="34" charset="-122"/>
                          <a:cs typeface="Calibri" pitchFamily="34" charset="-120"/>
                        </a:rPr>
                        <a:t>Taux en valeur</a:t>
                      </a:r>
                      <a:r>
                        <a:rPr lang="en-US" sz="1250" dirty="0">
                          <a:solidFill>
                            <a:srgbClr val="1F2A28"/>
                          </a:solidFill>
                          <a:latin typeface="Calibri" pitchFamily="34" charset="0"/>
                          <a:ea typeface="Calibri" pitchFamily="34" charset="-122"/>
                          <a:cs typeface="Calibri" pitchFamily="34" charset="-120"/>
                        </a:rPr>
                        <a:t> et </a:t>
                      </a:r>
                      <a:r>
                        <a:rPr lang="en-US" sz="1250" b="1" dirty="0">
                          <a:solidFill>
                            <a:srgbClr val="1F2A28"/>
                          </a:solidFill>
                          <a:latin typeface="Calibri" pitchFamily="34" charset="0"/>
                          <a:ea typeface="Calibri" pitchFamily="34" charset="-122"/>
                          <a:cs typeface="Calibri" pitchFamily="34" charset="-120"/>
                        </a:rPr>
                        <a:t>marge perdue</a:t>
                      </a:r>
                      <a:r>
                        <a:rPr lang="en-US" sz="1250" dirty="0">
                          <a:solidFill>
                            <a:srgbClr val="1F2A28"/>
                          </a:solidFill>
                          <a:latin typeface="Calibri" pitchFamily="34" charset="0"/>
                          <a:ea typeface="Calibri" pitchFamily="34" charset="-122"/>
                          <a:cs typeface="Calibri" pitchFamily="34" charset="-120"/>
                        </a:rPr>
                        <a:t>, en dollars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36576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Taux en unités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Affiché pour information, jamais pour comparer</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2" name="Shape 7"/>
          <p:cNvSpPr/>
          <p:nvPr/>
        </p:nvSpPr>
        <p:spPr>
          <a:xfrm>
            <a:off x="8412480" y="1463040"/>
            <a:ext cx="3200400" cy="4069080"/>
          </a:xfrm>
          <a:prstGeom prst="rect">
            <a:avLst/>
          </a:prstGeom>
          <a:solidFill>
            <a:srgbClr val="FBF3E4"/>
          </a:solidFill>
          <a:ln w="9525">
            <a:solidFill>
              <a:srgbClr val="CFE0DA"/>
            </a:solidFill>
            <a:prstDash val="solid"/>
          </a:ln>
        </p:spPr>
        <p:txBody>
          <a:bodyPr/>
          <a:lstStyle/>
          <a:p>
            <a:endParaRPr lang="en-US"/>
          </a:p>
        </p:txBody>
      </p:sp>
      <p:sp>
        <p:nvSpPr>
          <p:cNvPr id="13" name="Text 8"/>
          <p:cNvSpPr/>
          <p:nvPr/>
        </p:nvSpPr>
        <p:spPr>
          <a:xfrm>
            <a:off x="8595360" y="1572768"/>
            <a:ext cx="2834640" cy="411480"/>
          </a:xfrm>
          <a:prstGeom prst="rect">
            <a:avLst/>
          </a:prstGeom>
          <a:noFill/>
          <a:ln/>
        </p:spPr>
        <p:txBody>
          <a:bodyPr wrap="square" lIns="0" tIns="0" rIns="0" bIns="0" rtlCol="0" anchor="ctr"/>
          <a:lstStyle/>
          <a:p>
            <a:pPr marL="0" indent="0">
              <a:buNone/>
            </a:pPr>
            <a:r>
              <a:rPr lang="en-US" sz="1500" b="1" dirty="0">
                <a:solidFill>
                  <a:srgbClr val="17332E"/>
                </a:solidFill>
                <a:latin typeface="Cambria" pitchFamily="34" charset="0"/>
                <a:ea typeface="Cambria" pitchFamily="34" charset="-122"/>
                <a:cs typeface="Cambria" pitchFamily="34" charset="-120"/>
              </a:rPr>
              <a:t>Une fausse amélioration</a:t>
            </a:r>
            <a:endParaRPr lang="en-US" sz="1500" dirty="0"/>
          </a:p>
        </p:txBody>
      </p:sp>
      <p:sp>
        <p:nvSpPr>
          <p:cNvPr id="14" name="Text 9"/>
          <p:cNvSpPr/>
          <p:nvPr/>
        </p:nvSpPr>
        <p:spPr>
          <a:xfrm>
            <a:off x="8595360" y="2057400"/>
            <a:ext cx="2834640" cy="3383280"/>
          </a:xfrm>
          <a:prstGeom prst="rect">
            <a:avLst/>
          </a:prstGeom>
          <a:noFill/>
          <a:ln/>
        </p:spPr>
        <p:txBody>
          <a:bodyPr wrap="square" lIns="0" tIns="0" rIns="0" bIns="0" rtlCol="0" anchor="t"/>
          <a:lstStyle/>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Taux en unités : </a:t>
            </a:r>
            <a:r>
              <a:rPr lang="en-US" sz="1350" b="1" dirty="0">
                <a:solidFill>
                  <a:srgbClr val="1F2A28"/>
                </a:solidFill>
                <a:latin typeface="Calibri" pitchFamily="34" charset="0"/>
                <a:ea typeface="Calibri" pitchFamily="34" charset="-122"/>
                <a:cs typeface="Calibri" pitchFamily="34" charset="-120"/>
              </a:rPr>
              <a:t>1,39 % → 0,70 %</a:t>
            </a:r>
            <a:r>
              <a:rPr lang="en-US" sz="1350" dirty="0">
                <a:solidFill>
                  <a:srgbClr val="1F2A28"/>
                </a:solidFill>
                <a:latin typeface="Calibri" pitchFamily="34" charset="0"/>
                <a:ea typeface="Calibri" pitchFamily="34" charset="-122"/>
                <a:cs typeface="Calibri" pitchFamily="34" charset="-120"/>
              </a:rPr>
              <a:t> de 2019 à 2021</a:t>
            </a:r>
            <a:endParaRPr lang="en-US" sz="1350" dirty="0"/>
          </a:p>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Taille des lignes : </a:t>
            </a:r>
            <a:r>
              <a:rPr lang="en-US" sz="1350" b="1" dirty="0">
                <a:solidFill>
                  <a:srgbClr val="1F2A28"/>
                </a:solidFill>
                <a:latin typeface="Calibri" pitchFamily="34" charset="0"/>
                <a:ea typeface="Calibri" pitchFamily="34" charset="-122"/>
                <a:cs typeface="Calibri" pitchFamily="34" charset="-120"/>
              </a:rPr>
              <a:t>10,7 → 21,3</a:t>
            </a:r>
            <a:r>
              <a:rPr lang="en-US" sz="1350" dirty="0">
                <a:solidFill>
                  <a:srgbClr val="1F2A28"/>
                </a:solidFill>
                <a:latin typeface="Calibri" pitchFamily="34" charset="0"/>
                <a:ea typeface="Calibri" pitchFamily="34" charset="-122"/>
                <a:cs typeface="Calibri" pitchFamily="34" charset="-120"/>
              </a:rPr>
              <a:t> unités</a:t>
            </a:r>
            <a:endParaRPr lang="en-US" sz="1350" dirty="0"/>
          </a:p>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Fréquence : 14,4 % → 14,5 %, </a:t>
            </a:r>
            <a:r>
              <a:rPr lang="en-US" sz="1350" b="1" dirty="0">
                <a:solidFill>
                  <a:srgbClr val="1F2A28"/>
                </a:solidFill>
                <a:latin typeface="Calibri" pitchFamily="34" charset="0"/>
                <a:ea typeface="Calibri" pitchFamily="34" charset="-122"/>
                <a:cs typeface="Calibri" pitchFamily="34" charset="-120"/>
              </a:rPr>
              <a:t>inchangée</a:t>
            </a:r>
            <a:endParaRPr lang="en-US" sz="1350" dirty="0"/>
          </a:p>
        </p:txBody>
      </p:sp>
      <p:sp>
        <p:nvSpPr>
          <p:cNvPr id="15" name="Shape 10"/>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6" name="Shape 11"/>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17" name="Text 12"/>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Le taux en unités mesure la </a:t>
            </a:r>
            <a:r>
              <a:rPr lang="en-US" sz="1500" b="1" dirty="0">
                <a:solidFill>
                  <a:srgbClr val="17332E"/>
                </a:solidFill>
                <a:latin typeface="Calibri" pitchFamily="34" charset="0"/>
                <a:ea typeface="Calibri" pitchFamily="34" charset="-122"/>
                <a:cs typeface="Calibri" pitchFamily="34" charset="-120"/>
              </a:rPr>
              <a:t>taille des lignes</a:t>
            </a:r>
            <a:r>
              <a:rPr lang="en-US" sz="1500" dirty="0">
                <a:solidFill>
                  <a:srgbClr val="17332E"/>
                </a:solidFill>
                <a:latin typeface="Calibri" pitchFamily="34" charset="0"/>
                <a:ea typeface="Calibri" pitchFamily="34" charset="-122"/>
                <a:cs typeface="Calibri" pitchFamily="34" charset="-120"/>
              </a:rPr>
              <a:t>, pas la fréquence des retours : il ne sert jamais à comparer.</a:t>
            </a:r>
            <a:endParaRPr lang="en-US" sz="15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Mouncif Bouchachi</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4 · Q2 À Q5 : PROMOTIONS, REMISES ET RETOURS</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Q3 · Aucun produit, magasin ni période ne concentre les retours ; seul le coût suit le prix</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Mouncif Bouchachi</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50</a:t>
            </a:r>
            <a:endParaRPr lang="en-US" sz="1000" dirty="0"/>
          </a:p>
        </p:txBody>
      </p:sp>
      <p:pic>
        <p:nvPicPr>
          <p:cNvPr id="10" name="Image 0" descr="/tmp/claude-0/complet/reports/figures/08_entonnoir_produits.png"/>
          <p:cNvPicPr>
            <a:picLocks noChangeAspect="1"/>
          </p:cNvPicPr>
          <p:nvPr/>
        </p:nvPicPr>
        <p:blipFill>
          <a:blip r:embed="rId3"/>
          <a:stretch>
            <a:fillRect/>
          </a:stretch>
        </p:blipFill>
        <p:spPr>
          <a:xfrm>
            <a:off x="548640" y="1443217"/>
            <a:ext cx="5943600" cy="3377206"/>
          </a:xfrm>
          <a:prstGeom prst="rect">
            <a:avLst/>
          </a:prstGeom>
        </p:spPr>
      </p:pic>
      <p:sp>
        <p:nvSpPr>
          <p:cNvPr id="11" name="Text 7"/>
          <p:cNvSpPr/>
          <p:nvPr/>
        </p:nvSpPr>
        <p:spPr>
          <a:xfrm>
            <a:off x="548640" y="4892040"/>
            <a:ext cx="5943600" cy="320040"/>
          </a:xfrm>
          <a:prstGeom prst="rect">
            <a:avLst/>
          </a:prstGeom>
          <a:noFill/>
          <a:ln/>
        </p:spPr>
        <p:txBody>
          <a:bodyPr wrap="square" lIns="0" tIns="0" rIns="0" bIns="0" rtlCol="0" anchor="t"/>
          <a:lstStyle/>
          <a:p>
            <a:pPr marL="0" indent="0" algn="ctr">
              <a:buNone/>
            </a:pPr>
            <a:r>
              <a:rPr lang="en-US" sz="1200" i="1" dirty="0">
                <a:solidFill>
                  <a:srgbClr val="5E6B68"/>
                </a:solidFill>
                <a:latin typeface="Calibri" pitchFamily="34" charset="0"/>
                <a:ea typeface="Calibri" pitchFamily="34" charset="-122"/>
                <a:cs typeface="Calibri" pitchFamily="34" charset="-120"/>
              </a:rPr>
              <a:t>Un point par produit · courbes : limites du hasard (3 écarts-types)</a:t>
            </a:r>
            <a:endParaRPr lang="en-US" sz="1200" dirty="0"/>
          </a:p>
        </p:txBody>
      </p:sp>
      <p:sp>
        <p:nvSpPr>
          <p:cNvPr id="12" name="Text 8"/>
          <p:cNvSpPr/>
          <p:nvPr/>
        </p:nvSpPr>
        <p:spPr>
          <a:xfrm>
            <a:off x="6766560" y="1508760"/>
            <a:ext cx="4846320" cy="2743200"/>
          </a:xfrm>
          <a:prstGeom prst="rect">
            <a:avLst/>
          </a:prstGeom>
          <a:noFill/>
          <a:ln/>
        </p:spPr>
        <p:txBody>
          <a:bodyPr wrap="square" lIns="0" tIns="0" rIns="0" bIns="0" rtlCol="0" anchor="t"/>
          <a:lstStyle/>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Aucun facteur n'atteint un </a:t>
            </a:r>
            <a:r>
              <a:rPr lang="en-US" sz="1350" b="1" dirty="0">
                <a:solidFill>
                  <a:srgbClr val="1F2A28"/>
                </a:solidFill>
                <a:latin typeface="Calibri" pitchFamily="34" charset="0"/>
                <a:ea typeface="Calibri" pitchFamily="34" charset="-122"/>
                <a:cs typeface="Calibri" pitchFamily="34" charset="-120"/>
              </a:rPr>
              <a:t>petit effet</a:t>
            </a:r>
            <a:r>
              <a:rPr lang="en-US" sz="1350" dirty="0">
                <a:solidFill>
                  <a:srgbClr val="1F2A28"/>
                </a:solidFill>
                <a:latin typeface="Calibri" pitchFamily="34" charset="0"/>
                <a:ea typeface="Calibri" pitchFamily="34" charset="-122"/>
                <a:cs typeface="Calibri" pitchFamily="34" charset="-120"/>
              </a:rPr>
              <a:t> (V de Cramér &lt; 0,1)</a:t>
            </a:r>
            <a:endParaRPr lang="en-US" sz="1350" dirty="0"/>
          </a:p>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Produits : </a:t>
            </a:r>
            <a:r>
              <a:rPr lang="en-US" sz="1350" b="1" dirty="0">
                <a:solidFill>
                  <a:srgbClr val="1F2A28"/>
                </a:solidFill>
                <a:latin typeface="Calibri" pitchFamily="34" charset="0"/>
                <a:ea typeface="Calibri" pitchFamily="34" charset="-122"/>
                <a:cs typeface="Calibri" pitchFamily="34" charset="-120"/>
              </a:rPr>
              <a:t>14 sur 2 516</a:t>
            </a:r>
            <a:r>
              <a:rPr lang="en-US" sz="1350" dirty="0">
                <a:solidFill>
                  <a:srgbClr val="1F2A28"/>
                </a:solidFill>
                <a:latin typeface="Calibri" pitchFamily="34" charset="0"/>
                <a:ea typeface="Calibri" pitchFamily="34" charset="-122"/>
                <a:cs typeface="Calibri" pitchFamily="34" charset="-120"/>
              </a:rPr>
              <a:t> hors limites, 7 attendus par hasard</a:t>
            </a:r>
            <a:endParaRPr lang="en-US" sz="1350" dirty="0"/>
          </a:p>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Magasins : des écarts une année, </a:t>
            </a:r>
            <a:r>
              <a:rPr lang="en-US" sz="1350" b="1" dirty="0">
                <a:solidFill>
                  <a:srgbClr val="1F2A28"/>
                </a:solidFill>
                <a:latin typeface="Calibri" pitchFamily="34" charset="0"/>
                <a:ea typeface="Calibri" pitchFamily="34" charset="-122"/>
                <a:cs typeface="Calibri" pitchFamily="34" charset="-120"/>
              </a:rPr>
              <a:t>jamais répétés</a:t>
            </a:r>
            <a:endParaRPr lang="en-US" sz="1350" dirty="0"/>
          </a:p>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Ni l'âge du produit, ni la gamme, ni le prix ne changent la fréquence</a:t>
            </a:r>
            <a:endParaRPr lang="en-US" sz="1350" dirty="0"/>
          </a:p>
          <a:p>
            <a:pPr marL="0" indent="0">
              <a:spcAft>
                <a:spcPts val="800"/>
              </a:spcAft>
              <a:buNone/>
            </a:pPr>
            <a:r>
              <a:rPr lang="en-US" sz="1350" b="1" dirty="0">
                <a:solidFill>
                  <a:srgbClr val="2E5E55"/>
                </a:solidFill>
                <a:latin typeface="Calibri" pitchFamily="34" charset="0"/>
                <a:ea typeface="Calibri" pitchFamily="34" charset="-122"/>
                <a:cs typeface="Calibri" pitchFamily="34" charset="-120"/>
              </a:rPr>
              <a:t>•  </a:t>
            </a:r>
            <a:r>
              <a:rPr lang="en-US" sz="1350" dirty="0">
                <a:solidFill>
                  <a:srgbClr val="1F2A28"/>
                </a:solidFill>
                <a:latin typeface="Calibri" pitchFamily="34" charset="0"/>
                <a:ea typeface="Calibri" pitchFamily="34" charset="-122"/>
                <a:cs typeface="Calibri" pitchFamily="34" charset="-120"/>
              </a:rPr>
              <a:t>Le </a:t>
            </a:r>
            <a:r>
              <a:rPr lang="en-US" sz="1350" b="1" dirty="0">
                <a:solidFill>
                  <a:srgbClr val="1F2A28"/>
                </a:solidFill>
                <a:latin typeface="Calibri" pitchFamily="34" charset="0"/>
                <a:ea typeface="Calibri" pitchFamily="34" charset="-122"/>
                <a:cs typeface="Calibri" pitchFamily="34" charset="-120"/>
              </a:rPr>
              <a:t>coût</a:t>
            </a:r>
            <a:r>
              <a:rPr lang="en-US" sz="1350" dirty="0">
                <a:solidFill>
                  <a:srgbClr val="1F2A28"/>
                </a:solidFill>
                <a:latin typeface="Calibri" pitchFamily="34" charset="0"/>
                <a:ea typeface="Calibri" pitchFamily="34" charset="-122"/>
                <a:cs typeface="Calibri" pitchFamily="34" charset="-120"/>
              </a:rPr>
              <a:t> suit le prix : 3 catégories font </a:t>
            </a:r>
            <a:r>
              <a:rPr lang="en-US" sz="1350" b="1" dirty="0">
                <a:solidFill>
                  <a:srgbClr val="1F2A28"/>
                </a:solidFill>
                <a:latin typeface="Calibri" pitchFamily="34" charset="0"/>
                <a:ea typeface="Calibri" pitchFamily="34" charset="-122"/>
                <a:cs typeface="Calibri" pitchFamily="34" charset="-120"/>
              </a:rPr>
              <a:t>81,4 %</a:t>
            </a:r>
            <a:r>
              <a:rPr lang="en-US" sz="1350" dirty="0">
                <a:solidFill>
                  <a:srgbClr val="1F2A28"/>
                </a:solidFill>
                <a:latin typeface="Calibri" pitchFamily="34" charset="0"/>
                <a:ea typeface="Calibri" pitchFamily="34" charset="-122"/>
                <a:cs typeface="Calibri" pitchFamily="34" charset="-120"/>
              </a:rPr>
              <a:t> de la marge perdue</a:t>
            </a:r>
            <a:endParaRPr lang="en-US" sz="1350" dirty="0"/>
          </a:p>
        </p:txBody>
      </p:sp>
      <p:sp>
        <p:nvSpPr>
          <p:cNvPr id="13" name="Shape 9"/>
          <p:cNvSpPr/>
          <p:nvPr/>
        </p:nvSpPr>
        <p:spPr>
          <a:xfrm>
            <a:off x="6766560" y="4297680"/>
            <a:ext cx="4846320" cy="1234440"/>
          </a:xfrm>
          <a:prstGeom prst="rect">
            <a:avLst/>
          </a:prstGeom>
          <a:solidFill>
            <a:srgbClr val="EAF2EF"/>
          </a:solidFill>
          <a:ln w="9525">
            <a:solidFill>
              <a:srgbClr val="CFE0DA"/>
            </a:solidFill>
            <a:prstDash val="solid"/>
          </a:ln>
        </p:spPr>
        <p:txBody>
          <a:bodyPr/>
          <a:lstStyle/>
          <a:p>
            <a:endParaRPr lang="en-US"/>
          </a:p>
        </p:txBody>
      </p:sp>
      <p:sp>
        <p:nvSpPr>
          <p:cNvPr id="14" name="Text 10"/>
          <p:cNvSpPr/>
          <p:nvPr/>
        </p:nvSpPr>
        <p:spPr>
          <a:xfrm>
            <a:off x="6949440" y="4407408"/>
            <a:ext cx="4480560" cy="411480"/>
          </a:xfrm>
          <a:prstGeom prst="rect">
            <a:avLst/>
          </a:prstGeom>
          <a:noFill/>
          <a:ln/>
        </p:spPr>
        <p:txBody>
          <a:bodyPr wrap="square" lIns="0" tIns="0" rIns="0" bIns="0" rtlCol="0" anchor="ctr"/>
          <a:lstStyle/>
          <a:p>
            <a:pPr marL="0" indent="0">
              <a:buNone/>
            </a:pPr>
            <a:r>
              <a:rPr lang="en-US" sz="1500" b="1" dirty="0">
                <a:solidFill>
                  <a:srgbClr val="17332E"/>
                </a:solidFill>
                <a:latin typeface="Cambria" pitchFamily="34" charset="0"/>
                <a:ea typeface="Cambria" pitchFamily="34" charset="-122"/>
                <a:cs typeface="Cambria" pitchFamily="34" charset="-120"/>
              </a:rPr>
              <a:t>Réponse à Q3</a:t>
            </a:r>
            <a:endParaRPr lang="en-US" sz="1500" dirty="0"/>
          </a:p>
        </p:txBody>
      </p:sp>
      <p:sp>
        <p:nvSpPr>
          <p:cNvPr id="15" name="Text 11"/>
          <p:cNvSpPr/>
          <p:nvPr/>
        </p:nvSpPr>
        <p:spPr>
          <a:xfrm>
            <a:off x="6949440" y="4892040"/>
            <a:ext cx="4480560" cy="548640"/>
          </a:xfrm>
          <a:prstGeom prst="rect">
            <a:avLst/>
          </a:prstGeom>
          <a:noFill/>
          <a:ln/>
        </p:spPr>
        <p:txBody>
          <a:bodyPr wrap="square" lIns="0" tIns="0" rIns="0" bIns="0" rtlCol="0" anchor="t"/>
          <a:lstStyle/>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b="1" dirty="0">
                <a:solidFill>
                  <a:srgbClr val="1F2A28"/>
                </a:solidFill>
                <a:latin typeface="Calibri" pitchFamily="34" charset="0"/>
                <a:ea typeface="Calibri" pitchFamily="34" charset="-122"/>
                <a:cs typeface="Calibri" pitchFamily="34" charset="-120"/>
              </a:rPr>
              <a:t>Aucun pattern</a:t>
            </a:r>
            <a:r>
              <a:rPr lang="en-US" sz="1300" dirty="0">
                <a:solidFill>
                  <a:srgbClr val="1F2A28"/>
                </a:solidFill>
                <a:latin typeface="Calibri" pitchFamily="34" charset="0"/>
                <a:ea typeface="Calibri" pitchFamily="34" charset="-122"/>
                <a:cs typeface="Calibri" pitchFamily="34" charset="-120"/>
              </a:rPr>
              <a:t> : un bruit de fond. Seul le coût varie, avec le prix</a:t>
            </a:r>
            <a:endParaRPr lang="en-US" sz="1300" dirty="0"/>
          </a:p>
        </p:txBody>
      </p:sp>
      <p:sp>
        <p:nvSpPr>
          <p:cNvPr id="16" name="Shape 12"/>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7" name="Shape 13"/>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18" name="Text 14"/>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Un classement brut aurait désigné de « mauvais » produits qui sont seulement </a:t>
            </a:r>
            <a:r>
              <a:rPr lang="en-US" sz="1500" b="1" dirty="0">
                <a:solidFill>
                  <a:srgbClr val="17332E"/>
                </a:solidFill>
                <a:latin typeface="Calibri" pitchFamily="34" charset="0"/>
                <a:ea typeface="Calibri" pitchFamily="34" charset="-122"/>
                <a:cs typeface="Calibri" pitchFamily="34" charset="-120"/>
              </a:rPr>
              <a:t>petits</a:t>
            </a:r>
            <a:r>
              <a:rPr lang="en-US" sz="1500" dirty="0">
                <a:solidFill>
                  <a:srgbClr val="17332E"/>
                </a:solidFill>
                <a:latin typeface="Calibri" pitchFamily="34" charset="0"/>
                <a:ea typeface="Calibri" pitchFamily="34" charset="-122"/>
                <a:cs typeface="Calibri" pitchFamily="34" charset="-120"/>
              </a:rPr>
              <a:t> : comparer au hasard évite l'erreur.</a:t>
            </a:r>
            <a:endParaRPr lang="en-US" sz="15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Mouncif Bouchachi</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4 · Q2 À Q5 : PROMOTIONS, REMISES ET RETOURS</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Q4 · La remise ajoute environ 3 points de retours en ligne, rien en magasin</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Mouncif Bouchachi</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51</a:t>
            </a:r>
            <a:endParaRPr lang="en-US" sz="1000" dirty="0"/>
          </a:p>
        </p:txBody>
      </p:sp>
      <p:pic>
        <p:nvPicPr>
          <p:cNvPr id="10" name="Image 0" descr="/tmp/claude-0/complet/reports/figures/08_retours_selon_promotion.png"/>
          <p:cNvPicPr>
            <a:picLocks noChangeAspect="1"/>
          </p:cNvPicPr>
          <p:nvPr/>
        </p:nvPicPr>
        <p:blipFill>
          <a:blip r:embed="rId3"/>
          <a:stretch>
            <a:fillRect/>
          </a:stretch>
        </p:blipFill>
        <p:spPr>
          <a:xfrm>
            <a:off x="642161" y="1417320"/>
            <a:ext cx="5756559" cy="2926080"/>
          </a:xfrm>
          <a:prstGeom prst="rect">
            <a:avLst/>
          </a:prstGeom>
        </p:spPr>
      </p:pic>
      <p:sp>
        <p:nvSpPr>
          <p:cNvPr id="11" name="Shape 7"/>
          <p:cNvSpPr/>
          <p:nvPr/>
        </p:nvSpPr>
        <p:spPr>
          <a:xfrm>
            <a:off x="548640" y="4480560"/>
            <a:ext cx="2880360" cy="1051560"/>
          </a:xfrm>
          <a:prstGeom prst="rect">
            <a:avLst/>
          </a:prstGeom>
          <a:solidFill>
            <a:srgbClr val="EAF2EF"/>
          </a:solidFill>
          <a:ln w="9525">
            <a:solidFill>
              <a:srgbClr val="CFE0DA"/>
            </a:solidFill>
            <a:prstDash val="solid"/>
          </a:ln>
        </p:spPr>
        <p:txBody>
          <a:bodyPr/>
          <a:lstStyle/>
          <a:p>
            <a:endParaRPr lang="en-US"/>
          </a:p>
        </p:txBody>
      </p:sp>
      <p:sp>
        <p:nvSpPr>
          <p:cNvPr id="12" name="Text 8"/>
          <p:cNvSpPr/>
          <p:nvPr/>
        </p:nvSpPr>
        <p:spPr>
          <a:xfrm>
            <a:off x="548640" y="4572000"/>
            <a:ext cx="2880360" cy="525780"/>
          </a:xfrm>
          <a:prstGeom prst="rect">
            <a:avLst/>
          </a:prstGeom>
          <a:noFill/>
          <a:ln/>
        </p:spPr>
        <p:txBody>
          <a:bodyPr wrap="square" lIns="0" tIns="0" rIns="0" bIns="0" rtlCol="0" anchor="ctr"/>
          <a:lstStyle/>
          <a:p>
            <a:pPr marL="0" indent="0" algn="ctr">
              <a:buNone/>
            </a:pPr>
            <a:r>
              <a:rPr lang="en-US" sz="2400" b="1" dirty="0">
                <a:solidFill>
                  <a:srgbClr val="17332E"/>
                </a:solidFill>
                <a:latin typeface="Cambria" pitchFamily="34" charset="0"/>
                <a:ea typeface="Cambria" pitchFamily="34" charset="-122"/>
                <a:cs typeface="Cambria" pitchFamily="34" charset="-120"/>
              </a:rPr>
              <a:t>0,31 M$</a:t>
            </a:r>
            <a:endParaRPr lang="en-US" sz="2400" dirty="0"/>
          </a:p>
        </p:txBody>
      </p:sp>
      <p:sp>
        <p:nvSpPr>
          <p:cNvPr id="13" name="Text 9"/>
          <p:cNvSpPr/>
          <p:nvPr/>
        </p:nvSpPr>
        <p:spPr>
          <a:xfrm>
            <a:off x="640080" y="5058918"/>
            <a:ext cx="2697480" cy="420624"/>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de marge perdue au plus, liée aux remises (2021)</a:t>
            </a:r>
            <a:endParaRPr lang="en-US" sz="1200" dirty="0"/>
          </a:p>
        </p:txBody>
      </p:sp>
      <p:sp>
        <p:nvSpPr>
          <p:cNvPr id="14" name="Shape 10"/>
          <p:cNvSpPr/>
          <p:nvPr/>
        </p:nvSpPr>
        <p:spPr>
          <a:xfrm>
            <a:off x="3611880" y="4480560"/>
            <a:ext cx="2880360" cy="1051560"/>
          </a:xfrm>
          <a:prstGeom prst="rect">
            <a:avLst/>
          </a:prstGeom>
          <a:solidFill>
            <a:srgbClr val="EAF2EF"/>
          </a:solidFill>
          <a:ln w="9525">
            <a:solidFill>
              <a:srgbClr val="CFE0DA"/>
            </a:solidFill>
            <a:prstDash val="solid"/>
          </a:ln>
        </p:spPr>
        <p:txBody>
          <a:bodyPr/>
          <a:lstStyle/>
          <a:p>
            <a:endParaRPr lang="en-US"/>
          </a:p>
        </p:txBody>
      </p:sp>
      <p:sp>
        <p:nvSpPr>
          <p:cNvPr id="15" name="Text 11"/>
          <p:cNvSpPr/>
          <p:nvPr/>
        </p:nvSpPr>
        <p:spPr>
          <a:xfrm>
            <a:off x="3611880" y="4572000"/>
            <a:ext cx="2880360" cy="525780"/>
          </a:xfrm>
          <a:prstGeom prst="rect">
            <a:avLst/>
          </a:prstGeom>
          <a:noFill/>
          <a:ln/>
        </p:spPr>
        <p:txBody>
          <a:bodyPr wrap="square" lIns="0" tIns="0" rIns="0" bIns="0" rtlCol="0" anchor="ctr"/>
          <a:lstStyle/>
          <a:p>
            <a:pPr marL="0" indent="0" algn="ctr">
              <a:buNone/>
            </a:pPr>
            <a:r>
              <a:rPr lang="en-US" sz="2400" b="1" dirty="0">
                <a:solidFill>
                  <a:srgbClr val="17332E"/>
                </a:solidFill>
                <a:latin typeface="Cambria" pitchFamily="34" charset="0"/>
                <a:ea typeface="Cambria" pitchFamily="34" charset="-122"/>
                <a:cs typeface="Cambria" pitchFamily="34" charset="-120"/>
              </a:rPr>
              <a:t>0,565</a:t>
            </a:r>
            <a:endParaRPr lang="en-US" sz="2400" dirty="0"/>
          </a:p>
        </p:txBody>
      </p:sp>
      <p:sp>
        <p:nvSpPr>
          <p:cNvPr id="16" name="Text 12"/>
          <p:cNvSpPr/>
          <p:nvPr/>
        </p:nvSpPr>
        <p:spPr>
          <a:xfrm>
            <a:off x="3703320" y="5058918"/>
            <a:ext cx="2697480" cy="420624"/>
          </a:xfrm>
          <a:prstGeom prst="rect">
            <a:avLst/>
          </a:prstGeom>
          <a:noFill/>
          <a:ln/>
        </p:spPr>
        <p:txBody>
          <a:bodyPr wrap="square" lIns="0" tIns="0" rIns="0" bIns="0" rtlCol="0" anchor="t"/>
          <a:lstStyle/>
          <a:p>
            <a:pPr marL="0" indent="0" algn="ctr">
              <a:buNone/>
            </a:pPr>
            <a:r>
              <a:rPr lang="en-US" sz="1200" dirty="0">
                <a:solidFill>
                  <a:srgbClr val="5E6B68"/>
                </a:solidFill>
                <a:latin typeface="Calibri" pitchFamily="34" charset="0"/>
                <a:ea typeface="Calibri" pitchFamily="34" charset="-122"/>
                <a:cs typeface="Calibri" pitchFamily="34" charset="-120"/>
              </a:rPr>
              <a:t>aire sous la courbe : un retour ne se prédit pas</a:t>
            </a:r>
            <a:endParaRPr lang="en-US" sz="12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6766560" y="1463040"/>
          <a:ext cx="4846320" cy="1901952"/>
        </p:xfrm>
        <a:graphic>
          <a:graphicData uri="http://schemas.openxmlformats.org/drawingml/2006/table">
            <a:tbl>
              <a:tblPr/>
              <a:tblGrid>
                <a:gridCol w="1647749">
                  <a:extLst>
                    <a:ext uri="{9D8B030D-6E8A-4147-A177-3AD203B41FA5}">
                      <a16:colId xmlns:a16="http://schemas.microsoft.com/office/drawing/2014/main" val="20000"/>
                    </a:ext>
                  </a:extLst>
                </a:gridCol>
                <a:gridCol w="1308506">
                  <a:extLst>
                    <a:ext uri="{9D8B030D-6E8A-4147-A177-3AD203B41FA5}">
                      <a16:colId xmlns:a16="http://schemas.microsoft.com/office/drawing/2014/main" val="20001"/>
                    </a:ext>
                  </a:extLst>
                </a:gridCol>
                <a:gridCol w="1890065">
                  <a:extLst>
                    <a:ext uri="{9D8B030D-6E8A-4147-A177-3AD203B41FA5}">
                      <a16:colId xmlns:a16="http://schemas.microsoft.com/office/drawing/2014/main" val="20002"/>
                    </a:ext>
                  </a:extLst>
                </a:gridCol>
              </a:tblGrid>
              <a:tr h="475488">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À caractéristiques égales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Rapport de cotes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Sans → avec remise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475488">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En ligne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1,24</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15,6 % → </a:t>
                      </a:r>
                      <a:r>
                        <a:rPr lang="en-US" sz="1250" b="1" dirty="0">
                          <a:solidFill>
                            <a:srgbClr val="1F2A28"/>
                          </a:solidFill>
                          <a:latin typeface="Calibri" pitchFamily="34" charset="0"/>
                          <a:ea typeface="Calibri" pitchFamily="34" charset="-122"/>
                          <a:cs typeface="Calibri" pitchFamily="34" charset="-120"/>
                        </a:rPr>
                        <a:t>18,6 %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Revendeur</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1,21</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14,5 % → </a:t>
                      </a:r>
                      <a:r>
                        <a:rPr lang="en-US" sz="1250" b="1" dirty="0">
                          <a:solidFill>
                            <a:srgbClr val="1F2A28"/>
                          </a:solidFill>
                          <a:latin typeface="Calibri" pitchFamily="34" charset="0"/>
                          <a:ea typeface="Calibri" pitchFamily="34" charset="-122"/>
                          <a:cs typeface="Calibri" pitchFamily="34" charset="-120"/>
                        </a:rPr>
                        <a:t>17,1 %</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475488">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Magasins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1,01 (p = 0,33)</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12,5 % → 12,7 %, non significatif</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8" name="Shape 13"/>
          <p:cNvSpPr/>
          <p:nvPr/>
        </p:nvSpPr>
        <p:spPr>
          <a:xfrm>
            <a:off x="6766560" y="3611880"/>
            <a:ext cx="4846320" cy="1920240"/>
          </a:xfrm>
          <a:prstGeom prst="rect">
            <a:avLst/>
          </a:prstGeom>
          <a:solidFill>
            <a:srgbClr val="EAF2EF"/>
          </a:solidFill>
          <a:ln w="9525">
            <a:solidFill>
              <a:srgbClr val="CFE0DA"/>
            </a:solidFill>
            <a:prstDash val="solid"/>
          </a:ln>
        </p:spPr>
        <p:txBody>
          <a:bodyPr/>
          <a:lstStyle/>
          <a:p>
            <a:endParaRPr lang="en-US"/>
          </a:p>
        </p:txBody>
      </p:sp>
      <p:sp>
        <p:nvSpPr>
          <p:cNvPr id="19" name="Text 14"/>
          <p:cNvSpPr/>
          <p:nvPr/>
        </p:nvSpPr>
        <p:spPr>
          <a:xfrm>
            <a:off x="6949440" y="3721608"/>
            <a:ext cx="4480560" cy="411480"/>
          </a:xfrm>
          <a:prstGeom prst="rect">
            <a:avLst/>
          </a:prstGeom>
          <a:noFill/>
          <a:ln/>
        </p:spPr>
        <p:txBody>
          <a:bodyPr wrap="square" lIns="0" tIns="0" rIns="0" bIns="0" rtlCol="0" anchor="ctr"/>
          <a:lstStyle/>
          <a:p>
            <a:pPr marL="0" indent="0">
              <a:buNone/>
            </a:pPr>
            <a:r>
              <a:rPr lang="en-US" sz="1500" b="1" dirty="0">
                <a:solidFill>
                  <a:srgbClr val="17332E"/>
                </a:solidFill>
                <a:latin typeface="Cambria" pitchFamily="34" charset="0"/>
                <a:ea typeface="Cambria" pitchFamily="34" charset="-122"/>
                <a:cs typeface="Cambria" pitchFamily="34" charset="-120"/>
              </a:rPr>
              <a:t>Réponse à Q4</a:t>
            </a:r>
            <a:endParaRPr lang="en-US" sz="1500" dirty="0"/>
          </a:p>
        </p:txBody>
      </p:sp>
      <p:sp>
        <p:nvSpPr>
          <p:cNvPr id="20" name="Text 15"/>
          <p:cNvSpPr/>
          <p:nvPr/>
        </p:nvSpPr>
        <p:spPr>
          <a:xfrm>
            <a:off x="6949440" y="4206240"/>
            <a:ext cx="4480560" cy="1234440"/>
          </a:xfrm>
          <a:prstGeom prst="rect">
            <a:avLst/>
          </a:prstGeom>
          <a:noFill/>
          <a:ln/>
        </p:spPr>
        <p:txBody>
          <a:bodyPr wrap="square" lIns="0" tIns="0" rIns="0" bIns="0" rtlCol="0" anchor="t"/>
          <a:lstStyle/>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b="1" dirty="0">
                <a:solidFill>
                  <a:srgbClr val="1F2A28"/>
                </a:solidFill>
                <a:latin typeface="Calibri" pitchFamily="34" charset="0"/>
                <a:ea typeface="Calibri" pitchFamily="34" charset="-122"/>
                <a:cs typeface="Calibri" pitchFamily="34" charset="-120"/>
              </a:rPr>
              <a:t>Oui en ligne et chez le revendeur</a:t>
            </a:r>
            <a:r>
              <a:rPr lang="en-US" sz="1300" dirty="0">
                <a:solidFill>
                  <a:srgbClr val="1F2A28"/>
                </a:solidFill>
                <a:latin typeface="Calibri" pitchFamily="34" charset="0"/>
                <a:ea typeface="Calibri" pitchFamily="34" charset="-122"/>
                <a:cs typeface="Calibri" pitchFamily="34" charset="-120"/>
              </a:rPr>
              <a:t> (environ +3 points), </a:t>
            </a:r>
            <a:r>
              <a:rPr lang="en-US" sz="1300" b="1" dirty="0">
                <a:solidFill>
                  <a:srgbClr val="1F2A28"/>
                </a:solidFill>
                <a:latin typeface="Calibri" pitchFamily="34" charset="0"/>
                <a:ea typeface="Calibri" pitchFamily="34" charset="-122"/>
                <a:cs typeface="Calibri" pitchFamily="34" charset="-120"/>
              </a:rPr>
              <a:t>non en magasin</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Sans portée financière : levier « moitié des retours » de </a:t>
            </a:r>
            <a:r>
              <a:rPr lang="en-US" sz="1300" b="1" dirty="0">
                <a:solidFill>
                  <a:srgbClr val="1F2A28"/>
                </a:solidFill>
                <a:latin typeface="Calibri" pitchFamily="34" charset="0"/>
                <a:ea typeface="Calibri" pitchFamily="34" charset="-122"/>
                <a:cs typeface="Calibri" pitchFamily="34" charset="-120"/>
              </a:rPr>
              <a:t>2,62 M$</a:t>
            </a:r>
            <a:r>
              <a:rPr lang="en-US" sz="1300" dirty="0">
                <a:solidFill>
                  <a:srgbClr val="1F2A28"/>
                </a:solidFill>
                <a:latin typeface="Calibri" pitchFamily="34" charset="0"/>
                <a:ea typeface="Calibri" pitchFamily="34" charset="-122"/>
                <a:cs typeface="Calibri" pitchFamily="34" charset="-120"/>
              </a:rPr>
              <a:t> au plus</a:t>
            </a:r>
            <a:endParaRPr lang="en-US" sz="1300" dirty="0"/>
          </a:p>
        </p:txBody>
      </p:sp>
      <p:sp>
        <p:nvSpPr>
          <p:cNvPr id="21" name="Shape 16"/>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22" name="Shape 17"/>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23" name="Text 18"/>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Un lien </a:t>
            </a:r>
            <a:r>
              <a:rPr lang="en-US" sz="1500" b="1" dirty="0">
                <a:solidFill>
                  <a:srgbClr val="17332E"/>
                </a:solidFill>
                <a:latin typeface="Calibri" pitchFamily="34" charset="0"/>
                <a:ea typeface="Calibri" pitchFamily="34" charset="-122"/>
                <a:cs typeface="Calibri" pitchFamily="34" charset="-120"/>
              </a:rPr>
              <a:t>statistiquement solide</a:t>
            </a:r>
            <a:r>
              <a:rPr lang="en-US" sz="1500" dirty="0">
                <a:solidFill>
                  <a:srgbClr val="17332E"/>
                </a:solidFill>
                <a:latin typeface="Calibri" pitchFamily="34" charset="0"/>
                <a:ea typeface="Calibri" pitchFamily="34" charset="-122"/>
                <a:cs typeface="Calibri" pitchFamily="34" charset="-120"/>
              </a:rPr>
              <a:t> peut être </a:t>
            </a:r>
            <a:r>
              <a:rPr lang="en-US" sz="1500" b="1" dirty="0">
                <a:solidFill>
                  <a:srgbClr val="17332E"/>
                </a:solidFill>
                <a:latin typeface="Calibri" pitchFamily="34" charset="0"/>
                <a:ea typeface="Calibri" pitchFamily="34" charset="-122"/>
                <a:cs typeface="Calibri" pitchFamily="34" charset="-120"/>
              </a:rPr>
              <a:t>sans intérêt pratique</a:t>
            </a:r>
            <a:r>
              <a:rPr lang="en-US" sz="1500" dirty="0">
                <a:solidFill>
                  <a:srgbClr val="17332E"/>
                </a:solidFill>
                <a:latin typeface="Calibri" pitchFamily="34" charset="0"/>
                <a:ea typeface="Calibri" pitchFamily="34" charset="-122"/>
                <a:cs typeface="Calibri" pitchFamily="34" charset="-120"/>
              </a:rPr>
              <a:t> : valeur p et taille d'effet se lisent ensemble.</a:t>
            </a:r>
            <a:endParaRPr lang="en-US" sz="15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Yacine Lezoul</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5 · SYNTHÈSE ET SUITE</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Synthèse · Les réponses aux cinq questions de recherche</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Yacine Lezoul</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52</a:t>
            </a:r>
            <a:endParaRPr lang="en-US" sz="10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3840480"/>
        </p:xfrm>
        <a:graphic>
          <a:graphicData uri="http://schemas.openxmlformats.org/drawingml/2006/table">
            <a:tbl>
              <a:tblPr/>
              <a:tblGrid>
                <a:gridCol w="663854">
                  <a:extLst>
                    <a:ext uri="{9D8B030D-6E8A-4147-A177-3AD203B41FA5}">
                      <a16:colId xmlns:a16="http://schemas.microsoft.com/office/drawing/2014/main" val="20000"/>
                    </a:ext>
                  </a:extLst>
                </a:gridCol>
                <a:gridCol w="2655418">
                  <a:extLst>
                    <a:ext uri="{9D8B030D-6E8A-4147-A177-3AD203B41FA5}">
                      <a16:colId xmlns:a16="http://schemas.microsoft.com/office/drawing/2014/main" val="20001"/>
                    </a:ext>
                  </a:extLst>
                </a:gridCol>
                <a:gridCol w="7744968">
                  <a:extLst>
                    <a:ext uri="{9D8B030D-6E8A-4147-A177-3AD203B41FA5}">
                      <a16:colId xmlns:a16="http://schemas.microsoft.com/office/drawing/2014/main" val="20002"/>
                    </a:ext>
                  </a:extLst>
                </a:gridCol>
              </a:tblGrid>
              <a:tr h="640080">
                <a:tc>
                  <a:txBody>
                    <a:bodyPr/>
                    <a:lstStyle/>
                    <a:p>
                      <a:pPr marL="0" indent="0" algn="ctr">
                        <a:buNone/>
                      </a:pP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Question</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Réponse</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640080">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Q1</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Facteurs de performance des ventes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Le </a:t>
                      </a:r>
                      <a:r>
                        <a:rPr lang="en-US" sz="1300" b="1" dirty="0">
                          <a:solidFill>
                            <a:srgbClr val="1F2A28"/>
                          </a:solidFill>
                          <a:latin typeface="Calibri" pitchFamily="34" charset="0"/>
                          <a:ea typeface="Calibri" pitchFamily="34" charset="-122"/>
                          <a:cs typeface="Calibri" pitchFamily="34" charset="-120"/>
                        </a:rPr>
                        <a:t>produit et son prix</a:t>
                      </a:r>
                      <a:r>
                        <a:rPr lang="en-US" sz="1300" dirty="0">
                          <a:solidFill>
                            <a:srgbClr val="1F2A28"/>
                          </a:solidFill>
                          <a:latin typeface="Calibri" pitchFamily="34" charset="0"/>
                          <a:ea typeface="Calibri" pitchFamily="34" charset="-122"/>
                          <a:cs typeface="Calibri" pitchFamily="34" charset="-120"/>
                        </a:rPr>
                        <a:t> pour une vente, le </a:t>
                      </a:r>
                      <a:r>
                        <a:rPr lang="en-US" sz="1300" b="1" dirty="0">
                          <a:solidFill>
                            <a:srgbClr val="1F2A28"/>
                          </a:solidFill>
                          <a:latin typeface="Calibri" pitchFamily="34" charset="0"/>
                          <a:ea typeface="Calibri" pitchFamily="34" charset="-122"/>
                          <a:cs typeface="Calibri" pitchFamily="34" charset="-120"/>
                        </a:rPr>
                        <a:t>nombre de ventes</a:t>
                      </a:r>
                      <a:r>
                        <a:rPr lang="en-US" sz="1300" dirty="0">
                          <a:solidFill>
                            <a:srgbClr val="1F2A28"/>
                          </a:solidFill>
                          <a:latin typeface="Calibri" pitchFamily="34" charset="0"/>
                          <a:ea typeface="Calibri" pitchFamily="34" charset="-122"/>
                          <a:cs typeface="Calibri" pitchFamily="34" charset="-120"/>
                        </a:rPr>
                        <a:t> pour un magasin (76,2 %), l'</a:t>
                      </a:r>
                      <a:r>
                        <a:rPr lang="en-US" sz="1300" b="1" dirty="0">
                          <a:solidFill>
                            <a:srgbClr val="1F2A28"/>
                          </a:solidFill>
                          <a:latin typeface="Calibri" pitchFamily="34" charset="0"/>
                          <a:ea typeface="Calibri" pitchFamily="34" charset="-122"/>
                          <a:cs typeface="Calibri" pitchFamily="34" charset="-120"/>
                        </a:rPr>
                        <a:t>assortiment</a:t>
                      </a:r>
                      <a:r>
                        <a:rPr lang="en-US" sz="1300" dirty="0">
                          <a:solidFill>
                            <a:srgbClr val="1F2A28"/>
                          </a:solidFill>
                          <a:latin typeface="Calibri" pitchFamily="34" charset="0"/>
                          <a:ea typeface="Calibri" pitchFamily="34" charset="-122"/>
                          <a:cs typeface="Calibri" pitchFamily="34" charset="-120"/>
                        </a:rPr>
                        <a:t> d'un exercice à l'autre. Puis les </a:t>
                      </a:r>
                      <a:r>
                        <a:rPr lang="en-US" sz="1300" b="1" dirty="0">
                          <a:solidFill>
                            <a:srgbClr val="1F2A28"/>
                          </a:solidFill>
                          <a:latin typeface="Calibri" pitchFamily="34" charset="0"/>
                          <a:ea typeface="Calibri" pitchFamily="34" charset="-122"/>
                          <a:cs typeface="Calibri" pitchFamily="34" charset="-120"/>
                        </a:rPr>
                        <a:t>décisions de charges</a:t>
                      </a:r>
                      <a:r>
                        <a:rPr lang="en-US" sz="1300" dirty="0">
                          <a:solidFill>
                            <a:srgbClr val="1F2A28"/>
                          </a:solidFill>
                          <a:latin typeface="Calibri" pitchFamily="34" charset="0"/>
                          <a:ea typeface="Calibri" pitchFamily="34" charset="-122"/>
                          <a:cs typeface="Calibri" pitchFamily="34" charset="-120"/>
                        </a:rPr>
                        <a:t> pour la rentabilité</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Q2</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Effet des promotions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300" b="1" dirty="0">
                          <a:solidFill>
                            <a:srgbClr val="1F2A28"/>
                          </a:solidFill>
                          <a:latin typeface="Calibri" pitchFamily="34" charset="0"/>
                          <a:ea typeface="Calibri" pitchFamily="34" charset="-122"/>
                          <a:cs typeface="Calibri" pitchFamily="34" charset="-120"/>
                        </a:rPr>
                        <a:t>Aucun gain de ventes démontré</a:t>
                      </a:r>
                      <a:r>
                        <a:rPr lang="en-US" sz="1300" dirty="0">
                          <a:solidFill>
                            <a:srgbClr val="1F2A28"/>
                          </a:solidFill>
                          <a:latin typeface="Calibri" pitchFamily="34" charset="0"/>
                          <a:ea typeface="Calibri" pitchFamily="34" charset="-122"/>
                          <a:cs typeface="Calibri" pitchFamily="34" charset="-120"/>
                        </a:rPr>
                        <a:t>, indices contraires. Coût certain : 13,9 M$ de remises en 2021</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640080">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Q3</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Patterns de retour</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b="1" dirty="0">
                          <a:solidFill>
                            <a:srgbClr val="1F2A28"/>
                          </a:solidFill>
                          <a:latin typeface="Calibri" pitchFamily="34" charset="0"/>
                          <a:ea typeface="Calibri" pitchFamily="34" charset="-122"/>
                          <a:cs typeface="Calibri" pitchFamily="34" charset="-120"/>
                        </a:rPr>
                        <a:t>Aucun.</a:t>
                      </a:r>
                      <a:r>
                        <a:rPr lang="en-US" sz="1300" dirty="0">
                          <a:solidFill>
                            <a:srgbClr val="1F2A28"/>
                          </a:solidFill>
                          <a:latin typeface="Calibri" pitchFamily="34" charset="0"/>
                          <a:ea typeface="Calibri" pitchFamily="34" charset="-122"/>
                          <a:cs typeface="Calibri" pitchFamily="34" charset="-120"/>
                        </a:rPr>
                        <a:t> Une ligne sur sept, une unité à la fois. Seul le coût varie, avec le prix</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Q4</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Remises et retours</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300" b="1" dirty="0">
                          <a:solidFill>
                            <a:srgbClr val="1F2A28"/>
                          </a:solidFill>
                          <a:latin typeface="Calibri" pitchFamily="34" charset="0"/>
                          <a:ea typeface="Calibri" pitchFamily="34" charset="-122"/>
                          <a:cs typeface="Calibri" pitchFamily="34" charset="-120"/>
                        </a:rPr>
                        <a:t>Oui en ligne et chez le revendeur</a:t>
                      </a:r>
                      <a:r>
                        <a:rPr lang="en-US" sz="1300" dirty="0">
                          <a:solidFill>
                            <a:srgbClr val="1F2A28"/>
                          </a:solidFill>
                          <a:latin typeface="Calibri" pitchFamily="34" charset="0"/>
                          <a:ea typeface="Calibri" pitchFamily="34" charset="-122"/>
                          <a:cs typeface="Calibri" pitchFamily="34" charset="-120"/>
                        </a:rPr>
                        <a:t> (+3 points environ), </a:t>
                      </a:r>
                      <a:r>
                        <a:rPr lang="en-US" sz="1300" b="1" dirty="0">
                          <a:solidFill>
                            <a:srgbClr val="1F2A28"/>
                          </a:solidFill>
                          <a:latin typeface="Calibri" pitchFamily="34" charset="0"/>
                          <a:ea typeface="Calibri" pitchFamily="34" charset="-122"/>
                          <a:cs typeface="Calibri" pitchFamily="34" charset="-120"/>
                        </a:rPr>
                        <a:t>non en magasin</a:t>
                      </a:r>
                      <a:r>
                        <a:rPr lang="en-US" sz="1300" dirty="0">
                          <a:solidFill>
                            <a:srgbClr val="1F2A28"/>
                          </a:solidFill>
                          <a:latin typeface="Calibri" pitchFamily="34" charset="0"/>
                          <a:ea typeface="Calibri" pitchFamily="34" charset="-122"/>
                          <a:cs typeface="Calibri" pitchFamily="34" charset="-120"/>
                        </a:rPr>
                        <a:t>. Au plus 0,31 M$</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4"/>
                  </a:ext>
                </a:extLst>
              </a:tr>
              <a:tr h="640080">
                <a:tc>
                  <a:txBody>
                    <a:bodyPr/>
                    <a:lstStyle/>
                    <a:p>
                      <a:pPr marL="0" indent="0" algn="ctr">
                        <a:buNone/>
                      </a:pPr>
                      <a:r>
                        <a:rPr lang="en-US" sz="1300" dirty="0">
                          <a:solidFill>
                            <a:srgbClr val="1F2A28"/>
                          </a:solidFill>
                          <a:latin typeface="Calibri" pitchFamily="34" charset="0"/>
                          <a:ea typeface="Calibri" pitchFamily="34" charset="-122"/>
                          <a:cs typeface="Calibri" pitchFamily="34" charset="-120"/>
                        </a:rPr>
                        <a:t>Q5</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A28"/>
                          </a:solidFill>
                          <a:latin typeface="Calibri" pitchFamily="34" charset="0"/>
                          <a:ea typeface="Calibri" pitchFamily="34" charset="-122"/>
                          <a:cs typeface="Calibri" pitchFamily="34" charset="-120"/>
                        </a:rPr>
                        <a:t>Niveaux de remise et marge</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300" b="1" dirty="0">
                          <a:solidFill>
                            <a:srgbClr val="1F2A28"/>
                          </a:solidFill>
                          <a:latin typeface="Calibri" pitchFamily="34" charset="0"/>
                          <a:ea typeface="Calibri" pitchFamily="34" charset="-122"/>
                          <a:cs typeface="Calibri" pitchFamily="34" charset="-120"/>
                        </a:rPr>
                        <a:t>Aucune remise en magasin.</a:t>
                      </a:r>
                      <a:r>
                        <a:rPr lang="en-US" sz="1300" dirty="0">
                          <a:solidFill>
                            <a:srgbClr val="1F2A28"/>
                          </a:solidFill>
                          <a:latin typeface="Calibri" pitchFamily="34" charset="0"/>
                          <a:ea typeface="Calibri" pitchFamily="34" charset="-122"/>
                          <a:cs typeface="Calibri" pitchFamily="34" charset="-120"/>
                        </a:rPr>
                        <a:t> Ailleurs, un niveau plus bas que 20 %, à confirmer par un essai</a:t>
                      </a:r>
                      <a:endParaRPr lang="en-US" sz="13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Shape 7"/>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2" name="Shape 8"/>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13" name="Text 9"/>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Ni la boutique, ni le pays, ni la promotion ne font la performance : c'est </a:t>
            </a:r>
            <a:r>
              <a:rPr lang="en-US" sz="1500" b="1" dirty="0">
                <a:solidFill>
                  <a:srgbClr val="17332E"/>
                </a:solidFill>
                <a:latin typeface="Calibri" pitchFamily="34" charset="0"/>
                <a:ea typeface="Calibri" pitchFamily="34" charset="-122"/>
                <a:cs typeface="Calibri" pitchFamily="34" charset="-120"/>
              </a:rPr>
              <a:t>l'assortiment</a:t>
            </a:r>
            <a:r>
              <a:rPr lang="en-US" sz="1500" dirty="0">
                <a:solidFill>
                  <a:srgbClr val="17332E"/>
                </a:solidFill>
                <a:latin typeface="Calibri" pitchFamily="34" charset="0"/>
                <a:ea typeface="Calibri" pitchFamily="34" charset="-122"/>
                <a:cs typeface="Calibri" pitchFamily="34" charset="-120"/>
              </a:rPr>
              <a:t>, puis </a:t>
            </a:r>
            <a:r>
              <a:rPr lang="en-US" sz="1500" b="1" dirty="0">
                <a:solidFill>
                  <a:srgbClr val="17332E"/>
                </a:solidFill>
                <a:latin typeface="Calibri" pitchFamily="34" charset="0"/>
                <a:ea typeface="Calibri" pitchFamily="34" charset="-122"/>
                <a:cs typeface="Calibri" pitchFamily="34" charset="-120"/>
              </a:rPr>
              <a:t>les charges</a:t>
            </a:r>
            <a:r>
              <a:rPr lang="en-US" sz="1500" dirty="0">
                <a:solidFill>
                  <a:srgbClr val="17332E"/>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Yacine Lezoul</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5 · SYNTHÈSE ET SUITE</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Synthèse · Promotions, remises et retours ne sont pas les problèmes prioritaires</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Yacine Lezoul</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53</a:t>
            </a:r>
            <a:endParaRPr lang="en-US" sz="10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3840480"/>
        </p:xfrm>
        <a:graphic>
          <a:graphicData uri="http://schemas.openxmlformats.org/drawingml/2006/table">
            <a:tbl>
              <a:tblPr/>
              <a:tblGrid>
                <a:gridCol w="442570">
                  <a:extLst>
                    <a:ext uri="{9D8B030D-6E8A-4147-A177-3AD203B41FA5}">
                      <a16:colId xmlns:a16="http://schemas.microsoft.com/office/drawing/2014/main" val="20000"/>
                    </a:ext>
                  </a:extLst>
                </a:gridCol>
                <a:gridCol w="2766060">
                  <a:extLst>
                    <a:ext uri="{9D8B030D-6E8A-4147-A177-3AD203B41FA5}">
                      <a16:colId xmlns:a16="http://schemas.microsoft.com/office/drawing/2014/main" val="20001"/>
                    </a:ext>
                  </a:extLst>
                </a:gridCol>
                <a:gridCol w="5089550">
                  <a:extLst>
                    <a:ext uri="{9D8B030D-6E8A-4147-A177-3AD203B41FA5}">
                      <a16:colId xmlns:a16="http://schemas.microsoft.com/office/drawing/2014/main" val="20002"/>
                    </a:ext>
                  </a:extLst>
                </a:gridCol>
                <a:gridCol w="2766060">
                  <a:extLst>
                    <a:ext uri="{9D8B030D-6E8A-4147-A177-3AD203B41FA5}">
                      <a16:colId xmlns:a16="http://schemas.microsoft.com/office/drawing/2014/main" val="20003"/>
                    </a:ext>
                  </a:extLst>
                </a:gridCol>
              </a:tblGrid>
              <a:tr h="548640">
                <a:tc>
                  <a:txBody>
                    <a:bodyPr/>
                    <a:lstStyle/>
                    <a:p>
                      <a:pPr marL="0" indent="0" algn="ctr">
                        <a:buNone/>
                      </a:pP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Problème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Ce qu'il pèse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Levier sur 2021</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548640">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F2A28"/>
                          </a:solidFill>
                          <a:latin typeface="Calibri" pitchFamily="34" charset="0"/>
                          <a:ea typeface="Calibri" pitchFamily="34" charset="-122"/>
                          <a:cs typeface="Calibri" pitchFamily="34" charset="-120"/>
                        </a:rPr>
                        <a:t>Assortiment non renouvelé</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Lancements 552 → 429 → 272 ; 69 % de la chute des ventes des magasins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F2A28"/>
                          </a:solidFill>
                          <a:latin typeface="Calibri" pitchFamily="34" charset="0"/>
                          <a:ea typeface="Calibri" pitchFamily="34" charset="-122"/>
                          <a:cs typeface="Calibri" pitchFamily="34" charset="-120"/>
                        </a:rPr>
                        <a:t>46,1 M$</a:t>
                      </a:r>
                      <a:r>
                        <a:rPr lang="en-US" sz="1250" dirty="0">
                          <a:solidFill>
                            <a:srgbClr val="1F2A28"/>
                          </a:solidFill>
                          <a:latin typeface="Calibri" pitchFamily="34" charset="0"/>
                          <a:ea typeface="Calibri" pitchFamily="34" charset="-122"/>
                          <a:cs typeface="Calibri" pitchFamily="34" charset="-120"/>
                        </a:rPr>
                        <a:t> (gain brut) + 3,8 M$</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b="1" dirty="0">
                          <a:solidFill>
                            <a:srgbClr val="1F2A28"/>
                          </a:solidFill>
                          <a:latin typeface="Calibri" pitchFamily="34" charset="0"/>
                          <a:ea typeface="Calibri" pitchFamily="34" charset="-122"/>
                          <a:cs typeface="Calibri" pitchFamily="34" charset="-120"/>
                        </a:rPr>
                        <a:t>Perte des grands comptes en ligne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Achats : 169,0 → 86,6 → 0,1 M$ (autre table)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Lié à l'assortiment</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548640">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F2A28"/>
                          </a:solidFill>
                          <a:latin typeface="Calibri" pitchFamily="34" charset="0"/>
                          <a:ea typeface="Calibri" pitchFamily="34" charset="-122"/>
                          <a:cs typeface="Calibri" pitchFamily="34" charset="-120"/>
                        </a:rPr>
                        <a:t>Hausse des frais généraux</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+26,3 M$ en deux exercices, dont +12,9 M$ en magasin</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F2A28"/>
                          </a:solidFill>
                          <a:latin typeface="Calibri" pitchFamily="34" charset="0"/>
                          <a:ea typeface="Calibri" pitchFamily="34" charset="-122"/>
                          <a:cs typeface="Calibri" pitchFamily="34" charset="-120"/>
                        </a:rPr>
                        <a:t>9,2 M$</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Publicité des magasins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61,9 M$, sans effet mesurable sur les ventes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6,2 M$ (−10 %), à tester</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4"/>
                  </a:ext>
                </a:extLst>
              </a:tr>
              <a:tr h="548640">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Remises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Magasins : −6,9 M$ depuis 2019, pendant que leur résultat perdait 132,4 M$</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5,42 M$ + 2,93 M$ à tester</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ctr">
                        <a:buNone/>
                      </a:pPr>
                      <a:r>
                        <a:rPr lang="en-US" sz="1250" dirty="0">
                          <a:solidFill>
                            <a:srgbClr val="1F2A28"/>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Retours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5,34 M$ de marge perdue, fréquence stable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2,62 M$ au plus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6"/>
                  </a:ext>
                </a:extLst>
              </a:tr>
            </a:tbl>
          </a:graphicData>
        </a:graphic>
      </p:graphicFrame>
      <p:sp>
        <p:nvSpPr>
          <p:cNvPr id="11" name="Shape 7"/>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2" name="Shape 8"/>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13" name="Text 9"/>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Remises en magasin et retours réunis : </a:t>
            </a:r>
            <a:r>
              <a:rPr lang="en-US" sz="1500" b="1" dirty="0">
                <a:solidFill>
                  <a:srgbClr val="17332E"/>
                </a:solidFill>
                <a:latin typeface="Calibri" pitchFamily="34" charset="0"/>
                <a:ea typeface="Calibri" pitchFamily="34" charset="-122"/>
                <a:cs typeface="Calibri" pitchFamily="34" charset="-120"/>
              </a:rPr>
              <a:t>8,0 M$ par an</a:t>
            </a:r>
            <a:r>
              <a:rPr lang="en-US" sz="1500" dirty="0">
                <a:solidFill>
                  <a:srgbClr val="17332E"/>
                </a:solidFill>
                <a:latin typeface="Calibri" pitchFamily="34" charset="0"/>
                <a:ea typeface="Calibri" pitchFamily="34" charset="-122"/>
                <a:cs typeface="Calibri" pitchFamily="34" charset="-120"/>
              </a:rPr>
              <a:t>, moins d'un cinquième du seul levier sur l'assortiment.</a:t>
            </a:r>
            <a:endParaRPr lang="en-US" sz="15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Yacine Lezoul</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5 · SYNTHÈSE ET SUITE</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Nos recommandations : traiter la cause, puis la conséquence</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Yacine Lezoul</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54</a:t>
            </a:r>
            <a:endParaRPr lang="en-US" sz="1000" dirty="0"/>
          </a:p>
        </p:txBody>
      </p:sp>
      <p:sp>
        <p:nvSpPr>
          <p:cNvPr id="10" name="Shape 7"/>
          <p:cNvSpPr/>
          <p:nvPr/>
        </p:nvSpPr>
        <p:spPr>
          <a:xfrm>
            <a:off x="548640" y="1463040"/>
            <a:ext cx="5486400" cy="1965960"/>
          </a:xfrm>
          <a:prstGeom prst="rect">
            <a:avLst/>
          </a:prstGeom>
          <a:solidFill>
            <a:srgbClr val="EAF2EF"/>
          </a:solidFill>
          <a:ln w="9525">
            <a:solidFill>
              <a:srgbClr val="CFE0DA"/>
            </a:solidFill>
            <a:prstDash val="solid"/>
          </a:ln>
        </p:spPr>
        <p:txBody>
          <a:bodyPr/>
          <a:lstStyle/>
          <a:p>
            <a:endParaRPr lang="en-US"/>
          </a:p>
        </p:txBody>
      </p:sp>
      <p:sp>
        <p:nvSpPr>
          <p:cNvPr id="11" name="Text 8"/>
          <p:cNvSpPr/>
          <p:nvPr/>
        </p:nvSpPr>
        <p:spPr>
          <a:xfrm>
            <a:off x="731520" y="1572768"/>
            <a:ext cx="5120640" cy="411480"/>
          </a:xfrm>
          <a:prstGeom prst="rect">
            <a:avLst/>
          </a:prstGeom>
          <a:noFill/>
          <a:ln/>
        </p:spPr>
        <p:txBody>
          <a:bodyPr wrap="square" lIns="0" tIns="0" rIns="0" bIns="0" rtlCol="0" anchor="ctr"/>
          <a:lstStyle/>
          <a:p>
            <a:pPr marL="0" indent="0">
              <a:buNone/>
            </a:pPr>
            <a:r>
              <a:rPr lang="en-US" sz="1500" b="1" dirty="0">
                <a:solidFill>
                  <a:srgbClr val="17332E"/>
                </a:solidFill>
                <a:latin typeface="Cambria" pitchFamily="34" charset="0"/>
                <a:ea typeface="Cambria" pitchFamily="34" charset="-122"/>
                <a:cs typeface="Cambria" pitchFamily="34" charset="-120"/>
              </a:rPr>
              <a:t>1 · Traiter la cause : renouveler l'assortiment</a:t>
            </a:r>
            <a:endParaRPr lang="en-US" sz="1500" dirty="0"/>
          </a:p>
        </p:txBody>
      </p:sp>
      <p:sp>
        <p:nvSpPr>
          <p:cNvPr id="12" name="Text 9"/>
          <p:cNvSpPr/>
          <p:nvPr/>
        </p:nvSpPr>
        <p:spPr>
          <a:xfrm>
            <a:off x="731520" y="2057400"/>
            <a:ext cx="5120640" cy="1280160"/>
          </a:xfrm>
          <a:prstGeom prst="rect">
            <a:avLst/>
          </a:prstGeom>
          <a:noFill/>
          <a:ln/>
        </p:spPr>
        <p:txBody>
          <a:bodyPr wrap="square" lIns="0" tIns="0" rIns="0" bIns="0" rtlCol="0" anchor="t"/>
          <a:lstStyle/>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Rythme de lancement de 2019 : </a:t>
            </a:r>
            <a:r>
              <a:rPr lang="en-US" sz="1300" b="1" dirty="0">
                <a:solidFill>
                  <a:srgbClr val="1F2A28"/>
                </a:solidFill>
                <a:latin typeface="Calibri" pitchFamily="34" charset="0"/>
                <a:ea typeface="Calibri" pitchFamily="34" charset="-122"/>
                <a:cs typeface="Calibri" pitchFamily="34" charset="-120"/>
              </a:rPr>
              <a:t>46,1 M$</a:t>
            </a:r>
            <a:r>
              <a:rPr lang="en-US" sz="1300" dirty="0">
                <a:solidFill>
                  <a:srgbClr val="1F2A28"/>
                </a:solidFill>
                <a:latin typeface="Calibri" pitchFamily="34" charset="0"/>
                <a:ea typeface="Calibri" pitchFamily="34" charset="-122"/>
                <a:cs typeface="Calibri" pitchFamily="34" charset="-120"/>
              </a:rPr>
              <a:t> brut par an ; nouveautés en rayon : 3,8 M$</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Stock dormant libéré </a:t>
            </a:r>
            <a:r>
              <a:rPr lang="en-US" sz="1300" b="1" dirty="0">
                <a:solidFill>
                  <a:srgbClr val="1F2A28"/>
                </a:solidFill>
                <a:latin typeface="Calibri" pitchFamily="34" charset="0"/>
                <a:ea typeface="Calibri" pitchFamily="34" charset="-122"/>
                <a:cs typeface="Calibri" pitchFamily="34" charset="-120"/>
              </a:rPr>
              <a:t>sans remise</a:t>
            </a:r>
            <a:r>
              <a:rPr lang="en-US" sz="1300" dirty="0">
                <a:solidFill>
                  <a:srgbClr val="1F2A28"/>
                </a:solidFill>
                <a:latin typeface="Calibri" pitchFamily="34" charset="0"/>
                <a:ea typeface="Calibri" pitchFamily="34" charset="-122"/>
                <a:cs typeface="Calibri" pitchFamily="34" charset="-120"/>
              </a:rPr>
              <a:t> : 45 à 135 M$ de trésorerie, une fois</a:t>
            </a:r>
            <a:endParaRPr lang="en-US" sz="1300" dirty="0"/>
          </a:p>
        </p:txBody>
      </p:sp>
      <p:sp>
        <p:nvSpPr>
          <p:cNvPr id="13" name="Shape 10"/>
          <p:cNvSpPr/>
          <p:nvPr/>
        </p:nvSpPr>
        <p:spPr>
          <a:xfrm>
            <a:off x="548640" y="3566160"/>
            <a:ext cx="5486400" cy="1965960"/>
          </a:xfrm>
          <a:prstGeom prst="rect">
            <a:avLst/>
          </a:prstGeom>
          <a:solidFill>
            <a:srgbClr val="EAF2EF"/>
          </a:solidFill>
          <a:ln w="9525">
            <a:solidFill>
              <a:srgbClr val="CFE0DA"/>
            </a:solidFill>
            <a:prstDash val="solid"/>
          </a:ln>
        </p:spPr>
        <p:txBody>
          <a:bodyPr/>
          <a:lstStyle/>
          <a:p>
            <a:endParaRPr lang="en-US"/>
          </a:p>
        </p:txBody>
      </p:sp>
      <p:sp>
        <p:nvSpPr>
          <p:cNvPr id="14" name="Text 11"/>
          <p:cNvSpPr/>
          <p:nvPr/>
        </p:nvSpPr>
        <p:spPr>
          <a:xfrm>
            <a:off x="731520" y="3675888"/>
            <a:ext cx="5120640" cy="411480"/>
          </a:xfrm>
          <a:prstGeom prst="rect">
            <a:avLst/>
          </a:prstGeom>
          <a:noFill/>
          <a:ln/>
        </p:spPr>
        <p:txBody>
          <a:bodyPr wrap="square" lIns="0" tIns="0" rIns="0" bIns="0" rtlCol="0" anchor="ctr"/>
          <a:lstStyle/>
          <a:p>
            <a:pPr marL="0" indent="0">
              <a:buNone/>
            </a:pPr>
            <a:r>
              <a:rPr lang="en-US" sz="1500" b="1" dirty="0">
                <a:solidFill>
                  <a:srgbClr val="17332E"/>
                </a:solidFill>
                <a:latin typeface="Cambria" pitchFamily="34" charset="0"/>
                <a:ea typeface="Cambria" pitchFamily="34" charset="-122"/>
                <a:cs typeface="Cambria" pitchFamily="34" charset="-120"/>
              </a:rPr>
              <a:t>2 · Traiter la conséquence : recaler les charges</a:t>
            </a:r>
            <a:endParaRPr lang="en-US" sz="1500" dirty="0"/>
          </a:p>
        </p:txBody>
      </p:sp>
      <p:sp>
        <p:nvSpPr>
          <p:cNvPr id="15" name="Text 12"/>
          <p:cNvSpPr/>
          <p:nvPr/>
        </p:nvSpPr>
        <p:spPr>
          <a:xfrm>
            <a:off x="731520" y="4160520"/>
            <a:ext cx="5120640" cy="1280160"/>
          </a:xfrm>
          <a:prstGeom prst="rect">
            <a:avLst/>
          </a:prstGeom>
          <a:noFill/>
          <a:ln/>
        </p:spPr>
        <p:txBody>
          <a:bodyPr wrap="square" lIns="0" tIns="0" rIns="0" bIns="0" rtlCol="0" anchor="t"/>
          <a:lstStyle/>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Annuler les hausses de frais généraux : 4,8 M$, puis </a:t>
            </a:r>
            <a:r>
              <a:rPr lang="en-US" sz="1300" b="1" dirty="0">
                <a:solidFill>
                  <a:srgbClr val="1F2A28"/>
                </a:solidFill>
                <a:latin typeface="Calibri" pitchFamily="34" charset="0"/>
                <a:ea typeface="Calibri" pitchFamily="34" charset="-122"/>
                <a:cs typeface="Calibri" pitchFamily="34" charset="-120"/>
              </a:rPr>
              <a:t>9,2 M$</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Publicité des magasins −10 % (6,2 M$), avec un test piloté</a:t>
            </a:r>
            <a:endParaRPr lang="en-US" sz="1300" dirty="0"/>
          </a:p>
        </p:txBody>
      </p:sp>
      <p:sp>
        <p:nvSpPr>
          <p:cNvPr id="16" name="Shape 13"/>
          <p:cNvSpPr/>
          <p:nvPr/>
        </p:nvSpPr>
        <p:spPr>
          <a:xfrm>
            <a:off x="6309360" y="1463040"/>
            <a:ext cx="5303520" cy="4069080"/>
          </a:xfrm>
          <a:prstGeom prst="rect">
            <a:avLst/>
          </a:prstGeom>
          <a:solidFill>
            <a:srgbClr val="FBF3E4"/>
          </a:solidFill>
          <a:ln w="9525">
            <a:solidFill>
              <a:srgbClr val="CFE0DA"/>
            </a:solidFill>
            <a:prstDash val="solid"/>
          </a:ln>
        </p:spPr>
        <p:txBody>
          <a:bodyPr/>
          <a:lstStyle/>
          <a:p>
            <a:endParaRPr lang="en-US"/>
          </a:p>
        </p:txBody>
      </p:sp>
      <p:sp>
        <p:nvSpPr>
          <p:cNvPr id="17" name="Text 14"/>
          <p:cNvSpPr/>
          <p:nvPr/>
        </p:nvSpPr>
        <p:spPr>
          <a:xfrm>
            <a:off x="6492240" y="1572768"/>
            <a:ext cx="4937760" cy="411480"/>
          </a:xfrm>
          <a:prstGeom prst="rect">
            <a:avLst/>
          </a:prstGeom>
          <a:noFill/>
          <a:ln/>
        </p:spPr>
        <p:txBody>
          <a:bodyPr wrap="square" lIns="0" tIns="0" rIns="0" bIns="0" rtlCol="0" anchor="ctr"/>
          <a:lstStyle/>
          <a:p>
            <a:pPr marL="0" indent="0">
              <a:buNone/>
            </a:pPr>
            <a:r>
              <a:rPr lang="en-US" sz="1500" b="1" dirty="0">
                <a:solidFill>
                  <a:srgbClr val="17332E"/>
                </a:solidFill>
                <a:latin typeface="Cambria" pitchFamily="34" charset="0"/>
                <a:ea typeface="Cambria" pitchFamily="34" charset="-122"/>
                <a:cs typeface="Cambria" pitchFamily="34" charset="-120"/>
              </a:rPr>
              <a:t>Trois mesures secondaires</a:t>
            </a:r>
            <a:endParaRPr lang="en-US" sz="1500" dirty="0"/>
          </a:p>
        </p:txBody>
      </p:sp>
      <p:sp>
        <p:nvSpPr>
          <p:cNvPr id="18" name="Shape 15"/>
          <p:cNvSpPr/>
          <p:nvPr/>
        </p:nvSpPr>
        <p:spPr>
          <a:xfrm>
            <a:off x="6492240" y="2148840"/>
            <a:ext cx="384048" cy="384048"/>
          </a:xfrm>
          <a:prstGeom prst="ellipse">
            <a:avLst/>
          </a:prstGeom>
          <a:solidFill>
            <a:srgbClr val="E9A23B"/>
          </a:solidFill>
          <a:ln w="12700">
            <a:solidFill>
              <a:srgbClr val="E9A23B"/>
            </a:solidFill>
            <a:prstDash val="solid"/>
          </a:ln>
        </p:spPr>
        <p:txBody>
          <a:bodyPr/>
          <a:lstStyle/>
          <a:p>
            <a:endParaRPr lang="en-US"/>
          </a:p>
        </p:txBody>
      </p:sp>
      <p:sp>
        <p:nvSpPr>
          <p:cNvPr id="19" name="Text 16"/>
          <p:cNvSpPr/>
          <p:nvPr/>
        </p:nvSpPr>
        <p:spPr>
          <a:xfrm>
            <a:off x="6492240" y="2148840"/>
            <a:ext cx="384048" cy="384048"/>
          </a:xfrm>
          <a:prstGeom prst="rect">
            <a:avLst/>
          </a:prstGeom>
          <a:noFill/>
          <a:ln/>
        </p:spPr>
        <p:txBody>
          <a:bodyPr wrap="square" lIns="0" tIns="0" rIns="0" bIns="0" rtlCol="0" anchor="ctr"/>
          <a:lstStyle/>
          <a:p>
            <a:pPr marL="0" indent="0" algn="ctr">
              <a:buNone/>
            </a:pPr>
            <a:r>
              <a:rPr lang="en-US" sz="1400" b="1" dirty="0">
                <a:solidFill>
                  <a:srgbClr val="17332E"/>
                </a:solidFill>
                <a:latin typeface="Calibri" pitchFamily="34" charset="0"/>
                <a:ea typeface="Calibri" pitchFamily="34" charset="-122"/>
                <a:cs typeface="Calibri" pitchFamily="34" charset="-120"/>
              </a:rPr>
              <a:t>1</a:t>
            </a:r>
            <a:endParaRPr lang="en-US" sz="1400" dirty="0"/>
          </a:p>
        </p:txBody>
      </p:sp>
      <p:sp>
        <p:nvSpPr>
          <p:cNvPr id="20" name="Text 17"/>
          <p:cNvSpPr/>
          <p:nvPr/>
        </p:nvSpPr>
        <p:spPr>
          <a:xfrm>
            <a:off x="7040880" y="2103120"/>
            <a:ext cx="4389120" cy="365760"/>
          </a:xfrm>
          <a:prstGeom prst="rect">
            <a:avLst/>
          </a:prstGeom>
          <a:noFill/>
          <a:ln/>
        </p:spPr>
        <p:txBody>
          <a:bodyPr wrap="square" lIns="0" tIns="0" rIns="0" bIns="0" rtlCol="0" anchor="t"/>
          <a:lstStyle/>
          <a:p>
            <a:pPr marL="0" indent="0" algn="l">
              <a:buNone/>
            </a:pPr>
            <a:r>
              <a:rPr lang="en-US" sz="1500" b="1" dirty="0">
                <a:solidFill>
                  <a:srgbClr val="17332E"/>
                </a:solidFill>
                <a:latin typeface="Cambria" pitchFamily="34" charset="0"/>
                <a:ea typeface="Cambria" pitchFamily="34" charset="-122"/>
                <a:cs typeface="Cambria" pitchFamily="34" charset="-120"/>
              </a:rPr>
              <a:t>Arrêter les remises en magasin</a:t>
            </a:r>
            <a:endParaRPr lang="en-US" sz="1500" dirty="0"/>
          </a:p>
        </p:txBody>
      </p:sp>
      <p:sp>
        <p:nvSpPr>
          <p:cNvPr id="21" name="Text 18"/>
          <p:cNvSpPr/>
          <p:nvPr/>
        </p:nvSpPr>
        <p:spPr>
          <a:xfrm>
            <a:off x="7040880" y="2487168"/>
            <a:ext cx="4389120" cy="640080"/>
          </a:xfrm>
          <a:prstGeom prst="rect">
            <a:avLst/>
          </a:prstGeom>
          <a:noFill/>
          <a:ln/>
        </p:spPr>
        <p:txBody>
          <a:bodyPr wrap="square" lIns="0" tIns="0" rIns="0" bIns="0" rtlCol="0" anchor="t"/>
          <a:lstStyle/>
          <a:p>
            <a:pPr marL="0" indent="0" algn="l">
              <a:buNone/>
            </a:pPr>
            <a:r>
              <a:rPr lang="en-US" sz="1300" dirty="0">
                <a:solidFill>
                  <a:srgbClr val="5E6B68"/>
                </a:solidFill>
                <a:latin typeface="Calibri" pitchFamily="34" charset="0"/>
                <a:ea typeface="Calibri" pitchFamily="34" charset="-122"/>
                <a:cs typeface="Calibri" pitchFamily="34" charset="-120"/>
              </a:rPr>
              <a:t>5,42 M$, en commençant par la promotion à 20 % d'octobre à janvier</a:t>
            </a:r>
            <a:endParaRPr lang="en-US" sz="1300" dirty="0"/>
          </a:p>
        </p:txBody>
      </p:sp>
      <p:sp>
        <p:nvSpPr>
          <p:cNvPr id="22" name="Shape 19"/>
          <p:cNvSpPr/>
          <p:nvPr/>
        </p:nvSpPr>
        <p:spPr>
          <a:xfrm>
            <a:off x="6492240" y="3264408"/>
            <a:ext cx="384048" cy="384048"/>
          </a:xfrm>
          <a:prstGeom prst="ellipse">
            <a:avLst/>
          </a:prstGeom>
          <a:solidFill>
            <a:srgbClr val="E9A23B"/>
          </a:solidFill>
          <a:ln w="12700">
            <a:solidFill>
              <a:srgbClr val="E9A23B"/>
            </a:solidFill>
            <a:prstDash val="solid"/>
          </a:ln>
        </p:spPr>
        <p:txBody>
          <a:bodyPr/>
          <a:lstStyle/>
          <a:p>
            <a:endParaRPr lang="en-US"/>
          </a:p>
        </p:txBody>
      </p:sp>
      <p:sp>
        <p:nvSpPr>
          <p:cNvPr id="23" name="Text 20"/>
          <p:cNvSpPr/>
          <p:nvPr/>
        </p:nvSpPr>
        <p:spPr>
          <a:xfrm>
            <a:off x="6492240" y="3264408"/>
            <a:ext cx="384048" cy="384048"/>
          </a:xfrm>
          <a:prstGeom prst="rect">
            <a:avLst/>
          </a:prstGeom>
          <a:noFill/>
          <a:ln/>
        </p:spPr>
        <p:txBody>
          <a:bodyPr wrap="square" lIns="0" tIns="0" rIns="0" bIns="0" rtlCol="0" anchor="ctr"/>
          <a:lstStyle/>
          <a:p>
            <a:pPr marL="0" indent="0" algn="ctr">
              <a:buNone/>
            </a:pPr>
            <a:r>
              <a:rPr lang="en-US" sz="1400" b="1" dirty="0">
                <a:solidFill>
                  <a:srgbClr val="17332E"/>
                </a:solidFill>
                <a:latin typeface="Calibri" pitchFamily="34" charset="0"/>
                <a:ea typeface="Calibri" pitchFamily="34" charset="-122"/>
                <a:cs typeface="Calibri" pitchFamily="34" charset="-120"/>
              </a:rPr>
              <a:t>2</a:t>
            </a:r>
            <a:endParaRPr lang="en-US" sz="1400" dirty="0"/>
          </a:p>
        </p:txBody>
      </p:sp>
      <p:sp>
        <p:nvSpPr>
          <p:cNvPr id="24" name="Text 21"/>
          <p:cNvSpPr/>
          <p:nvPr/>
        </p:nvSpPr>
        <p:spPr>
          <a:xfrm>
            <a:off x="7040880" y="3218688"/>
            <a:ext cx="4389120" cy="365760"/>
          </a:xfrm>
          <a:prstGeom prst="rect">
            <a:avLst/>
          </a:prstGeom>
          <a:noFill/>
          <a:ln/>
        </p:spPr>
        <p:txBody>
          <a:bodyPr wrap="square" lIns="0" tIns="0" rIns="0" bIns="0" rtlCol="0" anchor="t"/>
          <a:lstStyle/>
          <a:p>
            <a:pPr marL="0" indent="0" algn="l">
              <a:buNone/>
            </a:pPr>
            <a:r>
              <a:rPr lang="en-US" sz="1500" b="1" dirty="0">
                <a:solidFill>
                  <a:srgbClr val="17332E"/>
                </a:solidFill>
                <a:latin typeface="Cambria" pitchFamily="34" charset="0"/>
                <a:ea typeface="Cambria" pitchFamily="34" charset="-122"/>
                <a:cs typeface="Cambria" pitchFamily="34" charset="-120"/>
              </a:rPr>
              <a:t>Tester un plafond de remise à 10 %</a:t>
            </a:r>
            <a:endParaRPr lang="en-US" sz="1500" dirty="0"/>
          </a:p>
        </p:txBody>
      </p:sp>
      <p:sp>
        <p:nvSpPr>
          <p:cNvPr id="25" name="Text 22"/>
          <p:cNvSpPr/>
          <p:nvPr/>
        </p:nvSpPr>
        <p:spPr>
          <a:xfrm>
            <a:off x="7040880" y="3602736"/>
            <a:ext cx="4389120" cy="640080"/>
          </a:xfrm>
          <a:prstGeom prst="rect">
            <a:avLst/>
          </a:prstGeom>
          <a:noFill/>
          <a:ln/>
        </p:spPr>
        <p:txBody>
          <a:bodyPr wrap="square" lIns="0" tIns="0" rIns="0" bIns="0" rtlCol="0" anchor="t"/>
          <a:lstStyle/>
          <a:p>
            <a:pPr marL="0" indent="0" algn="l">
              <a:buNone/>
            </a:pPr>
            <a:r>
              <a:rPr lang="en-US" sz="1300" dirty="0">
                <a:solidFill>
                  <a:srgbClr val="5E6B68"/>
                </a:solidFill>
                <a:latin typeface="Calibri" pitchFamily="34" charset="0"/>
                <a:ea typeface="Calibri" pitchFamily="34" charset="-122"/>
                <a:cs typeface="Calibri" pitchFamily="34" charset="-120"/>
              </a:rPr>
              <a:t>en ligne et chez le revendeur (2,93 M$), avec un groupe témoin</a:t>
            </a:r>
            <a:endParaRPr lang="en-US" sz="1300" dirty="0"/>
          </a:p>
        </p:txBody>
      </p:sp>
      <p:sp>
        <p:nvSpPr>
          <p:cNvPr id="26" name="Shape 23"/>
          <p:cNvSpPr/>
          <p:nvPr/>
        </p:nvSpPr>
        <p:spPr>
          <a:xfrm>
            <a:off x="6492240" y="4379976"/>
            <a:ext cx="384048" cy="384048"/>
          </a:xfrm>
          <a:prstGeom prst="ellipse">
            <a:avLst/>
          </a:prstGeom>
          <a:solidFill>
            <a:srgbClr val="E9A23B"/>
          </a:solidFill>
          <a:ln w="12700">
            <a:solidFill>
              <a:srgbClr val="E9A23B"/>
            </a:solidFill>
            <a:prstDash val="solid"/>
          </a:ln>
        </p:spPr>
        <p:txBody>
          <a:bodyPr/>
          <a:lstStyle/>
          <a:p>
            <a:endParaRPr lang="en-US"/>
          </a:p>
        </p:txBody>
      </p:sp>
      <p:sp>
        <p:nvSpPr>
          <p:cNvPr id="27" name="Text 24"/>
          <p:cNvSpPr/>
          <p:nvPr/>
        </p:nvSpPr>
        <p:spPr>
          <a:xfrm>
            <a:off x="6492240" y="4379976"/>
            <a:ext cx="384048" cy="384048"/>
          </a:xfrm>
          <a:prstGeom prst="rect">
            <a:avLst/>
          </a:prstGeom>
          <a:noFill/>
          <a:ln/>
        </p:spPr>
        <p:txBody>
          <a:bodyPr wrap="square" lIns="0" tIns="0" rIns="0" bIns="0" rtlCol="0" anchor="ctr"/>
          <a:lstStyle/>
          <a:p>
            <a:pPr marL="0" indent="0" algn="ctr">
              <a:buNone/>
            </a:pPr>
            <a:r>
              <a:rPr lang="en-US" sz="1400" b="1" dirty="0">
                <a:solidFill>
                  <a:srgbClr val="17332E"/>
                </a:solidFill>
                <a:latin typeface="Calibri" pitchFamily="34" charset="0"/>
                <a:ea typeface="Calibri" pitchFamily="34" charset="-122"/>
                <a:cs typeface="Calibri" pitchFamily="34" charset="-120"/>
              </a:rPr>
              <a:t>3</a:t>
            </a:r>
            <a:endParaRPr lang="en-US" sz="1400" dirty="0"/>
          </a:p>
        </p:txBody>
      </p:sp>
      <p:sp>
        <p:nvSpPr>
          <p:cNvPr id="28" name="Text 25"/>
          <p:cNvSpPr/>
          <p:nvPr/>
        </p:nvSpPr>
        <p:spPr>
          <a:xfrm>
            <a:off x="7040880" y="4334256"/>
            <a:ext cx="4389120" cy="365760"/>
          </a:xfrm>
          <a:prstGeom prst="rect">
            <a:avLst/>
          </a:prstGeom>
          <a:noFill/>
          <a:ln/>
        </p:spPr>
        <p:txBody>
          <a:bodyPr wrap="square" lIns="0" tIns="0" rIns="0" bIns="0" rtlCol="0" anchor="t"/>
          <a:lstStyle/>
          <a:p>
            <a:pPr marL="0" indent="0" algn="l">
              <a:buNone/>
            </a:pPr>
            <a:r>
              <a:rPr lang="en-US" sz="1500" b="1" dirty="0">
                <a:solidFill>
                  <a:srgbClr val="17332E"/>
                </a:solidFill>
                <a:latin typeface="Cambria" pitchFamily="34" charset="0"/>
                <a:ea typeface="Cambria" pitchFamily="34" charset="-122"/>
                <a:cs typeface="Cambria" pitchFamily="34" charset="-120"/>
              </a:rPr>
              <a:t>Ne pas faire des retours une priorité</a:t>
            </a:r>
            <a:endParaRPr lang="en-US" sz="1500" dirty="0"/>
          </a:p>
        </p:txBody>
      </p:sp>
      <p:sp>
        <p:nvSpPr>
          <p:cNvPr id="29" name="Text 26"/>
          <p:cNvSpPr/>
          <p:nvPr/>
        </p:nvSpPr>
        <p:spPr>
          <a:xfrm>
            <a:off x="7040880" y="4718304"/>
            <a:ext cx="4389120" cy="640080"/>
          </a:xfrm>
          <a:prstGeom prst="rect">
            <a:avLst/>
          </a:prstGeom>
          <a:noFill/>
          <a:ln/>
        </p:spPr>
        <p:txBody>
          <a:bodyPr wrap="square" lIns="0" tIns="0" rIns="0" bIns="0" rtlCol="0" anchor="t"/>
          <a:lstStyle/>
          <a:p>
            <a:pPr marL="0" indent="0" algn="l">
              <a:buNone/>
            </a:pPr>
            <a:r>
              <a:rPr lang="en-US" sz="1300" dirty="0">
                <a:solidFill>
                  <a:srgbClr val="5E6B68"/>
                </a:solidFill>
                <a:latin typeface="Calibri" pitchFamily="34" charset="0"/>
                <a:ea typeface="Calibri" pitchFamily="34" charset="-122"/>
                <a:cs typeface="Calibri" pitchFamily="34" charset="-120"/>
              </a:rPr>
              <a:t>cibler les appareils chers, collecter le motif du retour</a:t>
            </a:r>
            <a:endParaRPr lang="en-US" sz="1300" dirty="0"/>
          </a:p>
        </p:txBody>
      </p:sp>
      <p:sp>
        <p:nvSpPr>
          <p:cNvPr id="30" name="Shape 27"/>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31" name="Shape 28"/>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32" name="Text 29"/>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Les mesures de charges suffisent à rendre les magasins </a:t>
            </a:r>
            <a:r>
              <a:rPr lang="en-US" sz="1500" b="1" dirty="0">
                <a:solidFill>
                  <a:srgbClr val="17332E"/>
                </a:solidFill>
                <a:latin typeface="Calibri" pitchFamily="34" charset="0"/>
                <a:ea typeface="Calibri" pitchFamily="34" charset="-122"/>
                <a:cs typeface="Calibri" pitchFamily="34" charset="-120"/>
              </a:rPr>
              <a:t>bénéficiaires</a:t>
            </a:r>
            <a:r>
              <a:rPr lang="en-US" sz="1500" dirty="0">
                <a:solidFill>
                  <a:srgbClr val="17332E"/>
                </a:solidFill>
                <a:latin typeface="Calibri" pitchFamily="34" charset="0"/>
                <a:ea typeface="Calibri" pitchFamily="34" charset="-122"/>
                <a:cs typeface="Calibri" pitchFamily="34" charset="-120"/>
              </a:rPr>
              <a:t> (+4,6 M$), sans attendre le retour des ventes.</a:t>
            </a:r>
            <a:endParaRPr lang="en-US" sz="15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Yacine Lezoul</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5 · SYNTHÈSE ET SUITE</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Ce qu'il faut valider avec le métier, et les limites à garder en tête</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Yacine Lezoul</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55</a:t>
            </a:r>
            <a:endParaRPr lang="en-US" sz="1000" dirty="0"/>
          </a:p>
        </p:txBody>
      </p:sp>
      <p:sp>
        <p:nvSpPr>
          <p:cNvPr id="10" name="Shape 7"/>
          <p:cNvSpPr/>
          <p:nvPr/>
        </p:nvSpPr>
        <p:spPr>
          <a:xfrm>
            <a:off x="548640" y="1463040"/>
            <a:ext cx="5486400" cy="4069080"/>
          </a:xfrm>
          <a:prstGeom prst="rect">
            <a:avLst/>
          </a:prstGeom>
          <a:solidFill>
            <a:srgbClr val="EAF2EF"/>
          </a:solidFill>
          <a:ln w="9525">
            <a:solidFill>
              <a:srgbClr val="CFE0DA"/>
            </a:solidFill>
            <a:prstDash val="solid"/>
          </a:ln>
        </p:spPr>
        <p:txBody>
          <a:bodyPr/>
          <a:lstStyle/>
          <a:p>
            <a:endParaRPr lang="en-US"/>
          </a:p>
        </p:txBody>
      </p:sp>
      <p:sp>
        <p:nvSpPr>
          <p:cNvPr id="11" name="Text 8"/>
          <p:cNvSpPr/>
          <p:nvPr/>
        </p:nvSpPr>
        <p:spPr>
          <a:xfrm>
            <a:off x="731520" y="1572768"/>
            <a:ext cx="5120640" cy="411480"/>
          </a:xfrm>
          <a:prstGeom prst="rect">
            <a:avLst/>
          </a:prstGeom>
          <a:noFill/>
          <a:ln/>
        </p:spPr>
        <p:txBody>
          <a:bodyPr wrap="square" lIns="0" tIns="0" rIns="0" bIns="0" rtlCol="0" anchor="ctr"/>
          <a:lstStyle/>
          <a:p>
            <a:pPr marL="0" indent="0">
              <a:buNone/>
            </a:pPr>
            <a:r>
              <a:rPr lang="en-US" sz="1700" b="1" dirty="0">
                <a:solidFill>
                  <a:srgbClr val="17332E"/>
                </a:solidFill>
                <a:latin typeface="Cambria" pitchFamily="34" charset="0"/>
                <a:ea typeface="Cambria" pitchFamily="34" charset="-122"/>
                <a:cs typeface="Cambria" pitchFamily="34" charset="-120"/>
              </a:rPr>
              <a:t>Points à valider avec le métier</a:t>
            </a:r>
            <a:endParaRPr lang="en-US" sz="1700" dirty="0"/>
          </a:p>
        </p:txBody>
      </p:sp>
      <p:sp>
        <p:nvSpPr>
          <p:cNvPr id="12" name="Text 9"/>
          <p:cNvSpPr/>
          <p:nvPr/>
        </p:nvSpPr>
        <p:spPr>
          <a:xfrm>
            <a:off x="731520" y="2057400"/>
            <a:ext cx="5120640" cy="3383280"/>
          </a:xfrm>
          <a:prstGeom prst="rect">
            <a:avLst/>
          </a:prstGeom>
          <a:noFill/>
          <a:ln/>
        </p:spPr>
        <p:txBody>
          <a:bodyPr wrap="square" lIns="0" tIns="0" rIns="0" bIns="0" rtlCol="0" anchor="t"/>
          <a:lstStyle/>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Le </a:t>
            </a:r>
            <a:r>
              <a:rPr lang="en-US" sz="1300" b="1" dirty="0">
                <a:solidFill>
                  <a:srgbClr val="1F2A28"/>
                </a:solidFill>
                <a:latin typeface="Calibri" pitchFamily="34" charset="0"/>
                <a:ea typeface="Calibri" pitchFamily="34" charset="-122"/>
                <a:cs typeface="Calibri" pitchFamily="34" charset="-120"/>
              </a:rPr>
              <a:t>coût de lancement</a:t>
            </a:r>
            <a:r>
              <a:rPr lang="en-US" sz="1300" dirty="0">
                <a:solidFill>
                  <a:srgbClr val="1F2A28"/>
                </a:solidFill>
                <a:latin typeface="Calibri" pitchFamily="34" charset="0"/>
                <a:ea typeface="Calibri" pitchFamily="34" charset="-122"/>
                <a:cs typeface="Calibri" pitchFamily="34" charset="-120"/>
              </a:rPr>
              <a:t> d'une nouveauté</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La valeur du </a:t>
            </a:r>
            <a:r>
              <a:rPr lang="en-US" sz="1300" b="1" dirty="0">
                <a:solidFill>
                  <a:srgbClr val="1F2A28"/>
                </a:solidFill>
                <a:latin typeface="Calibri" pitchFamily="34" charset="0"/>
                <a:ea typeface="Calibri" pitchFamily="34" charset="-122"/>
                <a:cs typeface="Calibri" pitchFamily="34" charset="-120"/>
              </a:rPr>
              <a:t>stock dormant</a:t>
            </a:r>
            <a:r>
              <a:rPr lang="en-US" sz="1300" dirty="0">
                <a:solidFill>
                  <a:srgbClr val="1F2A28"/>
                </a:solidFill>
                <a:latin typeface="Calibri" pitchFamily="34" charset="0"/>
                <a:ea typeface="Calibri" pitchFamily="34" charset="-122"/>
                <a:cs typeface="Calibri" pitchFamily="34" charset="-120"/>
              </a:rPr>
              <a:t> : un inventaire</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La part des frais d'administration et d'informatique </a:t>
            </a:r>
            <a:r>
              <a:rPr lang="en-US" sz="1300" b="1" dirty="0">
                <a:solidFill>
                  <a:srgbClr val="1F2A28"/>
                </a:solidFill>
                <a:latin typeface="Calibri" pitchFamily="34" charset="0"/>
                <a:ea typeface="Calibri" pitchFamily="34" charset="-122"/>
                <a:cs typeface="Calibri" pitchFamily="34" charset="-120"/>
              </a:rPr>
              <a:t>économisable</a:t>
            </a:r>
            <a:r>
              <a:rPr lang="en-US" sz="1300" dirty="0">
                <a:solidFill>
                  <a:srgbClr val="1F2A28"/>
                </a:solidFill>
                <a:latin typeface="Calibri" pitchFamily="34" charset="0"/>
                <a:ea typeface="Calibri" pitchFamily="34" charset="-122"/>
                <a:cs typeface="Calibri" pitchFamily="34" charset="-120"/>
              </a:rPr>
              <a:t> par pays</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La date réelle de la </a:t>
            </a:r>
            <a:r>
              <a:rPr lang="en-US" sz="1300" b="1" dirty="0">
                <a:solidFill>
                  <a:srgbClr val="1F2A28"/>
                </a:solidFill>
                <a:latin typeface="Calibri" pitchFamily="34" charset="0"/>
                <a:ea typeface="Calibri" pitchFamily="34" charset="-122"/>
                <a:cs typeface="Calibri" pitchFamily="34" charset="-120"/>
              </a:rPr>
              <a:t>publicité des Fêtes</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L'</a:t>
            </a:r>
            <a:r>
              <a:rPr lang="en-US" sz="1300" b="1" dirty="0">
                <a:solidFill>
                  <a:srgbClr val="1F2A28"/>
                </a:solidFill>
                <a:latin typeface="Calibri" pitchFamily="34" charset="0"/>
                <a:ea typeface="Calibri" pitchFamily="34" charset="-122"/>
                <a:cs typeface="Calibri" pitchFamily="34" charset="-120"/>
              </a:rPr>
              <a:t>objectif commercial</a:t>
            </a:r>
            <a:r>
              <a:rPr lang="en-US" sz="1300" dirty="0">
                <a:solidFill>
                  <a:srgbClr val="1F2A28"/>
                </a:solidFill>
                <a:latin typeface="Calibri" pitchFamily="34" charset="0"/>
                <a:ea typeface="Calibri" pitchFamily="34" charset="-122"/>
                <a:cs typeface="Calibri" pitchFamily="34" charset="-120"/>
              </a:rPr>
              <a:t> des promotions, et la possibilité d'</a:t>
            </a:r>
            <a:r>
              <a:rPr lang="en-US" sz="1300" b="1" dirty="0">
                <a:solidFill>
                  <a:srgbClr val="1F2A28"/>
                </a:solidFill>
                <a:latin typeface="Calibri" pitchFamily="34" charset="0"/>
                <a:ea typeface="Calibri" pitchFamily="34" charset="-122"/>
                <a:cs typeface="Calibri" pitchFamily="34" charset="-120"/>
              </a:rPr>
              <a:t>essais pilotés</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Retours : revente à plein prix ? frais de traitement ?</a:t>
            </a:r>
            <a:endParaRPr lang="en-US" sz="1300" dirty="0"/>
          </a:p>
        </p:txBody>
      </p:sp>
      <p:sp>
        <p:nvSpPr>
          <p:cNvPr id="13" name="Shape 10"/>
          <p:cNvSpPr/>
          <p:nvPr/>
        </p:nvSpPr>
        <p:spPr>
          <a:xfrm>
            <a:off x="6309360" y="1463040"/>
            <a:ext cx="5303520" cy="4069080"/>
          </a:xfrm>
          <a:prstGeom prst="rect">
            <a:avLst/>
          </a:prstGeom>
          <a:solidFill>
            <a:srgbClr val="FBF3E4"/>
          </a:solidFill>
          <a:ln w="9525">
            <a:solidFill>
              <a:srgbClr val="CFE0DA"/>
            </a:solidFill>
            <a:prstDash val="solid"/>
          </a:ln>
        </p:spPr>
        <p:txBody>
          <a:bodyPr/>
          <a:lstStyle/>
          <a:p>
            <a:endParaRPr lang="en-US"/>
          </a:p>
        </p:txBody>
      </p:sp>
      <p:sp>
        <p:nvSpPr>
          <p:cNvPr id="14" name="Text 11"/>
          <p:cNvSpPr/>
          <p:nvPr/>
        </p:nvSpPr>
        <p:spPr>
          <a:xfrm>
            <a:off x="6492240" y="1572768"/>
            <a:ext cx="4937760" cy="411480"/>
          </a:xfrm>
          <a:prstGeom prst="rect">
            <a:avLst/>
          </a:prstGeom>
          <a:noFill/>
          <a:ln/>
        </p:spPr>
        <p:txBody>
          <a:bodyPr wrap="square" lIns="0" tIns="0" rIns="0" bIns="0" rtlCol="0" anchor="ctr"/>
          <a:lstStyle/>
          <a:p>
            <a:pPr marL="0" indent="0">
              <a:buNone/>
            </a:pPr>
            <a:r>
              <a:rPr lang="en-US" sz="1700" b="1" dirty="0">
                <a:solidFill>
                  <a:srgbClr val="17332E"/>
                </a:solidFill>
                <a:latin typeface="Cambria" pitchFamily="34" charset="0"/>
                <a:ea typeface="Cambria" pitchFamily="34" charset="-122"/>
                <a:cs typeface="Cambria" pitchFamily="34" charset="-120"/>
              </a:rPr>
              <a:t>Limites à garder en tête</a:t>
            </a:r>
            <a:endParaRPr lang="en-US" sz="1700" dirty="0"/>
          </a:p>
        </p:txBody>
      </p:sp>
      <p:sp>
        <p:nvSpPr>
          <p:cNvPr id="15" name="Text 12"/>
          <p:cNvSpPr/>
          <p:nvPr/>
        </p:nvSpPr>
        <p:spPr>
          <a:xfrm>
            <a:off x="6492240" y="2057400"/>
            <a:ext cx="4937760" cy="3383280"/>
          </a:xfrm>
          <a:prstGeom prst="rect">
            <a:avLst/>
          </a:prstGeom>
          <a:noFill/>
          <a:ln/>
        </p:spPr>
        <p:txBody>
          <a:bodyPr wrap="square" lIns="0" tIns="0" rIns="0" bIns="0" rtlCol="0" anchor="t"/>
          <a:lstStyle/>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Une ligne est un </a:t>
            </a:r>
            <a:r>
              <a:rPr lang="en-US" sz="1300" b="1" dirty="0">
                <a:solidFill>
                  <a:srgbClr val="1F2A28"/>
                </a:solidFill>
                <a:latin typeface="Calibri" pitchFamily="34" charset="0"/>
                <a:ea typeface="Calibri" pitchFamily="34" charset="-122"/>
                <a:cs typeface="Calibri" pitchFamily="34" charset="-120"/>
              </a:rPr>
              <a:t>cumul journalier</a:t>
            </a:r>
            <a:r>
              <a:rPr lang="en-US" sz="1300" dirty="0">
                <a:solidFill>
                  <a:srgbClr val="1F2A28"/>
                </a:solidFill>
                <a:latin typeface="Calibri" pitchFamily="34" charset="0"/>
                <a:ea typeface="Calibri" pitchFamily="34" charset="-122"/>
                <a:cs typeface="Calibri" pitchFamily="34" charset="-120"/>
              </a:rPr>
              <a:t> : ni client, ni ticket</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Ce qui ne varie pas </a:t>
            </a:r>
            <a:r>
              <a:rPr lang="en-US" sz="1300" b="1" dirty="0">
                <a:solidFill>
                  <a:srgbClr val="1F2A28"/>
                </a:solidFill>
                <a:latin typeface="Calibri" pitchFamily="34" charset="0"/>
                <a:ea typeface="Calibri" pitchFamily="34" charset="-122"/>
                <a:cs typeface="Calibri" pitchFamily="34" charset="-120"/>
              </a:rPr>
              <a:t>ne se mesure pas</a:t>
            </a:r>
            <a:r>
              <a:rPr lang="en-US" sz="1300" dirty="0">
                <a:solidFill>
                  <a:srgbClr val="1F2A28"/>
                </a:solidFill>
                <a:latin typeface="Calibri" pitchFamily="34" charset="0"/>
                <a:ea typeface="Calibri" pitchFamily="34" charset="-122"/>
                <a:cs typeface="Calibri" pitchFamily="34" charset="-120"/>
              </a:rPr>
              <a:t> : publicité, calendrier des promotions</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Le stock est un </a:t>
            </a:r>
            <a:r>
              <a:rPr lang="en-US" sz="1300" b="1" dirty="0">
                <a:solidFill>
                  <a:srgbClr val="1F2A28"/>
                </a:solidFill>
                <a:latin typeface="Calibri" pitchFamily="34" charset="0"/>
                <a:ea typeface="Calibri" pitchFamily="34" charset="-122"/>
                <a:cs typeface="Calibri" pitchFamily="34" charset="-120"/>
              </a:rPr>
              <a:t>relevé partiel</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Les ventes en ligne détaillées ne recoupent pas nos montants</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dirty="0">
                <a:solidFill>
                  <a:srgbClr val="1F2A28"/>
                </a:solidFill>
                <a:latin typeface="Calibri" pitchFamily="34" charset="0"/>
                <a:ea typeface="Calibri" pitchFamily="34" charset="-122"/>
                <a:cs typeface="Calibri" pitchFamily="34" charset="-120"/>
              </a:rPr>
              <a:t>Des gains en </a:t>
            </a:r>
            <a:r>
              <a:rPr lang="en-US" sz="1300" b="1" dirty="0">
                <a:solidFill>
                  <a:srgbClr val="1F2A28"/>
                </a:solidFill>
                <a:latin typeface="Calibri" pitchFamily="34" charset="0"/>
                <a:ea typeface="Calibri" pitchFamily="34" charset="-122"/>
                <a:cs typeface="Calibri" pitchFamily="34" charset="-120"/>
              </a:rPr>
              <a:t>ordres de grandeur</a:t>
            </a:r>
            <a:r>
              <a:rPr lang="en-US" sz="1300" dirty="0">
                <a:solidFill>
                  <a:srgbClr val="1F2A28"/>
                </a:solidFill>
                <a:latin typeface="Calibri" pitchFamily="34" charset="0"/>
                <a:ea typeface="Calibri" pitchFamily="34" charset="-122"/>
                <a:cs typeface="Calibri" pitchFamily="34" charset="-120"/>
              </a:rPr>
              <a:t>, qui ne s'additionnent pas exactement</a:t>
            </a:r>
            <a:endParaRPr lang="en-US" sz="1300" dirty="0"/>
          </a:p>
          <a:p>
            <a:pPr marL="0" indent="0">
              <a:spcAft>
                <a:spcPts val="800"/>
              </a:spcAft>
              <a:buNone/>
            </a:pPr>
            <a:r>
              <a:rPr lang="en-US" sz="1300" b="1" dirty="0">
                <a:solidFill>
                  <a:srgbClr val="2E5E55"/>
                </a:solidFill>
                <a:latin typeface="Calibri" pitchFamily="34" charset="0"/>
                <a:ea typeface="Calibri" pitchFamily="34" charset="-122"/>
                <a:cs typeface="Calibri" pitchFamily="34" charset="-120"/>
              </a:rPr>
              <a:t>•  </a:t>
            </a:r>
            <a:r>
              <a:rPr lang="en-US" sz="1300" b="1" dirty="0">
                <a:solidFill>
                  <a:srgbClr val="1F2A28"/>
                </a:solidFill>
                <a:latin typeface="Calibri" pitchFamily="34" charset="0"/>
                <a:ea typeface="Calibri" pitchFamily="34" charset="-122"/>
                <a:cs typeface="Calibri" pitchFamily="34" charset="-120"/>
              </a:rPr>
              <a:t>Trois exercices</a:t>
            </a:r>
            <a:r>
              <a:rPr lang="en-US" sz="1300" dirty="0">
                <a:solidFill>
                  <a:srgbClr val="1F2A28"/>
                </a:solidFill>
                <a:latin typeface="Calibri" pitchFamily="34" charset="0"/>
                <a:ea typeface="Calibri" pitchFamily="34" charset="-122"/>
                <a:cs typeface="Calibri" pitchFamily="34" charset="-120"/>
              </a:rPr>
              <a:t> : deux comparaisons d'une année à l'autre</a:t>
            </a:r>
            <a:endParaRPr lang="en-US" sz="1300" dirty="0"/>
          </a:p>
        </p:txBody>
      </p:sp>
      <p:sp>
        <p:nvSpPr>
          <p:cNvPr id="16" name="Shape 13"/>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7" name="Shape 14"/>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18" name="Text 15"/>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Nous donnons une </a:t>
            </a:r>
            <a:r>
              <a:rPr lang="en-US" sz="1500" b="1" dirty="0">
                <a:solidFill>
                  <a:srgbClr val="17332E"/>
                </a:solidFill>
                <a:latin typeface="Calibri" pitchFamily="34" charset="0"/>
                <a:ea typeface="Calibri" pitchFamily="34" charset="-122"/>
                <a:cs typeface="Calibri" pitchFamily="34" charset="-120"/>
              </a:rPr>
              <a:t>direction</a:t>
            </a:r>
            <a:r>
              <a:rPr lang="en-US" sz="1500" dirty="0">
                <a:solidFill>
                  <a:srgbClr val="17332E"/>
                </a:solidFill>
                <a:latin typeface="Calibri" pitchFamily="34" charset="0"/>
                <a:ea typeface="Calibri" pitchFamily="34" charset="-122"/>
                <a:cs typeface="Calibri" pitchFamily="34" charset="-120"/>
              </a:rPr>
              <a:t> et un </a:t>
            </a:r>
            <a:r>
              <a:rPr lang="en-US" sz="1500" b="1" dirty="0">
                <a:solidFill>
                  <a:srgbClr val="17332E"/>
                </a:solidFill>
                <a:latin typeface="Calibri" pitchFamily="34" charset="0"/>
                <a:ea typeface="Calibri" pitchFamily="34" charset="-122"/>
                <a:cs typeface="Calibri" pitchFamily="34" charset="-120"/>
              </a:rPr>
              <a:t>ordre de grandeur</a:t>
            </a:r>
            <a:r>
              <a:rPr lang="en-US" sz="1500" dirty="0">
                <a:solidFill>
                  <a:srgbClr val="17332E"/>
                </a:solidFill>
                <a:latin typeface="Calibri" pitchFamily="34" charset="0"/>
                <a:ea typeface="Calibri" pitchFamily="34" charset="-122"/>
                <a:cs typeface="Calibri" pitchFamily="34" charset="-120"/>
              </a:rPr>
              <a:t>. Plusieurs recommandations se terminent par « à tester ».</a:t>
            </a:r>
            <a:endParaRPr lang="en-US" sz="15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Yacine Lezoul</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5 · SYNTHÈSE ET SUITE</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Les notebooks passent à trois exercices, et nous proposons une version 4 du backlog</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Yacine Lezoul</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56</a:t>
            </a:r>
            <a:endParaRPr lang="en-US" sz="10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4937760" cy="3200400"/>
        </p:xfrm>
        <a:graphic>
          <a:graphicData uri="http://schemas.openxmlformats.org/drawingml/2006/table">
            <a:tbl>
              <a:tblPr/>
              <a:tblGrid>
                <a:gridCol w="1283818">
                  <a:extLst>
                    <a:ext uri="{9D8B030D-6E8A-4147-A177-3AD203B41FA5}">
                      <a16:colId xmlns:a16="http://schemas.microsoft.com/office/drawing/2014/main" val="20000"/>
                    </a:ext>
                  </a:extLst>
                </a:gridCol>
                <a:gridCol w="3653942">
                  <a:extLst>
                    <a:ext uri="{9D8B030D-6E8A-4147-A177-3AD203B41FA5}">
                      <a16:colId xmlns:a16="http://schemas.microsoft.com/office/drawing/2014/main" val="20001"/>
                    </a:ext>
                  </a:extLst>
                </a:gridCol>
              </a:tblGrid>
              <a:tr h="45720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Notebook</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Changement</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45720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00 à 05</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Trois exercices ; règle N8</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05b</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Charges lues </a:t>
                      </a:r>
                      <a:r>
                        <a:rPr lang="en-US" sz="1250" b="1" dirty="0">
                          <a:solidFill>
                            <a:srgbClr val="1F2A28"/>
                          </a:solidFill>
                          <a:latin typeface="Calibri" pitchFamily="34" charset="0"/>
                          <a:ea typeface="Calibri" pitchFamily="34" charset="-122"/>
                          <a:cs typeface="Calibri" pitchFamily="34" charset="-120"/>
                        </a:rPr>
                        <a:t>année par année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45720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05c</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F2A28"/>
                          </a:solidFill>
                          <a:latin typeface="Calibri" pitchFamily="34" charset="0"/>
                          <a:ea typeface="Calibri" pitchFamily="34" charset="-122"/>
                          <a:cs typeface="Calibri" pitchFamily="34" charset="-120"/>
                        </a:rPr>
                        <a:t>Nouveau</a:t>
                      </a:r>
                      <a:r>
                        <a:rPr lang="en-US" sz="1250" dirty="0">
                          <a:solidFill>
                            <a:srgbClr val="1F2A28"/>
                          </a:solidFill>
                          <a:latin typeface="Calibri" pitchFamily="34" charset="0"/>
                          <a:ea typeface="Calibri" pitchFamily="34" charset="-122"/>
                          <a:cs typeface="Calibri" pitchFamily="34" charset="-120"/>
                        </a:rPr>
                        <a:t> : stock et ventes en ligne détaillées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06b</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b="1" dirty="0">
                          <a:solidFill>
                            <a:srgbClr val="1F2A28"/>
                          </a:solidFill>
                          <a:latin typeface="Calibri" pitchFamily="34" charset="0"/>
                          <a:ea typeface="Calibri" pitchFamily="34" charset="-122"/>
                          <a:cs typeface="Calibri" pitchFamily="34" charset="-120"/>
                        </a:rPr>
                        <a:t>Nouveau</a:t>
                      </a:r>
                      <a:r>
                        <a:rPr lang="en-US" sz="1250" dirty="0">
                          <a:solidFill>
                            <a:srgbClr val="1F2A28"/>
                          </a:solidFill>
                          <a:latin typeface="Calibri" pitchFamily="34" charset="0"/>
                          <a:ea typeface="Calibri" pitchFamily="34" charset="-122"/>
                          <a:cs typeface="Calibri" pitchFamily="34" charset="-120"/>
                        </a:rPr>
                        <a:t> : la cause de la chute des ventes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4"/>
                  </a:ext>
                </a:extLst>
              </a:tr>
              <a:tr h="45720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06</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Rentabilité : pont du résultat, publicité, leviers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07, 08, 09</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Trois exercices ; gains nets ; priorités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6"/>
                  </a:ext>
                </a:extLst>
              </a:tr>
            </a:tbl>
          </a:graphicData>
        </a:graphic>
      </p:graphicFrame>
      <p:graphicFrame>
        <p:nvGraphicFramePr>
          <p:cNvPr id="113" name="Table 1"/>
          <p:cNvGraphicFramePr>
            <a:graphicFrameLocks noGrp="1"/>
          </p:cNvGraphicFramePr>
          <p:nvPr>
            <p:extLst>
              <p:ext uri="{D42A27DB-BD31-4B8C-83A1-F6EECF244321}">
                <p14:modId xmlns:p14="http://schemas.microsoft.com/office/powerpoint/2010/main" val="1579011935"/>
              </p:ext>
            </p:extLst>
          </p:nvPr>
        </p:nvGraphicFramePr>
        <p:xfrm>
          <a:off x="5760720" y="1463040"/>
          <a:ext cx="5852160" cy="3200400"/>
        </p:xfrm>
        <a:graphic>
          <a:graphicData uri="http://schemas.openxmlformats.org/drawingml/2006/table">
            <a:tbl>
              <a:tblPr/>
              <a:tblGrid>
                <a:gridCol w="29260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45720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Backlog, version 4 proposée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Changement</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457200">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Collecte (US04, US34), cause de la baisse (US38)</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F2A28"/>
                          </a:solidFill>
                          <a:latin typeface="Calibri" pitchFamily="34" charset="0"/>
                          <a:ea typeface="Calibri" pitchFamily="34" charset="-122"/>
                          <a:cs typeface="Calibri" pitchFamily="34" charset="-120"/>
                        </a:rPr>
                        <a:t>Terminées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Risque de retour (US28)</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b="1" dirty="0">
                          <a:solidFill>
                            <a:srgbClr val="1F2A28"/>
                          </a:solidFill>
                          <a:latin typeface="Calibri" pitchFamily="34" charset="0"/>
                          <a:ea typeface="Calibri" pitchFamily="34" charset="-122"/>
                          <a:cs typeface="Calibri" pitchFamily="34" charset="-120"/>
                        </a:rPr>
                        <a:t>Close</a:t>
                      </a:r>
                      <a:r>
                        <a:rPr lang="en-US" sz="1200" dirty="0">
                          <a:solidFill>
                            <a:srgbClr val="1F2A28"/>
                          </a:solidFill>
                          <a:latin typeface="Calibri" pitchFamily="34" charset="0"/>
                          <a:ea typeface="Calibri" pitchFamily="34" charset="-122"/>
                          <a:cs typeface="Calibri" pitchFamily="34" charset="-120"/>
                        </a:rPr>
                        <a:t> : pas mieux que le hasard</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457200">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Prévision des ventes (US23)</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Selon les nouveautés lancées, sur 36 mois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Modèle des charges (US40)</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b="1" dirty="0">
                          <a:solidFill>
                            <a:srgbClr val="1F2A28"/>
                          </a:solidFill>
                          <a:latin typeface="Calibri" pitchFamily="34" charset="0"/>
                          <a:ea typeface="Calibri" pitchFamily="34" charset="-122"/>
                          <a:cs typeface="Calibri" pitchFamily="34" charset="-120"/>
                        </a:rPr>
                        <a:t>Reformulée</a:t>
                      </a:r>
                      <a:r>
                        <a:rPr lang="en-US" sz="1200" dirty="0">
                          <a:solidFill>
                            <a:srgbClr val="1F2A28"/>
                          </a:solidFill>
                          <a:latin typeface="Calibri" pitchFamily="34" charset="0"/>
                          <a:ea typeface="Calibri" pitchFamily="34" charset="-122"/>
                          <a:cs typeface="Calibri" pitchFamily="34" charset="-120"/>
                        </a:rPr>
                        <a:t> : un compte de résultat selon les budgets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4"/>
                  </a:ext>
                </a:extLst>
              </a:tr>
              <a:tr h="457200">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Scénarios, renouvellement, essais, typologie</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Maintenues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200" b="1" dirty="0">
                          <a:solidFill>
                            <a:srgbClr val="1F2A28"/>
                          </a:solidFill>
                          <a:latin typeface="Calibri" pitchFamily="34" charset="0"/>
                          <a:ea typeface="Calibri" pitchFamily="34" charset="-122"/>
                          <a:cs typeface="Calibri" pitchFamily="34" charset="-120"/>
                        </a:rPr>
                        <a:t>Nouvelle</a:t>
                      </a:r>
                      <a:r>
                        <a:rPr lang="en-US" sz="1200" dirty="0">
                          <a:solidFill>
                            <a:srgbClr val="1F2A28"/>
                          </a:solidFill>
                          <a:latin typeface="Calibri" pitchFamily="34" charset="0"/>
                          <a:ea typeface="Calibri" pitchFamily="34" charset="-122"/>
                          <a:cs typeface="Calibri" pitchFamily="34" charset="-120"/>
                        </a:rPr>
                        <a:t> : départ des grands comptes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00" dirty="0">
                          <a:solidFill>
                            <a:srgbClr val="1F2A28"/>
                          </a:solidFill>
                          <a:latin typeface="Calibri" pitchFamily="34" charset="0"/>
                          <a:ea typeface="Calibri" pitchFamily="34" charset="-122"/>
                          <a:cs typeface="Calibri" pitchFamily="34" charset="-120"/>
                        </a:rPr>
                        <a:t>Repérer tôt un client qui réduit ses achats</a:t>
                      </a:r>
                      <a:endParaRPr lang="en-US" sz="120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6"/>
                  </a:ext>
                </a:extLst>
              </a:tr>
            </a:tbl>
          </a:graphicData>
        </a:graphic>
      </p:graphicFrame>
      <p:sp>
        <p:nvSpPr>
          <p:cNvPr id="12" name="Shape 7"/>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3" name="Shape 8"/>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14" name="Text 9"/>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Version 4 du backlog : une </a:t>
            </a:r>
            <a:r>
              <a:rPr lang="en-US" sz="1500" b="1" dirty="0">
                <a:solidFill>
                  <a:srgbClr val="17332E"/>
                </a:solidFill>
                <a:latin typeface="Calibri" pitchFamily="34" charset="0"/>
                <a:ea typeface="Calibri" pitchFamily="34" charset="-122"/>
                <a:cs typeface="Calibri" pitchFamily="34" charset="-120"/>
              </a:rPr>
              <a:t>proposition</a:t>
            </a:r>
            <a:r>
              <a:rPr lang="en-US" sz="1500" dirty="0">
                <a:solidFill>
                  <a:srgbClr val="17332E"/>
                </a:solidFill>
                <a:latin typeface="Calibri" pitchFamily="34" charset="0"/>
                <a:ea typeface="Calibri" pitchFamily="34" charset="-122"/>
                <a:cs typeface="Calibri" pitchFamily="34" charset="-120"/>
              </a:rPr>
              <a:t>, à valider par le Product Owner. Sprints et dates de remise </a:t>
            </a:r>
            <a:r>
              <a:rPr lang="en-US" sz="1500" b="1" dirty="0">
                <a:solidFill>
                  <a:srgbClr val="17332E"/>
                </a:solidFill>
                <a:latin typeface="Calibri" pitchFamily="34" charset="0"/>
                <a:ea typeface="Calibri" pitchFamily="34" charset="-122"/>
                <a:cs typeface="Calibri" pitchFamily="34" charset="-120"/>
              </a:rPr>
              <a:t>inchangés</a:t>
            </a:r>
            <a:r>
              <a:rPr lang="en-US" sz="1500" dirty="0">
                <a:solidFill>
                  <a:srgbClr val="17332E"/>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32520" y="201168"/>
            <a:ext cx="2907792" cy="384048"/>
          </a:xfrm>
          <a:prstGeom prst="roundRect">
            <a:avLst>
              <a:gd name="adj" fmla="val 19048"/>
            </a:avLst>
          </a:prstGeom>
          <a:solidFill>
            <a:srgbClr val="E9A23B"/>
          </a:solidFill>
          <a:ln w="12700">
            <a:solidFill>
              <a:srgbClr val="E9A23B"/>
            </a:solidFill>
            <a:prstDash val="solid"/>
          </a:ln>
        </p:spPr>
        <p:txBody>
          <a:bodyPr/>
          <a:lstStyle/>
          <a:p>
            <a:endParaRPr lang="en-US"/>
          </a:p>
        </p:txBody>
      </p:sp>
      <p:sp>
        <p:nvSpPr>
          <p:cNvPr id="3" name="Text 1"/>
          <p:cNvSpPr/>
          <p:nvPr/>
        </p:nvSpPr>
        <p:spPr>
          <a:xfrm>
            <a:off x="8732520" y="201168"/>
            <a:ext cx="2907792" cy="384048"/>
          </a:xfrm>
          <a:prstGeom prst="rect">
            <a:avLst/>
          </a:prstGeom>
          <a:noFill/>
          <a:ln/>
        </p:spPr>
        <p:txBody>
          <a:bodyPr wrap="square" lIns="0" tIns="0" rIns="0" bIns="0" rtlCol="0" anchor="ctr"/>
          <a:lstStyle/>
          <a:p>
            <a:pPr marL="0" indent="0" algn="ctr">
              <a:buNone/>
            </a:pPr>
            <a:r>
              <a:rPr lang="en-US" sz="1050" dirty="0">
                <a:solidFill>
                  <a:srgbClr val="17332E"/>
                </a:solidFill>
                <a:latin typeface="Calibri" pitchFamily="34" charset="0"/>
                <a:ea typeface="Calibri" pitchFamily="34" charset="-122"/>
                <a:cs typeface="Calibri" pitchFamily="34" charset="-120"/>
              </a:rPr>
              <a:t>Présenté par  </a:t>
            </a:r>
            <a:r>
              <a:rPr lang="en-US" sz="1300" b="1" dirty="0">
                <a:solidFill>
                  <a:srgbClr val="17332E"/>
                </a:solidFill>
                <a:latin typeface="Calibri" pitchFamily="34" charset="0"/>
                <a:ea typeface="Calibri" pitchFamily="34" charset="-122"/>
                <a:cs typeface="Calibri" pitchFamily="34" charset="-120"/>
              </a:rPr>
              <a:t>Yacine Lezoul</a:t>
            </a:r>
            <a:endParaRPr lang="en-US" sz="1050" dirty="0"/>
          </a:p>
        </p:txBody>
      </p:sp>
      <p:sp>
        <p:nvSpPr>
          <p:cNvPr id="4" name="Text 2"/>
          <p:cNvSpPr/>
          <p:nvPr/>
        </p:nvSpPr>
        <p:spPr>
          <a:xfrm>
            <a:off x="548640" y="320040"/>
            <a:ext cx="7315200" cy="274320"/>
          </a:xfrm>
          <a:prstGeom prst="rect">
            <a:avLst/>
          </a:prstGeom>
          <a:noFill/>
          <a:ln/>
        </p:spPr>
        <p:txBody>
          <a:bodyPr wrap="square" lIns="0" tIns="0" rIns="0" bIns="0" rtlCol="0" anchor="ctr"/>
          <a:lstStyle/>
          <a:p>
            <a:pPr marL="0" indent="0">
              <a:buNone/>
            </a:pPr>
            <a:r>
              <a:rPr lang="en-US" sz="1100" b="1" kern="0" spc="100" dirty="0">
                <a:solidFill>
                  <a:srgbClr val="E9A23B"/>
                </a:solidFill>
                <a:latin typeface="Calibri" pitchFamily="34" charset="0"/>
                <a:ea typeface="Calibri" pitchFamily="34" charset="-122"/>
                <a:cs typeface="Calibri" pitchFamily="34" charset="-120"/>
              </a:rPr>
              <a:t>5 · SYNTHÈSE ET SUITE</a:t>
            </a:r>
            <a:endParaRPr lang="en-US" sz="1100" dirty="0"/>
          </a:p>
        </p:txBody>
      </p:sp>
      <p:sp>
        <p:nvSpPr>
          <p:cNvPr id="5" name="Text 3"/>
          <p:cNvSpPr/>
          <p:nvPr/>
        </p:nvSpPr>
        <p:spPr>
          <a:xfrm>
            <a:off x="548640" y="640080"/>
            <a:ext cx="11064240" cy="658368"/>
          </a:xfrm>
          <a:prstGeom prst="rect">
            <a:avLst/>
          </a:prstGeom>
          <a:noFill/>
          <a:ln/>
        </p:spPr>
        <p:txBody>
          <a:bodyPr wrap="square" lIns="0" tIns="0" rIns="0" bIns="0" rtlCol="0" anchor="ctr">
            <a:normAutofit/>
          </a:bodyPr>
          <a:lstStyle/>
          <a:p>
            <a:pPr marL="0" indent="0">
              <a:buNone/>
            </a:pPr>
            <a:r>
              <a:rPr lang="en-US" sz="2800" b="1" dirty="0">
                <a:solidFill>
                  <a:srgbClr val="17332E"/>
                </a:solidFill>
                <a:latin typeface="Cambria" pitchFamily="34" charset="0"/>
                <a:ea typeface="Cambria" pitchFamily="34" charset="-122"/>
                <a:cs typeface="Cambria" pitchFamily="34" charset="-120"/>
              </a:rPr>
              <a:t>La suite pour l'UA3 : prédire et prescrire</a:t>
            </a:r>
            <a:endParaRPr lang="en-US" sz="2800" dirty="0"/>
          </a:p>
        </p:txBody>
      </p:sp>
      <p:sp>
        <p:nvSpPr>
          <p:cNvPr id="6" name="Text 4"/>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E6B68"/>
                </a:solidFill>
                <a:latin typeface="Calibri" pitchFamily="34" charset="0"/>
                <a:ea typeface="Calibri" pitchFamily="34" charset="-122"/>
                <a:cs typeface="Calibri" pitchFamily="34" charset="-120"/>
              </a:rPr>
              <a:t>Projet 4 · Analyse des ventes et retours · UA2</a:t>
            </a:r>
            <a:endParaRPr lang="en-US" sz="1000" dirty="0"/>
          </a:p>
        </p:txBody>
      </p:sp>
      <p:sp>
        <p:nvSpPr>
          <p:cNvPr id="7" name="Text 5"/>
          <p:cNvSpPr/>
          <p:nvPr/>
        </p:nvSpPr>
        <p:spPr>
          <a:xfrm>
            <a:off x="6675120" y="6400800"/>
            <a:ext cx="438912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Yacine Lezoul</a:t>
            </a:r>
            <a:endParaRPr lang="en-US" sz="1000" dirty="0"/>
          </a:p>
        </p:txBody>
      </p:sp>
      <p:sp>
        <p:nvSpPr>
          <p:cNvPr id="8" name="Text 6"/>
          <p:cNvSpPr/>
          <p:nvPr/>
        </p:nvSpPr>
        <p:spPr>
          <a:xfrm>
            <a:off x="11247120" y="6400800"/>
            <a:ext cx="411480" cy="274320"/>
          </a:xfrm>
          <a:prstGeom prst="rect">
            <a:avLst/>
          </a:prstGeom>
          <a:noFill/>
          <a:ln/>
        </p:spPr>
        <p:txBody>
          <a:bodyPr wrap="square" lIns="0" tIns="0" rIns="0" bIns="0" rtlCol="0" anchor="ctr"/>
          <a:lstStyle/>
          <a:p>
            <a:pPr marL="0" indent="0" algn="r">
              <a:buNone/>
            </a:pPr>
            <a:r>
              <a:rPr lang="en-US" sz="1000" dirty="0">
                <a:solidFill>
                  <a:srgbClr val="5E6B68"/>
                </a:solidFill>
                <a:latin typeface="Calibri" pitchFamily="34" charset="0"/>
                <a:ea typeface="Calibri" pitchFamily="34" charset="-122"/>
                <a:cs typeface="Calibri" pitchFamily="34" charset="-120"/>
              </a:rPr>
              <a:t>57</a:t>
            </a:r>
            <a:endParaRPr lang="en-US" sz="10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949440" cy="3328416"/>
        </p:xfrm>
        <a:graphic>
          <a:graphicData uri="http://schemas.openxmlformats.org/drawingml/2006/table">
            <a:tbl>
              <a:tblPr/>
              <a:tblGrid>
                <a:gridCol w="2501798">
                  <a:extLst>
                    <a:ext uri="{9D8B030D-6E8A-4147-A177-3AD203B41FA5}">
                      <a16:colId xmlns:a16="http://schemas.microsoft.com/office/drawing/2014/main" val="20000"/>
                    </a:ext>
                  </a:extLst>
                </a:gridCol>
                <a:gridCol w="4447642">
                  <a:extLst>
                    <a:ext uri="{9D8B030D-6E8A-4147-A177-3AD203B41FA5}">
                      <a16:colId xmlns:a16="http://schemas.microsoft.com/office/drawing/2014/main" val="20001"/>
                    </a:ext>
                  </a:extLst>
                </a:gridCol>
              </a:tblGrid>
              <a:tr h="475488">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Travail</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Ce qu'il apporte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17332E"/>
                    </a:solidFill>
                  </a:tcPr>
                </a:tc>
                <a:extLst>
                  <a:ext uri="{0D108BD9-81ED-4DB2-BD59-A6C34878D82A}">
                    <a16:rowId xmlns:a16="http://schemas.microsoft.com/office/drawing/2014/main" val="10000"/>
                  </a:ext>
                </a:extLst>
              </a:tr>
              <a:tr h="475488">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Prévision des ventes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Ventes de 2022 selon les nouveautés lancées, avec une fourchette</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Départ des grands comptes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Quelles entreprises clientes risquent de partir</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475488">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Typologie des magasins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Ce qui distingue les magasins bénéficiaires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Priorités de renouvellement</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Où lancer des nouveautés en premier</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4"/>
                  </a:ext>
                </a:extLst>
              </a:tr>
              <a:tr h="475488">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Simulateur de scénarios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Résultat selon les leviers actionnés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Plan d'essais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tc>
                  <a:txBody>
                    <a:bodyPr/>
                    <a:lstStyle/>
                    <a:p>
                      <a:pPr marL="0" indent="0" algn="l">
                        <a:buNone/>
                      </a:pPr>
                      <a:r>
                        <a:rPr lang="en-US" sz="1250" dirty="0">
                          <a:solidFill>
                            <a:srgbClr val="1F2A28"/>
                          </a:solidFill>
                          <a:latin typeface="Calibri" pitchFamily="34" charset="0"/>
                          <a:ea typeface="Calibri" pitchFamily="34" charset="-122"/>
                          <a:cs typeface="Calibri" pitchFamily="34" charset="-120"/>
                        </a:rPr>
                        <a:t>Quels magasins ou produits tester, combien de temps</a:t>
                      </a:r>
                      <a:endParaRPr lang="en-US" sz="1250" dirty="0">
                        <a:latin typeface="Calibri" charset="0"/>
                        <a:ea typeface="Calibri" charset="0"/>
                        <a:cs typeface="Calibri" charset="0"/>
                      </a:endParaRPr>
                    </a:p>
                  </a:txBody>
                  <a:tcPr marL="73152" marR="73152" marT="36576" marB="36576" anchor="ctr">
                    <a:lnL w="9525" cap="flat" cmpd="sng" algn="ctr">
                      <a:solidFill>
                        <a:srgbClr val="C9D8D3"/>
                      </a:solidFill>
                      <a:prstDash val="solid"/>
                      <a:round/>
                      <a:headEnd type="none" w="med" len="med"/>
                      <a:tailEnd type="none" w="med" len="med"/>
                    </a:lnL>
                    <a:lnR w="9525" cap="flat" cmpd="sng" algn="ctr">
                      <a:solidFill>
                        <a:srgbClr val="C9D8D3"/>
                      </a:solidFill>
                      <a:prstDash val="solid"/>
                      <a:round/>
                      <a:headEnd type="none" w="med" len="med"/>
                      <a:tailEnd type="none" w="med" len="med"/>
                    </a:lnR>
                    <a:lnT w="9525" cap="flat" cmpd="sng" algn="ctr">
                      <a:solidFill>
                        <a:srgbClr val="C9D8D3"/>
                      </a:solidFill>
                      <a:prstDash val="solid"/>
                      <a:round/>
                      <a:headEnd type="none" w="med" len="med"/>
                      <a:tailEnd type="none" w="med" len="med"/>
                    </a:lnT>
                    <a:lnB w="9525" cap="flat" cmpd="sng" algn="ctr">
                      <a:solidFill>
                        <a:srgbClr val="C9D8D3"/>
                      </a:solidFill>
                      <a:prstDash val="solid"/>
                      <a:round/>
                      <a:headEnd type="none" w="med" len="med"/>
                      <a:tailEnd type="none" w="med" len="med"/>
                    </a:lnB>
                    <a:solidFill>
                      <a:srgbClr val="F5F9F7"/>
                    </a:solidFill>
                  </a:tcPr>
                </a:tc>
                <a:extLst>
                  <a:ext uri="{0D108BD9-81ED-4DB2-BD59-A6C34878D82A}">
                    <a16:rowId xmlns:a16="http://schemas.microsoft.com/office/drawing/2014/main" val="10006"/>
                  </a:ext>
                </a:extLst>
              </a:tr>
            </a:tbl>
          </a:graphicData>
        </a:graphic>
      </p:graphicFrame>
      <p:sp>
        <p:nvSpPr>
          <p:cNvPr id="11" name="Shape 7"/>
          <p:cNvSpPr/>
          <p:nvPr/>
        </p:nvSpPr>
        <p:spPr>
          <a:xfrm>
            <a:off x="7772400" y="1463040"/>
            <a:ext cx="3840480" cy="1600200"/>
          </a:xfrm>
          <a:prstGeom prst="rect">
            <a:avLst/>
          </a:prstGeom>
          <a:solidFill>
            <a:srgbClr val="EAF2EF"/>
          </a:solidFill>
          <a:ln w="9525">
            <a:solidFill>
              <a:srgbClr val="CFE0DA"/>
            </a:solidFill>
            <a:prstDash val="solid"/>
          </a:ln>
        </p:spPr>
        <p:txBody>
          <a:bodyPr/>
          <a:lstStyle/>
          <a:p>
            <a:endParaRPr lang="en-US"/>
          </a:p>
        </p:txBody>
      </p:sp>
      <p:sp>
        <p:nvSpPr>
          <p:cNvPr id="12" name="Text 8"/>
          <p:cNvSpPr/>
          <p:nvPr/>
        </p:nvSpPr>
        <p:spPr>
          <a:xfrm>
            <a:off x="7955280" y="1572768"/>
            <a:ext cx="3474720" cy="411480"/>
          </a:xfrm>
          <a:prstGeom prst="rect">
            <a:avLst/>
          </a:prstGeom>
          <a:noFill/>
          <a:ln/>
        </p:spPr>
        <p:txBody>
          <a:bodyPr wrap="square" lIns="0" tIns="0" rIns="0" bIns="0" rtlCol="0" anchor="ctr"/>
          <a:lstStyle/>
          <a:p>
            <a:pPr marL="0" indent="0">
              <a:buNone/>
            </a:pPr>
            <a:r>
              <a:rPr lang="en-US" sz="1500" b="1" dirty="0">
                <a:solidFill>
                  <a:srgbClr val="17332E"/>
                </a:solidFill>
                <a:latin typeface="Cambria" pitchFamily="34" charset="0"/>
                <a:ea typeface="Cambria" pitchFamily="34" charset="-122"/>
                <a:cs typeface="Cambria" pitchFamily="34" charset="-120"/>
              </a:rPr>
              <a:t>Deux tableaux de bord</a:t>
            </a:r>
            <a:endParaRPr lang="en-US" sz="1500" dirty="0"/>
          </a:p>
        </p:txBody>
      </p:sp>
      <p:sp>
        <p:nvSpPr>
          <p:cNvPr id="13" name="Text 9"/>
          <p:cNvSpPr/>
          <p:nvPr/>
        </p:nvSpPr>
        <p:spPr>
          <a:xfrm>
            <a:off x="7955280" y="2057400"/>
            <a:ext cx="3474720" cy="914400"/>
          </a:xfrm>
          <a:prstGeom prst="rect">
            <a:avLst/>
          </a:prstGeom>
          <a:noFill/>
          <a:ln/>
        </p:spPr>
        <p:txBody>
          <a:bodyPr wrap="square" lIns="0" tIns="0" rIns="0" bIns="0" rtlCol="0" anchor="t"/>
          <a:lstStyle/>
          <a:p>
            <a:pPr marL="0" indent="0">
              <a:spcAft>
                <a:spcPts val="800"/>
              </a:spcAft>
              <a:buNone/>
            </a:pPr>
            <a:r>
              <a:rPr lang="en-US" sz="1250" b="1" dirty="0">
                <a:solidFill>
                  <a:srgbClr val="2E5E55"/>
                </a:solidFill>
                <a:latin typeface="Calibri" pitchFamily="34" charset="0"/>
                <a:ea typeface="Calibri" pitchFamily="34" charset="-122"/>
                <a:cs typeface="Calibri" pitchFamily="34" charset="-120"/>
              </a:rPr>
              <a:t>•  </a:t>
            </a:r>
            <a:r>
              <a:rPr lang="en-US" sz="1250" dirty="0">
                <a:solidFill>
                  <a:srgbClr val="1F2A28"/>
                </a:solidFill>
                <a:latin typeface="Calibri" pitchFamily="34" charset="0"/>
                <a:ea typeface="Calibri" pitchFamily="34" charset="-122"/>
                <a:cs typeface="Calibri" pitchFamily="34" charset="-120"/>
              </a:rPr>
              <a:t>Power BI et Streamlit, mêmes 4 pages : vue d'ensemble, assortiment, magasins et charges, simulateur</a:t>
            </a:r>
            <a:endParaRPr lang="en-US" sz="1250" dirty="0"/>
          </a:p>
        </p:txBody>
      </p:sp>
      <p:sp>
        <p:nvSpPr>
          <p:cNvPr id="14" name="Shape 10"/>
          <p:cNvSpPr/>
          <p:nvPr/>
        </p:nvSpPr>
        <p:spPr>
          <a:xfrm>
            <a:off x="7772400" y="3200400"/>
            <a:ext cx="3840480" cy="2331720"/>
          </a:xfrm>
          <a:prstGeom prst="rect">
            <a:avLst/>
          </a:prstGeom>
          <a:solidFill>
            <a:srgbClr val="EAF2EF"/>
          </a:solidFill>
          <a:ln w="9525">
            <a:solidFill>
              <a:srgbClr val="CFE0DA"/>
            </a:solidFill>
            <a:prstDash val="solid"/>
          </a:ln>
        </p:spPr>
        <p:txBody>
          <a:bodyPr/>
          <a:lstStyle/>
          <a:p>
            <a:endParaRPr lang="en-US"/>
          </a:p>
        </p:txBody>
      </p:sp>
      <p:sp>
        <p:nvSpPr>
          <p:cNvPr id="15" name="Text 11"/>
          <p:cNvSpPr/>
          <p:nvPr/>
        </p:nvSpPr>
        <p:spPr>
          <a:xfrm>
            <a:off x="7955280" y="3310128"/>
            <a:ext cx="3474720" cy="411480"/>
          </a:xfrm>
          <a:prstGeom prst="rect">
            <a:avLst/>
          </a:prstGeom>
          <a:noFill/>
          <a:ln/>
        </p:spPr>
        <p:txBody>
          <a:bodyPr wrap="square" lIns="0" tIns="0" rIns="0" bIns="0" rtlCol="0" anchor="ctr"/>
          <a:lstStyle/>
          <a:p>
            <a:pPr marL="0" indent="0">
              <a:buNone/>
            </a:pPr>
            <a:r>
              <a:rPr lang="en-US" sz="1500" b="1" dirty="0">
                <a:solidFill>
                  <a:srgbClr val="17332E"/>
                </a:solidFill>
                <a:latin typeface="Cambria" pitchFamily="34" charset="0"/>
                <a:ea typeface="Cambria" pitchFamily="34" charset="-122"/>
                <a:cs typeface="Cambria" pitchFamily="34" charset="-120"/>
              </a:rPr>
              <a:t>Trois précautions</a:t>
            </a:r>
            <a:endParaRPr lang="en-US" sz="1500" dirty="0"/>
          </a:p>
        </p:txBody>
      </p:sp>
      <p:sp>
        <p:nvSpPr>
          <p:cNvPr id="16" name="Text 12"/>
          <p:cNvSpPr/>
          <p:nvPr/>
        </p:nvSpPr>
        <p:spPr>
          <a:xfrm>
            <a:off x="7955280" y="3794760"/>
            <a:ext cx="3474720" cy="1645920"/>
          </a:xfrm>
          <a:prstGeom prst="rect">
            <a:avLst/>
          </a:prstGeom>
          <a:noFill/>
          <a:ln/>
        </p:spPr>
        <p:txBody>
          <a:bodyPr wrap="square" lIns="0" tIns="0" rIns="0" bIns="0" rtlCol="0" anchor="t"/>
          <a:lstStyle/>
          <a:p>
            <a:pPr marL="0" indent="0">
              <a:spcAft>
                <a:spcPts val="800"/>
              </a:spcAft>
              <a:buNone/>
            </a:pPr>
            <a:r>
              <a:rPr lang="en-US" sz="1250" b="1" dirty="0">
                <a:solidFill>
                  <a:srgbClr val="2E5E55"/>
                </a:solidFill>
                <a:latin typeface="Calibri" pitchFamily="34" charset="0"/>
                <a:ea typeface="Calibri" pitchFamily="34" charset="-122"/>
                <a:cs typeface="Calibri" pitchFamily="34" charset="-120"/>
              </a:rPr>
              <a:t>•  </a:t>
            </a:r>
            <a:r>
              <a:rPr lang="en-US" sz="1250" b="1" dirty="0">
                <a:solidFill>
                  <a:srgbClr val="1F2A28"/>
                </a:solidFill>
                <a:latin typeface="Calibri" pitchFamily="34" charset="0"/>
                <a:ea typeface="Calibri" pitchFamily="34" charset="-122"/>
                <a:cs typeface="Calibri" pitchFamily="34" charset="-120"/>
              </a:rPr>
              <a:t>Prévoir n'est pas simuler</a:t>
            </a:r>
            <a:endParaRPr lang="en-US" sz="1250" dirty="0"/>
          </a:p>
          <a:p>
            <a:pPr marL="0" indent="0">
              <a:spcAft>
                <a:spcPts val="800"/>
              </a:spcAft>
              <a:buNone/>
            </a:pPr>
            <a:r>
              <a:rPr lang="en-US" sz="1250" b="1" dirty="0">
                <a:solidFill>
                  <a:srgbClr val="2E5E55"/>
                </a:solidFill>
                <a:latin typeface="Calibri" pitchFamily="34" charset="0"/>
                <a:ea typeface="Calibri" pitchFamily="34" charset="-122"/>
                <a:cs typeface="Calibri" pitchFamily="34" charset="-120"/>
              </a:rPr>
              <a:t>•  </a:t>
            </a:r>
            <a:r>
              <a:rPr lang="en-US" sz="1250" dirty="0">
                <a:solidFill>
                  <a:srgbClr val="1F2A28"/>
                </a:solidFill>
                <a:latin typeface="Calibri" pitchFamily="34" charset="0"/>
                <a:ea typeface="Calibri" pitchFamily="34" charset="-122"/>
                <a:cs typeface="Calibri" pitchFamily="34" charset="-120"/>
              </a:rPr>
              <a:t>Chaque prévision comparée à une </a:t>
            </a:r>
            <a:r>
              <a:rPr lang="en-US" sz="1250" b="1" dirty="0">
                <a:solidFill>
                  <a:srgbClr val="1F2A28"/>
                </a:solidFill>
                <a:latin typeface="Calibri" pitchFamily="34" charset="0"/>
                <a:ea typeface="Calibri" pitchFamily="34" charset="-122"/>
                <a:cs typeface="Calibri" pitchFamily="34" charset="-120"/>
              </a:rPr>
              <a:t>référence naïve</a:t>
            </a:r>
            <a:endParaRPr lang="en-US" sz="1250" dirty="0"/>
          </a:p>
          <a:p>
            <a:pPr marL="0" indent="0">
              <a:spcAft>
                <a:spcPts val="800"/>
              </a:spcAft>
              <a:buNone/>
            </a:pPr>
            <a:r>
              <a:rPr lang="en-US" sz="1250" b="1" dirty="0">
                <a:solidFill>
                  <a:srgbClr val="2E5E55"/>
                </a:solidFill>
                <a:latin typeface="Calibri" pitchFamily="34" charset="0"/>
                <a:ea typeface="Calibri" pitchFamily="34" charset="-122"/>
                <a:cs typeface="Calibri" pitchFamily="34" charset="-120"/>
              </a:rPr>
              <a:t>•  </a:t>
            </a:r>
            <a:r>
              <a:rPr lang="en-US" sz="1250" dirty="0">
                <a:solidFill>
                  <a:srgbClr val="1F2A28"/>
                </a:solidFill>
                <a:latin typeface="Calibri" pitchFamily="34" charset="0"/>
                <a:ea typeface="Calibri" pitchFamily="34" charset="-122"/>
                <a:cs typeface="Calibri" pitchFamily="34" charset="-120"/>
              </a:rPr>
              <a:t>Raisonner sur les </a:t>
            </a:r>
            <a:r>
              <a:rPr lang="en-US" sz="1250" b="1" dirty="0">
                <a:solidFill>
                  <a:srgbClr val="1F2A28"/>
                </a:solidFill>
                <a:latin typeface="Calibri" pitchFamily="34" charset="0"/>
                <a:ea typeface="Calibri" pitchFamily="34" charset="-122"/>
                <a:cs typeface="Calibri" pitchFamily="34" charset="-120"/>
              </a:rPr>
              <a:t>charges de personnel</a:t>
            </a:r>
            <a:r>
              <a:rPr lang="en-US" sz="1250" dirty="0">
                <a:solidFill>
                  <a:srgbClr val="1F2A28"/>
                </a:solidFill>
                <a:latin typeface="Calibri" pitchFamily="34" charset="0"/>
                <a:ea typeface="Calibri" pitchFamily="34" charset="-122"/>
                <a:cs typeface="Calibri" pitchFamily="34" charset="-120"/>
              </a:rPr>
              <a:t>, pas sur l'effectif</a:t>
            </a:r>
            <a:endParaRPr lang="en-US" sz="1250" dirty="0"/>
          </a:p>
        </p:txBody>
      </p:sp>
      <p:sp>
        <p:nvSpPr>
          <p:cNvPr id="17" name="Shape 13"/>
          <p:cNvSpPr/>
          <p:nvPr/>
        </p:nvSpPr>
        <p:spPr>
          <a:xfrm>
            <a:off x="548640" y="5669280"/>
            <a:ext cx="11064240" cy="548640"/>
          </a:xfrm>
          <a:prstGeom prst="rect">
            <a:avLst/>
          </a:prstGeom>
          <a:solidFill>
            <a:srgbClr val="EAF2EF"/>
          </a:solidFill>
          <a:ln w="12700">
            <a:solidFill>
              <a:srgbClr val="EAF2EF"/>
            </a:solidFill>
            <a:prstDash val="solid"/>
          </a:ln>
        </p:spPr>
        <p:txBody>
          <a:bodyPr/>
          <a:lstStyle/>
          <a:p>
            <a:endParaRPr lang="en-US"/>
          </a:p>
        </p:txBody>
      </p:sp>
      <p:sp>
        <p:nvSpPr>
          <p:cNvPr id="18" name="Shape 14"/>
          <p:cNvSpPr/>
          <p:nvPr/>
        </p:nvSpPr>
        <p:spPr>
          <a:xfrm>
            <a:off x="548640" y="5669280"/>
            <a:ext cx="73152" cy="548640"/>
          </a:xfrm>
          <a:prstGeom prst="rect">
            <a:avLst/>
          </a:prstGeom>
          <a:solidFill>
            <a:srgbClr val="E9A23B"/>
          </a:solidFill>
          <a:ln w="12700">
            <a:solidFill>
              <a:srgbClr val="E9A23B"/>
            </a:solidFill>
            <a:prstDash val="solid"/>
          </a:ln>
        </p:spPr>
        <p:txBody>
          <a:bodyPr/>
          <a:lstStyle/>
          <a:p>
            <a:endParaRPr lang="en-US"/>
          </a:p>
        </p:txBody>
      </p:sp>
      <p:sp>
        <p:nvSpPr>
          <p:cNvPr id="19" name="Text 15"/>
          <p:cNvSpPr/>
          <p:nvPr/>
        </p:nvSpPr>
        <p:spPr>
          <a:xfrm>
            <a:off x="777240" y="5669280"/>
            <a:ext cx="10698480" cy="548640"/>
          </a:xfrm>
          <a:prstGeom prst="rect">
            <a:avLst/>
          </a:prstGeom>
          <a:noFill/>
          <a:ln/>
        </p:spPr>
        <p:txBody>
          <a:bodyPr wrap="square" lIns="0" tIns="0" rIns="0" bIns="0" rtlCol="0" anchor="ctr"/>
          <a:lstStyle/>
          <a:p>
            <a:pPr marL="0" indent="0">
              <a:buNone/>
            </a:pPr>
            <a:r>
              <a:rPr lang="en-US" sz="1500" dirty="0">
                <a:solidFill>
                  <a:srgbClr val="17332E"/>
                </a:solidFill>
                <a:latin typeface="Calibri" pitchFamily="34" charset="0"/>
                <a:ea typeface="Calibri" pitchFamily="34" charset="-122"/>
                <a:cs typeface="Calibri" pitchFamily="34" charset="-120"/>
              </a:rPr>
              <a:t>Prédire et prescrire, </a:t>
            </a:r>
            <a:r>
              <a:rPr lang="en-US" sz="1500" b="1" dirty="0">
                <a:solidFill>
                  <a:srgbClr val="17332E"/>
                </a:solidFill>
                <a:latin typeface="Calibri" pitchFamily="34" charset="0"/>
                <a:ea typeface="Calibri" pitchFamily="34" charset="-122"/>
                <a:cs typeface="Calibri" pitchFamily="34" charset="-120"/>
              </a:rPr>
              <a:t>à partir de ce que l'analyse a établi</a:t>
            </a:r>
            <a:r>
              <a:rPr lang="en-US" sz="1500" dirty="0">
                <a:solidFill>
                  <a:srgbClr val="17332E"/>
                </a:solidFill>
                <a:latin typeface="Calibri" pitchFamily="34" charset="0"/>
                <a:ea typeface="Calibri" pitchFamily="34" charset="-122"/>
                <a:cs typeface="Calibri" pitchFamily="34" charset="-120"/>
              </a:rPr>
              <a:t> : l'assortiment et les charges d'abord.</a:t>
            </a:r>
            <a:endParaRPr lang="en-US" sz="15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7332E"/>
        </a:solidFill>
        <a:effectLst/>
      </p:bgPr>
    </p:bg>
    <p:spTree>
      <p:nvGrpSpPr>
        <p:cNvPr id="1" name=""/>
        <p:cNvGrpSpPr/>
        <p:nvPr/>
      </p:nvGrpSpPr>
      <p:grpSpPr>
        <a:xfrm>
          <a:off x="0" y="0"/>
          <a:ext cx="0" cy="0"/>
          <a:chOff x="0" y="0"/>
          <a:chExt cx="0" cy="0"/>
        </a:xfrm>
      </p:grpSpPr>
      <p:sp>
        <p:nvSpPr>
          <p:cNvPr id="2" name="Text 0"/>
          <p:cNvSpPr/>
          <p:nvPr/>
        </p:nvSpPr>
        <p:spPr>
          <a:xfrm>
            <a:off x="731520" y="1463040"/>
            <a:ext cx="10058400" cy="365760"/>
          </a:xfrm>
          <a:prstGeom prst="rect">
            <a:avLst/>
          </a:prstGeom>
          <a:noFill/>
          <a:ln/>
        </p:spPr>
        <p:txBody>
          <a:bodyPr wrap="square" lIns="0" tIns="0" rIns="0" bIns="0" rtlCol="0" anchor="ctr"/>
          <a:lstStyle/>
          <a:p>
            <a:pPr marL="0" indent="0">
              <a:buNone/>
            </a:pPr>
            <a:r>
              <a:rPr lang="en-US" sz="1400" b="1" kern="0" spc="100" dirty="0">
                <a:solidFill>
                  <a:srgbClr val="E9A23B"/>
                </a:solidFill>
                <a:latin typeface="Calibri" pitchFamily="34" charset="0"/>
                <a:ea typeface="Calibri" pitchFamily="34" charset="-122"/>
                <a:cs typeface="Calibri" pitchFamily="34" charset="-120"/>
              </a:rPr>
              <a:t>PROJET 4 · UNITÉ D'APPRENTISSAGE 2</a:t>
            </a:r>
            <a:endParaRPr lang="en-US" sz="1400" dirty="0"/>
          </a:p>
        </p:txBody>
      </p:sp>
      <p:sp>
        <p:nvSpPr>
          <p:cNvPr id="3" name="Text 1"/>
          <p:cNvSpPr/>
          <p:nvPr/>
        </p:nvSpPr>
        <p:spPr>
          <a:xfrm>
            <a:off x="731520" y="2011680"/>
            <a:ext cx="10789920" cy="109728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Vos questions ?</a:t>
            </a:r>
            <a:endParaRPr lang="en-US" sz="5400" dirty="0"/>
          </a:p>
        </p:txBody>
      </p:sp>
      <p:sp>
        <p:nvSpPr>
          <p:cNvPr id="4" name="Text 2"/>
          <p:cNvSpPr/>
          <p:nvPr/>
        </p:nvSpPr>
        <p:spPr>
          <a:xfrm>
            <a:off x="731520" y="3291840"/>
            <a:ext cx="10789920" cy="457200"/>
          </a:xfrm>
          <a:prstGeom prst="rect">
            <a:avLst/>
          </a:prstGeom>
          <a:noFill/>
          <a:ln/>
        </p:spPr>
        <p:txBody>
          <a:bodyPr wrap="square" lIns="0" tIns="0" rIns="0" bIns="0" rtlCol="0" anchor="ctr"/>
          <a:lstStyle/>
          <a:p>
            <a:pPr marL="0" indent="0">
              <a:buNone/>
            </a:pPr>
            <a:r>
              <a:rPr lang="en-US" sz="2000" dirty="0">
                <a:solidFill>
                  <a:srgbClr val="CFE0DA"/>
                </a:solidFill>
                <a:latin typeface="Calibri" pitchFamily="34" charset="0"/>
                <a:ea typeface="Calibri" pitchFamily="34" charset="-122"/>
                <a:cs typeface="Calibri" pitchFamily="34" charset="-120"/>
              </a:rPr>
              <a:t>L'assortiment et les charges d'abord ; promotions, remises et retours ensuite.</a:t>
            </a:r>
            <a:endParaRPr lang="en-US" sz="2000" dirty="0"/>
          </a:p>
        </p:txBody>
      </p:sp>
      <p:sp>
        <p:nvSpPr>
          <p:cNvPr id="5" name="Text 3"/>
          <p:cNvSpPr/>
          <p:nvPr/>
        </p:nvSpPr>
        <p:spPr>
          <a:xfrm>
            <a:off x="731520" y="4297680"/>
            <a:ext cx="10789920" cy="73152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Yacine Lezoul (Product Owner) · Achraf Chihab (Scrum Master)</a:t>
            </a:r>
            <a:endParaRPr lang="en-US" sz="1500" dirty="0"/>
          </a:p>
          <a:p>
            <a:pPr marL="0" indent="0">
              <a:buNone/>
            </a:pPr>
            <a:r>
              <a:rPr lang="en-US" sz="1500" dirty="0">
                <a:solidFill>
                  <a:srgbClr val="FFFFFF"/>
                </a:solidFill>
                <a:latin typeface="Calibri" pitchFamily="34" charset="0"/>
                <a:ea typeface="Calibri" pitchFamily="34" charset="-122"/>
                <a:cs typeface="Calibri" pitchFamily="34" charset="-120"/>
              </a:rPr>
              <a:t>Barnabe Landry Evouna · Mouncif Bouchachi</a:t>
            </a:r>
            <a:endParaRPr lang="en-US" sz="1500" dirty="0"/>
          </a:p>
        </p:txBody>
      </p:sp>
      <p:sp>
        <p:nvSpPr>
          <p:cNvPr id="6" name="Text 4"/>
          <p:cNvSpPr/>
          <p:nvPr/>
        </p:nvSpPr>
        <p:spPr>
          <a:xfrm>
            <a:off x="731520" y="5852160"/>
            <a:ext cx="10789920" cy="320040"/>
          </a:xfrm>
          <a:prstGeom prst="rect">
            <a:avLst/>
          </a:prstGeom>
          <a:noFill/>
          <a:ln/>
        </p:spPr>
        <p:txBody>
          <a:bodyPr wrap="square" lIns="0" tIns="0" rIns="0" bIns="0" rtlCol="0" anchor="ctr"/>
          <a:lstStyle/>
          <a:p>
            <a:pPr marL="0" indent="0">
              <a:buNone/>
            </a:pPr>
            <a:r>
              <a:rPr lang="en-US" sz="1300" dirty="0">
                <a:solidFill>
                  <a:srgbClr val="9DB8AF"/>
                </a:solidFill>
                <a:latin typeface="Calibri" pitchFamily="34" charset="0"/>
                <a:ea typeface="Calibri" pitchFamily="34" charset="-122"/>
                <a:cs typeface="Calibri" pitchFamily="34" charset="-120"/>
              </a:rPr>
              <a:t>Merci de votre attention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513b79f-ce8d-43d6-b7e5-c12d3e236916}" enabled="1" method="Standard" siteId="{ad8a84ef-f1f3-4b14-ad08-b99ca66f7e30}" contentBits="0" removed="0"/>
</clbl:labelList>
</file>

<file path=docProps/app.xml><?xml version="1.0" encoding="utf-8"?>
<Properties xmlns="http://schemas.openxmlformats.org/officeDocument/2006/extended-properties" xmlns:vt="http://schemas.openxmlformats.org/officeDocument/2006/docPropsVTypes">
  <TotalTime>7</TotalTime>
  <Words>24324</Words>
  <Application>Microsoft Office PowerPoint</Application>
  <PresentationFormat>Grand écran</PresentationFormat>
  <Paragraphs>1798</Paragraphs>
  <Slides>58</Slides>
  <Notes>58</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58</vt:i4>
      </vt:variant>
    </vt:vector>
  </HeadingPairs>
  <TitlesOfParts>
    <vt:vector size="62"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4 · UA2 · Diagnostic, nettoyage et analyse (version du 8 octobre)</dc:title>
  <dc:subject>PptxGenJS Presentation</dc:subject>
  <dc:creator>Équipe du projet 4</dc:creator>
  <cp:lastModifiedBy>Yacine- Sid Ahmed Lezoul</cp:lastModifiedBy>
  <cp:revision>1</cp:revision>
  <dcterms:created xsi:type="dcterms:W3CDTF">2026-10-09T01:45:13Z</dcterms:created>
  <dcterms:modified xsi:type="dcterms:W3CDTF">2026-10-09T01:53:34Z</dcterms:modified>
</cp:coreProperties>
</file>