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17332E"/>
                </a:solidFill>
                <a:latin typeface="Calibri"/>
              </a:defRPr>
            </a:pPr>
            <a:r>
              <a:rPr lang="fr-FR" sz="1400" b="0" i="0" u="none" strike="noStrike">
                <a:solidFill>
                  <a:srgbClr val="17332E"/>
                </a:solidFill>
                <a:latin typeface="Calibri"/>
              </a:rPr>
              <a:t>Effort estimé par sprint (heures)</a:t>
            </a:r>
          </a:p>
        </c:rich>
      </c:tx>
      <c:overlay val="0"/>
    </c:title>
    <c:autoTitleDeleted val="0"/>
    <c:plotArea>
      <c:layout/>
      <c:barChart>
        <c:barDir val="col"/>
        <c:grouping val="clustered"/>
        <c:varyColors val="0"/>
        <c:ser>
          <c:idx val="0"/>
          <c:order val="0"/>
          <c:tx>
            <c:strRef>
              <c:f>Sheet1!$B$1</c:f>
              <c:strCache>
                <c:ptCount val="1"/>
                <c:pt idx="0">
                  <c:v>Heures</c:v>
                </c:pt>
              </c:strCache>
            </c:strRef>
          </c:tx>
          <c:spPr>
            <a:solidFill>
              <a:srgbClr val="2E5E55"/>
            </a:solidFill>
            <a:effectLst/>
          </c:spPr>
          <c:invertIfNegative val="0"/>
          <c:dLbls>
            <c:numFmt formatCode="#,##0" sourceLinked="0"/>
            <c:spPr>
              <a:noFill/>
              <a:ln>
                <a:noFill/>
              </a:ln>
              <a:effectLst/>
            </c:spPr>
            <c:txPr>
              <a:bodyPr/>
              <a:lstStyle/>
              <a:p>
                <a:pPr>
                  <a:defRPr sz="1200" b="0" i="0" u="none" strike="noStrike">
                    <a:solidFill>
                      <a:srgbClr val="1F2A2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S0</c:v>
                </c:pt>
                <c:pt idx="1">
                  <c:v>S1</c:v>
                </c:pt>
                <c:pt idx="2">
                  <c:v>S2</c:v>
                </c:pt>
                <c:pt idx="3">
                  <c:v>S3</c:v>
                </c:pt>
                <c:pt idx="4">
                  <c:v>S4</c:v>
                </c:pt>
                <c:pt idx="5">
                  <c:v>S5</c:v>
                </c:pt>
                <c:pt idx="6">
                  <c:v>S6</c:v>
                </c:pt>
              </c:strCache>
            </c:strRef>
          </c:cat>
          <c:val>
            <c:numRef>
              <c:f>Sheet1!$B$2:$B$8</c:f>
              <c:numCache>
                <c:formatCode>General</c:formatCode>
                <c:ptCount val="7"/>
                <c:pt idx="0">
                  <c:v>55</c:v>
                </c:pt>
                <c:pt idx="1">
                  <c:v>32.5</c:v>
                </c:pt>
                <c:pt idx="2">
                  <c:v>25.5</c:v>
                </c:pt>
                <c:pt idx="3">
                  <c:v>22.5</c:v>
                </c:pt>
                <c:pt idx="4">
                  <c:v>52</c:v>
                </c:pt>
                <c:pt idx="5">
                  <c:v>75.5</c:v>
                </c:pt>
                <c:pt idx="6">
                  <c:v>19.5</c:v>
                </c:pt>
              </c:numCache>
            </c:numRef>
          </c:val>
          <c:extLst>
            <c:ext xmlns:c16="http://schemas.microsoft.com/office/drawing/2014/chart" uri="{C3380CC4-5D6E-409C-BE32-E72D297353CC}">
              <c16:uniqueId val="{00000000-4DC7-40B6-AC5D-E99C5500F11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8"/>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E3EBE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7006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Yacine : présentation de l'équipe et du sujet. Annoncer le plan : données et manques, stratégie de collecte, approche analytique, phases, backlog et organisation Scrum.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Achraf : présenter les rôles. Préciser que la répartition détaillée des tâches est dans le backlog.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Yacine : insister sur le choix de la marge en valeur plutôt qu'en taux. Un taux de marge peut baisser alors que la marge totale augmente grâce au volume.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Yacine : lire les questions. Colonne de droite : comment nous allons les mesurer. Transition vers les données : pour répondre, il faut savoir ce que nos données permettent.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Barnabé : la marge brute est calculable (Montant des ventes moins Coût total). Par contre, les identifiants ne renvoient à aucune description : on sait quelle boutique vend, pas pourquoi.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Barnabé : ces manques ont été communiqués au professeur. Sans action, la moitié des questions resterait descriptive.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Lamoussa : la démarche en quatre étapes. Les données brutes ne sont jamais modifiées : tout ce qui est nettoyé est écrit dans data/clean.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Lamoussa : seule la date diffère, décalée de 12 ans. Conséquence : toutes les tables de dimension se joignent directement, et leurs dates (promotions, ouverture des boutiques) doivent être réalignées de 12 ans. Autre observation : une vente peut porter une promotion sans remise.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Mouncif : nos fichiers ne contiennent que trois clés, mais la base en révèle davantage. DimGeography et la hiérarchie produit ne se relient que par DimStore et DimProduct. Le canal et la devise, absents de nos fichiers, se récupèrent grâce à IdVente = SalesKey.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Mouncif : chaque table retenue sert au moins une question. La hiérarchie produit est la plus utile : elle permet d'analyser la performance, les promotions et les retours par catégorie, ce qui était impossible avec les seuls identifiants.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Robert : résultats du notebook 00_inventaire, qui lit les données brutes sans les modifier. Insister sur la qualité (100 % de correspondance, aucun doublon, aucun échec de conversion) et sur la limite principale : les T4 manquent, donc pas de saisonnalité des Fêtes.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Yacine : ces préparatifs du sprint 0 garantissent que tout le monde travaille dans les mêmes conditions et que les résultats sont reproductibles. La charte graphique assure des visuels homogènes dans les notebooks, les rapports et les présentations.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Mouncif : chaque question est traitée à plusieurs niveaux. Exemple Q5 : on décrit la marge par tranche de remise, on modélise la réaction du volume, puis on calcule la remise optimale sous contraintes (budget, volume minimal, taux de retour maximal).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Achraf : quatre phases, chacune se termine par une remise. La phase d'analyse pèse 35 % : c'est là que nous concentrons le plus de temps.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Achraf : sprints de deux semaines, sauf les sprints 3 et 6 qui durent une semaine pour tomber sur les dates de remise. Le 12 octobre (Action de grâce) est pris en compte.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Achraf : chaque tâche a une estimation en heures, un outil, un responsable et une date de fin. Le sprint 5 est le plus chargé : un point de mi-sprint est prévu pour réajuster.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Robert : montrer la logique de découpage. Toutes les tâches font entre 0,5 et 5 heures, ce qui permet un suivi quotidien au Daily.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Achraf : le rythme des cérémonies et la Definition of Done. Excel et Power BI servent à explorer d'autres modes de visualisation, le reste est en Python.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Robert : un notebook par responsable pour éviter les conflits Git, le code partagé est dans src/, les sorties sont retirées avant chaque commit avec nbstripout.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Mouncif : chaque limite des données a une parade prévue dans le backlog. Montrer que l'équipe sait ce que les données permettent ou non de conclure.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Yacine : conclusion et ouverture aux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livrables/L1_L2_phases_backlog/L1_phases_projet.md"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livrables/L1_L2_phases_backlog/L2_backlog_taches.xlsx" TargetMode="Externa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32E"/>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ctr"/>
          <a:lstStyle/>
          <a:p>
            <a:pPr marL="0" indent="0">
              <a:buNone/>
            </a:pPr>
            <a:r>
              <a:rPr lang="en-US" sz="1400" b="1" kern="0" spc="300" dirty="0">
                <a:solidFill>
                  <a:srgbClr val="E9A23B"/>
                </a:solidFill>
                <a:latin typeface="Calibri" pitchFamily="34" charset="0"/>
                <a:ea typeface="Calibri" pitchFamily="34" charset="-122"/>
                <a:cs typeface="Calibri" pitchFamily="34" charset="-120"/>
              </a:rPr>
              <a:t>PROJET 4 · PRÉSENTATION DE CADRAGE (UA1)</a:t>
            </a:r>
            <a:endParaRPr lang="en-US" sz="1400" dirty="0"/>
          </a:p>
        </p:txBody>
      </p:sp>
      <p:sp>
        <p:nvSpPr>
          <p:cNvPr id="3" name="Text 1"/>
          <p:cNvSpPr txBox="1"/>
          <p:nvPr/>
        </p:nvSpPr>
        <p:spPr>
          <a:xfrm>
            <a:off x="731520" y="1691640"/>
            <a:ext cx="105156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Analyse des données de vente et retours</a:t>
            </a:r>
            <a:endParaRPr lang="en-US" sz="4400" dirty="0"/>
          </a:p>
        </p:txBody>
      </p:sp>
      <p:sp>
        <p:nvSpPr>
          <p:cNvPr id="4" name="Text 2"/>
          <p:cNvSpPr txBox="1"/>
          <p:nvPr/>
        </p:nvSpPr>
        <p:spPr>
          <a:xfrm>
            <a:off x="731520" y="2834640"/>
            <a:ext cx="9601200" cy="822960"/>
          </a:xfrm>
          <a:prstGeom prst="rect">
            <a:avLst/>
          </a:prstGeom>
          <a:noFill/>
          <a:ln/>
        </p:spPr>
        <p:txBody>
          <a:bodyPr wrap="square" lIns="0" tIns="0" rIns="0" bIns="0" rtlCol="0" anchor="ctr"/>
          <a:lstStyle/>
          <a:p>
            <a:pPr marL="0" indent="0">
              <a:buNone/>
            </a:pPr>
            <a:r>
              <a:rPr lang="en-US" sz="2000" dirty="0">
                <a:solidFill>
                  <a:srgbClr val="CFE0DA"/>
                </a:solidFill>
                <a:latin typeface="Calibri" pitchFamily="34" charset="0"/>
                <a:ea typeface="Calibri" pitchFamily="34" charset="-122"/>
                <a:cs typeface="Calibri" pitchFamily="34" charset="-120"/>
              </a:rPr>
              <a:t>Optimiser la performance commerciale : drivers de vente, retours et impact des promotions</a:t>
            </a:r>
            <a:endParaRPr lang="en-US" sz="2000" dirty="0"/>
          </a:p>
        </p:txBody>
      </p:sp>
      <p:sp>
        <p:nvSpPr>
          <p:cNvPr id="5" name="Text 3"/>
          <p:cNvSpPr txBox="1"/>
          <p:nvPr/>
        </p:nvSpPr>
        <p:spPr>
          <a:xfrm>
            <a:off x="731520" y="4114800"/>
            <a:ext cx="10789920" cy="6400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Yacine Lezoul (PO) · Achraf Chihab (SM) · Jean Robert Joseph · Barnabe Landry Evouna · Douyeri Lamoussa Sanogo · Mouncif Bouchachi</a:t>
            </a:r>
            <a:endParaRPr lang="en-US" sz="1500" dirty="0"/>
          </a:p>
        </p:txBody>
      </p:sp>
      <p:sp>
        <p:nvSpPr>
          <p:cNvPr id="6" name="Text 4"/>
          <p:cNvSpPr txBox="1"/>
          <p:nvPr/>
        </p:nvSpPr>
        <p:spPr>
          <a:xfrm>
            <a:off x="731520" y="5852160"/>
            <a:ext cx="9144000" cy="365760"/>
          </a:xfrm>
          <a:prstGeom prst="rect">
            <a:avLst/>
          </a:prstGeom>
          <a:noFill/>
          <a:ln/>
        </p:spPr>
        <p:txBody>
          <a:bodyPr wrap="square" lIns="0" tIns="0" rIns="0" bIns="0" rtlCol="0" anchor="ctr"/>
          <a:lstStyle/>
          <a:p>
            <a:pPr marL="0" indent="0">
              <a:buNone/>
            </a:pPr>
            <a:r>
              <a:rPr lang="en-US" sz="1300" dirty="0">
                <a:solidFill>
                  <a:srgbClr val="9DB8AF"/>
                </a:solidFill>
                <a:latin typeface="Calibri" pitchFamily="34" charset="0"/>
                <a:ea typeface="Calibri" pitchFamily="34" charset="-122"/>
                <a:cs typeface="Calibri" pitchFamily="34" charset="-120"/>
              </a:rPr>
              <a:t>Collège La Cité · Science des données appliquées · 5 octobre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ÉQUIPE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Une équipe organisée en Scrum</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600200"/>
            <a:ext cx="3520440" cy="2103120"/>
          </a:xfrm>
          <a:prstGeom prst="roundRect">
            <a:avLst>
              <a:gd name="adj" fmla="val 3478"/>
            </a:avLst>
          </a:prstGeom>
          <a:solidFill>
            <a:srgbClr val="EAF2EF"/>
          </a:solidFill>
          <a:ln w="9525">
            <a:solidFill>
              <a:srgbClr val="C9D8D3"/>
            </a:solidFill>
            <a:prstDash val="solid"/>
          </a:ln>
        </p:spPr>
        <p:txBody>
          <a:bodyPr/>
          <a:lstStyle/>
          <a:p>
            <a:endParaRPr lang="en-US"/>
          </a:p>
        </p:txBody>
      </p:sp>
      <p:sp>
        <p:nvSpPr>
          <p:cNvPr id="7" name="Shape 5"/>
          <p:cNvSpPr/>
          <p:nvPr/>
        </p:nvSpPr>
        <p:spPr>
          <a:xfrm>
            <a:off x="822960" y="1874520"/>
            <a:ext cx="685800" cy="685800"/>
          </a:xfrm>
          <a:prstGeom prst="ellipse">
            <a:avLst/>
          </a:prstGeom>
          <a:solidFill>
            <a:srgbClr val="17332E"/>
          </a:solidFill>
          <a:ln w="12700">
            <a:solidFill>
              <a:srgbClr val="17332E"/>
            </a:solidFill>
            <a:prstDash val="solid"/>
          </a:ln>
        </p:spPr>
        <p:txBody>
          <a:bodyPr/>
          <a:lstStyle/>
          <a:p>
            <a:endParaRPr lang="en-US"/>
          </a:p>
        </p:txBody>
      </p:sp>
      <p:sp>
        <p:nvSpPr>
          <p:cNvPr id="8" name="Text 6"/>
          <p:cNvSpPr txBox="1"/>
          <p:nvPr/>
        </p:nvSpPr>
        <p:spPr>
          <a:xfrm>
            <a:off x="822960" y="187452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YL</a:t>
            </a:r>
            <a:endParaRPr lang="en-US" sz="1500" dirty="0"/>
          </a:p>
        </p:txBody>
      </p:sp>
      <p:sp>
        <p:nvSpPr>
          <p:cNvPr id="9" name="Text 7"/>
          <p:cNvSpPr txBox="1"/>
          <p:nvPr/>
        </p:nvSpPr>
        <p:spPr>
          <a:xfrm>
            <a:off x="1691640" y="180136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Yacine Lezoul</a:t>
            </a:r>
            <a:endParaRPr lang="en-US" sz="1600" dirty="0"/>
          </a:p>
        </p:txBody>
      </p:sp>
      <p:sp>
        <p:nvSpPr>
          <p:cNvPr id="10" name="Text 8"/>
          <p:cNvSpPr txBox="1"/>
          <p:nvPr/>
        </p:nvSpPr>
        <p:spPr>
          <a:xfrm>
            <a:off x="1691640" y="238658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Product Owner</a:t>
            </a:r>
            <a:endParaRPr lang="en-US" sz="1300" dirty="0"/>
          </a:p>
        </p:txBody>
      </p:sp>
      <p:sp>
        <p:nvSpPr>
          <p:cNvPr id="11" name="Text 9"/>
          <p:cNvSpPr txBox="1"/>
          <p:nvPr/>
        </p:nvSpPr>
        <p:spPr>
          <a:xfrm>
            <a:off x="822960" y="278892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Vision produit, priorisation du backlog, validation des résultats, extraction des données</a:t>
            </a:r>
            <a:endParaRPr lang="en-US" sz="1300" dirty="0"/>
          </a:p>
        </p:txBody>
      </p:sp>
      <p:sp>
        <p:nvSpPr>
          <p:cNvPr id="12" name="Shape 10"/>
          <p:cNvSpPr/>
          <p:nvPr/>
        </p:nvSpPr>
        <p:spPr>
          <a:xfrm>
            <a:off x="4297680" y="1600200"/>
            <a:ext cx="3520440" cy="2103120"/>
          </a:xfrm>
          <a:prstGeom prst="roundRect">
            <a:avLst>
              <a:gd name="adj" fmla="val 3478"/>
            </a:avLst>
          </a:prstGeom>
          <a:solidFill>
            <a:srgbClr val="EAF2EF"/>
          </a:solidFill>
          <a:ln w="9525">
            <a:solidFill>
              <a:srgbClr val="C9D8D3"/>
            </a:solidFill>
            <a:prstDash val="solid"/>
          </a:ln>
        </p:spPr>
        <p:txBody>
          <a:bodyPr/>
          <a:lstStyle/>
          <a:p>
            <a:endParaRPr lang="en-US"/>
          </a:p>
        </p:txBody>
      </p:sp>
      <p:sp>
        <p:nvSpPr>
          <p:cNvPr id="13" name="Shape 11"/>
          <p:cNvSpPr/>
          <p:nvPr/>
        </p:nvSpPr>
        <p:spPr>
          <a:xfrm>
            <a:off x="4572000" y="1874520"/>
            <a:ext cx="685800" cy="685800"/>
          </a:xfrm>
          <a:prstGeom prst="ellipse">
            <a:avLst/>
          </a:prstGeom>
          <a:solidFill>
            <a:srgbClr val="17332E"/>
          </a:solidFill>
          <a:ln w="12700">
            <a:solidFill>
              <a:srgbClr val="17332E"/>
            </a:solidFill>
            <a:prstDash val="solid"/>
          </a:ln>
        </p:spPr>
        <p:txBody>
          <a:bodyPr/>
          <a:lstStyle/>
          <a:p>
            <a:endParaRPr lang="en-US"/>
          </a:p>
        </p:txBody>
      </p:sp>
      <p:sp>
        <p:nvSpPr>
          <p:cNvPr id="14" name="Text 12"/>
          <p:cNvSpPr txBox="1"/>
          <p:nvPr/>
        </p:nvSpPr>
        <p:spPr>
          <a:xfrm>
            <a:off x="4572000" y="1874520"/>
            <a:ext cx="685800"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AC</a:t>
            </a:r>
            <a:endParaRPr lang="en-US" sz="1500" dirty="0"/>
          </a:p>
        </p:txBody>
      </p:sp>
      <p:sp>
        <p:nvSpPr>
          <p:cNvPr id="15" name="Text 13"/>
          <p:cNvSpPr txBox="1"/>
          <p:nvPr/>
        </p:nvSpPr>
        <p:spPr>
          <a:xfrm>
            <a:off x="5440680" y="180136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Achraf Chihab</a:t>
            </a:r>
            <a:endParaRPr lang="en-US" sz="1600" dirty="0"/>
          </a:p>
        </p:txBody>
      </p:sp>
      <p:sp>
        <p:nvSpPr>
          <p:cNvPr id="16" name="Text 14"/>
          <p:cNvSpPr txBox="1"/>
          <p:nvPr/>
        </p:nvSpPr>
        <p:spPr>
          <a:xfrm>
            <a:off x="5440680" y="238658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Scrum Master</a:t>
            </a:r>
            <a:endParaRPr lang="en-US" sz="1300" dirty="0"/>
          </a:p>
        </p:txBody>
      </p:sp>
      <p:sp>
        <p:nvSpPr>
          <p:cNvPr id="17" name="Text 15"/>
          <p:cNvSpPr txBox="1"/>
          <p:nvPr/>
        </p:nvSpPr>
        <p:spPr>
          <a:xfrm>
            <a:off x="4572000" y="278892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Board, calendrier, cérémonies, levée des blocages</a:t>
            </a:r>
            <a:endParaRPr lang="en-US" sz="1300" dirty="0"/>
          </a:p>
        </p:txBody>
      </p:sp>
      <p:sp>
        <p:nvSpPr>
          <p:cNvPr id="18" name="Shape 16"/>
          <p:cNvSpPr/>
          <p:nvPr/>
        </p:nvSpPr>
        <p:spPr>
          <a:xfrm>
            <a:off x="8046720" y="1600200"/>
            <a:ext cx="3520440" cy="2103120"/>
          </a:xfrm>
          <a:prstGeom prst="roundRect">
            <a:avLst>
              <a:gd name="adj" fmla="val 3478"/>
            </a:avLst>
          </a:prstGeom>
          <a:solidFill>
            <a:srgbClr val="F5F9F7"/>
          </a:solidFill>
          <a:ln w="9525">
            <a:solidFill>
              <a:srgbClr val="C9D8D3"/>
            </a:solidFill>
            <a:prstDash val="solid"/>
          </a:ln>
        </p:spPr>
        <p:txBody>
          <a:bodyPr/>
          <a:lstStyle/>
          <a:p>
            <a:endParaRPr lang="en-US"/>
          </a:p>
        </p:txBody>
      </p:sp>
      <p:sp>
        <p:nvSpPr>
          <p:cNvPr id="19" name="Shape 17"/>
          <p:cNvSpPr/>
          <p:nvPr/>
        </p:nvSpPr>
        <p:spPr>
          <a:xfrm>
            <a:off x="8321040" y="1874520"/>
            <a:ext cx="685800" cy="685800"/>
          </a:xfrm>
          <a:prstGeom prst="ellipse">
            <a:avLst/>
          </a:prstGeom>
          <a:solidFill>
            <a:srgbClr val="E9A23B"/>
          </a:solidFill>
          <a:ln w="12700">
            <a:solidFill>
              <a:srgbClr val="E9A23B"/>
            </a:solidFill>
            <a:prstDash val="solid"/>
          </a:ln>
        </p:spPr>
        <p:txBody>
          <a:bodyPr/>
          <a:lstStyle/>
          <a:p>
            <a:endParaRPr lang="en-US"/>
          </a:p>
        </p:txBody>
      </p:sp>
      <p:sp>
        <p:nvSpPr>
          <p:cNvPr id="20" name="Text 18"/>
          <p:cNvSpPr txBox="1"/>
          <p:nvPr/>
        </p:nvSpPr>
        <p:spPr>
          <a:xfrm>
            <a:off x="8321040" y="1874520"/>
            <a:ext cx="685800" cy="685800"/>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JJ</a:t>
            </a:r>
            <a:endParaRPr lang="en-US" sz="1500" dirty="0"/>
          </a:p>
        </p:txBody>
      </p:sp>
      <p:sp>
        <p:nvSpPr>
          <p:cNvPr id="21" name="Text 19"/>
          <p:cNvSpPr txBox="1"/>
          <p:nvPr/>
        </p:nvSpPr>
        <p:spPr>
          <a:xfrm>
            <a:off x="9189720" y="180136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Jean Robert Joseph</a:t>
            </a:r>
            <a:endParaRPr lang="en-US" sz="1600" dirty="0"/>
          </a:p>
        </p:txBody>
      </p:sp>
      <p:sp>
        <p:nvSpPr>
          <p:cNvPr id="22" name="Text 20"/>
          <p:cNvSpPr txBox="1"/>
          <p:nvPr/>
        </p:nvSpPr>
        <p:spPr>
          <a:xfrm>
            <a:off x="9189720" y="238658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Développeur</a:t>
            </a:r>
            <a:endParaRPr lang="en-US" sz="1300" dirty="0"/>
          </a:p>
        </p:txBody>
      </p:sp>
      <p:sp>
        <p:nvSpPr>
          <p:cNvPr id="23" name="Text 21"/>
          <p:cNvSpPr txBox="1"/>
          <p:nvPr/>
        </p:nvSpPr>
        <p:spPr>
          <a:xfrm>
            <a:off x="8321040" y="278892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ETL, pipeline, modèle de risque de retour, optimisation</a:t>
            </a:r>
            <a:endParaRPr lang="en-US" sz="1300" dirty="0"/>
          </a:p>
        </p:txBody>
      </p:sp>
      <p:sp>
        <p:nvSpPr>
          <p:cNvPr id="24" name="Shape 22"/>
          <p:cNvSpPr/>
          <p:nvPr/>
        </p:nvSpPr>
        <p:spPr>
          <a:xfrm>
            <a:off x="548640" y="3931920"/>
            <a:ext cx="3520440" cy="2103120"/>
          </a:xfrm>
          <a:prstGeom prst="roundRect">
            <a:avLst>
              <a:gd name="adj" fmla="val 3478"/>
            </a:avLst>
          </a:prstGeom>
          <a:solidFill>
            <a:srgbClr val="F5F9F7"/>
          </a:solidFill>
          <a:ln w="9525">
            <a:solidFill>
              <a:srgbClr val="C9D8D3"/>
            </a:solidFill>
            <a:prstDash val="solid"/>
          </a:ln>
        </p:spPr>
        <p:txBody>
          <a:bodyPr/>
          <a:lstStyle/>
          <a:p>
            <a:endParaRPr lang="en-US"/>
          </a:p>
        </p:txBody>
      </p:sp>
      <p:sp>
        <p:nvSpPr>
          <p:cNvPr id="25" name="Shape 23"/>
          <p:cNvSpPr/>
          <p:nvPr/>
        </p:nvSpPr>
        <p:spPr>
          <a:xfrm>
            <a:off x="822960" y="4206240"/>
            <a:ext cx="685800" cy="685800"/>
          </a:xfrm>
          <a:prstGeom prst="ellipse">
            <a:avLst/>
          </a:prstGeom>
          <a:solidFill>
            <a:srgbClr val="E9A23B"/>
          </a:solidFill>
          <a:ln w="12700">
            <a:solidFill>
              <a:srgbClr val="E9A23B"/>
            </a:solidFill>
            <a:prstDash val="solid"/>
          </a:ln>
        </p:spPr>
        <p:txBody>
          <a:bodyPr/>
          <a:lstStyle/>
          <a:p>
            <a:endParaRPr lang="en-US"/>
          </a:p>
        </p:txBody>
      </p:sp>
      <p:sp>
        <p:nvSpPr>
          <p:cNvPr id="26" name="Text 24"/>
          <p:cNvSpPr txBox="1"/>
          <p:nvPr/>
        </p:nvSpPr>
        <p:spPr>
          <a:xfrm>
            <a:off x="822960" y="4206240"/>
            <a:ext cx="685800" cy="685800"/>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BE</a:t>
            </a:r>
            <a:endParaRPr lang="en-US" sz="1500" dirty="0"/>
          </a:p>
        </p:txBody>
      </p:sp>
      <p:sp>
        <p:nvSpPr>
          <p:cNvPr id="27" name="Text 25"/>
          <p:cNvSpPr txBox="1"/>
          <p:nvPr/>
        </p:nvSpPr>
        <p:spPr>
          <a:xfrm>
            <a:off x="1691640" y="413308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Barnabe Landry Evouna</a:t>
            </a:r>
            <a:endParaRPr lang="en-US" sz="1600" dirty="0"/>
          </a:p>
        </p:txBody>
      </p:sp>
      <p:sp>
        <p:nvSpPr>
          <p:cNvPr id="28" name="Text 26"/>
          <p:cNvSpPr txBox="1"/>
          <p:nvPr/>
        </p:nvSpPr>
        <p:spPr>
          <a:xfrm>
            <a:off x="1691640" y="471830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Développeur</a:t>
            </a:r>
            <a:endParaRPr lang="en-US" sz="1300" dirty="0"/>
          </a:p>
        </p:txBody>
      </p:sp>
      <p:sp>
        <p:nvSpPr>
          <p:cNvPr id="29" name="Text 27"/>
          <p:cNvSpPr txBox="1"/>
          <p:nvPr/>
        </p:nvSpPr>
        <p:spPr>
          <a:xfrm>
            <a:off x="822960" y="512064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Qualité des données, Q1 et Q5, réponse aux promotions, Excel</a:t>
            </a:r>
            <a:endParaRPr lang="en-US" sz="1300" dirty="0"/>
          </a:p>
        </p:txBody>
      </p:sp>
      <p:sp>
        <p:nvSpPr>
          <p:cNvPr id="30" name="Shape 28"/>
          <p:cNvSpPr/>
          <p:nvPr/>
        </p:nvSpPr>
        <p:spPr>
          <a:xfrm>
            <a:off x="4297680" y="3931920"/>
            <a:ext cx="3520440" cy="2103120"/>
          </a:xfrm>
          <a:prstGeom prst="roundRect">
            <a:avLst>
              <a:gd name="adj" fmla="val 3478"/>
            </a:avLst>
          </a:prstGeom>
          <a:solidFill>
            <a:srgbClr val="F5F9F7"/>
          </a:solidFill>
          <a:ln w="9525">
            <a:solidFill>
              <a:srgbClr val="C9D8D3"/>
            </a:solidFill>
            <a:prstDash val="solid"/>
          </a:ln>
        </p:spPr>
        <p:txBody>
          <a:bodyPr/>
          <a:lstStyle/>
          <a:p>
            <a:endParaRPr lang="en-US"/>
          </a:p>
        </p:txBody>
      </p:sp>
      <p:sp>
        <p:nvSpPr>
          <p:cNvPr id="31" name="Shape 29"/>
          <p:cNvSpPr/>
          <p:nvPr/>
        </p:nvSpPr>
        <p:spPr>
          <a:xfrm>
            <a:off x="4572000" y="4206240"/>
            <a:ext cx="685800" cy="685800"/>
          </a:xfrm>
          <a:prstGeom prst="ellipse">
            <a:avLst/>
          </a:prstGeom>
          <a:solidFill>
            <a:srgbClr val="E9A23B"/>
          </a:solidFill>
          <a:ln w="12700">
            <a:solidFill>
              <a:srgbClr val="E9A23B"/>
            </a:solidFill>
            <a:prstDash val="solid"/>
          </a:ln>
        </p:spPr>
        <p:txBody>
          <a:bodyPr/>
          <a:lstStyle/>
          <a:p>
            <a:endParaRPr lang="en-US"/>
          </a:p>
        </p:txBody>
      </p:sp>
      <p:sp>
        <p:nvSpPr>
          <p:cNvPr id="32" name="Text 30"/>
          <p:cNvSpPr txBox="1"/>
          <p:nvPr/>
        </p:nvSpPr>
        <p:spPr>
          <a:xfrm>
            <a:off x="4572000" y="4206240"/>
            <a:ext cx="685800" cy="685800"/>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DS</a:t>
            </a:r>
            <a:endParaRPr lang="en-US" sz="1500" dirty="0"/>
          </a:p>
        </p:txBody>
      </p:sp>
      <p:sp>
        <p:nvSpPr>
          <p:cNvPr id="33" name="Text 31"/>
          <p:cNvSpPr txBox="1"/>
          <p:nvPr/>
        </p:nvSpPr>
        <p:spPr>
          <a:xfrm>
            <a:off x="5440680" y="413308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Douyeri Lamoussa Sanogo</a:t>
            </a:r>
            <a:endParaRPr lang="en-US" sz="1600" dirty="0"/>
          </a:p>
        </p:txBody>
      </p:sp>
      <p:sp>
        <p:nvSpPr>
          <p:cNvPr id="34" name="Text 32"/>
          <p:cNvSpPr txBox="1"/>
          <p:nvPr/>
        </p:nvSpPr>
        <p:spPr>
          <a:xfrm>
            <a:off x="5440680" y="471830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Développeur</a:t>
            </a:r>
            <a:endParaRPr lang="en-US" sz="1300" dirty="0"/>
          </a:p>
        </p:txBody>
      </p:sp>
      <p:sp>
        <p:nvSpPr>
          <p:cNvPr id="35" name="Text 33"/>
          <p:cNvSpPr txBox="1"/>
          <p:nvPr/>
        </p:nvSpPr>
        <p:spPr>
          <a:xfrm>
            <a:off x="4572000" y="512064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Correspondance des clés, Q2, prévision des ventes, Solveur Excel</a:t>
            </a:r>
            <a:endParaRPr lang="en-US" sz="1300" dirty="0"/>
          </a:p>
        </p:txBody>
      </p:sp>
      <p:sp>
        <p:nvSpPr>
          <p:cNvPr id="36" name="Shape 34"/>
          <p:cNvSpPr/>
          <p:nvPr/>
        </p:nvSpPr>
        <p:spPr>
          <a:xfrm>
            <a:off x="8046720" y="3931920"/>
            <a:ext cx="3520440" cy="2103120"/>
          </a:xfrm>
          <a:prstGeom prst="roundRect">
            <a:avLst>
              <a:gd name="adj" fmla="val 3478"/>
            </a:avLst>
          </a:prstGeom>
          <a:solidFill>
            <a:srgbClr val="F5F9F7"/>
          </a:solidFill>
          <a:ln w="9525">
            <a:solidFill>
              <a:srgbClr val="C9D8D3"/>
            </a:solidFill>
            <a:prstDash val="solid"/>
          </a:ln>
        </p:spPr>
        <p:txBody>
          <a:bodyPr/>
          <a:lstStyle/>
          <a:p>
            <a:endParaRPr lang="en-US"/>
          </a:p>
        </p:txBody>
      </p:sp>
      <p:sp>
        <p:nvSpPr>
          <p:cNvPr id="37" name="Shape 35"/>
          <p:cNvSpPr/>
          <p:nvPr/>
        </p:nvSpPr>
        <p:spPr>
          <a:xfrm>
            <a:off x="8321040" y="4206240"/>
            <a:ext cx="685800" cy="685800"/>
          </a:xfrm>
          <a:prstGeom prst="ellipse">
            <a:avLst/>
          </a:prstGeom>
          <a:solidFill>
            <a:srgbClr val="E9A23B"/>
          </a:solidFill>
          <a:ln w="12700">
            <a:solidFill>
              <a:srgbClr val="E9A23B"/>
            </a:solidFill>
            <a:prstDash val="solid"/>
          </a:ln>
        </p:spPr>
        <p:txBody>
          <a:bodyPr/>
          <a:lstStyle/>
          <a:p>
            <a:endParaRPr lang="en-US"/>
          </a:p>
        </p:txBody>
      </p:sp>
      <p:sp>
        <p:nvSpPr>
          <p:cNvPr id="38" name="Text 36"/>
          <p:cNvSpPr txBox="1"/>
          <p:nvPr/>
        </p:nvSpPr>
        <p:spPr>
          <a:xfrm>
            <a:off x="8321040" y="4206240"/>
            <a:ext cx="685800" cy="685800"/>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MB</a:t>
            </a:r>
            <a:endParaRPr lang="en-US" sz="1500" dirty="0"/>
          </a:p>
        </p:txBody>
      </p:sp>
      <p:sp>
        <p:nvSpPr>
          <p:cNvPr id="39" name="Text 37"/>
          <p:cNvSpPr txBox="1"/>
          <p:nvPr/>
        </p:nvSpPr>
        <p:spPr>
          <a:xfrm>
            <a:off x="9189720" y="4133088"/>
            <a:ext cx="2286000" cy="566928"/>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Mouncif Bouchachi</a:t>
            </a:r>
            <a:endParaRPr lang="en-US" sz="1600" dirty="0"/>
          </a:p>
        </p:txBody>
      </p:sp>
      <p:sp>
        <p:nvSpPr>
          <p:cNvPr id="40" name="Text 38"/>
          <p:cNvSpPr txBox="1"/>
          <p:nvPr/>
        </p:nvSpPr>
        <p:spPr>
          <a:xfrm>
            <a:off x="9189720" y="4718304"/>
            <a:ext cx="2286000" cy="27432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Développeur</a:t>
            </a:r>
            <a:endParaRPr lang="en-US" sz="1300" dirty="0"/>
          </a:p>
        </p:txBody>
      </p:sp>
      <p:sp>
        <p:nvSpPr>
          <p:cNvPr id="41" name="Text 39"/>
          <p:cNvSpPr txBox="1"/>
          <p:nvPr/>
        </p:nvSpPr>
        <p:spPr>
          <a:xfrm>
            <a:off x="8321040" y="5120640"/>
            <a:ext cx="3017520" cy="8229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Modèle en flocon, nettoyage, Q3 et Q4, Power BI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LE SUJET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Contexte et problématique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54480"/>
            <a:ext cx="5760720" cy="4480560"/>
          </a:xfrm>
          <a:prstGeom prst="roundRect">
            <a:avLst>
              <a:gd name="adj" fmla="val 1633"/>
            </a:avLst>
          </a:prstGeom>
          <a:solidFill>
            <a:srgbClr val="17332E"/>
          </a:solidFill>
          <a:ln w="9525">
            <a:solidFill>
              <a:srgbClr val="C9D8D3"/>
            </a:solidFill>
            <a:prstDash val="solid"/>
          </a:ln>
        </p:spPr>
        <p:txBody>
          <a:bodyPr/>
          <a:lstStyle/>
          <a:p>
            <a:endParaRPr lang="en-US"/>
          </a:p>
        </p:txBody>
      </p:sp>
      <p:sp>
        <p:nvSpPr>
          <p:cNvPr id="7" name="Text 5"/>
          <p:cNvSpPr txBox="1"/>
          <p:nvPr/>
        </p:nvSpPr>
        <p:spPr>
          <a:xfrm>
            <a:off x="868680" y="1828800"/>
            <a:ext cx="5120640" cy="365760"/>
          </a:xfrm>
          <a:prstGeom prst="rect">
            <a:avLst/>
          </a:prstGeom>
          <a:noFill/>
          <a:ln/>
        </p:spPr>
        <p:txBody>
          <a:bodyPr wrap="square" lIns="0" tIns="0" rIns="0" bIns="0" rtlCol="0" anchor="ctr"/>
          <a:lstStyle/>
          <a:p>
            <a:pPr marL="0" indent="0">
              <a:buNone/>
            </a:pPr>
            <a:r>
              <a:rPr lang="en-US" sz="1400" b="1" dirty="0">
                <a:solidFill>
                  <a:srgbClr val="E9A23B"/>
                </a:solidFill>
                <a:latin typeface="Calibri" pitchFamily="34" charset="0"/>
                <a:ea typeface="Calibri" pitchFamily="34" charset="-122"/>
                <a:cs typeface="Calibri" pitchFamily="34" charset="-120"/>
              </a:rPr>
              <a:t>Problématique principale</a:t>
            </a:r>
            <a:endParaRPr lang="en-US" sz="1400" dirty="0"/>
          </a:p>
        </p:txBody>
      </p:sp>
      <p:sp>
        <p:nvSpPr>
          <p:cNvPr id="8" name="Text 6"/>
          <p:cNvSpPr txBox="1"/>
          <p:nvPr/>
        </p:nvSpPr>
        <p:spPr>
          <a:xfrm>
            <a:off x="868680" y="2286000"/>
            <a:ext cx="5120640" cy="2011680"/>
          </a:xfrm>
          <a:prstGeom prst="rect">
            <a:avLst/>
          </a:prstGeom>
          <a:noFill/>
          <a:ln/>
        </p:spPr>
        <p:txBody>
          <a:bodyPr wrap="square" lIns="0" tIns="0" rIns="0" bIns="0" rtlCol="0" anchor="t"/>
          <a:lstStyle/>
          <a:p>
            <a:pPr marL="0" indent="0">
              <a:buNone/>
            </a:pPr>
            <a:r>
              <a:rPr lang="en-US" sz="2400" i="1" dirty="0">
                <a:solidFill>
                  <a:srgbClr val="FFFFFF"/>
                </a:solidFill>
                <a:latin typeface="Cambria" pitchFamily="34" charset="0"/>
                <a:ea typeface="Cambria" pitchFamily="34" charset="-122"/>
                <a:cs typeface="Cambria" pitchFamily="34" charset="-120"/>
              </a:rPr>
              <a:t>« Optimisation de la performance commerciale : analyse des drivers de vente, des retours et de l'impact des promotions »</a:t>
            </a:r>
            <a:endParaRPr lang="en-US" sz="2400" dirty="0"/>
          </a:p>
        </p:txBody>
      </p:sp>
      <p:sp>
        <p:nvSpPr>
          <p:cNvPr id="9" name="Text 7"/>
          <p:cNvSpPr txBox="1"/>
          <p:nvPr/>
        </p:nvSpPr>
        <p:spPr>
          <a:xfrm>
            <a:off x="868680" y="5120640"/>
            <a:ext cx="5120640" cy="640080"/>
          </a:xfrm>
          <a:prstGeom prst="rect">
            <a:avLst/>
          </a:prstGeom>
          <a:noFill/>
          <a:ln/>
        </p:spPr>
        <p:txBody>
          <a:bodyPr wrap="square" lIns="0" tIns="0" rIns="0" bIns="0" rtlCol="0" anchor="ctr"/>
          <a:lstStyle/>
          <a:p>
            <a:pPr marL="0" indent="0">
              <a:buNone/>
            </a:pPr>
            <a:r>
              <a:rPr lang="en-US" sz="1300" dirty="0">
                <a:solidFill>
                  <a:srgbClr val="CFE0DA"/>
                </a:solidFill>
                <a:latin typeface="Calibri" pitchFamily="34" charset="0"/>
                <a:ea typeface="Calibri" pitchFamily="34" charset="-122"/>
                <a:cs typeface="Calibri" pitchFamily="34" charset="-120"/>
              </a:rPr>
              <a:t>Commerce de détail · transactions 2020-2021 · ventes, retours, coûts, remises</a:t>
            </a:r>
            <a:endParaRPr lang="en-US" sz="1300" dirty="0"/>
          </a:p>
        </p:txBody>
      </p:sp>
      <p:sp>
        <p:nvSpPr>
          <p:cNvPr id="10" name="Shape 8"/>
          <p:cNvSpPr/>
          <p:nvPr/>
        </p:nvSpPr>
        <p:spPr>
          <a:xfrm>
            <a:off x="6720840" y="1645920"/>
            <a:ext cx="548640" cy="548640"/>
          </a:xfrm>
          <a:prstGeom prst="ellipse">
            <a:avLst/>
          </a:prstGeom>
          <a:solidFill>
            <a:srgbClr val="E9A23B"/>
          </a:solidFill>
          <a:ln w="12700">
            <a:solidFill>
              <a:srgbClr val="E9A23B"/>
            </a:solidFill>
            <a:prstDash val="solid"/>
          </a:ln>
        </p:spPr>
        <p:txBody>
          <a:bodyPr/>
          <a:lstStyle/>
          <a:p>
            <a:endParaRPr lang="en-US"/>
          </a:p>
        </p:txBody>
      </p:sp>
      <p:sp>
        <p:nvSpPr>
          <p:cNvPr id="11" name="Text 9"/>
          <p:cNvSpPr txBox="1"/>
          <p:nvPr/>
        </p:nvSpPr>
        <p:spPr>
          <a:xfrm>
            <a:off x="6720840" y="164592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7498080" y="1627632"/>
            <a:ext cx="4114800" cy="36576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Vendre plus ne suffit pas</a:t>
            </a:r>
            <a:endParaRPr lang="en-US" sz="1800" dirty="0"/>
          </a:p>
        </p:txBody>
      </p:sp>
      <p:sp>
        <p:nvSpPr>
          <p:cNvPr id="13" name="Text 11"/>
          <p:cNvSpPr txBox="1"/>
          <p:nvPr/>
        </p:nvSpPr>
        <p:spPr>
          <a:xfrm>
            <a:off x="7498080" y="2029968"/>
            <a:ext cx="4114800" cy="73152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Une promotion peut augmenter le volume tout en détruisant de la marge.</a:t>
            </a:r>
            <a:endParaRPr lang="en-US" sz="1400" dirty="0"/>
          </a:p>
        </p:txBody>
      </p:sp>
      <p:sp>
        <p:nvSpPr>
          <p:cNvPr id="14" name="Shape 12"/>
          <p:cNvSpPr/>
          <p:nvPr/>
        </p:nvSpPr>
        <p:spPr>
          <a:xfrm>
            <a:off x="6720840" y="3108960"/>
            <a:ext cx="548640" cy="548640"/>
          </a:xfrm>
          <a:prstGeom prst="ellipse">
            <a:avLst/>
          </a:prstGeom>
          <a:solidFill>
            <a:srgbClr val="E9A23B"/>
          </a:solidFill>
          <a:ln w="12700">
            <a:solidFill>
              <a:srgbClr val="E9A23B"/>
            </a:solidFill>
            <a:prstDash val="solid"/>
          </a:ln>
        </p:spPr>
        <p:txBody>
          <a:bodyPr/>
          <a:lstStyle/>
          <a:p>
            <a:endParaRPr lang="en-US"/>
          </a:p>
        </p:txBody>
      </p:sp>
      <p:sp>
        <p:nvSpPr>
          <p:cNvPr id="15" name="Text 13"/>
          <p:cNvSpPr txBox="1"/>
          <p:nvPr/>
        </p:nvSpPr>
        <p:spPr>
          <a:xfrm>
            <a:off x="6720840" y="310896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7498080" y="3090672"/>
            <a:ext cx="4114800" cy="36576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Les retours coûtent cher</a:t>
            </a:r>
            <a:endParaRPr lang="en-US" sz="1800" dirty="0"/>
          </a:p>
        </p:txBody>
      </p:sp>
      <p:sp>
        <p:nvSpPr>
          <p:cNvPr id="17" name="Text 15"/>
          <p:cNvSpPr txBox="1"/>
          <p:nvPr/>
        </p:nvSpPr>
        <p:spPr>
          <a:xfrm>
            <a:off x="7498080" y="3493008"/>
            <a:ext cx="4114800" cy="73152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Un retour invendable coûte plus que la remise elle-même (démarque).</a:t>
            </a:r>
            <a:endParaRPr lang="en-US" sz="1400" dirty="0"/>
          </a:p>
        </p:txBody>
      </p:sp>
      <p:sp>
        <p:nvSpPr>
          <p:cNvPr id="18" name="Shape 16"/>
          <p:cNvSpPr/>
          <p:nvPr/>
        </p:nvSpPr>
        <p:spPr>
          <a:xfrm>
            <a:off x="6720840" y="4572000"/>
            <a:ext cx="548640" cy="548640"/>
          </a:xfrm>
          <a:prstGeom prst="ellipse">
            <a:avLst/>
          </a:prstGeom>
          <a:solidFill>
            <a:srgbClr val="E9A23B"/>
          </a:solidFill>
          <a:ln w="12700">
            <a:solidFill>
              <a:srgbClr val="E9A23B"/>
            </a:solidFill>
            <a:prstDash val="solid"/>
          </a:ln>
        </p:spPr>
        <p:txBody>
          <a:bodyPr/>
          <a:lstStyle/>
          <a:p>
            <a:endParaRPr lang="en-US"/>
          </a:p>
        </p:txBody>
      </p:sp>
      <p:sp>
        <p:nvSpPr>
          <p:cNvPr id="19" name="Text 17"/>
          <p:cNvSpPr txBox="1"/>
          <p:nvPr/>
        </p:nvSpPr>
        <p:spPr>
          <a:xfrm>
            <a:off x="6720840" y="457200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7498080" y="4553712"/>
            <a:ext cx="4114800" cy="36576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Mesurer en marge en valeur</a:t>
            </a:r>
            <a:endParaRPr lang="en-US" sz="1800" dirty="0"/>
          </a:p>
        </p:txBody>
      </p:sp>
      <p:sp>
        <p:nvSpPr>
          <p:cNvPr id="21" name="Text 19"/>
          <p:cNvSpPr txBox="1"/>
          <p:nvPr/>
        </p:nvSpPr>
        <p:spPr>
          <a:xfrm>
            <a:off x="7498080" y="4956048"/>
            <a:ext cx="4114800" cy="73152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Notre indicateur de référence : ce que l'entreprise gagne réellement, en dollars.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OBJECTIFS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Cinq questions de recherche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08760"/>
            <a:ext cx="11064240" cy="804672"/>
          </a:xfrm>
          <a:prstGeom prst="roundRect">
            <a:avLst>
              <a:gd name="adj" fmla="val 9091"/>
            </a:avLst>
          </a:prstGeom>
          <a:solidFill>
            <a:srgbClr val="F5F9F7"/>
          </a:solidFill>
          <a:ln w="9525">
            <a:solidFill>
              <a:srgbClr val="C9D8D3"/>
            </a:solidFill>
            <a:prstDash val="solid"/>
          </a:ln>
        </p:spPr>
        <p:txBody>
          <a:bodyPr/>
          <a:lstStyle/>
          <a:p>
            <a:endParaRPr lang="en-US"/>
          </a:p>
        </p:txBody>
      </p:sp>
      <p:sp>
        <p:nvSpPr>
          <p:cNvPr id="7" name="Shape 5"/>
          <p:cNvSpPr/>
          <p:nvPr/>
        </p:nvSpPr>
        <p:spPr>
          <a:xfrm>
            <a:off x="731520" y="1636776"/>
            <a:ext cx="548640" cy="548640"/>
          </a:xfrm>
          <a:prstGeom prst="ellipse">
            <a:avLst/>
          </a:prstGeom>
          <a:solidFill>
            <a:srgbClr val="17332E"/>
          </a:solidFill>
          <a:ln w="12700">
            <a:solidFill>
              <a:srgbClr val="17332E"/>
            </a:solidFill>
            <a:prstDash val="solid"/>
          </a:ln>
        </p:spPr>
        <p:txBody>
          <a:bodyPr/>
          <a:lstStyle/>
          <a:p>
            <a:endParaRPr lang="en-US"/>
          </a:p>
        </p:txBody>
      </p:sp>
      <p:sp>
        <p:nvSpPr>
          <p:cNvPr id="8" name="Text 6"/>
          <p:cNvSpPr txBox="1"/>
          <p:nvPr/>
        </p:nvSpPr>
        <p:spPr>
          <a:xfrm>
            <a:off x="731520" y="1636776"/>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7"/>
          <p:cNvSpPr txBox="1"/>
          <p:nvPr/>
        </p:nvSpPr>
        <p:spPr>
          <a:xfrm>
            <a:off x="1508760" y="1508760"/>
            <a:ext cx="6309360" cy="804672"/>
          </a:xfrm>
          <a:prstGeom prst="rect">
            <a:avLst/>
          </a:prstGeom>
          <a:noFill/>
          <a:ln/>
        </p:spPr>
        <p:txBody>
          <a:bodyPr wrap="square" lIns="0" tIns="0" rIns="0" bIns="0" rtlCol="0" anchor="ctr"/>
          <a:lstStyle/>
          <a:p>
            <a:pPr marL="0" indent="0">
              <a:buNone/>
            </a:pPr>
            <a:r>
              <a:rPr lang="en-US" sz="1600" b="1" dirty="0">
                <a:solidFill>
                  <a:srgbClr val="1F2A28"/>
                </a:solidFill>
                <a:latin typeface="Calibri" pitchFamily="34" charset="0"/>
                <a:ea typeface="Calibri" pitchFamily="34" charset="-122"/>
                <a:cs typeface="Calibri" pitchFamily="34" charset="-120"/>
              </a:rPr>
              <a:t>Quels sont les facteurs déterminants de la performance des ventes ?</a:t>
            </a:r>
            <a:endParaRPr lang="en-US" sz="1600" dirty="0"/>
          </a:p>
        </p:txBody>
      </p:sp>
      <p:sp>
        <p:nvSpPr>
          <p:cNvPr id="10" name="Text 8"/>
          <p:cNvSpPr txBox="1"/>
          <p:nvPr/>
        </p:nvSpPr>
        <p:spPr>
          <a:xfrm>
            <a:off x="7955280" y="1508760"/>
            <a:ext cx="3474720" cy="804672"/>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Boutique, produit, promotion, période</a:t>
            </a:r>
            <a:endParaRPr lang="en-US" sz="1400" dirty="0"/>
          </a:p>
        </p:txBody>
      </p:sp>
      <p:sp>
        <p:nvSpPr>
          <p:cNvPr id="11" name="Shape 9"/>
          <p:cNvSpPr/>
          <p:nvPr/>
        </p:nvSpPr>
        <p:spPr>
          <a:xfrm>
            <a:off x="548640" y="2450592"/>
            <a:ext cx="11064240" cy="804672"/>
          </a:xfrm>
          <a:prstGeom prst="roundRect">
            <a:avLst>
              <a:gd name="adj" fmla="val 9091"/>
            </a:avLst>
          </a:prstGeom>
          <a:solidFill>
            <a:srgbClr val="FFFFFF"/>
          </a:solidFill>
          <a:ln w="9525">
            <a:solidFill>
              <a:srgbClr val="C9D8D3"/>
            </a:solidFill>
            <a:prstDash val="solid"/>
          </a:ln>
        </p:spPr>
        <p:txBody>
          <a:bodyPr/>
          <a:lstStyle/>
          <a:p>
            <a:endParaRPr lang="en-US"/>
          </a:p>
        </p:txBody>
      </p:sp>
      <p:sp>
        <p:nvSpPr>
          <p:cNvPr id="12" name="Shape 10"/>
          <p:cNvSpPr/>
          <p:nvPr/>
        </p:nvSpPr>
        <p:spPr>
          <a:xfrm>
            <a:off x="731520" y="2578608"/>
            <a:ext cx="548640" cy="548640"/>
          </a:xfrm>
          <a:prstGeom prst="ellipse">
            <a:avLst/>
          </a:prstGeom>
          <a:solidFill>
            <a:srgbClr val="17332E"/>
          </a:solidFill>
          <a:ln w="12700">
            <a:solidFill>
              <a:srgbClr val="17332E"/>
            </a:solidFill>
            <a:prstDash val="solid"/>
          </a:ln>
        </p:spPr>
        <p:txBody>
          <a:bodyPr/>
          <a:lstStyle/>
          <a:p>
            <a:endParaRPr lang="en-US"/>
          </a:p>
        </p:txBody>
      </p:sp>
      <p:sp>
        <p:nvSpPr>
          <p:cNvPr id="13" name="Text 11"/>
          <p:cNvSpPr txBox="1"/>
          <p:nvPr/>
        </p:nvSpPr>
        <p:spPr>
          <a:xfrm>
            <a:off x="731520" y="2578608"/>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4" name="Text 12"/>
          <p:cNvSpPr txBox="1"/>
          <p:nvPr/>
        </p:nvSpPr>
        <p:spPr>
          <a:xfrm>
            <a:off x="1508760" y="2450592"/>
            <a:ext cx="6309360" cy="804672"/>
          </a:xfrm>
          <a:prstGeom prst="rect">
            <a:avLst/>
          </a:prstGeom>
          <a:noFill/>
          <a:ln/>
        </p:spPr>
        <p:txBody>
          <a:bodyPr wrap="square" lIns="0" tIns="0" rIns="0" bIns="0" rtlCol="0" anchor="ctr"/>
          <a:lstStyle/>
          <a:p>
            <a:pPr marL="0" indent="0">
              <a:buNone/>
            </a:pPr>
            <a:r>
              <a:rPr lang="en-US" sz="1600" b="1" dirty="0">
                <a:solidFill>
                  <a:srgbClr val="1F2A28"/>
                </a:solidFill>
                <a:latin typeface="Calibri" pitchFamily="34" charset="0"/>
                <a:ea typeface="Calibri" pitchFamily="34" charset="-122"/>
                <a:cs typeface="Calibri" pitchFamily="34" charset="-120"/>
              </a:rPr>
              <a:t>Comment les promotions influencent-elles le volume et la rentabilité ?</a:t>
            </a:r>
            <a:endParaRPr lang="en-US" sz="1600" dirty="0"/>
          </a:p>
        </p:txBody>
      </p:sp>
      <p:sp>
        <p:nvSpPr>
          <p:cNvPr id="15" name="Text 13"/>
          <p:cNvSpPr txBox="1"/>
          <p:nvPr/>
        </p:nvSpPr>
        <p:spPr>
          <a:xfrm>
            <a:off x="7955280" y="2450592"/>
            <a:ext cx="3474720" cy="804672"/>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Promo vs hors promo, en marge en valeur</a:t>
            </a:r>
            <a:endParaRPr lang="en-US" sz="1400" dirty="0"/>
          </a:p>
        </p:txBody>
      </p:sp>
      <p:sp>
        <p:nvSpPr>
          <p:cNvPr id="16" name="Shape 14"/>
          <p:cNvSpPr/>
          <p:nvPr/>
        </p:nvSpPr>
        <p:spPr>
          <a:xfrm>
            <a:off x="548640" y="3392424"/>
            <a:ext cx="11064240" cy="804672"/>
          </a:xfrm>
          <a:prstGeom prst="roundRect">
            <a:avLst>
              <a:gd name="adj" fmla="val 9091"/>
            </a:avLst>
          </a:prstGeom>
          <a:solidFill>
            <a:srgbClr val="F5F9F7"/>
          </a:solidFill>
          <a:ln w="9525">
            <a:solidFill>
              <a:srgbClr val="C9D8D3"/>
            </a:solidFill>
            <a:prstDash val="solid"/>
          </a:ln>
        </p:spPr>
        <p:txBody>
          <a:bodyPr/>
          <a:lstStyle/>
          <a:p>
            <a:endParaRPr lang="en-US"/>
          </a:p>
        </p:txBody>
      </p:sp>
      <p:sp>
        <p:nvSpPr>
          <p:cNvPr id="17" name="Shape 15"/>
          <p:cNvSpPr/>
          <p:nvPr/>
        </p:nvSpPr>
        <p:spPr>
          <a:xfrm>
            <a:off x="731520" y="3520440"/>
            <a:ext cx="548640" cy="548640"/>
          </a:xfrm>
          <a:prstGeom prst="ellipse">
            <a:avLst/>
          </a:prstGeom>
          <a:solidFill>
            <a:srgbClr val="17332E"/>
          </a:solidFill>
          <a:ln w="12700">
            <a:solidFill>
              <a:srgbClr val="17332E"/>
            </a:solidFill>
            <a:prstDash val="solid"/>
          </a:ln>
        </p:spPr>
        <p:txBody>
          <a:bodyPr/>
          <a:lstStyle/>
          <a:p>
            <a:endParaRPr lang="en-US"/>
          </a:p>
        </p:txBody>
      </p:sp>
      <p:sp>
        <p:nvSpPr>
          <p:cNvPr id="18" name="Text 16"/>
          <p:cNvSpPr txBox="1"/>
          <p:nvPr/>
        </p:nvSpPr>
        <p:spPr>
          <a:xfrm>
            <a:off x="731520" y="352044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9" name="Text 17"/>
          <p:cNvSpPr txBox="1"/>
          <p:nvPr/>
        </p:nvSpPr>
        <p:spPr>
          <a:xfrm>
            <a:off x="1508760" y="3392424"/>
            <a:ext cx="6309360" cy="804672"/>
          </a:xfrm>
          <a:prstGeom prst="rect">
            <a:avLst/>
          </a:prstGeom>
          <a:noFill/>
          <a:ln/>
        </p:spPr>
        <p:txBody>
          <a:bodyPr wrap="square" lIns="0" tIns="0" rIns="0" bIns="0" rtlCol="0" anchor="ctr"/>
          <a:lstStyle/>
          <a:p>
            <a:pPr marL="0" indent="0">
              <a:buNone/>
            </a:pPr>
            <a:r>
              <a:rPr lang="en-US" sz="1600" b="1" dirty="0">
                <a:solidFill>
                  <a:srgbClr val="1F2A28"/>
                </a:solidFill>
                <a:latin typeface="Calibri" pitchFamily="34" charset="0"/>
                <a:ea typeface="Calibri" pitchFamily="34" charset="-122"/>
                <a:cs typeface="Calibri" pitchFamily="34" charset="-120"/>
              </a:rPr>
              <a:t>Quels patterns identifier dans les retours de produits ?</a:t>
            </a:r>
            <a:endParaRPr lang="en-US" sz="1600" dirty="0"/>
          </a:p>
        </p:txBody>
      </p:sp>
      <p:sp>
        <p:nvSpPr>
          <p:cNvPr id="20" name="Text 18"/>
          <p:cNvSpPr txBox="1"/>
          <p:nvPr/>
        </p:nvSpPr>
        <p:spPr>
          <a:xfrm>
            <a:off x="7955280" y="3392424"/>
            <a:ext cx="3474720" cy="804672"/>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Taux de retour standardisés</a:t>
            </a:r>
            <a:endParaRPr lang="en-US" sz="1400" dirty="0"/>
          </a:p>
        </p:txBody>
      </p:sp>
      <p:sp>
        <p:nvSpPr>
          <p:cNvPr id="21" name="Shape 19"/>
          <p:cNvSpPr/>
          <p:nvPr/>
        </p:nvSpPr>
        <p:spPr>
          <a:xfrm>
            <a:off x="548640" y="4334256"/>
            <a:ext cx="11064240" cy="804672"/>
          </a:xfrm>
          <a:prstGeom prst="roundRect">
            <a:avLst>
              <a:gd name="adj" fmla="val 9091"/>
            </a:avLst>
          </a:prstGeom>
          <a:solidFill>
            <a:srgbClr val="FFFFFF"/>
          </a:solidFill>
          <a:ln w="9525">
            <a:solidFill>
              <a:srgbClr val="C9D8D3"/>
            </a:solidFill>
            <a:prstDash val="solid"/>
          </a:ln>
        </p:spPr>
        <p:txBody>
          <a:bodyPr/>
          <a:lstStyle/>
          <a:p>
            <a:endParaRPr lang="en-US"/>
          </a:p>
        </p:txBody>
      </p:sp>
      <p:sp>
        <p:nvSpPr>
          <p:cNvPr id="22" name="Shape 20"/>
          <p:cNvSpPr/>
          <p:nvPr/>
        </p:nvSpPr>
        <p:spPr>
          <a:xfrm>
            <a:off x="731520" y="4462272"/>
            <a:ext cx="548640" cy="548640"/>
          </a:xfrm>
          <a:prstGeom prst="ellipse">
            <a:avLst/>
          </a:prstGeom>
          <a:solidFill>
            <a:srgbClr val="17332E"/>
          </a:solidFill>
          <a:ln w="12700">
            <a:solidFill>
              <a:srgbClr val="17332E"/>
            </a:solidFill>
            <a:prstDash val="solid"/>
          </a:ln>
        </p:spPr>
        <p:txBody>
          <a:bodyPr/>
          <a:lstStyle/>
          <a:p>
            <a:endParaRPr lang="en-US"/>
          </a:p>
        </p:txBody>
      </p:sp>
      <p:sp>
        <p:nvSpPr>
          <p:cNvPr id="23" name="Text 21"/>
          <p:cNvSpPr txBox="1"/>
          <p:nvPr/>
        </p:nvSpPr>
        <p:spPr>
          <a:xfrm>
            <a:off x="731520" y="446227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24" name="Text 22"/>
          <p:cNvSpPr txBox="1"/>
          <p:nvPr/>
        </p:nvSpPr>
        <p:spPr>
          <a:xfrm>
            <a:off x="1508760" y="4334256"/>
            <a:ext cx="6309360" cy="804672"/>
          </a:xfrm>
          <a:prstGeom prst="rect">
            <a:avLst/>
          </a:prstGeom>
          <a:noFill/>
          <a:ln/>
        </p:spPr>
        <p:txBody>
          <a:bodyPr wrap="square" lIns="0" tIns="0" rIns="0" bIns="0" rtlCol="0" anchor="ctr"/>
          <a:lstStyle/>
          <a:p>
            <a:pPr marL="0" indent="0">
              <a:buNone/>
            </a:pPr>
            <a:r>
              <a:rPr lang="en-US" sz="1600" b="1" dirty="0">
                <a:solidFill>
                  <a:srgbClr val="1F2A28"/>
                </a:solidFill>
                <a:latin typeface="Calibri" pitchFamily="34" charset="0"/>
                <a:ea typeface="Calibri" pitchFamily="34" charset="-122"/>
                <a:cs typeface="Calibri" pitchFamily="34" charset="-120"/>
              </a:rPr>
              <a:t>Existe-t-il une corrélation entre remises et taux de retour ?</a:t>
            </a:r>
            <a:endParaRPr lang="en-US" sz="1600" dirty="0"/>
          </a:p>
        </p:txBody>
      </p:sp>
      <p:sp>
        <p:nvSpPr>
          <p:cNvPr id="25" name="Text 23"/>
          <p:cNvSpPr txBox="1"/>
          <p:nvPr/>
        </p:nvSpPr>
        <p:spPr>
          <a:xfrm>
            <a:off x="7955280" y="4334256"/>
            <a:ext cx="3474720" cy="804672"/>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Corrélation contrôlée par catégorie et période</a:t>
            </a:r>
            <a:endParaRPr lang="en-US" sz="1400" dirty="0"/>
          </a:p>
        </p:txBody>
      </p:sp>
      <p:sp>
        <p:nvSpPr>
          <p:cNvPr id="26" name="Shape 24"/>
          <p:cNvSpPr/>
          <p:nvPr/>
        </p:nvSpPr>
        <p:spPr>
          <a:xfrm>
            <a:off x="548640" y="5276088"/>
            <a:ext cx="11064240" cy="804672"/>
          </a:xfrm>
          <a:prstGeom prst="roundRect">
            <a:avLst>
              <a:gd name="adj" fmla="val 9091"/>
            </a:avLst>
          </a:prstGeom>
          <a:solidFill>
            <a:srgbClr val="F5F9F7"/>
          </a:solidFill>
          <a:ln w="9525">
            <a:solidFill>
              <a:srgbClr val="C9D8D3"/>
            </a:solidFill>
            <a:prstDash val="solid"/>
          </a:ln>
        </p:spPr>
        <p:txBody>
          <a:bodyPr/>
          <a:lstStyle/>
          <a:p>
            <a:endParaRPr lang="en-US"/>
          </a:p>
        </p:txBody>
      </p:sp>
      <p:sp>
        <p:nvSpPr>
          <p:cNvPr id="27" name="Shape 25"/>
          <p:cNvSpPr/>
          <p:nvPr/>
        </p:nvSpPr>
        <p:spPr>
          <a:xfrm>
            <a:off x="731520" y="5404104"/>
            <a:ext cx="548640" cy="548640"/>
          </a:xfrm>
          <a:prstGeom prst="ellipse">
            <a:avLst/>
          </a:prstGeom>
          <a:solidFill>
            <a:srgbClr val="17332E"/>
          </a:solidFill>
          <a:ln w="12700">
            <a:solidFill>
              <a:srgbClr val="17332E"/>
            </a:solidFill>
            <a:prstDash val="solid"/>
          </a:ln>
        </p:spPr>
        <p:txBody>
          <a:bodyPr/>
          <a:lstStyle/>
          <a:p>
            <a:endParaRPr lang="en-US"/>
          </a:p>
        </p:txBody>
      </p:sp>
      <p:sp>
        <p:nvSpPr>
          <p:cNvPr id="28" name="Text 26"/>
          <p:cNvSpPr txBox="1"/>
          <p:nvPr/>
        </p:nvSpPr>
        <p:spPr>
          <a:xfrm>
            <a:off x="731520" y="5404104"/>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29" name="Text 27"/>
          <p:cNvSpPr txBox="1"/>
          <p:nvPr/>
        </p:nvSpPr>
        <p:spPr>
          <a:xfrm>
            <a:off x="1508760" y="5276088"/>
            <a:ext cx="6309360" cy="804672"/>
          </a:xfrm>
          <a:prstGeom prst="rect">
            <a:avLst/>
          </a:prstGeom>
          <a:noFill/>
          <a:ln/>
        </p:spPr>
        <p:txBody>
          <a:bodyPr wrap="square" lIns="0" tIns="0" rIns="0" bIns="0" rtlCol="0" anchor="ctr"/>
          <a:lstStyle/>
          <a:p>
            <a:pPr marL="0" indent="0">
              <a:buNone/>
            </a:pPr>
            <a:r>
              <a:rPr lang="en-US" sz="1600" b="1" dirty="0">
                <a:solidFill>
                  <a:srgbClr val="1F2A28"/>
                </a:solidFill>
                <a:latin typeface="Calibri" pitchFamily="34" charset="0"/>
                <a:ea typeface="Calibri" pitchFamily="34" charset="-122"/>
                <a:cs typeface="Calibri" pitchFamily="34" charset="-120"/>
              </a:rPr>
              <a:t>Comment optimiser la stratégie pricing pour maximiser la profitabilité ?</a:t>
            </a:r>
            <a:endParaRPr lang="en-US" sz="1600" dirty="0"/>
          </a:p>
        </p:txBody>
      </p:sp>
      <p:sp>
        <p:nvSpPr>
          <p:cNvPr id="30" name="Text 28"/>
          <p:cNvSpPr txBox="1"/>
          <p:nvPr/>
        </p:nvSpPr>
        <p:spPr>
          <a:xfrm>
            <a:off x="7955280" y="5276088"/>
            <a:ext cx="3474720" cy="804672"/>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Remise optimale par catégorie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INVENTAIRE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Les données fournies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54480"/>
            <a:ext cx="2606040" cy="1828800"/>
          </a:xfrm>
          <a:prstGeom prst="roundRect">
            <a:avLst>
              <a:gd name="adj" fmla="val 4000"/>
            </a:avLst>
          </a:prstGeom>
          <a:solidFill>
            <a:srgbClr val="EAF2EF"/>
          </a:solidFill>
          <a:ln w="9525">
            <a:solidFill>
              <a:srgbClr val="C9D8D3"/>
            </a:solidFill>
            <a:prstDash val="solid"/>
          </a:ln>
        </p:spPr>
        <p:txBody>
          <a:bodyPr/>
          <a:lstStyle/>
          <a:p>
            <a:endParaRPr lang="en-US"/>
          </a:p>
        </p:txBody>
      </p:sp>
      <p:sp>
        <p:nvSpPr>
          <p:cNvPr id="7" name="Text 5"/>
          <p:cNvSpPr txBox="1"/>
          <p:nvPr/>
        </p:nvSpPr>
        <p:spPr>
          <a:xfrm>
            <a:off x="548640" y="1645920"/>
            <a:ext cx="2606040" cy="868680"/>
          </a:xfrm>
          <a:prstGeom prst="rect">
            <a:avLst/>
          </a:prstGeom>
          <a:noFill/>
          <a:ln/>
        </p:spPr>
        <p:txBody>
          <a:bodyPr wrap="square" lIns="0" tIns="0" rIns="0" bIns="0" rtlCol="0" anchor="ctr"/>
          <a:lstStyle/>
          <a:p>
            <a:pPr marL="0" indent="0" algn="ctr">
              <a:buNone/>
            </a:pPr>
            <a:r>
              <a:rPr lang="en-US" sz="5400" b="1" dirty="0">
                <a:solidFill>
                  <a:srgbClr val="17332E"/>
                </a:solidFill>
                <a:latin typeface="Cambria" pitchFamily="34" charset="0"/>
                <a:ea typeface="Cambria" pitchFamily="34" charset="-122"/>
                <a:cs typeface="Cambria" pitchFamily="34" charset="-120"/>
              </a:rPr>
              <a:t>6</a:t>
            </a:r>
            <a:endParaRPr lang="en-US" sz="5400" dirty="0"/>
          </a:p>
        </p:txBody>
      </p:sp>
      <p:sp>
        <p:nvSpPr>
          <p:cNvPr id="8" name="Text 6"/>
          <p:cNvSpPr txBox="1"/>
          <p:nvPr/>
        </p:nvSpPr>
        <p:spPr>
          <a:xfrm>
            <a:off x="548640" y="2514600"/>
            <a:ext cx="2606040" cy="365760"/>
          </a:xfrm>
          <a:prstGeom prst="rect">
            <a:avLst/>
          </a:prstGeom>
          <a:noFill/>
          <a:ln/>
        </p:spPr>
        <p:txBody>
          <a:bodyPr wrap="square" lIns="0" tIns="0" rIns="0" bIns="0" rtlCol="0" anchor="ctr"/>
          <a:lstStyle/>
          <a:p>
            <a:pPr marL="0" indent="0" algn="ctr">
              <a:buNone/>
            </a:pPr>
            <a:r>
              <a:rPr lang="en-US" sz="1600" b="1" dirty="0">
                <a:solidFill>
                  <a:srgbClr val="1F2A28"/>
                </a:solidFill>
                <a:latin typeface="Calibri" pitchFamily="34" charset="0"/>
                <a:ea typeface="Calibri" pitchFamily="34" charset="-122"/>
                <a:cs typeface="Calibri" pitchFamily="34" charset="-120"/>
              </a:rPr>
              <a:t>trimestres</a:t>
            </a:r>
            <a:endParaRPr lang="en-US" sz="1600" dirty="0"/>
          </a:p>
        </p:txBody>
      </p:sp>
      <p:sp>
        <p:nvSpPr>
          <p:cNvPr id="9" name="Text 7"/>
          <p:cNvSpPr txBox="1"/>
          <p:nvPr/>
        </p:nvSpPr>
        <p:spPr>
          <a:xfrm>
            <a:off x="548640" y="2852928"/>
            <a:ext cx="2606040" cy="320040"/>
          </a:xfrm>
          <a:prstGeom prst="rect">
            <a:avLst/>
          </a:prstGeom>
          <a:noFill/>
          <a:ln/>
        </p:spPr>
        <p:txBody>
          <a:bodyPr wrap="square" lIns="0" tIns="0" rIns="0" bIns="0" rtlCol="0" anchor="ctr"/>
          <a:lstStyle/>
          <a:p>
            <a:pPr marL="0" indent="0" algn="ctr">
              <a:buNone/>
            </a:pPr>
            <a:r>
              <a:rPr lang="en-US" sz="1200" dirty="0">
                <a:solidFill>
                  <a:srgbClr val="5E6B68"/>
                </a:solidFill>
                <a:latin typeface="Calibri" pitchFamily="34" charset="0"/>
                <a:ea typeface="Calibri" pitchFamily="34" charset="-122"/>
                <a:cs typeface="Calibri" pitchFamily="34" charset="-120"/>
              </a:rPr>
              <a:t>T1 à T3, 2020 et 2021</a:t>
            </a:r>
            <a:endParaRPr lang="en-US" sz="1200" dirty="0"/>
          </a:p>
        </p:txBody>
      </p:sp>
      <p:sp>
        <p:nvSpPr>
          <p:cNvPr id="10" name="Shape 8"/>
          <p:cNvSpPr/>
          <p:nvPr/>
        </p:nvSpPr>
        <p:spPr>
          <a:xfrm>
            <a:off x="3383280" y="1554480"/>
            <a:ext cx="2606040" cy="1828800"/>
          </a:xfrm>
          <a:prstGeom prst="roundRect">
            <a:avLst>
              <a:gd name="adj" fmla="val 4000"/>
            </a:avLst>
          </a:prstGeom>
          <a:solidFill>
            <a:srgbClr val="EAF2EF"/>
          </a:solidFill>
          <a:ln w="9525">
            <a:solidFill>
              <a:srgbClr val="C9D8D3"/>
            </a:solidFill>
            <a:prstDash val="solid"/>
          </a:ln>
        </p:spPr>
        <p:txBody>
          <a:bodyPr/>
          <a:lstStyle/>
          <a:p>
            <a:endParaRPr lang="en-US"/>
          </a:p>
        </p:txBody>
      </p:sp>
      <p:sp>
        <p:nvSpPr>
          <p:cNvPr id="11" name="Text 9"/>
          <p:cNvSpPr txBox="1"/>
          <p:nvPr/>
        </p:nvSpPr>
        <p:spPr>
          <a:xfrm>
            <a:off x="3383280" y="1645920"/>
            <a:ext cx="2606040" cy="868680"/>
          </a:xfrm>
          <a:prstGeom prst="rect">
            <a:avLst/>
          </a:prstGeom>
          <a:noFill/>
          <a:ln/>
        </p:spPr>
        <p:txBody>
          <a:bodyPr wrap="square" lIns="0" tIns="0" rIns="0" bIns="0" rtlCol="0" anchor="ctr"/>
          <a:lstStyle/>
          <a:p>
            <a:pPr marL="0" indent="0" algn="ctr">
              <a:buNone/>
            </a:pPr>
            <a:r>
              <a:rPr lang="en-US" sz="5400" b="1" dirty="0">
                <a:solidFill>
                  <a:srgbClr val="17332E"/>
                </a:solidFill>
                <a:latin typeface="Cambria" pitchFamily="34" charset="0"/>
                <a:ea typeface="Cambria" pitchFamily="34" charset="-122"/>
                <a:cs typeface="Cambria" pitchFamily="34" charset="-120"/>
              </a:rPr>
              <a:t>14</a:t>
            </a:r>
            <a:endParaRPr lang="en-US" sz="5400" dirty="0"/>
          </a:p>
        </p:txBody>
      </p:sp>
      <p:sp>
        <p:nvSpPr>
          <p:cNvPr id="12" name="Text 10"/>
          <p:cNvSpPr txBox="1"/>
          <p:nvPr/>
        </p:nvSpPr>
        <p:spPr>
          <a:xfrm>
            <a:off x="3383280" y="2514600"/>
            <a:ext cx="2606040" cy="365760"/>
          </a:xfrm>
          <a:prstGeom prst="rect">
            <a:avLst/>
          </a:prstGeom>
          <a:noFill/>
          <a:ln/>
        </p:spPr>
        <p:txBody>
          <a:bodyPr wrap="square" lIns="0" tIns="0" rIns="0" bIns="0" rtlCol="0" anchor="ctr"/>
          <a:lstStyle/>
          <a:p>
            <a:pPr marL="0" indent="0" algn="ctr">
              <a:buNone/>
            </a:pPr>
            <a:r>
              <a:rPr lang="en-US" sz="1600" b="1" dirty="0">
                <a:solidFill>
                  <a:srgbClr val="1F2A28"/>
                </a:solidFill>
                <a:latin typeface="Calibri" pitchFamily="34" charset="0"/>
                <a:ea typeface="Calibri" pitchFamily="34" charset="-122"/>
                <a:cs typeface="Calibri" pitchFamily="34" charset="-120"/>
              </a:rPr>
              <a:t>variables</a:t>
            </a:r>
            <a:endParaRPr lang="en-US" sz="1600" dirty="0"/>
          </a:p>
        </p:txBody>
      </p:sp>
      <p:sp>
        <p:nvSpPr>
          <p:cNvPr id="13" name="Text 11"/>
          <p:cNvSpPr txBox="1"/>
          <p:nvPr/>
        </p:nvSpPr>
        <p:spPr>
          <a:xfrm>
            <a:off x="3383280" y="2852928"/>
            <a:ext cx="2606040" cy="320040"/>
          </a:xfrm>
          <a:prstGeom prst="rect">
            <a:avLst/>
          </a:prstGeom>
          <a:noFill/>
          <a:ln/>
        </p:spPr>
        <p:txBody>
          <a:bodyPr wrap="square" lIns="0" tIns="0" rIns="0" bIns="0" rtlCol="0" anchor="ctr"/>
          <a:lstStyle/>
          <a:p>
            <a:pPr marL="0" indent="0" algn="ctr">
              <a:buNone/>
            </a:pPr>
            <a:r>
              <a:rPr lang="en-US" sz="1200" dirty="0">
                <a:solidFill>
                  <a:srgbClr val="5E6B68"/>
                </a:solidFill>
                <a:latin typeface="Calibri" pitchFamily="34" charset="0"/>
                <a:ea typeface="Calibri" pitchFamily="34" charset="-122"/>
                <a:cs typeface="Calibri" pitchFamily="34" charset="-120"/>
              </a:rPr>
              <a:t>par transaction</a:t>
            </a:r>
            <a:endParaRPr lang="en-US" sz="1200" dirty="0"/>
          </a:p>
        </p:txBody>
      </p:sp>
      <p:sp>
        <p:nvSpPr>
          <p:cNvPr id="14" name="Shape 12"/>
          <p:cNvSpPr/>
          <p:nvPr/>
        </p:nvSpPr>
        <p:spPr>
          <a:xfrm>
            <a:off x="6217920" y="1554480"/>
            <a:ext cx="2606040" cy="1828800"/>
          </a:xfrm>
          <a:prstGeom prst="roundRect">
            <a:avLst>
              <a:gd name="adj" fmla="val 4000"/>
            </a:avLst>
          </a:prstGeom>
          <a:solidFill>
            <a:srgbClr val="EAF2EF"/>
          </a:solidFill>
          <a:ln w="9525">
            <a:solidFill>
              <a:srgbClr val="C9D8D3"/>
            </a:solidFill>
            <a:prstDash val="solid"/>
          </a:ln>
        </p:spPr>
        <p:txBody>
          <a:bodyPr/>
          <a:lstStyle/>
          <a:p>
            <a:endParaRPr lang="en-US"/>
          </a:p>
        </p:txBody>
      </p:sp>
      <p:sp>
        <p:nvSpPr>
          <p:cNvPr id="15" name="Text 13"/>
          <p:cNvSpPr txBox="1"/>
          <p:nvPr/>
        </p:nvSpPr>
        <p:spPr>
          <a:xfrm>
            <a:off x="6217920" y="1645920"/>
            <a:ext cx="2606040" cy="868680"/>
          </a:xfrm>
          <a:prstGeom prst="rect">
            <a:avLst/>
          </a:prstGeom>
          <a:noFill/>
          <a:ln/>
        </p:spPr>
        <p:txBody>
          <a:bodyPr wrap="square" lIns="0" tIns="0" rIns="0" bIns="0" rtlCol="0" anchor="ctr"/>
          <a:lstStyle/>
          <a:p>
            <a:pPr marL="0" indent="0" algn="ctr">
              <a:buNone/>
            </a:pPr>
            <a:r>
              <a:rPr lang="en-US" sz="5400" b="1" dirty="0">
                <a:solidFill>
                  <a:srgbClr val="17332E"/>
                </a:solidFill>
                <a:latin typeface="Cambria" pitchFamily="34" charset="0"/>
                <a:ea typeface="Cambria" pitchFamily="34" charset="-122"/>
                <a:cs typeface="Cambria" pitchFamily="34" charset="-120"/>
              </a:rPr>
              <a:t>1</a:t>
            </a:r>
            <a:endParaRPr lang="en-US" sz="5400" dirty="0"/>
          </a:p>
        </p:txBody>
      </p:sp>
      <p:sp>
        <p:nvSpPr>
          <p:cNvPr id="16" name="Text 14"/>
          <p:cNvSpPr txBox="1"/>
          <p:nvPr/>
        </p:nvSpPr>
        <p:spPr>
          <a:xfrm>
            <a:off x="6217920" y="2514600"/>
            <a:ext cx="2606040" cy="365760"/>
          </a:xfrm>
          <a:prstGeom prst="rect">
            <a:avLst/>
          </a:prstGeom>
          <a:noFill/>
          <a:ln/>
        </p:spPr>
        <p:txBody>
          <a:bodyPr wrap="square" lIns="0" tIns="0" rIns="0" bIns="0" rtlCol="0" anchor="ctr"/>
          <a:lstStyle/>
          <a:p>
            <a:pPr marL="0" indent="0" algn="ctr">
              <a:buNone/>
            </a:pPr>
            <a:r>
              <a:rPr lang="en-US" sz="1600" b="1" dirty="0">
                <a:solidFill>
                  <a:srgbClr val="1F2A28"/>
                </a:solidFill>
                <a:latin typeface="Calibri" pitchFamily="34" charset="0"/>
                <a:ea typeface="Calibri" pitchFamily="34" charset="-122"/>
                <a:cs typeface="Calibri" pitchFamily="34" charset="-120"/>
              </a:rPr>
              <a:t>table de faits</a:t>
            </a:r>
            <a:endParaRPr lang="en-US" sz="1600" dirty="0"/>
          </a:p>
        </p:txBody>
      </p:sp>
      <p:sp>
        <p:nvSpPr>
          <p:cNvPr id="17" name="Text 15"/>
          <p:cNvSpPr txBox="1"/>
          <p:nvPr/>
        </p:nvSpPr>
        <p:spPr>
          <a:xfrm>
            <a:off x="6217920" y="2852928"/>
            <a:ext cx="2606040" cy="320040"/>
          </a:xfrm>
          <a:prstGeom prst="rect">
            <a:avLst/>
          </a:prstGeom>
          <a:noFill/>
          <a:ln/>
        </p:spPr>
        <p:txBody>
          <a:bodyPr wrap="square" lIns="0" tIns="0" rIns="0" bIns="0" rtlCol="0" anchor="ctr"/>
          <a:lstStyle/>
          <a:p>
            <a:pPr marL="0" indent="0" algn="ctr">
              <a:buNone/>
            </a:pPr>
            <a:r>
              <a:rPr lang="en-US" sz="1200" dirty="0">
                <a:solidFill>
                  <a:srgbClr val="5E6B68"/>
                </a:solidFill>
                <a:latin typeface="Calibri" pitchFamily="34" charset="0"/>
                <a:ea typeface="Calibri" pitchFamily="34" charset="-122"/>
                <a:cs typeface="Calibri" pitchFamily="34" charset="-120"/>
              </a:rPr>
              <a:t>granularité transactionnelle</a:t>
            </a:r>
            <a:endParaRPr lang="en-US" sz="1200" dirty="0"/>
          </a:p>
        </p:txBody>
      </p:sp>
      <p:sp>
        <p:nvSpPr>
          <p:cNvPr id="18" name="Shape 16"/>
          <p:cNvSpPr/>
          <p:nvPr/>
        </p:nvSpPr>
        <p:spPr>
          <a:xfrm>
            <a:off x="9052560" y="1554480"/>
            <a:ext cx="2606040" cy="1828800"/>
          </a:xfrm>
          <a:prstGeom prst="roundRect">
            <a:avLst>
              <a:gd name="adj" fmla="val 4000"/>
            </a:avLst>
          </a:prstGeom>
          <a:solidFill>
            <a:srgbClr val="17332E"/>
          </a:solidFill>
          <a:ln w="9525">
            <a:solidFill>
              <a:srgbClr val="C9D8D3"/>
            </a:solidFill>
            <a:prstDash val="solid"/>
          </a:ln>
        </p:spPr>
        <p:txBody>
          <a:bodyPr/>
          <a:lstStyle/>
          <a:p>
            <a:endParaRPr lang="en-US"/>
          </a:p>
        </p:txBody>
      </p:sp>
      <p:sp>
        <p:nvSpPr>
          <p:cNvPr id="19" name="Text 17"/>
          <p:cNvSpPr txBox="1"/>
          <p:nvPr/>
        </p:nvSpPr>
        <p:spPr>
          <a:xfrm>
            <a:off x="9052560" y="1645920"/>
            <a:ext cx="2606040" cy="868680"/>
          </a:xfrm>
          <a:prstGeom prst="rect">
            <a:avLst/>
          </a:prstGeom>
          <a:noFill/>
          <a:ln/>
        </p:spPr>
        <p:txBody>
          <a:bodyPr wrap="square" lIns="0" tIns="0" rIns="0" bIns="0" rtlCol="0" anchor="ctr"/>
          <a:lstStyle/>
          <a:p>
            <a:pPr marL="0" indent="0" algn="ctr">
              <a:buNone/>
            </a:pPr>
            <a:r>
              <a:rPr lang="en-US" sz="5400" b="1" dirty="0">
                <a:solidFill>
                  <a:srgbClr val="E9A23B"/>
                </a:solidFill>
                <a:latin typeface="Cambria" pitchFamily="34" charset="0"/>
                <a:ea typeface="Cambria" pitchFamily="34" charset="-122"/>
                <a:cs typeface="Cambria" pitchFamily="34" charset="-120"/>
              </a:rPr>
              <a:t>0</a:t>
            </a:r>
            <a:endParaRPr lang="en-US" sz="5400" dirty="0"/>
          </a:p>
        </p:txBody>
      </p:sp>
      <p:sp>
        <p:nvSpPr>
          <p:cNvPr id="20" name="Text 18"/>
          <p:cNvSpPr txBox="1"/>
          <p:nvPr/>
        </p:nvSpPr>
        <p:spPr>
          <a:xfrm>
            <a:off x="9052560" y="2514600"/>
            <a:ext cx="26060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table de dimension</a:t>
            </a:r>
            <a:endParaRPr lang="en-US" sz="1600" dirty="0"/>
          </a:p>
        </p:txBody>
      </p:sp>
      <p:sp>
        <p:nvSpPr>
          <p:cNvPr id="21" name="Text 19"/>
          <p:cNvSpPr txBox="1"/>
          <p:nvPr/>
        </p:nvSpPr>
        <p:spPr>
          <a:xfrm>
            <a:off x="9052560" y="2852928"/>
            <a:ext cx="2606040" cy="320040"/>
          </a:xfrm>
          <a:prstGeom prst="rect">
            <a:avLst/>
          </a:prstGeom>
          <a:noFill/>
          <a:ln/>
        </p:spPr>
        <p:txBody>
          <a:bodyPr wrap="square" lIns="0" tIns="0" rIns="0" bIns="0" rtlCol="0" anchor="ctr"/>
          <a:lstStyle/>
          <a:p>
            <a:pPr marL="0" indent="0" algn="ctr">
              <a:buNone/>
            </a:pPr>
            <a:r>
              <a:rPr lang="en-US" sz="1200" dirty="0">
                <a:solidFill>
                  <a:srgbClr val="CFE0DA"/>
                </a:solidFill>
                <a:latin typeface="Calibri" pitchFamily="34" charset="0"/>
                <a:ea typeface="Calibri" pitchFamily="34" charset="-122"/>
                <a:cs typeface="Calibri" pitchFamily="34" charset="-120"/>
              </a:rPr>
              <a:t>uniquement des identifiants</a:t>
            </a:r>
            <a:endParaRPr lang="en-US" sz="1200" dirty="0"/>
          </a:p>
        </p:txBody>
      </p:sp>
      <p:sp>
        <p:nvSpPr>
          <p:cNvPr id="22" name="Text 20"/>
          <p:cNvSpPr txBox="1"/>
          <p:nvPr/>
        </p:nvSpPr>
        <p:spPr>
          <a:xfrm>
            <a:off x="548640" y="3749040"/>
            <a:ext cx="2011680" cy="411480"/>
          </a:xfrm>
          <a:prstGeom prst="rect">
            <a:avLst/>
          </a:prstGeom>
          <a:noFill/>
          <a:ln/>
        </p:spPr>
        <p:txBody>
          <a:bodyPr wrap="square" lIns="0" tIns="0" rIns="0" bIns="0" rtlCol="0" anchor="ctr"/>
          <a:lstStyle/>
          <a:p>
            <a:pPr marL="0" indent="0">
              <a:buNone/>
            </a:pPr>
            <a:r>
              <a:rPr lang="en-US" sz="1500" b="1" dirty="0">
                <a:solidFill>
                  <a:srgbClr val="2E5E55"/>
                </a:solidFill>
                <a:latin typeface="Calibri" pitchFamily="34" charset="0"/>
                <a:ea typeface="Calibri" pitchFamily="34" charset="-122"/>
                <a:cs typeface="Calibri" pitchFamily="34" charset="-120"/>
              </a:rPr>
              <a:t>Identifiants</a:t>
            </a:r>
            <a:endParaRPr lang="en-US" sz="1500" dirty="0"/>
          </a:p>
        </p:txBody>
      </p:sp>
      <p:sp>
        <p:nvSpPr>
          <p:cNvPr id="23" name="Text 21"/>
          <p:cNvSpPr txBox="1"/>
          <p:nvPr/>
        </p:nvSpPr>
        <p:spPr>
          <a:xfrm>
            <a:off x="2651760" y="3749040"/>
            <a:ext cx="8961120" cy="411480"/>
          </a:xfrm>
          <a:prstGeom prst="rect">
            <a:avLst/>
          </a:prstGeom>
          <a:noFill/>
          <a:ln/>
        </p:spPr>
        <p:txBody>
          <a:bodyPr wrap="square" lIns="0" tIns="0" rIns="0" bIns="0" rtlCol="0" anchor="ctr"/>
          <a:lstStyle/>
          <a:p>
            <a:pPr marL="0" indent="0">
              <a:buNone/>
            </a:pPr>
            <a:r>
              <a:rPr lang="en-US" sz="1500" dirty="0">
                <a:solidFill>
                  <a:srgbClr val="1F2A28"/>
                </a:solidFill>
                <a:latin typeface="Calibri" pitchFamily="34" charset="0"/>
                <a:ea typeface="Calibri" pitchFamily="34" charset="-122"/>
                <a:cs typeface="Calibri" pitchFamily="34" charset="-120"/>
              </a:rPr>
              <a:t>IdDate, IdVente, IdBoutique, IdProduit, IdPromotion</a:t>
            </a:r>
            <a:endParaRPr lang="en-US" sz="1500" dirty="0"/>
          </a:p>
        </p:txBody>
      </p:sp>
      <p:sp>
        <p:nvSpPr>
          <p:cNvPr id="24" name="Shape 22"/>
          <p:cNvSpPr/>
          <p:nvPr/>
        </p:nvSpPr>
        <p:spPr>
          <a:xfrm>
            <a:off x="548640" y="4206240"/>
            <a:ext cx="11064240" cy="0"/>
          </a:xfrm>
          <a:prstGeom prst="line">
            <a:avLst/>
          </a:prstGeom>
          <a:noFill/>
          <a:ln w="9525">
            <a:solidFill>
              <a:srgbClr val="C9D8D3"/>
            </a:solidFill>
            <a:prstDash val="solid"/>
          </a:ln>
        </p:spPr>
        <p:txBody>
          <a:bodyPr/>
          <a:lstStyle/>
          <a:p>
            <a:endParaRPr lang="en-US"/>
          </a:p>
        </p:txBody>
      </p:sp>
      <p:sp>
        <p:nvSpPr>
          <p:cNvPr id="25" name="Text 23"/>
          <p:cNvSpPr txBox="1"/>
          <p:nvPr/>
        </p:nvSpPr>
        <p:spPr>
          <a:xfrm>
            <a:off x="548640" y="4224528"/>
            <a:ext cx="2011680" cy="411480"/>
          </a:xfrm>
          <a:prstGeom prst="rect">
            <a:avLst/>
          </a:prstGeom>
          <a:noFill/>
          <a:ln/>
        </p:spPr>
        <p:txBody>
          <a:bodyPr wrap="square" lIns="0" tIns="0" rIns="0" bIns="0" rtlCol="0" anchor="ctr"/>
          <a:lstStyle/>
          <a:p>
            <a:pPr marL="0" indent="0">
              <a:buNone/>
            </a:pPr>
            <a:r>
              <a:rPr lang="en-US" sz="1500" b="1" dirty="0">
                <a:solidFill>
                  <a:srgbClr val="2E5E55"/>
                </a:solidFill>
                <a:latin typeface="Calibri" pitchFamily="34" charset="0"/>
                <a:ea typeface="Calibri" pitchFamily="34" charset="-122"/>
                <a:cs typeface="Calibri" pitchFamily="34" charset="-120"/>
              </a:rPr>
              <a:t>Ventes</a:t>
            </a:r>
            <a:endParaRPr lang="en-US" sz="1500" dirty="0"/>
          </a:p>
        </p:txBody>
      </p:sp>
      <p:sp>
        <p:nvSpPr>
          <p:cNvPr id="26" name="Text 24"/>
          <p:cNvSpPr txBox="1"/>
          <p:nvPr/>
        </p:nvSpPr>
        <p:spPr>
          <a:xfrm>
            <a:off x="2651760" y="4224528"/>
            <a:ext cx="8961120" cy="411480"/>
          </a:xfrm>
          <a:prstGeom prst="rect">
            <a:avLst/>
          </a:prstGeom>
          <a:noFill/>
          <a:ln/>
        </p:spPr>
        <p:txBody>
          <a:bodyPr wrap="square" lIns="0" tIns="0" rIns="0" bIns="0" rtlCol="0" anchor="ctr"/>
          <a:lstStyle/>
          <a:p>
            <a:pPr marL="0" indent="0">
              <a:buNone/>
            </a:pPr>
            <a:r>
              <a:rPr lang="en-US" sz="1500" dirty="0">
                <a:solidFill>
                  <a:srgbClr val="1F2A28"/>
                </a:solidFill>
                <a:latin typeface="Calibri" pitchFamily="34" charset="0"/>
                <a:ea typeface="Calibri" pitchFamily="34" charset="-122"/>
                <a:cs typeface="Calibri" pitchFamily="34" charset="-120"/>
              </a:rPr>
              <a:t>Montant des ventes, Quantité de vente, Prix unitaire</a:t>
            </a:r>
            <a:endParaRPr lang="en-US" sz="1500" dirty="0"/>
          </a:p>
        </p:txBody>
      </p:sp>
      <p:sp>
        <p:nvSpPr>
          <p:cNvPr id="27" name="Shape 25"/>
          <p:cNvSpPr/>
          <p:nvPr/>
        </p:nvSpPr>
        <p:spPr>
          <a:xfrm>
            <a:off x="548640" y="4681728"/>
            <a:ext cx="11064240" cy="0"/>
          </a:xfrm>
          <a:prstGeom prst="line">
            <a:avLst/>
          </a:prstGeom>
          <a:noFill/>
          <a:ln w="9525">
            <a:solidFill>
              <a:srgbClr val="C9D8D3"/>
            </a:solidFill>
            <a:prstDash val="solid"/>
          </a:ln>
        </p:spPr>
        <p:txBody>
          <a:bodyPr/>
          <a:lstStyle/>
          <a:p>
            <a:endParaRPr lang="en-US"/>
          </a:p>
        </p:txBody>
      </p:sp>
      <p:sp>
        <p:nvSpPr>
          <p:cNvPr id="28" name="Text 26"/>
          <p:cNvSpPr txBox="1"/>
          <p:nvPr/>
        </p:nvSpPr>
        <p:spPr>
          <a:xfrm>
            <a:off x="548640" y="4700016"/>
            <a:ext cx="2011680" cy="411480"/>
          </a:xfrm>
          <a:prstGeom prst="rect">
            <a:avLst/>
          </a:prstGeom>
          <a:noFill/>
          <a:ln/>
        </p:spPr>
        <p:txBody>
          <a:bodyPr wrap="square" lIns="0" tIns="0" rIns="0" bIns="0" rtlCol="0" anchor="ctr"/>
          <a:lstStyle/>
          <a:p>
            <a:pPr marL="0" indent="0">
              <a:buNone/>
            </a:pPr>
            <a:r>
              <a:rPr lang="en-US" sz="1500" b="1" dirty="0">
                <a:solidFill>
                  <a:srgbClr val="2E5E55"/>
                </a:solidFill>
                <a:latin typeface="Calibri" pitchFamily="34" charset="0"/>
                <a:ea typeface="Calibri" pitchFamily="34" charset="-122"/>
                <a:cs typeface="Calibri" pitchFamily="34" charset="-120"/>
              </a:rPr>
              <a:t>Coûts</a:t>
            </a:r>
            <a:endParaRPr lang="en-US" sz="1500" dirty="0"/>
          </a:p>
        </p:txBody>
      </p:sp>
      <p:sp>
        <p:nvSpPr>
          <p:cNvPr id="29" name="Text 27"/>
          <p:cNvSpPr txBox="1"/>
          <p:nvPr/>
        </p:nvSpPr>
        <p:spPr>
          <a:xfrm>
            <a:off x="2651760" y="4700016"/>
            <a:ext cx="8961120" cy="411480"/>
          </a:xfrm>
          <a:prstGeom prst="rect">
            <a:avLst/>
          </a:prstGeom>
          <a:noFill/>
          <a:ln/>
        </p:spPr>
        <p:txBody>
          <a:bodyPr wrap="square" lIns="0" tIns="0" rIns="0" bIns="0" rtlCol="0" anchor="ctr"/>
          <a:lstStyle/>
          <a:p>
            <a:pPr marL="0" indent="0">
              <a:buNone/>
            </a:pPr>
            <a:r>
              <a:rPr lang="en-US" sz="1500" dirty="0">
                <a:solidFill>
                  <a:srgbClr val="1F2A28"/>
                </a:solidFill>
                <a:latin typeface="Calibri" pitchFamily="34" charset="0"/>
                <a:ea typeface="Calibri" pitchFamily="34" charset="-122"/>
                <a:cs typeface="Calibri" pitchFamily="34" charset="-120"/>
              </a:rPr>
              <a:t>Coût total, Coût unitaire</a:t>
            </a:r>
            <a:endParaRPr lang="en-US" sz="1500" dirty="0"/>
          </a:p>
        </p:txBody>
      </p:sp>
      <p:sp>
        <p:nvSpPr>
          <p:cNvPr id="30" name="Shape 28"/>
          <p:cNvSpPr/>
          <p:nvPr/>
        </p:nvSpPr>
        <p:spPr>
          <a:xfrm>
            <a:off x="548640" y="5157216"/>
            <a:ext cx="11064240" cy="0"/>
          </a:xfrm>
          <a:prstGeom prst="line">
            <a:avLst/>
          </a:prstGeom>
          <a:noFill/>
          <a:ln w="9525">
            <a:solidFill>
              <a:srgbClr val="C9D8D3"/>
            </a:solidFill>
            <a:prstDash val="solid"/>
          </a:ln>
        </p:spPr>
        <p:txBody>
          <a:bodyPr/>
          <a:lstStyle/>
          <a:p>
            <a:endParaRPr lang="en-US"/>
          </a:p>
        </p:txBody>
      </p:sp>
      <p:sp>
        <p:nvSpPr>
          <p:cNvPr id="31" name="Text 29"/>
          <p:cNvSpPr txBox="1"/>
          <p:nvPr/>
        </p:nvSpPr>
        <p:spPr>
          <a:xfrm>
            <a:off x="548640" y="5175504"/>
            <a:ext cx="2011680" cy="411480"/>
          </a:xfrm>
          <a:prstGeom prst="rect">
            <a:avLst/>
          </a:prstGeom>
          <a:noFill/>
          <a:ln/>
        </p:spPr>
        <p:txBody>
          <a:bodyPr wrap="square" lIns="0" tIns="0" rIns="0" bIns="0" rtlCol="0" anchor="ctr"/>
          <a:lstStyle/>
          <a:p>
            <a:pPr marL="0" indent="0">
              <a:buNone/>
            </a:pPr>
            <a:r>
              <a:rPr lang="en-US" sz="1500" b="1" dirty="0">
                <a:solidFill>
                  <a:srgbClr val="2E5E55"/>
                </a:solidFill>
                <a:latin typeface="Calibri" pitchFamily="34" charset="0"/>
                <a:ea typeface="Calibri" pitchFamily="34" charset="-122"/>
                <a:cs typeface="Calibri" pitchFamily="34" charset="-120"/>
              </a:rPr>
              <a:t>Retours</a:t>
            </a:r>
            <a:endParaRPr lang="en-US" sz="1500" dirty="0"/>
          </a:p>
        </p:txBody>
      </p:sp>
      <p:sp>
        <p:nvSpPr>
          <p:cNvPr id="32" name="Text 30"/>
          <p:cNvSpPr txBox="1"/>
          <p:nvPr/>
        </p:nvSpPr>
        <p:spPr>
          <a:xfrm>
            <a:off x="2651760" y="5175504"/>
            <a:ext cx="8961120" cy="411480"/>
          </a:xfrm>
          <a:prstGeom prst="rect">
            <a:avLst/>
          </a:prstGeom>
          <a:noFill/>
          <a:ln/>
        </p:spPr>
        <p:txBody>
          <a:bodyPr wrap="square" lIns="0" tIns="0" rIns="0" bIns="0" rtlCol="0" anchor="ctr"/>
          <a:lstStyle/>
          <a:p>
            <a:pPr marL="0" indent="0">
              <a:buNone/>
            </a:pPr>
            <a:r>
              <a:rPr lang="en-US" sz="1500" dirty="0">
                <a:solidFill>
                  <a:srgbClr val="1F2A28"/>
                </a:solidFill>
                <a:latin typeface="Calibri" pitchFamily="34" charset="0"/>
                <a:ea typeface="Calibri" pitchFamily="34" charset="-122"/>
                <a:cs typeface="Calibri" pitchFamily="34" charset="-120"/>
              </a:rPr>
              <a:t>Montant du retour, Quantité de retour</a:t>
            </a:r>
            <a:endParaRPr lang="en-US" sz="1500" dirty="0"/>
          </a:p>
        </p:txBody>
      </p:sp>
      <p:sp>
        <p:nvSpPr>
          <p:cNvPr id="33" name="Shape 31"/>
          <p:cNvSpPr/>
          <p:nvPr/>
        </p:nvSpPr>
        <p:spPr>
          <a:xfrm>
            <a:off x="548640" y="5632704"/>
            <a:ext cx="11064240" cy="0"/>
          </a:xfrm>
          <a:prstGeom prst="line">
            <a:avLst/>
          </a:prstGeom>
          <a:noFill/>
          <a:ln w="9525">
            <a:solidFill>
              <a:srgbClr val="C9D8D3"/>
            </a:solidFill>
            <a:prstDash val="solid"/>
          </a:ln>
        </p:spPr>
        <p:txBody>
          <a:bodyPr/>
          <a:lstStyle/>
          <a:p>
            <a:endParaRPr lang="en-US"/>
          </a:p>
        </p:txBody>
      </p:sp>
      <p:sp>
        <p:nvSpPr>
          <p:cNvPr id="34" name="Text 32"/>
          <p:cNvSpPr txBox="1"/>
          <p:nvPr/>
        </p:nvSpPr>
        <p:spPr>
          <a:xfrm>
            <a:off x="548640" y="5650992"/>
            <a:ext cx="2011680" cy="411480"/>
          </a:xfrm>
          <a:prstGeom prst="rect">
            <a:avLst/>
          </a:prstGeom>
          <a:noFill/>
          <a:ln/>
        </p:spPr>
        <p:txBody>
          <a:bodyPr wrap="square" lIns="0" tIns="0" rIns="0" bIns="0" rtlCol="0" anchor="ctr"/>
          <a:lstStyle/>
          <a:p>
            <a:pPr marL="0" indent="0">
              <a:buNone/>
            </a:pPr>
            <a:r>
              <a:rPr lang="en-US" sz="1500" b="1" dirty="0">
                <a:solidFill>
                  <a:srgbClr val="2E5E55"/>
                </a:solidFill>
                <a:latin typeface="Calibri" pitchFamily="34" charset="0"/>
                <a:ea typeface="Calibri" pitchFamily="34" charset="-122"/>
                <a:cs typeface="Calibri" pitchFamily="34" charset="-120"/>
              </a:rPr>
              <a:t>Remises</a:t>
            </a:r>
            <a:endParaRPr lang="en-US" sz="1500" dirty="0"/>
          </a:p>
        </p:txBody>
      </p:sp>
      <p:sp>
        <p:nvSpPr>
          <p:cNvPr id="35" name="Text 33"/>
          <p:cNvSpPr txBox="1"/>
          <p:nvPr/>
        </p:nvSpPr>
        <p:spPr>
          <a:xfrm>
            <a:off x="2651760" y="5650992"/>
            <a:ext cx="8961120" cy="411480"/>
          </a:xfrm>
          <a:prstGeom prst="rect">
            <a:avLst/>
          </a:prstGeom>
          <a:noFill/>
          <a:ln/>
        </p:spPr>
        <p:txBody>
          <a:bodyPr wrap="square" lIns="0" tIns="0" rIns="0" bIns="0" rtlCol="0" anchor="ctr"/>
          <a:lstStyle/>
          <a:p>
            <a:pPr marL="0" indent="0">
              <a:buNone/>
            </a:pPr>
            <a:r>
              <a:rPr lang="en-US" sz="1500" dirty="0">
                <a:solidFill>
                  <a:srgbClr val="1F2A28"/>
                </a:solidFill>
                <a:latin typeface="Calibri" pitchFamily="34" charset="0"/>
                <a:ea typeface="Calibri" pitchFamily="34" charset="-122"/>
                <a:cs typeface="Calibri" pitchFamily="34" charset="-120"/>
              </a:rPr>
              <a:t>Montant de la remise, Quantité de remise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LIMITES DES DONNÉES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Ce qui manque et ce que ça bloque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968496"/>
        </p:xfrm>
        <a:graphic>
          <a:graphicData uri="http://schemas.openxmlformats.org/drawingml/2006/table">
            <a:tbl>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Attributs manquants</a:t>
                      </a:r>
                      <a:endParaRPr lang="en-US" sz="14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Impact</a:t>
                      </a:r>
                      <a:endParaRPr lang="en-US" sz="14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Boutique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Localisation, type, surface, effectif, dates d'ouverture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Q1 : pas d'analyse géographique ni d'explication des écarts</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Produit</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Catégorie, sous-catégorie, marque, statut</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Q1, Q3 : analyse limitée au niveau de l'identifiant</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Promotion</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Type, % annoncé, dates de début et de fin</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Q2, Q4, Q5 : efficacité des campagnes non évaluable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Retours</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Motif, état du produit, délai</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Q3 : on voit combien, pas pourquoi</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Charges et stocks</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Charges fixes, inventaires, démarque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Rentabilité limitée à la marge brute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17332E"/>
                          </a:solidFill>
                          <a:latin typeface="Calibri" pitchFamily="34" charset="0"/>
                          <a:ea typeface="Calibri" pitchFamily="34" charset="-122"/>
                          <a:cs typeface="Calibri" pitchFamily="34" charset="-120"/>
                        </a:rPr>
                        <a:t>Contexte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COVID-19, jours fériés, concurrence</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buNone/>
                      </a:pPr>
                      <a:r>
                        <a:rPr lang="en-US" sz="1300" dirty="0">
                          <a:solidFill>
                            <a:srgbClr val="1F2A28"/>
                          </a:solidFill>
                          <a:latin typeface="Calibri" pitchFamily="34" charset="0"/>
                          <a:ea typeface="Calibri" pitchFamily="34" charset="-122"/>
                          <a:cs typeface="Calibri" pitchFamily="34" charset="-120"/>
                        </a:rPr>
                        <a:t>Tendances 2020-2021 difficiles à interpréter</a:t>
                      </a:r>
                      <a:endParaRPr lang="en-US" sz="1300" dirty="0">
                        <a:latin typeface="Calibri" charset="0"/>
                        <a:ea typeface="Calibri" charset="0"/>
                        <a:cs typeface="Calibri" charset="0"/>
                      </a:endParaRPr>
                    </a:p>
                  </a:txBody>
                  <a:tcPr marL="101600" marR="101600" marT="50800" marB="508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SPRINT 0 · COLLECTE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Comment nous avons collecté les données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54480"/>
            <a:ext cx="2606040" cy="3017520"/>
          </a:xfrm>
          <a:prstGeom prst="roundRect">
            <a:avLst>
              <a:gd name="adj" fmla="val 2807"/>
            </a:avLst>
          </a:prstGeom>
          <a:solidFill>
            <a:srgbClr val="F5F9F7"/>
          </a:solidFill>
          <a:ln w="9525">
            <a:solidFill>
              <a:srgbClr val="C9D8D3"/>
            </a:solidFill>
            <a:prstDash val="solid"/>
          </a:ln>
        </p:spPr>
        <p:txBody>
          <a:bodyPr/>
          <a:lstStyle/>
          <a:p>
            <a:endParaRPr lang="en-US"/>
          </a:p>
        </p:txBody>
      </p:sp>
      <p:sp>
        <p:nvSpPr>
          <p:cNvPr id="7" name="Shape 5"/>
          <p:cNvSpPr/>
          <p:nvPr/>
        </p:nvSpPr>
        <p:spPr>
          <a:xfrm>
            <a:off x="777240" y="1737360"/>
            <a:ext cx="566928" cy="566928"/>
          </a:xfrm>
          <a:prstGeom prst="ellipse">
            <a:avLst/>
          </a:prstGeom>
          <a:solidFill>
            <a:srgbClr val="E9A23B"/>
          </a:solidFill>
          <a:ln w="12700">
            <a:solidFill>
              <a:srgbClr val="E9A23B"/>
            </a:solidFill>
            <a:prstDash val="solid"/>
          </a:ln>
        </p:spPr>
        <p:txBody>
          <a:bodyPr/>
          <a:lstStyle/>
          <a:p>
            <a:endParaRPr lang="en-US"/>
          </a:p>
        </p:txBody>
      </p:sp>
      <p:sp>
        <p:nvSpPr>
          <p:cNvPr id="8" name="Text 6"/>
          <p:cNvSpPr txBox="1"/>
          <p:nvPr/>
        </p:nvSpPr>
        <p:spPr>
          <a:xfrm>
            <a:off x="777240" y="1737360"/>
            <a:ext cx="566928" cy="566928"/>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463040" y="1737360"/>
            <a:ext cx="1600200" cy="566928"/>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Identifier</a:t>
            </a:r>
            <a:endParaRPr lang="en-US" sz="1800" dirty="0"/>
          </a:p>
        </p:txBody>
      </p:sp>
      <p:sp>
        <p:nvSpPr>
          <p:cNvPr id="10" name="Text 8"/>
          <p:cNvSpPr txBox="1"/>
          <p:nvPr/>
        </p:nvSpPr>
        <p:spPr>
          <a:xfrm>
            <a:off x="777240" y="2514600"/>
            <a:ext cx="2194560" cy="192024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La structure de nos fichiers est identique à la table FactSales de Contoso Retail DW (Microsoft), à deux colonnes près.</a:t>
            </a:r>
            <a:endParaRPr lang="en-US" sz="1400" dirty="0"/>
          </a:p>
        </p:txBody>
      </p:sp>
      <p:sp>
        <p:nvSpPr>
          <p:cNvPr id="11" name="Text 9"/>
          <p:cNvSpPr txBox="1"/>
          <p:nvPr/>
        </p:nvSpPr>
        <p:spPr>
          <a:xfrm>
            <a:off x="313639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3383280" y="1554480"/>
            <a:ext cx="2606040" cy="3017520"/>
          </a:xfrm>
          <a:prstGeom prst="roundRect">
            <a:avLst>
              <a:gd name="adj" fmla="val 2807"/>
            </a:avLst>
          </a:prstGeom>
          <a:solidFill>
            <a:srgbClr val="F5F9F7"/>
          </a:solidFill>
          <a:ln w="9525">
            <a:solidFill>
              <a:srgbClr val="C9D8D3"/>
            </a:solidFill>
            <a:prstDash val="solid"/>
          </a:ln>
        </p:spPr>
        <p:txBody>
          <a:bodyPr/>
          <a:lstStyle/>
          <a:p>
            <a:endParaRPr lang="en-US"/>
          </a:p>
        </p:txBody>
      </p:sp>
      <p:sp>
        <p:nvSpPr>
          <p:cNvPr id="13" name="Shape 11"/>
          <p:cNvSpPr/>
          <p:nvPr/>
        </p:nvSpPr>
        <p:spPr>
          <a:xfrm>
            <a:off x="3611880" y="1737360"/>
            <a:ext cx="566928" cy="566928"/>
          </a:xfrm>
          <a:prstGeom prst="ellipse">
            <a:avLst/>
          </a:prstGeom>
          <a:solidFill>
            <a:srgbClr val="E9A23B"/>
          </a:solidFill>
          <a:ln w="12700">
            <a:solidFill>
              <a:srgbClr val="E9A23B"/>
            </a:solidFill>
            <a:prstDash val="solid"/>
          </a:ln>
        </p:spPr>
        <p:txBody>
          <a:bodyPr/>
          <a:lstStyle/>
          <a:p>
            <a:endParaRPr lang="en-US"/>
          </a:p>
        </p:txBody>
      </p:sp>
      <p:sp>
        <p:nvSpPr>
          <p:cNvPr id="14" name="Text 12"/>
          <p:cNvSpPr txBox="1"/>
          <p:nvPr/>
        </p:nvSpPr>
        <p:spPr>
          <a:xfrm>
            <a:off x="3611880" y="1737360"/>
            <a:ext cx="566928" cy="566928"/>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297680" y="1737360"/>
            <a:ext cx="1600200" cy="566928"/>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Restaurer</a:t>
            </a:r>
            <a:endParaRPr lang="en-US" sz="1800" dirty="0"/>
          </a:p>
        </p:txBody>
      </p:sp>
      <p:sp>
        <p:nvSpPr>
          <p:cNvPr id="16" name="Text 14"/>
          <p:cNvSpPr txBox="1"/>
          <p:nvPr/>
        </p:nvSpPr>
        <p:spPr>
          <a:xfrm>
            <a:off x="3611880" y="2514600"/>
            <a:ext cx="2194560" cy="192024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Base téléchargée (fichier .bak) et restaurée dans SQL Server Express avec SSMS.</a:t>
            </a:r>
            <a:endParaRPr lang="en-US" sz="1400" dirty="0"/>
          </a:p>
        </p:txBody>
      </p:sp>
      <p:sp>
        <p:nvSpPr>
          <p:cNvPr id="17" name="Text 15"/>
          <p:cNvSpPr txBox="1"/>
          <p:nvPr/>
        </p:nvSpPr>
        <p:spPr>
          <a:xfrm>
            <a:off x="597103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18" name="Shape 16"/>
          <p:cNvSpPr/>
          <p:nvPr/>
        </p:nvSpPr>
        <p:spPr>
          <a:xfrm>
            <a:off x="6217920" y="1554480"/>
            <a:ext cx="2606040" cy="3017520"/>
          </a:xfrm>
          <a:prstGeom prst="roundRect">
            <a:avLst>
              <a:gd name="adj" fmla="val 2807"/>
            </a:avLst>
          </a:prstGeom>
          <a:solidFill>
            <a:srgbClr val="F5F9F7"/>
          </a:solidFill>
          <a:ln w="9525">
            <a:solidFill>
              <a:srgbClr val="C9D8D3"/>
            </a:solidFill>
            <a:prstDash val="solid"/>
          </a:ln>
        </p:spPr>
        <p:txBody>
          <a:bodyPr/>
          <a:lstStyle/>
          <a:p>
            <a:endParaRPr lang="en-US"/>
          </a:p>
        </p:txBody>
      </p:sp>
      <p:sp>
        <p:nvSpPr>
          <p:cNvPr id="19" name="Shape 17"/>
          <p:cNvSpPr/>
          <p:nvPr/>
        </p:nvSpPr>
        <p:spPr>
          <a:xfrm>
            <a:off x="6446520" y="1737360"/>
            <a:ext cx="566928" cy="566928"/>
          </a:xfrm>
          <a:prstGeom prst="ellipse">
            <a:avLst/>
          </a:prstGeom>
          <a:solidFill>
            <a:srgbClr val="E9A23B"/>
          </a:solidFill>
          <a:ln w="12700">
            <a:solidFill>
              <a:srgbClr val="E9A23B"/>
            </a:solidFill>
            <a:prstDash val="solid"/>
          </a:ln>
        </p:spPr>
        <p:txBody>
          <a:bodyPr/>
          <a:lstStyle/>
          <a:p>
            <a:endParaRPr lang="en-US"/>
          </a:p>
        </p:txBody>
      </p:sp>
      <p:sp>
        <p:nvSpPr>
          <p:cNvPr id="20" name="Text 18"/>
          <p:cNvSpPr txBox="1"/>
          <p:nvPr/>
        </p:nvSpPr>
        <p:spPr>
          <a:xfrm>
            <a:off x="6446520" y="1737360"/>
            <a:ext cx="566928" cy="566928"/>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7132320" y="1737360"/>
            <a:ext cx="1600200" cy="566928"/>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Extraire</a:t>
            </a:r>
            <a:endParaRPr lang="en-US" sz="1800" dirty="0"/>
          </a:p>
        </p:txBody>
      </p:sp>
      <p:sp>
        <p:nvSpPr>
          <p:cNvPr id="22" name="Text 20"/>
          <p:cNvSpPr txBox="1"/>
          <p:nvPr/>
        </p:nvSpPr>
        <p:spPr>
          <a:xfrm>
            <a:off x="6446520" y="2514600"/>
            <a:ext cx="2194560" cy="1920240"/>
          </a:xfrm>
          <a:prstGeom prst="rect">
            <a:avLst/>
          </a:prstGeom>
          <a:noFill/>
          <a:ln/>
        </p:spPr>
        <p:txBody>
          <a:bodyPr wrap="square" lIns="0" tIns="0" rIns="0" bIns="0" rtlCol="0" anchor="t"/>
          <a:lstStyle/>
          <a:p>
            <a:pPr marL="0" indent="0">
              <a:buNone/>
            </a:pPr>
            <a:r>
              <a:rPr lang="en-US" sz="1400" dirty="0">
                <a:solidFill>
                  <a:srgbClr val="1F2A28"/>
                </a:solidFill>
                <a:latin typeface="Calibri" pitchFamily="34" charset="0"/>
                <a:ea typeface="Calibri" pitchFamily="34" charset="-122"/>
                <a:cs typeface="Calibri" pitchFamily="34" charset="-120"/>
              </a:rPr>
              <a:t>Connexion Python (pyodbc, SQLAlchemy) : une table = un CSV. Colonnes géographiques converties en texte.</a:t>
            </a:r>
            <a:endParaRPr lang="en-US" sz="1400" dirty="0"/>
          </a:p>
        </p:txBody>
      </p:sp>
      <p:sp>
        <p:nvSpPr>
          <p:cNvPr id="23" name="Text 21"/>
          <p:cNvSpPr txBox="1"/>
          <p:nvPr/>
        </p:nvSpPr>
        <p:spPr>
          <a:xfrm>
            <a:off x="880567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24" name="Shape 22"/>
          <p:cNvSpPr/>
          <p:nvPr/>
        </p:nvSpPr>
        <p:spPr>
          <a:xfrm>
            <a:off x="9052560" y="1554480"/>
            <a:ext cx="2606040" cy="3017520"/>
          </a:xfrm>
          <a:prstGeom prst="roundRect">
            <a:avLst>
              <a:gd name="adj" fmla="val 2807"/>
            </a:avLst>
          </a:prstGeom>
          <a:solidFill>
            <a:srgbClr val="17332E"/>
          </a:solidFill>
          <a:ln w="9525">
            <a:solidFill>
              <a:srgbClr val="C9D8D3"/>
            </a:solidFill>
            <a:prstDash val="solid"/>
          </a:ln>
        </p:spPr>
        <p:txBody>
          <a:bodyPr/>
          <a:lstStyle/>
          <a:p>
            <a:endParaRPr lang="en-US"/>
          </a:p>
        </p:txBody>
      </p:sp>
      <p:sp>
        <p:nvSpPr>
          <p:cNvPr id="25" name="Shape 23"/>
          <p:cNvSpPr/>
          <p:nvPr/>
        </p:nvSpPr>
        <p:spPr>
          <a:xfrm>
            <a:off x="9281160" y="1737360"/>
            <a:ext cx="566928" cy="566928"/>
          </a:xfrm>
          <a:prstGeom prst="ellipse">
            <a:avLst/>
          </a:prstGeom>
          <a:solidFill>
            <a:srgbClr val="E9A23B"/>
          </a:solidFill>
          <a:ln w="12700">
            <a:solidFill>
              <a:srgbClr val="E9A23B"/>
            </a:solidFill>
            <a:prstDash val="solid"/>
          </a:ln>
        </p:spPr>
        <p:txBody>
          <a:bodyPr/>
          <a:lstStyle/>
          <a:p>
            <a:endParaRPr lang="en-US"/>
          </a:p>
        </p:txBody>
      </p:sp>
      <p:sp>
        <p:nvSpPr>
          <p:cNvPr id="26" name="Text 24"/>
          <p:cNvSpPr txBox="1"/>
          <p:nvPr/>
        </p:nvSpPr>
        <p:spPr>
          <a:xfrm>
            <a:off x="9281160" y="1737360"/>
            <a:ext cx="566928" cy="566928"/>
          </a:xfrm>
          <a:prstGeom prst="rect">
            <a:avLst/>
          </a:prstGeom>
          <a:noFill/>
          <a:ln/>
        </p:spPr>
        <p:txBody>
          <a:bodyPr wrap="square" lIns="0" tIns="0" rIns="0" bIns="0" rtlCol="0" anchor="ctr"/>
          <a:lstStyle/>
          <a:p>
            <a:pPr marL="0" indent="0" algn="ctr">
              <a:buNone/>
            </a:pPr>
            <a:r>
              <a:rPr lang="en-US" sz="1500" b="1" dirty="0">
                <a:solidFill>
                  <a:srgbClr val="17332E"/>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9966960" y="1737360"/>
            <a:ext cx="1600200" cy="566928"/>
          </a:xfrm>
          <a:prstGeom prst="rect">
            <a:avLst/>
          </a:prstGeom>
          <a:noFill/>
          <a:ln/>
        </p:spPr>
        <p:txBody>
          <a:bodyPr wrap="square" lIns="0" tIns="0" rIns="0" bIns="0" rtlCol="0" anchor="ctr"/>
          <a:lstStyle/>
          <a:p>
            <a:pPr marL="0" indent="0">
              <a:buNone/>
            </a:pPr>
            <a:r>
              <a:rPr lang="en-US" sz="1800" b="1" dirty="0">
                <a:solidFill>
                  <a:srgbClr val="E9A23B"/>
                </a:solidFill>
                <a:latin typeface="Cambria" pitchFamily="34" charset="0"/>
                <a:ea typeface="Cambria" pitchFamily="34" charset="-122"/>
                <a:cs typeface="Cambria" pitchFamily="34" charset="-120"/>
              </a:rPr>
              <a:t>Vérifier</a:t>
            </a:r>
            <a:endParaRPr lang="en-US" sz="1800" dirty="0"/>
          </a:p>
        </p:txBody>
      </p:sp>
      <p:sp>
        <p:nvSpPr>
          <p:cNvPr id="28" name="Text 26"/>
          <p:cNvSpPr txBox="1"/>
          <p:nvPr/>
        </p:nvSpPr>
        <p:spPr>
          <a:xfrm>
            <a:off x="9281160" y="2514600"/>
            <a:ext cx="2194560" cy="19202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Échantillon de nos ventes recherché dans FactSales. Décalage des dates mesuré.</a:t>
            </a:r>
            <a:endParaRPr lang="en-US" sz="1400" dirty="0"/>
          </a:p>
        </p:txBody>
      </p:sp>
      <p:sp>
        <p:nvSpPr>
          <p:cNvPr id="29" name="Shape 27"/>
          <p:cNvSpPr/>
          <p:nvPr/>
        </p:nvSpPr>
        <p:spPr>
          <a:xfrm>
            <a:off x="548640" y="4846320"/>
            <a:ext cx="11064240" cy="1234440"/>
          </a:xfrm>
          <a:prstGeom prst="roundRect">
            <a:avLst>
              <a:gd name="adj" fmla="val 5926"/>
            </a:avLst>
          </a:prstGeom>
          <a:solidFill>
            <a:srgbClr val="EAF2EF"/>
          </a:solidFill>
          <a:ln w="9525">
            <a:solidFill>
              <a:srgbClr val="C9D8D3"/>
            </a:solidFill>
            <a:prstDash val="solid"/>
          </a:ln>
        </p:spPr>
        <p:txBody>
          <a:bodyPr/>
          <a:lstStyle/>
          <a:p>
            <a:endParaRPr lang="en-US"/>
          </a:p>
        </p:txBody>
      </p:sp>
      <p:sp>
        <p:nvSpPr>
          <p:cNvPr id="30" name="Text 28"/>
          <p:cNvSpPr txBox="1"/>
          <p:nvPr/>
        </p:nvSpPr>
        <p:spPr>
          <a:xfrm>
            <a:off x="822960" y="4956048"/>
            <a:ext cx="4572000" cy="320040"/>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Organisation des données</a:t>
            </a:r>
            <a:endParaRPr lang="en-US" sz="1300" dirty="0"/>
          </a:p>
        </p:txBody>
      </p:sp>
      <p:sp>
        <p:nvSpPr>
          <p:cNvPr id="31" name="Text 29"/>
          <p:cNvSpPr txBox="1"/>
          <p:nvPr/>
        </p:nvSpPr>
        <p:spPr>
          <a:xfrm>
            <a:off x="822960" y="5321808"/>
            <a:ext cx="10607040" cy="548640"/>
          </a:xfrm>
          <a:prstGeom prst="rect">
            <a:avLst/>
          </a:prstGeom>
          <a:noFill/>
          <a:ln/>
        </p:spPr>
        <p:txBody>
          <a:bodyPr wrap="square" lIns="0" tIns="0" rIns="0" bIns="0" rtlCol="0" anchor="ctr"/>
          <a:lstStyle/>
          <a:p>
            <a:pPr marL="0" indent="0">
              <a:buNone/>
            </a:pPr>
            <a:r>
              <a:rPr lang="en-US" sz="1400" b="1" dirty="0">
                <a:solidFill>
                  <a:srgbClr val="17332E"/>
                </a:solidFill>
                <a:latin typeface="Courier New" pitchFamily="34" charset="0"/>
                <a:ea typeface="Courier New" pitchFamily="34" charset="-122"/>
                <a:cs typeface="Courier New" pitchFamily="34" charset="-120"/>
              </a:rPr>
              <a:t>data/raw/contoso/Dim</a:t>
            </a:r>
            <a:r>
              <a:rPr lang="en-US" sz="1400" dirty="0">
                <a:solidFill>
                  <a:srgbClr val="1F2A28"/>
                </a:solidFill>
                <a:latin typeface="Calibri" pitchFamily="34" charset="0"/>
                <a:ea typeface="Calibri" pitchFamily="34" charset="-122"/>
                <a:cs typeface="Calibri" pitchFamily="34" charset="-120"/>
              </a:rPr>
              <a:t>  tables de dimension     </a:t>
            </a:r>
            <a:r>
              <a:rPr lang="en-US" sz="1400" b="1" dirty="0">
                <a:solidFill>
                  <a:srgbClr val="17332E"/>
                </a:solidFill>
                <a:latin typeface="Courier New" pitchFamily="34" charset="0"/>
                <a:ea typeface="Courier New" pitchFamily="34" charset="-122"/>
                <a:cs typeface="Courier New" pitchFamily="34" charset="-120"/>
              </a:rPr>
              <a:t>data/raw/contoso/Sales</a:t>
            </a:r>
            <a:r>
              <a:rPr lang="en-US" sz="1400" dirty="0">
                <a:solidFill>
                  <a:srgbClr val="1F2A28"/>
                </a:solidFill>
                <a:latin typeface="Calibri" pitchFamily="34" charset="0"/>
                <a:ea typeface="Calibri" pitchFamily="34" charset="-122"/>
                <a:cs typeface="Calibri" pitchFamily="34" charset="-120"/>
              </a:rPr>
              <a:t>  ventes     </a:t>
            </a:r>
            <a:r>
              <a:rPr lang="en-US" sz="1400" b="1" dirty="0">
                <a:solidFill>
                  <a:srgbClr val="17332E"/>
                </a:solidFill>
                <a:latin typeface="Courier New" pitchFamily="34" charset="0"/>
                <a:ea typeface="Courier New" pitchFamily="34" charset="-122"/>
                <a:cs typeface="Courier New" pitchFamily="34" charset="-120"/>
              </a:rPr>
              <a:t>data/clean</a:t>
            </a:r>
            <a:r>
              <a:rPr lang="en-US" sz="1400" dirty="0">
                <a:solidFill>
                  <a:srgbClr val="1F2A28"/>
                </a:solidFill>
                <a:latin typeface="Calibri" pitchFamily="34" charset="0"/>
                <a:ea typeface="Calibri" pitchFamily="34" charset="-122"/>
                <a:cs typeface="Calibri" pitchFamily="34" charset="-120"/>
              </a:rPr>
              <a:t>  après nettoyage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VÉRIFICATION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La preuve : nos ventes sont celles de Contoso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583680" cy="4297680"/>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297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Champ</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Nos données</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Contoso FactSales</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IdVente / SalesKey</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123539</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123539</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1"/>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B5523B"/>
                          </a:solidFill>
                          <a:latin typeface="Calibri" pitchFamily="34" charset="0"/>
                          <a:ea typeface="Calibri" pitchFamily="34" charset="-122"/>
                          <a:cs typeface="Calibri" pitchFamily="34" charset="-120"/>
                        </a:rPr>
                        <a:t>1/1/2020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B5523B"/>
                          </a:solidFill>
                          <a:latin typeface="Calibri" pitchFamily="34" charset="0"/>
                          <a:ea typeface="Calibri" pitchFamily="34" charset="-122"/>
                          <a:cs typeface="Calibri" pitchFamily="34" charset="-120"/>
                        </a:rPr>
                        <a:t>2008-01-01</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Boutique</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219</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219</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3"/>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Produit</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Promotion</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5"/>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Quantité vendue</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Prix unitaire</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$299</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299.00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7"/>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Remise (quantité)</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$179.40 (3)</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179.40 (3)</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lgn="l">
                        <a:buNone/>
                      </a:pPr>
                      <a:r>
                        <a:rPr lang="en-US" sz="1300" b="1" dirty="0">
                          <a:solidFill>
                            <a:srgbClr val="17332E"/>
                          </a:solidFill>
                          <a:latin typeface="Calibri" pitchFamily="34" charset="0"/>
                          <a:ea typeface="Calibri" pitchFamily="34" charset="-122"/>
                          <a:cs typeface="Calibri" pitchFamily="34" charset="-120"/>
                        </a:rPr>
                        <a:t>Montant des ventes</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$2,212.60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2212.60</a:t>
                      </a:r>
                      <a:endParaRPr lang="en-US" sz="1300" dirty="0">
                        <a:latin typeface="Calibri" charset="0"/>
                        <a:ea typeface="Calibri" charset="0"/>
                        <a:cs typeface="Calibri" charset="0"/>
                      </a:endParaRPr>
                    </a:p>
                  </a:txBody>
                  <a:tcPr marL="101600" marR="101600" marT="38100" marB="381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9"/>
                  </a:ext>
                </a:extLst>
              </a:tr>
            </a:tbl>
          </a:graphicData>
        </a:graphic>
      </p:graphicFrame>
      <p:sp>
        <p:nvSpPr>
          <p:cNvPr id="7" name="Shape 4"/>
          <p:cNvSpPr/>
          <p:nvPr/>
        </p:nvSpPr>
        <p:spPr>
          <a:xfrm>
            <a:off x="7589520" y="1508760"/>
            <a:ext cx="4023360" cy="1280160"/>
          </a:xfrm>
          <a:prstGeom prst="roundRect">
            <a:avLst>
              <a:gd name="adj" fmla="val 5714"/>
            </a:avLst>
          </a:prstGeom>
          <a:solidFill>
            <a:srgbClr val="17332E"/>
          </a:solidFill>
          <a:ln w="9525">
            <a:solidFill>
              <a:srgbClr val="C9D8D3"/>
            </a:solidFill>
            <a:prstDash val="solid"/>
          </a:ln>
        </p:spPr>
        <p:txBody>
          <a:bodyPr/>
          <a:lstStyle/>
          <a:p>
            <a:endParaRPr lang="en-US"/>
          </a:p>
        </p:txBody>
      </p:sp>
      <p:sp>
        <p:nvSpPr>
          <p:cNvPr id="8" name="Text 5"/>
          <p:cNvSpPr txBox="1"/>
          <p:nvPr/>
        </p:nvSpPr>
        <p:spPr>
          <a:xfrm>
            <a:off x="7818120" y="1600200"/>
            <a:ext cx="3566160" cy="640080"/>
          </a:xfrm>
          <a:prstGeom prst="rect">
            <a:avLst/>
          </a:prstGeom>
          <a:noFill/>
          <a:ln/>
        </p:spPr>
        <p:txBody>
          <a:bodyPr wrap="square" lIns="0" tIns="0" rIns="0" bIns="0" rtlCol="0" anchor="ctr"/>
          <a:lstStyle/>
          <a:p>
            <a:pPr marL="0" indent="0">
              <a:buNone/>
            </a:pPr>
            <a:r>
              <a:rPr lang="en-US" sz="3200" b="1" dirty="0">
                <a:solidFill>
                  <a:srgbClr val="E9A23B"/>
                </a:solidFill>
                <a:latin typeface="Cambria" pitchFamily="34" charset="0"/>
                <a:ea typeface="Cambria" pitchFamily="34" charset="-122"/>
                <a:cs typeface="Cambria" pitchFamily="34" charset="-120"/>
              </a:rPr>
              <a:t>5 / 5</a:t>
            </a:r>
            <a:endParaRPr lang="en-US" sz="3200" dirty="0"/>
          </a:p>
        </p:txBody>
      </p:sp>
      <p:sp>
        <p:nvSpPr>
          <p:cNvPr id="6" name="Text 6"/>
          <p:cNvSpPr txBox="1"/>
          <p:nvPr/>
        </p:nvSpPr>
        <p:spPr>
          <a:xfrm>
            <a:off x="7818120" y="2240280"/>
            <a:ext cx="3566160" cy="4572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ventes de l'échantillon retrouvées à l'identique</a:t>
            </a:r>
            <a:endParaRPr lang="en-US" sz="1300" dirty="0"/>
          </a:p>
        </p:txBody>
      </p:sp>
      <p:sp>
        <p:nvSpPr>
          <p:cNvPr id="10" name="Shape 7"/>
          <p:cNvSpPr/>
          <p:nvPr/>
        </p:nvSpPr>
        <p:spPr>
          <a:xfrm>
            <a:off x="7589520" y="2971800"/>
            <a:ext cx="4023360" cy="1280160"/>
          </a:xfrm>
          <a:prstGeom prst="roundRect">
            <a:avLst>
              <a:gd name="adj" fmla="val 5714"/>
            </a:avLst>
          </a:prstGeom>
          <a:solidFill>
            <a:srgbClr val="EAF2EF"/>
          </a:solidFill>
          <a:ln w="9525">
            <a:solidFill>
              <a:srgbClr val="C9D8D3"/>
            </a:solidFill>
            <a:prstDash val="solid"/>
          </a:ln>
        </p:spPr>
        <p:txBody>
          <a:bodyPr/>
          <a:lstStyle/>
          <a:p>
            <a:endParaRPr lang="en-US"/>
          </a:p>
        </p:txBody>
      </p:sp>
      <p:sp>
        <p:nvSpPr>
          <p:cNvPr id="11" name="Text 8"/>
          <p:cNvSpPr txBox="1"/>
          <p:nvPr/>
        </p:nvSpPr>
        <p:spPr>
          <a:xfrm>
            <a:off x="7818120" y="3063240"/>
            <a:ext cx="3566160" cy="640080"/>
          </a:xfrm>
          <a:prstGeom prst="rect">
            <a:avLst/>
          </a:prstGeom>
          <a:noFill/>
          <a:ln/>
        </p:spPr>
        <p:txBody>
          <a:bodyPr wrap="square" lIns="0" tIns="0" rIns="0" bIns="0" rtlCol="0" anchor="ctr"/>
          <a:lstStyle/>
          <a:p>
            <a:pPr marL="0" indent="0">
              <a:buNone/>
            </a:pPr>
            <a:r>
              <a:rPr lang="en-US" sz="3200" b="1" dirty="0">
                <a:solidFill>
                  <a:srgbClr val="17332E"/>
                </a:solidFill>
                <a:latin typeface="Cambria" pitchFamily="34" charset="0"/>
                <a:ea typeface="Cambria" pitchFamily="34" charset="-122"/>
                <a:cs typeface="Cambria" pitchFamily="34" charset="-120"/>
              </a:rPr>
              <a:t>+12 ans</a:t>
            </a:r>
            <a:endParaRPr lang="en-US" sz="3200" dirty="0"/>
          </a:p>
        </p:txBody>
      </p:sp>
      <p:sp>
        <p:nvSpPr>
          <p:cNvPr id="12" name="Text 9"/>
          <p:cNvSpPr txBox="1"/>
          <p:nvPr/>
        </p:nvSpPr>
        <p:spPr>
          <a:xfrm>
            <a:off x="7818120" y="3703320"/>
            <a:ext cx="3566160" cy="45720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décalage des dates : 2008-2009 → 2020-2021</a:t>
            </a:r>
            <a:endParaRPr lang="en-US" sz="1300" dirty="0"/>
          </a:p>
        </p:txBody>
      </p:sp>
      <p:sp>
        <p:nvSpPr>
          <p:cNvPr id="13" name="Shape 10"/>
          <p:cNvSpPr/>
          <p:nvPr/>
        </p:nvSpPr>
        <p:spPr>
          <a:xfrm>
            <a:off x="7589520" y="4434840"/>
            <a:ext cx="4023360" cy="1280160"/>
          </a:xfrm>
          <a:prstGeom prst="roundRect">
            <a:avLst>
              <a:gd name="adj" fmla="val 5714"/>
            </a:avLst>
          </a:prstGeom>
          <a:solidFill>
            <a:srgbClr val="EAF2EF"/>
          </a:solidFill>
          <a:ln w="9525">
            <a:solidFill>
              <a:srgbClr val="C9D8D3"/>
            </a:solidFill>
            <a:prstDash val="solid"/>
          </a:ln>
        </p:spPr>
        <p:txBody>
          <a:bodyPr/>
          <a:lstStyle/>
          <a:p>
            <a:endParaRPr lang="en-US"/>
          </a:p>
        </p:txBody>
      </p:sp>
      <p:sp>
        <p:nvSpPr>
          <p:cNvPr id="14" name="Text 11"/>
          <p:cNvSpPr txBox="1"/>
          <p:nvPr/>
        </p:nvSpPr>
        <p:spPr>
          <a:xfrm>
            <a:off x="7818120" y="4526280"/>
            <a:ext cx="3566160" cy="640080"/>
          </a:xfrm>
          <a:prstGeom prst="rect">
            <a:avLst/>
          </a:prstGeom>
          <a:noFill/>
          <a:ln/>
        </p:spPr>
        <p:txBody>
          <a:bodyPr wrap="square" lIns="0" tIns="0" rIns="0" bIns="0" rtlCol="0" anchor="ctr"/>
          <a:lstStyle/>
          <a:p>
            <a:pPr marL="0" indent="0">
              <a:buNone/>
            </a:pPr>
            <a:r>
              <a:rPr lang="en-US" sz="3200" b="1" dirty="0">
                <a:solidFill>
                  <a:srgbClr val="17332E"/>
                </a:solidFill>
                <a:latin typeface="Cambria" pitchFamily="34" charset="0"/>
                <a:ea typeface="Cambria" pitchFamily="34" charset="-122"/>
                <a:cs typeface="Cambria" pitchFamily="34" charset="-120"/>
              </a:rPr>
              <a:t>20 %</a:t>
            </a:r>
            <a:endParaRPr lang="en-US" sz="3200" dirty="0"/>
          </a:p>
        </p:txBody>
      </p:sp>
      <p:sp>
        <p:nvSpPr>
          <p:cNvPr id="15" name="Text 12"/>
          <p:cNvSpPr txBox="1"/>
          <p:nvPr/>
        </p:nvSpPr>
        <p:spPr>
          <a:xfrm>
            <a:off x="7818120" y="5166360"/>
            <a:ext cx="3566160" cy="45720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remise de la promotion 10, « European Holiday Promotion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MODÈLE DE DONNÉES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L'arborescence des clés étrangères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Text 4"/>
          <p:cNvSpPr txBox="1"/>
          <p:nvPr/>
        </p:nvSpPr>
        <p:spPr>
          <a:xfrm>
            <a:off x="548640" y="1234440"/>
            <a:ext cx="10972800" cy="32004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Relations déclarées dans la base (sys.foreign_keys), à partir de nos ventes</a:t>
            </a:r>
            <a:endParaRPr lang="en-US" sz="1300" dirty="0"/>
          </a:p>
        </p:txBody>
      </p:sp>
      <p:sp>
        <p:nvSpPr>
          <p:cNvPr id="7" name="Shape 5"/>
          <p:cNvSpPr/>
          <p:nvPr/>
        </p:nvSpPr>
        <p:spPr>
          <a:xfrm flipV="1">
            <a:off x="2926080" y="2039112"/>
            <a:ext cx="914400" cy="1709928"/>
          </a:xfrm>
          <a:prstGeom prst="line">
            <a:avLst/>
          </a:prstGeom>
          <a:noFill/>
          <a:ln w="15875">
            <a:solidFill>
              <a:srgbClr val="2E5E55"/>
            </a:solidFill>
            <a:prstDash val="solid"/>
          </a:ln>
        </p:spPr>
        <p:txBody>
          <a:bodyPr/>
          <a:lstStyle/>
          <a:p>
            <a:endParaRPr lang="en-US"/>
          </a:p>
        </p:txBody>
      </p:sp>
      <p:sp>
        <p:nvSpPr>
          <p:cNvPr id="8" name="Shape 6"/>
          <p:cNvSpPr/>
          <p:nvPr/>
        </p:nvSpPr>
        <p:spPr>
          <a:xfrm>
            <a:off x="3840480" y="1737360"/>
            <a:ext cx="2560320" cy="603504"/>
          </a:xfrm>
          <a:prstGeom prst="roundRect">
            <a:avLst>
              <a:gd name="adj" fmla="val 9091"/>
            </a:avLst>
          </a:prstGeom>
          <a:solidFill>
            <a:srgbClr val="EAF2EF"/>
          </a:solidFill>
          <a:ln w="12700">
            <a:solidFill>
              <a:srgbClr val="2E5E55"/>
            </a:solidFill>
            <a:prstDash val="solid"/>
          </a:ln>
        </p:spPr>
        <p:txBody>
          <a:bodyPr/>
          <a:lstStyle/>
          <a:p>
            <a:endParaRPr lang="en-US"/>
          </a:p>
        </p:txBody>
      </p:sp>
      <p:sp>
        <p:nvSpPr>
          <p:cNvPr id="9" name="Text 7"/>
          <p:cNvSpPr txBox="1"/>
          <p:nvPr/>
        </p:nvSpPr>
        <p:spPr>
          <a:xfrm>
            <a:off x="3840480" y="1737360"/>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DimStore</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IdBoutique</a:t>
            </a:r>
            <a:endParaRPr lang="en-US" sz="1400" dirty="0"/>
          </a:p>
        </p:txBody>
      </p:sp>
      <p:sp>
        <p:nvSpPr>
          <p:cNvPr id="10" name="Shape 8"/>
          <p:cNvSpPr/>
          <p:nvPr/>
        </p:nvSpPr>
        <p:spPr>
          <a:xfrm flipV="1">
            <a:off x="2926080" y="2788920"/>
            <a:ext cx="914400" cy="960120"/>
          </a:xfrm>
          <a:prstGeom prst="line">
            <a:avLst/>
          </a:prstGeom>
          <a:noFill/>
          <a:ln w="15875">
            <a:solidFill>
              <a:srgbClr val="2E5E55"/>
            </a:solidFill>
            <a:prstDash val="solid"/>
          </a:ln>
        </p:spPr>
        <p:txBody>
          <a:bodyPr/>
          <a:lstStyle/>
          <a:p>
            <a:endParaRPr lang="en-US"/>
          </a:p>
        </p:txBody>
      </p:sp>
      <p:sp>
        <p:nvSpPr>
          <p:cNvPr id="11" name="Shape 9"/>
          <p:cNvSpPr/>
          <p:nvPr/>
        </p:nvSpPr>
        <p:spPr>
          <a:xfrm>
            <a:off x="3840480" y="2487168"/>
            <a:ext cx="2560320" cy="603504"/>
          </a:xfrm>
          <a:prstGeom prst="roundRect">
            <a:avLst>
              <a:gd name="adj" fmla="val 9091"/>
            </a:avLst>
          </a:prstGeom>
          <a:solidFill>
            <a:srgbClr val="EAF2EF"/>
          </a:solidFill>
          <a:ln w="12700">
            <a:solidFill>
              <a:srgbClr val="2E5E55"/>
            </a:solidFill>
            <a:prstDash val="solid"/>
          </a:ln>
        </p:spPr>
        <p:txBody>
          <a:bodyPr/>
          <a:lstStyle/>
          <a:p>
            <a:endParaRPr lang="en-US"/>
          </a:p>
        </p:txBody>
      </p:sp>
      <p:sp>
        <p:nvSpPr>
          <p:cNvPr id="12" name="Text 10"/>
          <p:cNvSpPr txBox="1"/>
          <p:nvPr/>
        </p:nvSpPr>
        <p:spPr>
          <a:xfrm>
            <a:off x="3840480" y="2487168"/>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DimProduct</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IdProduit</a:t>
            </a:r>
            <a:endParaRPr lang="en-US" sz="1400" dirty="0"/>
          </a:p>
        </p:txBody>
      </p:sp>
      <p:sp>
        <p:nvSpPr>
          <p:cNvPr id="13" name="Shape 11"/>
          <p:cNvSpPr/>
          <p:nvPr/>
        </p:nvSpPr>
        <p:spPr>
          <a:xfrm flipV="1">
            <a:off x="2926080" y="3538728"/>
            <a:ext cx="914400" cy="210312"/>
          </a:xfrm>
          <a:prstGeom prst="line">
            <a:avLst/>
          </a:prstGeom>
          <a:noFill/>
          <a:ln w="15875">
            <a:solidFill>
              <a:srgbClr val="2E5E55"/>
            </a:solidFill>
            <a:prstDash val="solid"/>
          </a:ln>
        </p:spPr>
        <p:txBody>
          <a:bodyPr/>
          <a:lstStyle/>
          <a:p>
            <a:endParaRPr lang="en-US"/>
          </a:p>
        </p:txBody>
      </p:sp>
      <p:sp>
        <p:nvSpPr>
          <p:cNvPr id="14" name="Shape 12"/>
          <p:cNvSpPr/>
          <p:nvPr/>
        </p:nvSpPr>
        <p:spPr>
          <a:xfrm>
            <a:off x="3840480" y="3236976"/>
            <a:ext cx="2560320" cy="603504"/>
          </a:xfrm>
          <a:prstGeom prst="roundRect">
            <a:avLst>
              <a:gd name="adj" fmla="val 9091"/>
            </a:avLst>
          </a:prstGeom>
          <a:solidFill>
            <a:srgbClr val="EAF2EF"/>
          </a:solidFill>
          <a:ln w="12700">
            <a:solidFill>
              <a:srgbClr val="2E5E55"/>
            </a:solidFill>
            <a:prstDash val="solid"/>
          </a:ln>
        </p:spPr>
        <p:txBody>
          <a:bodyPr/>
          <a:lstStyle/>
          <a:p>
            <a:endParaRPr lang="en-US"/>
          </a:p>
        </p:txBody>
      </p:sp>
      <p:sp>
        <p:nvSpPr>
          <p:cNvPr id="15" name="Text 13"/>
          <p:cNvSpPr txBox="1"/>
          <p:nvPr/>
        </p:nvSpPr>
        <p:spPr>
          <a:xfrm>
            <a:off x="3840480" y="3236976"/>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DimPromotion</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IdPromotion</a:t>
            </a:r>
            <a:endParaRPr lang="en-US" sz="1400" dirty="0"/>
          </a:p>
        </p:txBody>
      </p:sp>
      <p:sp>
        <p:nvSpPr>
          <p:cNvPr id="16" name="Shape 14"/>
          <p:cNvSpPr/>
          <p:nvPr/>
        </p:nvSpPr>
        <p:spPr>
          <a:xfrm>
            <a:off x="2926080" y="3749040"/>
            <a:ext cx="914400" cy="539496"/>
          </a:xfrm>
          <a:prstGeom prst="line">
            <a:avLst/>
          </a:prstGeom>
          <a:noFill/>
          <a:ln w="15875">
            <a:solidFill>
              <a:srgbClr val="2E5E55"/>
            </a:solidFill>
            <a:prstDash val="solid"/>
          </a:ln>
        </p:spPr>
        <p:txBody>
          <a:bodyPr/>
          <a:lstStyle/>
          <a:p>
            <a:endParaRPr lang="en-US"/>
          </a:p>
        </p:txBody>
      </p:sp>
      <p:sp>
        <p:nvSpPr>
          <p:cNvPr id="17" name="Shape 15"/>
          <p:cNvSpPr/>
          <p:nvPr/>
        </p:nvSpPr>
        <p:spPr>
          <a:xfrm>
            <a:off x="3840480" y="3986784"/>
            <a:ext cx="2560320" cy="603504"/>
          </a:xfrm>
          <a:prstGeom prst="roundRect">
            <a:avLst>
              <a:gd name="adj" fmla="val 9091"/>
            </a:avLst>
          </a:prstGeom>
          <a:solidFill>
            <a:srgbClr val="FFFFFF"/>
          </a:solidFill>
          <a:ln w="12700">
            <a:solidFill>
              <a:srgbClr val="2E5E55"/>
            </a:solidFill>
            <a:prstDash val="dash"/>
          </a:ln>
        </p:spPr>
        <p:txBody>
          <a:bodyPr/>
          <a:lstStyle/>
          <a:p>
            <a:endParaRPr lang="en-US"/>
          </a:p>
        </p:txBody>
      </p:sp>
      <p:sp>
        <p:nvSpPr>
          <p:cNvPr id="18" name="Text 16"/>
          <p:cNvSpPr txBox="1"/>
          <p:nvPr/>
        </p:nvSpPr>
        <p:spPr>
          <a:xfrm>
            <a:off x="3840480" y="3986784"/>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DimDate</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remplacée par notre calendrier</a:t>
            </a:r>
            <a:endParaRPr lang="en-US" sz="1400" dirty="0"/>
          </a:p>
        </p:txBody>
      </p:sp>
      <p:sp>
        <p:nvSpPr>
          <p:cNvPr id="19" name="Shape 17"/>
          <p:cNvSpPr/>
          <p:nvPr/>
        </p:nvSpPr>
        <p:spPr>
          <a:xfrm>
            <a:off x="2926080" y="3749040"/>
            <a:ext cx="914400" cy="1289304"/>
          </a:xfrm>
          <a:prstGeom prst="line">
            <a:avLst/>
          </a:prstGeom>
          <a:noFill/>
          <a:ln w="15875">
            <a:solidFill>
              <a:srgbClr val="2E5E55"/>
            </a:solidFill>
            <a:prstDash val="solid"/>
          </a:ln>
        </p:spPr>
        <p:txBody>
          <a:bodyPr/>
          <a:lstStyle/>
          <a:p>
            <a:endParaRPr lang="en-US"/>
          </a:p>
        </p:txBody>
      </p:sp>
      <p:sp>
        <p:nvSpPr>
          <p:cNvPr id="20" name="Shape 18"/>
          <p:cNvSpPr/>
          <p:nvPr/>
        </p:nvSpPr>
        <p:spPr>
          <a:xfrm>
            <a:off x="3840480" y="4736592"/>
            <a:ext cx="2560320" cy="603504"/>
          </a:xfrm>
          <a:prstGeom prst="roundRect">
            <a:avLst>
              <a:gd name="adj" fmla="val 9091"/>
            </a:avLst>
          </a:prstGeom>
          <a:solidFill>
            <a:srgbClr val="FBEFE3"/>
          </a:solidFill>
          <a:ln w="12700">
            <a:solidFill>
              <a:srgbClr val="2E5E55"/>
            </a:solidFill>
            <a:prstDash val="solid"/>
          </a:ln>
        </p:spPr>
        <p:txBody>
          <a:bodyPr/>
          <a:lstStyle/>
          <a:p>
            <a:endParaRPr lang="en-US"/>
          </a:p>
        </p:txBody>
      </p:sp>
      <p:sp>
        <p:nvSpPr>
          <p:cNvPr id="21" name="Text 19"/>
          <p:cNvSpPr txBox="1"/>
          <p:nvPr/>
        </p:nvSpPr>
        <p:spPr>
          <a:xfrm>
            <a:off x="3840480" y="4736592"/>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DimChannel</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canal via IdVente = SalesKey</a:t>
            </a:r>
            <a:endParaRPr lang="en-US" sz="1400" dirty="0"/>
          </a:p>
        </p:txBody>
      </p:sp>
      <p:sp>
        <p:nvSpPr>
          <p:cNvPr id="22" name="Shape 20"/>
          <p:cNvSpPr/>
          <p:nvPr/>
        </p:nvSpPr>
        <p:spPr>
          <a:xfrm>
            <a:off x="2926080" y="3749040"/>
            <a:ext cx="914400" cy="2039112"/>
          </a:xfrm>
          <a:prstGeom prst="line">
            <a:avLst/>
          </a:prstGeom>
          <a:noFill/>
          <a:ln w="15875">
            <a:solidFill>
              <a:srgbClr val="2E5E55"/>
            </a:solidFill>
            <a:prstDash val="solid"/>
          </a:ln>
        </p:spPr>
        <p:txBody>
          <a:bodyPr/>
          <a:lstStyle/>
          <a:p>
            <a:endParaRPr lang="en-US"/>
          </a:p>
        </p:txBody>
      </p:sp>
      <p:sp>
        <p:nvSpPr>
          <p:cNvPr id="23" name="Shape 21"/>
          <p:cNvSpPr/>
          <p:nvPr/>
        </p:nvSpPr>
        <p:spPr>
          <a:xfrm>
            <a:off x="3840480" y="5486400"/>
            <a:ext cx="2560320" cy="603504"/>
          </a:xfrm>
          <a:prstGeom prst="roundRect">
            <a:avLst>
              <a:gd name="adj" fmla="val 9091"/>
            </a:avLst>
          </a:prstGeom>
          <a:solidFill>
            <a:srgbClr val="FBEFE3"/>
          </a:solidFill>
          <a:ln w="12700">
            <a:solidFill>
              <a:srgbClr val="2E5E55"/>
            </a:solidFill>
            <a:prstDash val="solid"/>
          </a:ln>
        </p:spPr>
        <p:txBody>
          <a:bodyPr/>
          <a:lstStyle/>
          <a:p>
            <a:endParaRPr lang="en-US"/>
          </a:p>
        </p:txBody>
      </p:sp>
      <p:sp>
        <p:nvSpPr>
          <p:cNvPr id="24" name="Text 22"/>
          <p:cNvSpPr txBox="1"/>
          <p:nvPr/>
        </p:nvSpPr>
        <p:spPr>
          <a:xfrm>
            <a:off x="3840480" y="5486400"/>
            <a:ext cx="2560320" cy="603504"/>
          </a:xfrm>
          <a:prstGeom prst="rect">
            <a:avLst/>
          </a:prstGeom>
          <a:noFill/>
          <a:ln/>
        </p:spPr>
        <p:txBody>
          <a:bodyPr wrap="square" lIns="25400" tIns="25400" rIns="25400" bIns="25400" rtlCol="0" anchor="ctr"/>
          <a:lstStyle/>
          <a:p>
            <a:pPr marL="0" indent="0" algn="ctr">
              <a:buNone/>
            </a:pPr>
            <a:r>
              <a:rPr lang="en-US" sz="1400" b="1" dirty="0">
                <a:solidFill>
                  <a:srgbClr val="17332E"/>
                </a:solidFill>
                <a:latin typeface="Cambria" pitchFamily="34" charset="0"/>
                <a:ea typeface="Cambria" pitchFamily="34" charset="-122"/>
                <a:cs typeface="Cambria" pitchFamily="34" charset="-120"/>
              </a:rPr>
              <a:t>DimCurrency</a:t>
            </a:r>
            <a:endParaRPr lang="en-US" sz="1400" dirty="0"/>
          </a:p>
          <a:p>
            <a:pPr marL="0" indent="0" algn="ctr">
              <a:buNone/>
            </a:pPr>
            <a:r>
              <a:rPr lang="en-US" sz="1050" dirty="0">
                <a:solidFill>
                  <a:srgbClr val="5E6B68"/>
                </a:solidFill>
                <a:latin typeface="Calibri" pitchFamily="34" charset="0"/>
                <a:ea typeface="Calibri" pitchFamily="34" charset="-122"/>
                <a:cs typeface="Calibri" pitchFamily="34" charset="-120"/>
              </a:rPr>
              <a:t>une seule devise : écartée</a:t>
            </a:r>
            <a:endParaRPr lang="en-US" sz="1400" dirty="0"/>
          </a:p>
        </p:txBody>
      </p:sp>
      <p:sp>
        <p:nvSpPr>
          <p:cNvPr id="25" name="Shape 23"/>
          <p:cNvSpPr/>
          <p:nvPr/>
        </p:nvSpPr>
        <p:spPr>
          <a:xfrm>
            <a:off x="548640" y="3154680"/>
            <a:ext cx="2377440" cy="1188720"/>
          </a:xfrm>
          <a:prstGeom prst="roundRect">
            <a:avLst>
              <a:gd name="adj" fmla="val 6154"/>
            </a:avLst>
          </a:prstGeom>
          <a:solidFill>
            <a:srgbClr val="17332E"/>
          </a:solidFill>
          <a:ln w="12700">
            <a:solidFill>
              <a:srgbClr val="17332E"/>
            </a:solidFill>
            <a:prstDash val="solid"/>
          </a:ln>
        </p:spPr>
        <p:txBody>
          <a:bodyPr/>
          <a:lstStyle/>
          <a:p>
            <a:endParaRPr lang="en-US"/>
          </a:p>
        </p:txBody>
      </p:sp>
      <p:sp>
        <p:nvSpPr>
          <p:cNvPr id="26" name="Text 24"/>
          <p:cNvSpPr txBox="1"/>
          <p:nvPr/>
        </p:nvSpPr>
        <p:spPr>
          <a:xfrm>
            <a:off x="548640" y="3154680"/>
            <a:ext cx="2377440" cy="1188720"/>
          </a:xfrm>
          <a:prstGeom prst="rect">
            <a:avLst/>
          </a:prstGeom>
          <a:noFill/>
          <a:ln/>
        </p:spPr>
        <p:txBody>
          <a:bodyPr wrap="square" lIns="50800" tIns="50800" rIns="50800" bIns="50800" rtlCol="0" anchor="ctr"/>
          <a:lstStyle/>
          <a:p>
            <a:pPr marL="0" indent="0" algn="ctr">
              <a:buNone/>
            </a:pPr>
            <a:r>
              <a:rPr lang="en-US" sz="2000" b="1" dirty="0">
                <a:solidFill>
                  <a:srgbClr val="E9A23B"/>
                </a:solidFill>
                <a:latin typeface="Cambria" pitchFamily="34" charset="0"/>
                <a:ea typeface="Cambria" pitchFamily="34" charset="-122"/>
                <a:cs typeface="Cambria" pitchFamily="34" charset="-120"/>
              </a:rPr>
              <a:t>Ventes</a:t>
            </a:r>
            <a:endParaRPr lang="en-US" sz="2000" dirty="0"/>
          </a:p>
          <a:p>
            <a:pPr marL="0" indent="0" algn="ctr">
              <a:buNone/>
            </a:pPr>
            <a:r>
              <a:rPr lang="en-US" sz="1200" dirty="0">
                <a:solidFill>
                  <a:srgbClr val="FFFFFF"/>
                </a:solidFill>
                <a:latin typeface="Calibri" pitchFamily="34" charset="0"/>
                <a:ea typeface="Calibri" pitchFamily="34" charset="-122"/>
                <a:cs typeface="Calibri" pitchFamily="34" charset="-120"/>
              </a:rPr>
              <a:t>FactSales 2020-2021</a:t>
            </a:r>
            <a:endParaRPr lang="en-US" sz="2000" dirty="0"/>
          </a:p>
        </p:txBody>
      </p:sp>
      <p:sp>
        <p:nvSpPr>
          <p:cNvPr id="27" name="Shape 25"/>
          <p:cNvSpPr/>
          <p:nvPr/>
        </p:nvSpPr>
        <p:spPr>
          <a:xfrm>
            <a:off x="6400800" y="2039112"/>
            <a:ext cx="548640" cy="0"/>
          </a:xfrm>
          <a:prstGeom prst="line">
            <a:avLst/>
          </a:prstGeom>
          <a:noFill/>
          <a:ln w="25400">
            <a:solidFill>
              <a:srgbClr val="E9A23B"/>
            </a:solidFill>
            <a:prstDash val="solid"/>
          </a:ln>
        </p:spPr>
        <p:txBody>
          <a:bodyPr/>
          <a:lstStyle/>
          <a:p>
            <a:endParaRPr lang="en-US"/>
          </a:p>
        </p:txBody>
      </p:sp>
      <p:sp>
        <p:nvSpPr>
          <p:cNvPr id="28" name="Shape 26"/>
          <p:cNvSpPr/>
          <p:nvPr/>
        </p:nvSpPr>
        <p:spPr>
          <a:xfrm>
            <a:off x="6949440" y="1737360"/>
            <a:ext cx="2240280" cy="603504"/>
          </a:xfrm>
          <a:prstGeom prst="roundRect">
            <a:avLst>
              <a:gd name="adj" fmla="val 9091"/>
            </a:avLst>
          </a:prstGeom>
          <a:solidFill>
            <a:srgbClr val="EAF2EF"/>
          </a:solidFill>
          <a:ln w="19050">
            <a:solidFill>
              <a:srgbClr val="E9A23B"/>
            </a:solidFill>
            <a:prstDash val="solid"/>
          </a:ln>
        </p:spPr>
        <p:txBody>
          <a:bodyPr/>
          <a:lstStyle/>
          <a:p>
            <a:endParaRPr lang="en-US"/>
          </a:p>
        </p:txBody>
      </p:sp>
      <p:sp>
        <p:nvSpPr>
          <p:cNvPr id="29" name="Text 27"/>
          <p:cNvSpPr txBox="1"/>
          <p:nvPr/>
        </p:nvSpPr>
        <p:spPr>
          <a:xfrm>
            <a:off x="6949440" y="1737360"/>
            <a:ext cx="2240280" cy="603504"/>
          </a:xfrm>
          <a:prstGeom prst="rect">
            <a:avLst/>
          </a:prstGeom>
          <a:noFill/>
          <a:ln/>
        </p:spPr>
        <p:txBody>
          <a:bodyPr wrap="square" lIns="25400" tIns="25400" rIns="25400" bIns="25400" rtlCol="0" anchor="ctr"/>
          <a:lstStyle/>
          <a:p>
            <a:pPr marL="0" indent="0" algn="ctr">
              <a:buNone/>
            </a:pPr>
            <a:r>
              <a:rPr lang="en-US" sz="1300" b="1" dirty="0">
                <a:solidFill>
                  <a:srgbClr val="17332E"/>
                </a:solidFill>
                <a:latin typeface="Cambria" pitchFamily="34" charset="0"/>
                <a:ea typeface="Cambria" pitchFamily="34" charset="-122"/>
                <a:cs typeface="Cambria" pitchFamily="34" charset="-120"/>
              </a:rPr>
              <a:t>DimGeography</a:t>
            </a:r>
            <a:endParaRPr lang="en-US" sz="1300" dirty="0"/>
          </a:p>
          <a:p>
            <a:pPr marL="0" indent="0" algn="ctr">
              <a:buNone/>
            </a:pPr>
            <a:r>
              <a:rPr lang="en-US" sz="1050" dirty="0">
                <a:solidFill>
                  <a:srgbClr val="5E6B68"/>
                </a:solidFill>
                <a:latin typeface="Calibri" pitchFamily="34" charset="0"/>
                <a:ea typeface="Calibri" pitchFamily="34" charset="-122"/>
                <a:cs typeface="Calibri" pitchFamily="34" charset="-120"/>
              </a:rPr>
              <a:t>ville, région, pays</a:t>
            </a:r>
            <a:endParaRPr lang="en-US" sz="1300" dirty="0"/>
          </a:p>
        </p:txBody>
      </p:sp>
      <p:sp>
        <p:nvSpPr>
          <p:cNvPr id="30" name="Shape 28"/>
          <p:cNvSpPr/>
          <p:nvPr/>
        </p:nvSpPr>
        <p:spPr>
          <a:xfrm>
            <a:off x="6400800" y="2788920"/>
            <a:ext cx="548640" cy="0"/>
          </a:xfrm>
          <a:prstGeom prst="line">
            <a:avLst/>
          </a:prstGeom>
          <a:noFill/>
          <a:ln w="25400">
            <a:solidFill>
              <a:srgbClr val="E9A23B"/>
            </a:solidFill>
            <a:prstDash val="solid"/>
          </a:ln>
        </p:spPr>
        <p:txBody>
          <a:bodyPr/>
          <a:lstStyle/>
          <a:p>
            <a:endParaRPr lang="en-US"/>
          </a:p>
        </p:txBody>
      </p:sp>
      <p:sp>
        <p:nvSpPr>
          <p:cNvPr id="31" name="Shape 29"/>
          <p:cNvSpPr/>
          <p:nvPr/>
        </p:nvSpPr>
        <p:spPr>
          <a:xfrm>
            <a:off x="6949440" y="2487168"/>
            <a:ext cx="2240280" cy="603504"/>
          </a:xfrm>
          <a:prstGeom prst="roundRect">
            <a:avLst>
              <a:gd name="adj" fmla="val 9091"/>
            </a:avLst>
          </a:prstGeom>
          <a:solidFill>
            <a:srgbClr val="EAF2EF"/>
          </a:solidFill>
          <a:ln w="19050">
            <a:solidFill>
              <a:srgbClr val="E9A23B"/>
            </a:solidFill>
            <a:prstDash val="solid"/>
          </a:ln>
        </p:spPr>
        <p:txBody>
          <a:bodyPr/>
          <a:lstStyle/>
          <a:p>
            <a:endParaRPr lang="en-US"/>
          </a:p>
        </p:txBody>
      </p:sp>
      <p:sp>
        <p:nvSpPr>
          <p:cNvPr id="32" name="Text 30"/>
          <p:cNvSpPr txBox="1"/>
          <p:nvPr/>
        </p:nvSpPr>
        <p:spPr>
          <a:xfrm>
            <a:off x="6949440" y="2487168"/>
            <a:ext cx="2240280" cy="603504"/>
          </a:xfrm>
          <a:prstGeom prst="rect">
            <a:avLst/>
          </a:prstGeom>
          <a:noFill/>
          <a:ln/>
        </p:spPr>
        <p:txBody>
          <a:bodyPr wrap="square" lIns="25400" tIns="25400" rIns="25400" bIns="25400" rtlCol="0" anchor="ctr"/>
          <a:lstStyle/>
          <a:p>
            <a:pPr marL="0" indent="0" algn="ctr">
              <a:buNone/>
            </a:pPr>
            <a:r>
              <a:rPr lang="en-US" sz="1300" b="1" dirty="0">
                <a:solidFill>
                  <a:srgbClr val="17332E"/>
                </a:solidFill>
                <a:latin typeface="Cambria" pitchFamily="34" charset="0"/>
                <a:ea typeface="Cambria" pitchFamily="34" charset="-122"/>
                <a:cs typeface="Cambria" pitchFamily="34" charset="-120"/>
              </a:rPr>
              <a:t>DimProductSubcategory</a:t>
            </a:r>
            <a:endParaRPr lang="en-US" sz="1300" dirty="0"/>
          </a:p>
          <a:p>
            <a:pPr marL="0" indent="0" algn="ctr">
              <a:buNone/>
            </a:pPr>
            <a:r>
              <a:rPr lang="en-US" sz="1050" dirty="0">
                <a:solidFill>
                  <a:srgbClr val="5E6B68"/>
                </a:solidFill>
                <a:latin typeface="Calibri" pitchFamily="34" charset="0"/>
                <a:ea typeface="Calibri" pitchFamily="34" charset="-122"/>
                <a:cs typeface="Calibri" pitchFamily="34" charset="-120"/>
              </a:rPr>
              <a:t>44 sous-catégories</a:t>
            </a:r>
            <a:endParaRPr lang="en-US" sz="1300" dirty="0"/>
          </a:p>
        </p:txBody>
      </p:sp>
      <p:sp>
        <p:nvSpPr>
          <p:cNvPr id="33" name="Shape 31"/>
          <p:cNvSpPr/>
          <p:nvPr/>
        </p:nvSpPr>
        <p:spPr>
          <a:xfrm>
            <a:off x="9189720" y="2788920"/>
            <a:ext cx="228600" cy="0"/>
          </a:xfrm>
          <a:prstGeom prst="line">
            <a:avLst/>
          </a:prstGeom>
          <a:noFill/>
          <a:ln w="25400">
            <a:solidFill>
              <a:srgbClr val="E9A23B"/>
            </a:solidFill>
            <a:prstDash val="solid"/>
          </a:ln>
        </p:spPr>
        <p:txBody>
          <a:bodyPr/>
          <a:lstStyle/>
          <a:p>
            <a:endParaRPr lang="en-US"/>
          </a:p>
        </p:txBody>
      </p:sp>
      <p:sp>
        <p:nvSpPr>
          <p:cNvPr id="34" name="Shape 32"/>
          <p:cNvSpPr/>
          <p:nvPr/>
        </p:nvSpPr>
        <p:spPr>
          <a:xfrm>
            <a:off x="9418320" y="2487168"/>
            <a:ext cx="2240280" cy="603504"/>
          </a:xfrm>
          <a:prstGeom prst="roundRect">
            <a:avLst>
              <a:gd name="adj" fmla="val 9091"/>
            </a:avLst>
          </a:prstGeom>
          <a:solidFill>
            <a:srgbClr val="EAF2EF"/>
          </a:solidFill>
          <a:ln w="19050">
            <a:solidFill>
              <a:srgbClr val="E9A23B"/>
            </a:solidFill>
            <a:prstDash val="solid"/>
          </a:ln>
        </p:spPr>
        <p:txBody>
          <a:bodyPr/>
          <a:lstStyle/>
          <a:p>
            <a:endParaRPr lang="en-US"/>
          </a:p>
        </p:txBody>
      </p:sp>
      <p:sp>
        <p:nvSpPr>
          <p:cNvPr id="35" name="Text 33"/>
          <p:cNvSpPr txBox="1"/>
          <p:nvPr/>
        </p:nvSpPr>
        <p:spPr>
          <a:xfrm>
            <a:off x="9418320" y="2487168"/>
            <a:ext cx="2240280" cy="603504"/>
          </a:xfrm>
          <a:prstGeom prst="rect">
            <a:avLst/>
          </a:prstGeom>
          <a:noFill/>
          <a:ln/>
        </p:spPr>
        <p:txBody>
          <a:bodyPr wrap="square" lIns="25400" tIns="25400" rIns="25400" bIns="25400" rtlCol="0" anchor="ctr"/>
          <a:lstStyle/>
          <a:p>
            <a:pPr marL="0" indent="0" algn="ctr">
              <a:buNone/>
            </a:pPr>
            <a:r>
              <a:rPr lang="en-US" sz="1300" b="1" dirty="0">
                <a:solidFill>
                  <a:srgbClr val="17332E"/>
                </a:solidFill>
                <a:latin typeface="Cambria" pitchFamily="34" charset="0"/>
                <a:ea typeface="Cambria" pitchFamily="34" charset="-122"/>
                <a:cs typeface="Cambria" pitchFamily="34" charset="-120"/>
              </a:rPr>
              <a:t>DimProductCategory</a:t>
            </a:r>
            <a:endParaRPr lang="en-US" sz="1300" dirty="0"/>
          </a:p>
          <a:p>
            <a:pPr marL="0" indent="0" algn="ctr">
              <a:buNone/>
            </a:pPr>
            <a:r>
              <a:rPr lang="en-US" sz="1050" dirty="0">
                <a:solidFill>
                  <a:srgbClr val="5E6B68"/>
                </a:solidFill>
                <a:latin typeface="Calibri" pitchFamily="34" charset="0"/>
                <a:ea typeface="Calibri" pitchFamily="34" charset="-122"/>
                <a:cs typeface="Calibri" pitchFamily="34" charset="-120"/>
              </a:rPr>
              <a:t>8 catégories</a:t>
            </a:r>
            <a:endParaRPr lang="en-US" sz="1300" dirty="0"/>
          </a:p>
        </p:txBody>
      </p:sp>
      <p:sp>
        <p:nvSpPr>
          <p:cNvPr id="36" name="Shape 34"/>
          <p:cNvSpPr/>
          <p:nvPr/>
        </p:nvSpPr>
        <p:spPr>
          <a:xfrm>
            <a:off x="6949440" y="4114800"/>
            <a:ext cx="457200" cy="0"/>
          </a:xfrm>
          <a:prstGeom prst="line">
            <a:avLst/>
          </a:prstGeom>
          <a:noFill/>
          <a:ln w="31750">
            <a:solidFill>
              <a:srgbClr val="2E5E55"/>
            </a:solidFill>
            <a:prstDash val="solid"/>
          </a:ln>
        </p:spPr>
        <p:txBody>
          <a:bodyPr/>
          <a:lstStyle/>
          <a:p>
            <a:endParaRPr lang="en-US"/>
          </a:p>
        </p:txBody>
      </p:sp>
      <p:sp>
        <p:nvSpPr>
          <p:cNvPr id="37" name="Text 35"/>
          <p:cNvSpPr txBox="1"/>
          <p:nvPr/>
        </p:nvSpPr>
        <p:spPr>
          <a:xfrm>
            <a:off x="7498080" y="3950208"/>
            <a:ext cx="1463040" cy="329184"/>
          </a:xfrm>
          <a:prstGeom prst="rect">
            <a:avLst/>
          </a:prstGeom>
          <a:noFill/>
          <a:ln/>
        </p:spPr>
        <p:txBody>
          <a:bodyPr wrap="square" lIns="0" tIns="0" rIns="0" bIns="0" rtlCol="0" anchor="ctr"/>
          <a:lstStyle/>
          <a:p>
            <a:pPr marL="0" indent="0">
              <a:buNone/>
            </a:pPr>
            <a:r>
              <a:rPr lang="en-US" sz="1150" dirty="0">
                <a:solidFill>
                  <a:srgbClr val="1F2A28"/>
                </a:solidFill>
                <a:latin typeface="Calibri" pitchFamily="34" charset="0"/>
                <a:ea typeface="Calibri" pitchFamily="34" charset="-122"/>
                <a:cs typeface="Calibri" pitchFamily="34" charset="-120"/>
              </a:rPr>
              <a:t>Jointure directe</a:t>
            </a:r>
            <a:endParaRPr lang="en-US" sz="1150" dirty="0"/>
          </a:p>
        </p:txBody>
      </p:sp>
      <p:sp>
        <p:nvSpPr>
          <p:cNvPr id="38" name="Shape 36"/>
          <p:cNvSpPr/>
          <p:nvPr/>
        </p:nvSpPr>
        <p:spPr>
          <a:xfrm>
            <a:off x="9052560" y="4114800"/>
            <a:ext cx="457200" cy="0"/>
          </a:xfrm>
          <a:prstGeom prst="line">
            <a:avLst/>
          </a:prstGeom>
          <a:noFill/>
          <a:ln w="31750">
            <a:solidFill>
              <a:srgbClr val="E9A23B"/>
            </a:solidFill>
            <a:prstDash val="solid"/>
          </a:ln>
        </p:spPr>
        <p:txBody>
          <a:bodyPr/>
          <a:lstStyle/>
          <a:p>
            <a:endParaRPr lang="en-US"/>
          </a:p>
        </p:txBody>
      </p:sp>
      <p:sp>
        <p:nvSpPr>
          <p:cNvPr id="39" name="Text 37"/>
          <p:cNvSpPr txBox="1"/>
          <p:nvPr/>
        </p:nvSpPr>
        <p:spPr>
          <a:xfrm>
            <a:off x="9601200" y="3950208"/>
            <a:ext cx="2377440" cy="329184"/>
          </a:xfrm>
          <a:prstGeom prst="rect">
            <a:avLst/>
          </a:prstGeom>
          <a:noFill/>
          <a:ln/>
        </p:spPr>
        <p:txBody>
          <a:bodyPr wrap="square" lIns="0" tIns="0" rIns="0" bIns="0" rtlCol="0" anchor="ctr"/>
          <a:lstStyle/>
          <a:p>
            <a:pPr marL="0" indent="0">
              <a:buNone/>
            </a:pPr>
            <a:r>
              <a:rPr lang="en-US" sz="1150" dirty="0">
                <a:solidFill>
                  <a:srgbClr val="1F2A28"/>
                </a:solidFill>
                <a:latin typeface="Calibri" pitchFamily="34" charset="0"/>
                <a:ea typeface="Calibri" pitchFamily="34" charset="-122"/>
                <a:cs typeface="Calibri" pitchFamily="34" charset="-120"/>
              </a:rPr>
              <a:t>Double ou triple jointure (flocon)</a:t>
            </a:r>
            <a:endParaRPr lang="en-US" sz="1150" dirty="0"/>
          </a:p>
        </p:txBody>
      </p:sp>
      <p:sp>
        <p:nvSpPr>
          <p:cNvPr id="40" name="Shape 38"/>
          <p:cNvSpPr/>
          <p:nvPr/>
        </p:nvSpPr>
        <p:spPr>
          <a:xfrm>
            <a:off x="6949440" y="4572000"/>
            <a:ext cx="4663440" cy="1417320"/>
          </a:xfrm>
          <a:prstGeom prst="roundRect">
            <a:avLst>
              <a:gd name="adj" fmla="val 5161"/>
            </a:avLst>
          </a:prstGeom>
          <a:solidFill>
            <a:srgbClr val="17332E"/>
          </a:solidFill>
          <a:ln w="9525">
            <a:solidFill>
              <a:srgbClr val="C9D8D3"/>
            </a:solidFill>
            <a:prstDash val="solid"/>
          </a:ln>
        </p:spPr>
        <p:txBody>
          <a:bodyPr/>
          <a:lstStyle/>
          <a:p>
            <a:endParaRPr lang="en-US"/>
          </a:p>
        </p:txBody>
      </p:sp>
      <p:sp>
        <p:nvSpPr>
          <p:cNvPr id="41" name="Text 39"/>
          <p:cNvSpPr txBox="1"/>
          <p:nvPr/>
        </p:nvSpPr>
        <p:spPr>
          <a:xfrm>
            <a:off x="7178040" y="4617720"/>
            <a:ext cx="4251960" cy="13258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Un modèle en flocon : la géographie et la hiérarchie produit ne se relient aux ventes que par double jointure. Suivre les clés étrangères de la base, et pas seulement les clés de nos fichiers, était indispensable.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SÉLECTION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8 tables retenues sur 17, guidées par les questions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Text 4"/>
          <p:cNvSpPr txBox="1"/>
          <p:nvPr/>
        </p:nvSpPr>
        <p:spPr>
          <a:xfrm>
            <a:off x="548640" y="1234440"/>
            <a:ext cx="11064240" cy="365760"/>
          </a:xfrm>
          <a:prstGeom prst="rect">
            <a:avLst/>
          </a:prstGeom>
          <a:noFill/>
          <a:ln/>
        </p:spPr>
        <p:txBody>
          <a:bodyPr wrap="square" lIns="0" tIns="0" rIns="0" bIns="0" rtlCol="0" anchor="ctr"/>
          <a:lstStyle/>
          <a:p>
            <a:pPr marL="0" indent="0">
              <a:buNone/>
            </a:pPr>
            <a:r>
              <a:rPr lang="en-US" sz="1300" i="1" dirty="0">
                <a:solidFill>
                  <a:srgbClr val="2E5E55"/>
                </a:solidFill>
                <a:latin typeface="Calibri" pitchFamily="34" charset="0"/>
                <a:ea typeface="Calibri" pitchFamily="34" charset="-122"/>
                <a:cs typeface="Calibri" pitchFamily="34" charset="-120"/>
              </a:rPr>
              <a:t>Critère : une table est retenue si elle se relie à nos ventes (directement ou par double jointure) et aide à répondre à au moins une question.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680960" cy="3867912"/>
        </p:xfrm>
        <a:graphic>
          <a:graphicData uri="http://schemas.openxmlformats.org/drawingml/2006/table">
            <a:tbl>
              <a:tblPr/>
              <a:tblGrid>
                <a:gridCol w="21488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tblGrid>
              <a:tr h="42976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Table</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Apport</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Q1</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Q2</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Q3</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Q4</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Q5</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DimStore</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Type, surface, effectif, ouverture</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1"/>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DimGeography</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Ville, région, pays</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DimProduct</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Marque, classe, prix catalogue</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3"/>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DimProductSubcategory</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44 sous-catégories</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DimProductCategory</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8 catégories</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5"/>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DimPromotion</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Type, % de remise, dates</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DimChannel</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3 canaux présents dans nos ventes</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7"/>
                  </a:ext>
                </a:extLst>
              </a:tr>
              <a:tr h="429768">
                <a:tc>
                  <a:txBody>
                    <a:bodyPr/>
                    <a:lstStyle/>
                    <a:p>
                      <a:pPr marL="0" indent="0" algn="l">
                        <a:buNone/>
                      </a:pPr>
                      <a:r>
                        <a:rPr lang="en-US" sz="1250" b="1" dirty="0">
                          <a:solidFill>
                            <a:srgbClr val="17332E"/>
                          </a:solidFill>
                          <a:latin typeface="Calibri" pitchFamily="34" charset="0"/>
                          <a:ea typeface="Calibri" pitchFamily="34" charset="-122"/>
                          <a:cs typeface="Calibri" pitchFamily="34" charset="-120"/>
                        </a:rPr>
                        <a:t>DimDate</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Référence : remplacée par notre calendrier</a:t>
                      </a:r>
                      <a:endParaRPr lang="en-US" sz="125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9A2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endParaRPr lang="en-US" sz="1500" dirty="0">
                        <a:latin typeface="Calibri" charset="0"/>
                        <a:ea typeface="Calibri" charset="0"/>
                        <a:cs typeface="Calibri" charset="0"/>
                      </a:endParaRPr>
                    </a:p>
                  </a:txBody>
                  <a:tcPr marL="101600" marR="101600" marT="25400" marB="25400"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Shape 5"/>
          <p:cNvSpPr/>
          <p:nvPr/>
        </p:nvSpPr>
        <p:spPr>
          <a:xfrm>
            <a:off x="8503920" y="1737360"/>
            <a:ext cx="3108960" cy="4023360"/>
          </a:xfrm>
          <a:prstGeom prst="roundRect">
            <a:avLst>
              <a:gd name="adj" fmla="val 2353"/>
            </a:avLst>
          </a:prstGeom>
          <a:solidFill>
            <a:srgbClr val="FBEFE3"/>
          </a:solidFill>
          <a:ln w="9525">
            <a:solidFill>
              <a:srgbClr val="C9D8D3"/>
            </a:solidFill>
            <a:prstDash val="solid"/>
          </a:ln>
        </p:spPr>
        <p:txBody>
          <a:bodyPr/>
          <a:lstStyle/>
          <a:p>
            <a:endParaRPr lang="en-US"/>
          </a:p>
        </p:txBody>
      </p:sp>
      <p:sp>
        <p:nvSpPr>
          <p:cNvPr id="9" name="Text 6"/>
          <p:cNvSpPr txBox="1"/>
          <p:nvPr/>
        </p:nvSpPr>
        <p:spPr>
          <a:xfrm>
            <a:off x="8732520" y="1874520"/>
            <a:ext cx="2743200" cy="365760"/>
          </a:xfrm>
          <a:prstGeom prst="rect">
            <a:avLst/>
          </a:prstGeom>
          <a:noFill/>
          <a:ln/>
        </p:spPr>
        <p:txBody>
          <a:bodyPr wrap="square" lIns="0" tIns="0" rIns="0" bIns="0" rtlCol="0" anchor="ctr"/>
          <a:lstStyle/>
          <a:p>
            <a:pPr marL="0" indent="0">
              <a:buNone/>
            </a:pPr>
            <a:r>
              <a:rPr lang="en-US" sz="1700" b="1" dirty="0">
                <a:solidFill>
                  <a:srgbClr val="B5523B"/>
                </a:solidFill>
                <a:latin typeface="Cambria" pitchFamily="34" charset="0"/>
                <a:ea typeface="Cambria" pitchFamily="34" charset="-122"/>
                <a:cs typeface="Cambria" pitchFamily="34" charset="-120"/>
              </a:rPr>
              <a:t>9 tables écartées</a:t>
            </a:r>
            <a:endParaRPr lang="en-US" sz="1700" dirty="0"/>
          </a:p>
        </p:txBody>
      </p:sp>
      <p:sp>
        <p:nvSpPr>
          <p:cNvPr id="10" name="Text 7"/>
          <p:cNvSpPr txBox="1"/>
          <p:nvPr/>
        </p:nvSpPr>
        <p:spPr>
          <a:xfrm>
            <a:off x="8732520" y="2331720"/>
            <a:ext cx="2697480"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28"/>
                </a:solidFill>
                <a:latin typeface="Calibri" pitchFamily="34" charset="0"/>
                <a:ea typeface="Calibri" pitchFamily="34" charset="-122"/>
                <a:cs typeface="Calibri" pitchFamily="34" charset="-120"/>
              </a:rPr>
              <a:t>DimCurrency : une seule devise dans nos ventes</a:t>
            </a:r>
            <a:endParaRPr lang="en-US" sz="1250" dirty="0"/>
          </a:p>
          <a:p>
            <a:pPr marL="342900" indent="-342900">
              <a:spcAft>
                <a:spcPts val="800"/>
              </a:spcAft>
              <a:buSzPct val="100000"/>
              <a:buChar char="•"/>
            </a:pPr>
            <a:r>
              <a:rPr lang="en-US" sz="1250" dirty="0">
                <a:solidFill>
                  <a:srgbClr val="1F2A28"/>
                </a:solidFill>
                <a:latin typeface="Calibri" pitchFamily="34" charset="0"/>
                <a:ea typeface="Calibri" pitchFamily="34" charset="-122"/>
                <a:cs typeface="Calibri" pitchFamily="34" charset="-120"/>
              </a:rPr>
              <a:t>DimCustomer : liée aux ventes en ligne, pas à nos ventes</a:t>
            </a:r>
            <a:endParaRPr lang="en-US" sz="1250" dirty="0"/>
          </a:p>
          <a:p>
            <a:pPr marL="342900" indent="-342900">
              <a:spcAft>
                <a:spcPts val="800"/>
              </a:spcAft>
              <a:buSzPct val="100000"/>
              <a:buChar char="•"/>
            </a:pPr>
            <a:r>
              <a:rPr lang="en-US" sz="1250" dirty="0">
                <a:solidFill>
                  <a:srgbClr val="1F2A28"/>
                </a:solidFill>
                <a:latin typeface="Calibri" pitchFamily="34" charset="0"/>
                <a:ea typeface="Calibri" pitchFamily="34" charset="-122"/>
                <a:cs typeface="Calibri" pitchFamily="34" charset="-120"/>
              </a:rPr>
              <a:t>DimAccount, DimEntity, DimScenario : comptabilité et budget</a:t>
            </a:r>
            <a:endParaRPr lang="en-US" sz="1250" dirty="0"/>
          </a:p>
          <a:p>
            <a:pPr marL="342900" indent="-342900">
              <a:spcAft>
                <a:spcPts val="800"/>
              </a:spcAft>
              <a:buSzPct val="100000"/>
              <a:buChar char="•"/>
            </a:pPr>
            <a:r>
              <a:rPr lang="en-US" sz="1250" dirty="0">
                <a:solidFill>
                  <a:srgbClr val="1F2A28"/>
                </a:solidFill>
                <a:latin typeface="Calibri" pitchFamily="34" charset="0"/>
                <a:ea typeface="Calibri" pitchFamily="34" charset="-122"/>
                <a:cs typeface="Calibri" pitchFamily="34" charset="-120"/>
              </a:rPr>
              <a:t>DimEmployee, DimMachine, DimOutage, DimSalesTerritory : aucun lien avec nos ventes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SPRINT 0 · INVENTAIRE ET HOMOGÉNÉISATION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Premiers résultats de l'inventaire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463040"/>
            <a:ext cx="2606040" cy="1325880"/>
          </a:xfrm>
          <a:prstGeom prst="roundRect">
            <a:avLst>
              <a:gd name="adj" fmla="val 5517"/>
            </a:avLst>
          </a:prstGeom>
          <a:solidFill>
            <a:srgbClr val="17332E"/>
          </a:solidFill>
          <a:ln w="9525">
            <a:solidFill>
              <a:srgbClr val="C9D8D3"/>
            </a:solidFill>
            <a:prstDash val="solid"/>
          </a:ln>
        </p:spPr>
        <p:txBody>
          <a:bodyPr/>
          <a:lstStyle/>
          <a:p>
            <a:endParaRPr lang="en-US"/>
          </a:p>
        </p:txBody>
      </p:sp>
      <p:sp>
        <p:nvSpPr>
          <p:cNvPr id="7" name="Text 5"/>
          <p:cNvSpPr txBox="1"/>
          <p:nvPr/>
        </p:nvSpPr>
        <p:spPr>
          <a:xfrm>
            <a:off x="731520" y="1536192"/>
            <a:ext cx="2286000" cy="566928"/>
          </a:xfrm>
          <a:prstGeom prst="rect">
            <a:avLst/>
          </a:prstGeom>
          <a:noFill/>
          <a:ln/>
        </p:spPr>
        <p:txBody>
          <a:bodyPr wrap="square" lIns="0" tIns="0" rIns="0" bIns="0" rtlCol="0" anchor="ctr"/>
          <a:lstStyle/>
          <a:p>
            <a:pPr marL="0" indent="0">
              <a:buNone/>
            </a:pPr>
            <a:r>
              <a:rPr lang="en-US" sz="2800" b="1" dirty="0">
                <a:solidFill>
                  <a:srgbClr val="E9A23B"/>
                </a:solidFill>
                <a:latin typeface="Cambria" pitchFamily="34" charset="0"/>
                <a:ea typeface="Cambria" pitchFamily="34" charset="-122"/>
                <a:cs typeface="Cambria" pitchFamily="34" charset="-120"/>
              </a:rPr>
              <a:t>144 874</a:t>
            </a:r>
            <a:endParaRPr lang="en-US" sz="2800" dirty="0"/>
          </a:p>
        </p:txBody>
      </p:sp>
      <p:sp>
        <p:nvSpPr>
          <p:cNvPr id="8" name="Text 6"/>
          <p:cNvSpPr txBox="1"/>
          <p:nvPr/>
        </p:nvSpPr>
        <p:spPr>
          <a:xfrm>
            <a:off x="731520" y="2103120"/>
            <a:ext cx="2286000" cy="64008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ventes, du 1er janv. 2020 au 30 sept. 2021</a:t>
            </a:r>
            <a:endParaRPr lang="en-US" sz="1150" dirty="0"/>
          </a:p>
        </p:txBody>
      </p:sp>
      <p:sp>
        <p:nvSpPr>
          <p:cNvPr id="9" name="Shape 7"/>
          <p:cNvSpPr/>
          <p:nvPr/>
        </p:nvSpPr>
        <p:spPr>
          <a:xfrm>
            <a:off x="3383280" y="1463040"/>
            <a:ext cx="2606040" cy="1325880"/>
          </a:xfrm>
          <a:prstGeom prst="roundRect">
            <a:avLst>
              <a:gd name="adj" fmla="val 5517"/>
            </a:avLst>
          </a:prstGeom>
          <a:solidFill>
            <a:srgbClr val="EAF2EF"/>
          </a:solidFill>
          <a:ln w="9525">
            <a:solidFill>
              <a:srgbClr val="C9D8D3"/>
            </a:solidFill>
            <a:prstDash val="solid"/>
          </a:ln>
        </p:spPr>
        <p:txBody>
          <a:bodyPr/>
          <a:lstStyle/>
          <a:p>
            <a:endParaRPr lang="en-US"/>
          </a:p>
        </p:txBody>
      </p:sp>
      <p:sp>
        <p:nvSpPr>
          <p:cNvPr id="10" name="Text 8"/>
          <p:cNvSpPr txBox="1"/>
          <p:nvPr/>
        </p:nvSpPr>
        <p:spPr>
          <a:xfrm>
            <a:off x="3566160" y="1536192"/>
            <a:ext cx="2286000" cy="566928"/>
          </a:xfrm>
          <a:prstGeom prst="rect">
            <a:avLst/>
          </a:prstGeom>
          <a:noFill/>
          <a:ln/>
        </p:spPr>
        <p:txBody>
          <a:bodyPr wrap="square" lIns="0" tIns="0" rIns="0" bIns="0" rtlCol="0" anchor="ctr"/>
          <a:lstStyle/>
          <a:p>
            <a:pPr marL="0" indent="0">
              <a:buNone/>
            </a:pPr>
            <a:r>
              <a:rPr lang="en-US" sz="2800" b="1" dirty="0">
                <a:solidFill>
                  <a:srgbClr val="17332E"/>
                </a:solidFill>
                <a:latin typeface="Cambria" pitchFamily="34" charset="0"/>
                <a:ea typeface="Cambria" pitchFamily="34" charset="-122"/>
                <a:cs typeface="Cambria" pitchFamily="34" charset="-120"/>
              </a:rPr>
              <a:t>100 %</a:t>
            </a:r>
            <a:endParaRPr lang="en-US" sz="2800" dirty="0"/>
          </a:p>
        </p:txBody>
      </p:sp>
      <p:sp>
        <p:nvSpPr>
          <p:cNvPr id="11" name="Text 9"/>
          <p:cNvSpPr txBox="1"/>
          <p:nvPr/>
        </p:nvSpPr>
        <p:spPr>
          <a:xfrm>
            <a:off x="3566160" y="2103120"/>
            <a:ext cx="2286000" cy="640080"/>
          </a:xfrm>
          <a:prstGeom prst="rect">
            <a:avLst/>
          </a:prstGeom>
          <a:noFill/>
          <a:ln/>
        </p:spPr>
        <p:txBody>
          <a:bodyPr wrap="square" lIns="0" tIns="0" rIns="0" bIns="0" rtlCol="0" anchor="t"/>
          <a:lstStyle/>
          <a:p>
            <a:pPr marL="0" indent="0">
              <a:buNone/>
            </a:pPr>
            <a:r>
              <a:rPr lang="en-US" sz="1150" dirty="0">
                <a:solidFill>
                  <a:srgbClr val="1F2A28"/>
                </a:solidFill>
                <a:latin typeface="Calibri" pitchFamily="34" charset="0"/>
                <a:ea typeface="Calibri" pitchFamily="34" charset="-122"/>
                <a:cs typeface="Calibri" pitchFamily="34" charset="-120"/>
              </a:rPr>
              <a:t>des clés retrouvées dans Contoso (boutiques, produits, promotions, ventes)</a:t>
            </a:r>
            <a:endParaRPr lang="en-US" sz="1150" dirty="0"/>
          </a:p>
        </p:txBody>
      </p:sp>
      <p:sp>
        <p:nvSpPr>
          <p:cNvPr id="12" name="Shape 10"/>
          <p:cNvSpPr/>
          <p:nvPr/>
        </p:nvSpPr>
        <p:spPr>
          <a:xfrm>
            <a:off x="6217920" y="1463040"/>
            <a:ext cx="2606040" cy="1325880"/>
          </a:xfrm>
          <a:prstGeom prst="roundRect">
            <a:avLst>
              <a:gd name="adj" fmla="val 5517"/>
            </a:avLst>
          </a:prstGeom>
          <a:solidFill>
            <a:srgbClr val="EAF2EF"/>
          </a:solidFill>
          <a:ln w="9525">
            <a:solidFill>
              <a:srgbClr val="C9D8D3"/>
            </a:solidFill>
            <a:prstDash val="solid"/>
          </a:ln>
        </p:spPr>
        <p:txBody>
          <a:bodyPr/>
          <a:lstStyle/>
          <a:p>
            <a:endParaRPr lang="en-US"/>
          </a:p>
        </p:txBody>
      </p:sp>
      <p:sp>
        <p:nvSpPr>
          <p:cNvPr id="13" name="Text 11"/>
          <p:cNvSpPr txBox="1"/>
          <p:nvPr/>
        </p:nvSpPr>
        <p:spPr>
          <a:xfrm>
            <a:off x="6400800" y="1536192"/>
            <a:ext cx="2286000" cy="566928"/>
          </a:xfrm>
          <a:prstGeom prst="rect">
            <a:avLst/>
          </a:prstGeom>
          <a:noFill/>
          <a:ln/>
        </p:spPr>
        <p:txBody>
          <a:bodyPr wrap="square" lIns="0" tIns="0" rIns="0" bIns="0" rtlCol="0" anchor="ctr"/>
          <a:lstStyle/>
          <a:p>
            <a:pPr marL="0" indent="0">
              <a:buNone/>
            </a:pPr>
            <a:r>
              <a:rPr lang="en-US" sz="2800" b="1" dirty="0">
                <a:solidFill>
                  <a:srgbClr val="17332E"/>
                </a:solidFill>
                <a:latin typeface="Cambria" pitchFamily="34" charset="0"/>
                <a:ea typeface="Cambria" pitchFamily="34" charset="-122"/>
                <a:cs typeface="Cambria" pitchFamily="34" charset="-120"/>
              </a:rPr>
              <a:t>98,66 %</a:t>
            </a:r>
            <a:endParaRPr lang="en-US" sz="2800" dirty="0"/>
          </a:p>
        </p:txBody>
      </p:sp>
      <p:sp>
        <p:nvSpPr>
          <p:cNvPr id="14" name="Text 12"/>
          <p:cNvSpPr txBox="1"/>
          <p:nvPr/>
        </p:nvSpPr>
        <p:spPr>
          <a:xfrm>
            <a:off x="6400800" y="2103120"/>
            <a:ext cx="2286000" cy="640080"/>
          </a:xfrm>
          <a:prstGeom prst="rect">
            <a:avLst/>
          </a:prstGeom>
          <a:noFill/>
          <a:ln/>
        </p:spPr>
        <p:txBody>
          <a:bodyPr wrap="square" lIns="0" tIns="0" rIns="0" bIns="0" rtlCol="0" anchor="t"/>
          <a:lstStyle/>
          <a:p>
            <a:pPr marL="0" indent="0">
              <a:buNone/>
            </a:pPr>
            <a:r>
              <a:rPr lang="en-US" sz="1150" dirty="0">
                <a:solidFill>
                  <a:srgbClr val="1F2A28"/>
                </a:solidFill>
                <a:latin typeface="Calibri" pitchFamily="34" charset="0"/>
                <a:ea typeface="Calibri" pitchFamily="34" charset="-122"/>
                <a:cs typeface="Calibri" pitchFamily="34" charset="-120"/>
              </a:rPr>
              <a:t>des ventes en promotion confirment le décalage de 12 ans</a:t>
            </a:r>
            <a:endParaRPr lang="en-US" sz="1150" dirty="0"/>
          </a:p>
        </p:txBody>
      </p:sp>
      <p:sp>
        <p:nvSpPr>
          <p:cNvPr id="15" name="Shape 13"/>
          <p:cNvSpPr/>
          <p:nvPr/>
        </p:nvSpPr>
        <p:spPr>
          <a:xfrm>
            <a:off x="9052560" y="1463040"/>
            <a:ext cx="2606040" cy="1325880"/>
          </a:xfrm>
          <a:prstGeom prst="roundRect">
            <a:avLst>
              <a:gd name="adj" fmla="val 5517"/>
            </a:avLst>
          </a:prstGeom>
          <a:solidFill>
            <a:srgbClr val="EAF2EF"/>
          </a:solidFill>
          <a:ln w="9525">
            <a:solidFill>
              <a:srgbClr val="C9D8D3"/>
            </a:solidFill>
            <a:prstDash val="solid"/>
          </a:ln>
        </p:spPr>
        <p:txBody>
          <a:bodyPr/>
          <a:lstStyle/>
          <a:p>
            <a:endParaRPr lang="en-US"/>
          </a:p>
        </p:txBody>
      </p:sp>
      <p:sp>
        <p:nvSpPr>
          <p:cNvPr id="16" name="Text 14"/>
          <p:cNvSpPr txBox="1"/>
          <p:nvPr/>
        </p:nvSpPr>
        <p:spPr>
          <a:xfrm>
            <a:off x="9235440" y="1536192"/>
            <a:ext cx="2286000" cy="566928"/>
          </a:xfrm>
          <a:prstGeom prst="rect">
            <a:avLst/>
          </a:prstGeom>
          <a:noFill/>
          <a:ln/>
        </p:spPr>
        <p:txBody>
          <a:bodyPr wrap="square" lIns="0" tIns="0" rIns="0" bIns="0" rtlCol="0" anchor="ctr"/>
          <a:lstStyle/>
          <a:p>
            <a:pPr marL="0" indent="0">
              <a:buNone/>
            </a:pPr>
            <a:r>
              <a:rPr lang="en-US" sz="2800" b="1" dirty="0">
                <a:solidFill>
                  <a:srgbClr val="17332E"/>
                </a:solidFill>
                <a:latin typeface="Cambria" pitchFamily="34" charset="0"/>
                <a:ea typeface="Cambria" pitchFamily="34" charset="-122"/>
                <a:cs typeface="Cambria" pitchFamily="34" charset="-120"/>
              </a:rPr>
              <a:t>0</a:t>
            </a:r>
            <a:endParaRPr lang="en-US" sz="2800" dirty="0"/>
          </a:p>
        </p:txBody>
      </p:sp>
      <p:sp>
        <p:nvSpPr>
          <p:cNvPr id="17" name="Text 15"/>
          <p:cNvSpPr txBox="1"/>
          <p:nvPr/>
        </p:nvSpPr>
        <p:spPr>
          <a:xfrm>
            <a:off x="9235440" y="2103120"/>
            <a:ext cx="2286000" cy="640080"/>
          </a:xfrm>
          <a:prstGeom prst="rect">
            <a:avLst/>
          </a:prstGeom>
          <a:noFill/>
          <a:ln/>
        </p:spPr>
        <p:txBody>
          <a:bodyPr wrap="square" lIns="0" tIns="0" rIns="0" bIns="0" rtlCol="0" anchor="t"/>
          <a:lstStyle/>
          <a:p>
            <a:pPr marL="0" indent="0">
              <a:buNone/>
            </a:pPr>
            <a:r>
              <a:rPr lang="en-US" sz="1150" dirty="0">
                <a:solidFill>
                  <a:srgbClr val="1F2A28"/>
                </a:solidFill>
                <a:latin typeface="Calibri" pitchFamily="34" charset="0"/>
                <a:ea typeface="Calibri" pitchFamily="34" charset="-122"/>
                <a:cs typeface="Calibri" pitchFamily="34" charset="-120"/>
              </a:rPr>
              <a:t>doublon et 0 échec de conversion</a:t>
            </a:r>
            <a:endParaRPr lang="en-US" sz="1150" dirty="0"/>
          </a:p>
        </p:txBody>
      </p:sp>
      <p:pic>
        <p:nvPicPr>
          <p:cNvPr id="18" name="Image 0" descr="ca_mensuel.png"/>
          <p:cNvPicPr>
            <a:picLocks noChangeAspect="1"/>
          </p:cNvPicPr>
          <p:nvPr/>
        </p:nvPicPr>
        <p:blipFill>
          <a:blip r:embed="rId3"/>
          <a:stretch>
            <a:fillRect/>
          </a:stretch>
        </p:blipFill>
        <p:spPr>
          <a:xfrm>
            <a:off x="548640" y="2971800"/>
            <a:ext cx="6858000" cy="2286000"/>
          </a:xfrm>
          <a:prstGeom prst="rect">
            <a:avLst/>
          </a:prstGeom>
        </p:spPr>
      </p:pic>
      <p:sp>
        <p:nvSpPr>
          <p:cNvPr id="19" name="Shape 16"/>
          <p:cNvSpPr/>
          <p:nvPr/>
        </p:nvSpPr>
        <p:spPr>
          <a:xfrm>
            <a:off x="548640" y="5349240"/>
            <a:ext cx="6858000" cy="685800"/>
          </a:xfrm>
          <a:prstGeom prst="roundRect">
            <a:avLst>
              <a:gd name="adj" fmla="val 8000"/>
            </a:avLst>
          </a:prstGeom>
          <a:solidFill>
            <a:srgbClr val="FBEFE3"/>
          </a:solidFill>
          <a:ln w="12700">
            <a:solidFill>
              <a:srgbClr val="FBEFE3"/>
            </a:solidFill>
            <a:prstDash val="solid"/>
          </a:ln>
        </p:spPr>
        <p:txBody>
          <a:bodyPr/>
          <a:lstStyle/>
          <a:p>
            <a:endParaRPr lang="en-US"/>
          </a:p>
        </p:txBody>
      </p:sp>
      <p:sp>
        <p:nvSpPr>
          <p:cNvPr id="20" name="Text 17"/>
          <p:cNvSpPr txBox="1"/>
          <p:nvPr/>
        </p:nvSpPr>
        <p:spPr>
          <a:xfrm>
            <a:off x="731520" y="5349240"/>
            <a:ext cx="6583680" cy="685800"/>
          </a:xfrm>
          <a:prstGeom prst="rect">
            <a:avLst/>
          </a:prstGeom>
          <a:noFill/>
          <a:ln/>
        </p:spPr>
        <p:txBody>
          <a:bodyPr wrap="square" lIns="0" tIns="0" rIns="0" bIns="0" rtlCol="0" anchor="ctr"/>
          <a:lstStyle/>
          <a:p>
            <a:pPr marL="0" indent="0">
              <a:buNone/>
            </a:pPr>
            <a:r>
              <a:rPr lang="en-US" sz="1250" b="1" dirty="0">
                <a:solidFill>
                  <a:srgbClr val="B5523B"/>
                </a:solidFill>
                <a:latin typeface="Calibri" pitchFamily="34" charset="0"/>
                <a:ea typeface="Calibri" pitchFamily="34" charset="-122"/>
                <a:cs typeface="Calibri" pitchFamily="34" charset="-120"/>
              </a:rPr>
              <a:t>T4 absents : </a:t>
            </a:r>
            <a:r>
              <a:rPr lang="en-US" sz="1250" dirty="0">
                <a:solidFill>
                  <a:srgbClr val="1F2A28"/>
                </a:solidFill>
                <a:latin typeface="Calibri" pitchFamily="34" charset="0"/>
                <a:ea typeface="Calibri" pitchFamily="34" charset="-122"/>
                <a:cs typeface="Calibri" pitchFamily="34" charset="-120"/>
              </a:rPr>
              <a:t>octobre à décembre manquent en 2020 et en 2021 (6 trimestres sur 8). Signalé au professeur.</a:t>
            </a:r>
            <a:endParaRPr lang="en-US" sz="1250" dirty="0"/>
          </a:p>
        </p:txBody>
      </p:sp>
      <p:sp>
        <p:nvSpPr>
          <p:cNvPr id="21" name="Shape 18"/>
          <p:cNvSpPr/>
          <p:nvPr/>
        </p:nvSpPr>
        <p:spPr>
          <a:xfrm>
            <a:off x="7680960" y="2971800"/>
            <a:ext cx="3931920" cy="3063240"/>
          </a:xfrm>
          <a:prstGeom prst="roundRect">
            <a:avLst>
              <a:gd name="adj" fmla="val 2388"/>
            </a:avLst>
          </a:prstGeom>
          <a:solidFill>
            <a:srgbClr val="F5F9F7"/>
          </a:solidFill>
          <a:ln w="9525">
            <a:solidFill>
              <a:srgbClr val="C9D8D3"/>
            </a:solidFill>
            <a:prstDash val="solid"/>
          </a:ln>
        </p:spPr>
        <p:txBody>
          <a:bodyPr/>
          <a:lstStyle/>
          <a:p>
            <a:endParaRPr lang="en-US"/>
          </a:p>
        </p:txBody>
      </p:sp>
      <p:sp>
        <p:nvSpPr>
          <p:cNvPr id="22" name="Text 19"/>
          <p:cNvSpPr txBox="1"/>
          <p:nvPr/>
        </p:nvSpPr>
        <p:spPr>
          <a:xfrm>
            <a:off x="7909560" y="3090672"/>
            <a:ext cx="3566160" cy="36576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Homogénéisation des formats</a:t>
            </a:r>
            <a:endParaRPr lang="en-US" sz="1500" dirty="0"/>
          </a:p>
        </p:txBody>
      </p:sp>
      <p:sp>
        <p:nvSpPr>
          <p:cNvPr id="23" name="Text 20"/>
          <p:cNvSpPr txBox="1"/>
          <p:nvPr/>
        </p:nvSpPr>
        <p:spPr>
          <a:xfrm>
            <a:off x="7909560" y="3520440"/>
            <a:ext cx="3566160" cy="2423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A28"/>
                </a:solidFill>
                <a:latin typeface="Calibri" pitchFamily="34" charset="0"/>
                <a:ea typeface="Calibri" pitchFamily="34" charset="-122"/>
                <a:cs typeface="Calibri" pitchFamily="34" charset="-120"/>
              </a:rPr>
              <a:t>Encodage UTF-8 et 14 colonnes identiques dans les 6 fichiers</a:t>
            </a:r>
            <a:endParaRPr lang="en-US" sz="1200" dirty="0"/>
          </a:p>
          <a:p>
            <a:pPr marL="342900" indent="-342900">
              <a:spcAft>
                <a:spcPts val="500"/>
              </a:spcAft>
              <a:buSzPct val="100000"/>
              <a:buChar char="•"/>
            </a:pPr>
            <a:r>
              <a:rPr lang="en-US" sz="1200" dirty="0">
                <a:solidFill>
                  <a:srgbClr val="1F2A28"/>
                </a:solidFill>
                <a:latin typeface="Calibri" pitchFamily="34" charset="0"/>
                <a:ea typeface="Calibri" pitchFamily="34" charset="-122"/>
                <a:cs typeface="Calibri" pitchFamily="34" charset="-120"/>
              </a:rPr>
              <a:t>Dates lues au format mois/jour/année</a:t>
            </a:r>
            <a:endParaRPr lang="en-US" sz="1200" dirty="0"/>
          </a:p>
          <a:p>
            <a:pPr marL="342900" indent="-342900">
              <a:spcAft>
                <a:spcPts val="500"/>
              </a:spcAft>
              <a:buSzPct val="100000"/>
              <a:buChar char="•"/>
            </a:pPr>
            <a:r>
              <a:rPr lang="en-US" sz="1200" dirty="0">
                <a:solidFill>
                  <a:srgbClr val="1F2A28"/>
                </a:solidFill>
                <a:latin typeface="Calibri" pitchFamily="34" charset="0"/>
                <a:ea typeface="Calibri" pitchFamily="34" charset="-122"/>
                <a:cs typeface="Calibri" pitchFamily="34" charset="-120"/>
              </a:rPr>
              <a:t>Montants texte (« $1,062.60 ») convertis en nombres</a:t>
            </a:r>
            <a:endParaRPr lang="en-US" sz="1200" dirty="0"/>
          </a:p>
          <a:p>
            <a:pPr marL="342900" indent="-342900">
              <a:spcAft>
                <a:spcPts val="500"/>
              </a:spcAft>
              <a:buSzPct val="100000"/>
              <a:buChar char="•"/>
            </a:pPr>
            <a:r>
              <a:rPr lang="en-US" sz="1200" dirty="0">
                <a:solidFill>
                  <a:srgbClr val="1F2A28"/>
                </a:solidFill>
                <a:latin typeface="Calibri" pitchFamily="34" charset="0"/>
                <a:ea typeface="Calibri" pitchFamily="34" charset="-122"/>
                <a:cs typeface="Calibri" pitchFamily="34" charset="-120"/>
              </a:rPr>
              <a:t>3 canaux de vente, 1 seule devise : DimCurrency écartée</a:t>
            </a:r>
            <a:endParaRPr lang="en-US" sz="1200" dirty="0"/>
          </a:p>
          <a:p>
            <a:pPr marL="342900" indent="-342900">
              <a:spcAft>
                <a:spcPts val="500"/>
              </a:spcAft>
              <a:buSzPct val="100000"/>
              <a:buChar char="•"/>
            </a:pPr>
            <a:r>
              <a:rPr lang="en-US" sz="1200" dirty="0">
                <a:solidFill>
                  <a:srgbClr val="1F2A28"/>
                </a:solidFill>
                <a:latin typeface="Calibri" pitchFamily="34" charset="0"/>
                <a:ea typeface="Calibri" pitchFamily="34" charset="-122"/>
                <a:cs typeface="Calibri" pitchFamily="34" charset="-120"/>
              </a:rPr>
              <a:t>Dictionnaire de données produit automatiquement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SPRINT 0 · PRÉPARATIFS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Mise en place technique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54480"/>
            <a:ext cx="3520440" cy="2011680"/>
          </a:xfrm>
          <a:prstGeom prst="roundRect">
            <a:avLst>
              <a:gd name="adj" fmla="val 3636"/>
            </a:avLst>
          </a:prstGeom>
          <a:solidFill>
            <a:srgbClr val="F5F9F7"/>
          </a:solidFill>
          <a:ln w="9525">
            <a:solidFill>
              <a:srgbClr val="C9D8D3"/>
            </a:solidFill>
            <a:prstDash val="solid"/>
          </a:ln>
        </p:spPr>
        <p:txBody>
          <a:bodyPr/>
          <a:lstStyle/>
          <a:p>
            <a:endParaRPr lang="en-US"/>
          </a:p>
        </p:txBody>
      </p:sp>
      <p:sp>
        <p:nvSpPr>
          <p:cNvPr id="7" name="Shape 5"/>
          <p:cNvSpPr/>
          <p:nvPr/>
        </p:nvSpPr>
        <p:spPr>
          <a:xfrm>
            <a:off x="777240" y="1783080"/>
            <a:ext cx="502920" cy="502920"/>
          </a:xfrm>
          <a:prstGeom prst="ellipse">
            <a:avLst/>
          </a:prstGeom>
          <a:solidFill>
            <a:srgbClr val="E9A23B"/>
          </a:solidFill>
          <a:ln w="12700">
            <a:solidFill>
              <a:srgbClr val="E9A23B"/>
            </a:solidFill>
            <a:prstDash val="solid"/>
          </a:ln>
        </p:spPr>
        <p:txBody>
          <a:bodyPr/>
          <a:lstStyle/>
          <a:p>
            <a:endParaRPr lang="en-US"/>
          </a:p>
        </p:txBody>
      </p:sp>
      <p:sp>
        <p:nvSpPr>
          <p:cNvPr id="8" name="Text 6"/>
          <p:cNvSpPr txBox="1"/>
          <p:nvPr/>
        </p:nvSpPr>
        <p:spPr>
          <a:xfrm>
            <a:off x="777240" y="178308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17320" y="1783080"/>
            <a:ext cx="2514600" cy="50292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Environnement virtuel</a:t>
            </a:r>
            <a:endParaRPr lang="en-US" sz="1600" dirty="0"/>
          </a:p>
        </p:txBody>
      </p:sp>
      <p:sp>
        <p:nvSpPr>
          <p:cNvPr id="10" name="Text 8"/>
          <p:cNvSpPr txBox="1"/>
          <p:nvPr/>
        </p:nvSpPr>
        <p:spPr>
          <a:xfrm>
            <a:off x="777240" y="2423160"/>
            <a:ext cx="3108960" cy="10515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.venv + requirements.txt : les six membres ont exactement les mêmes bibliothèques</a:t>
            </a:r>
            <a:endParaRPr lang="en-US" sz="1300" dirty="0"/>
          </a:p>
        </p:txBody>
      </p:sp>
      <p:sp>
        <p:nvSpPr>
          <p:cNvPr id="11" name="Shape 9"/>
          <p:cNvSpPr/>
          <p:nvPr/>
        </p:nvSpPr>
        <p:spPr>
          <a:xfrm>
            <a:off x="4297680" y="1554480"/>
            <a:ext cx="3520440" cy="2011680"/>
          </a:xfrm>
          <a:prstGeom prst="roundRect">
            <a:avLst>
              <a:gd name="adj" fmla="val 3636"/>
            </a:avLst>
          </a:prstGeom>
          <a:solidFill>
            <a:srgbClr val="F5F9F7"/>
          </a:solidFill>
          <a:ln w="9525">
            <a:solidFill>
              <a:srgbClr val="C9D8D3"/>
            </a:solidFill>
            <a:prstDash val="solid"/>
          </a:ln>
        </p:spPr>
        <p:txBody>
          <a:bodyPr/>
          <a:lstStyle/>
          <a:p>
            <a:endParaRPr lang="en-US"/>
          </a:p>
        </p:txBody>
      </p:sp>
      <p:sp>
        <p:nvSpPr>
          <p:cNvPr id="12" name="Shape 10"/>
          <p:cNvSpPr/>
          <p:nvPr/>
        </p:nvSpPr>
        <p:spPr>
          <a:xfrm>
            <a:off x="4526280" y="1783080"/>
            <a:ext cx="502920" cy="502920"/>
          </a:xfrm>
          <a:prstGeom prst="ellipse">
            <a:avLst/>
          </a:prstGeom>
          <a:solidFill>
            <a:srgbClr val="E9A23B"/>
          </a:solidFill>
          <a:ln w="12700">
            <a:solidFill>
              <a:srgbClr val="E9A23B"/>
            </a:solidFill>
            <a:prstDash val="solid"/>
          </a:ln>
        </p:spPr>
        <p:txBody>
          <a:bodyPr/>
          <a:lstStyle/>
          <a:p>
            <a:endParaRPr lang="en-US"/>
          </a:p>
        </p:txBody>
      </p:sp>
      <p:sp>
        <p:nvSpPr>
          <p:cNvPr id="13" name="Text 11"/>
          <p:cNvSpPr txBox="1"/>
          <p:nvPr/>
        </p:nvSpPr>
        <p:spPr>
          <a:xfrm>
            <a:off x="4526280" y="178308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166360" y="1783080"/>
            <a:ext cx="2514600" cy="50292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Configuration centralisée</a:t>
            </a:r>
            <a:endParaRPr lang="en-US" sz="1600" dirty="0"/>
          </a:p>
        </p:txBody>
      </p:sp>
      <p:sp>
        <p:nvSpPr>
          <p:cNvPr id="15" name="Text 13"/>
          <p:cNvSpPr txBox="1"/>
          <p:nvPr/>
        </p:nvSpPr>
        <p:spPr>
          <a:xfrm>
            <a:off x="4526280" y="2423160"/>
            <a:ext cx="3108960" cy="10515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src/config.py : tous les chemins et paramètres (décalage de 12 ans) au même endroit</a:t>
            </a:r>
            <a:endParaRPr lang="en-US" sz="1300" dirty="0"/>
          </a:p>
        </p:txBody>
      </p:sp>
      <p:sp>
        <p:nvSpPr>
          <p:cNvPr id="16" name="Shape 14"/>
          <p:cNvSpPr/>
          <p:nvPr/>
        </p:nvSpPr>
        <p:spPr>
          <a:xfrm>
            <a:off x="8046720" y="1554480"/>
            <a:ext cx="3520440" cy="2011680"/>
          </a:xfrm>
          <a:prstGeom prst="roundRect">
            <a:avLst>
              <a:gd name="adj" fmla="val 3636"/>
            </a:avLst>
          </a:prstGeom>
          <a:solidFill>
            <a:srgbClr val="F5F9F7"/>
          </a:solidFill>
          <a:ln w="9525">
            <a:solidFill>
              <a:srgbClr val="C9D8D3"/>
            </a:solidFill>
            <a:prstDash val="solid"/>
          </a:ln>
        </p:spPr>
        <p:txBody>
          <a:bodyPr/>
          <a:lstStyle/>
          <a:p>
            <a:endParaRPr lang="en-US"/>
          </a:p>
        </p:txBody>
      </p:sp>
      <p:sp>
        <p:nvSpPr>
          <p:cNvPr id="17" name="Shape 15"/>
          <p:cNvSpPr/>
          <p:nvPr/>
        </p:nvSpPr>
        <p:spPr>
          <a:xfrm>
            <a:off x="8275320" y="1783080"/>
            <a:ext cx="502920" cy="502920"/>
          </a:xfrm>
          <a:prstGeom prst="ellipse">
            <a:avLst/>
          </a:prstGeom>
          <a:solidFill>
            <a:srgbClr val="E9A23B"/>
          </a:solidFill>
          <a:ln w="12700">
            <a:solidFill>
              <a:srgbClr val="E9A23B"/>
            </a:solidFill>
            <a:prstDash val="solid"/>
          </a:ln>
        </p:spPr>
        <p:txBody>
          <a:bodyPr/>
          <a:lstStyle/>
          <a:p>
            <a:endParaRPr lang="en-US"/>
          </a:p>
        </p:txBody>
      </p:sp>
      <p:sp>
        <p:nvSpPr>
          <p:cNvPr id="18" name="Text 16"/>
          <p:cNvSpPr txBox="1"/>
          <p:nvPr/>
        </p:nvSpPr>
        <p:spPr>
          <a:xfrm>
            <a:off x="8275320" y="178308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915400" y="1783080"/>
            <a:ext cx="2514600" cy="50292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Extraction automatisée</a:t>
            </a:r>
            <a:endParaRPr lang="en-US" sz="1600" dirty="0"/>
          </a:p>
        </p:txBody>
      </p:sp>
      <p:sp>
        <p:nvSpPr>
          <p:cNvPr id="20" name="Text 18"/>
          <p:cNvSpPr txBox="1"/>
          <p:nvPr/>
        </p:nvSpPr>
        <p:spPr>
          <a:xfrm>
            <a:off x="8275320" y="2423160"/>
            <a:ext cx="3108960" cy="10515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Connexion.py : SQL Server → data/raw/contoso/Dim et Sales, en une commande</a:t>
            </a:r>
            <a:endParaRPr lang="en-US" sz="1300" dirty="0"/>
          </a:p>
        </p:txBody>
      </p:sp>
      <p:sp>
        <p:nvSpPr>
          <p:cNvPr id="21" name="Shape 19"/>
          <p:cNvSpPr/>
          <p:nvPr/>
        </p:nvSpPr>
        <p:spPr>
          <a:xfrm>
            <a:off x="548640" y="3794760"/>
            <a:ext cx="3520440" cy="2011680"/>
          </a:xfrm>
          <a:prstGeom prst="roundRect">
            <a:avLst>
              <a:gd name="adj" fmla="val 3636"/>
            </a:avLst>
          </a:prstGeom>
          <a:solidFill>
            <a:srgbClr val="F5F9F7"/>
          </a:solidFill>
          <a:ln w="9525">
            <a:solidFill>
              <a:srgbClr val="C9D8D3"/>
            </a:solidFill>
            <a:prstDash val="solid"/>
          </a:ln>
        </p:spPr>
        <p:txBody>
          <a:bodyPr/>
          <a:lstStyle/>
          <a:p>
            <a:endParaRPr lang="en-US"/>
          </a:p>
        </p:txBody>
      </p:sp>
      <p:sp>
        <p:nvSpPr>
          <p:cNvPr id="22" name="Shape 20"/>
          <p:cNvSpPr/>
          <p:nvPr/>
        </p:nvSpPr>
        <p:spPr>
          <a:xfrm>
            <a:off x="777240" y="4023360"/>
            <a:ext cx="502920" cy="502920"/>
          </a:xfrm>
          <a:prstGeom prst="ellipse">
            <a:avLst/>
          </a:prstGeom>
          <a:solidFill>
            <a:srgbClr val="E9A23B"/>
          </a:solidFill>
          <a:ln w="12700">
            <a:solidFill>
              <a:srgbClr val="E9A23B"/>
            </a:solidFill>
            <a:prstDash val="solid"/>
          </a:ln>
        </p:spPr>
        <p:txBody>
          <a:bodyPr/>
          <a:lstStyle/>
          <a:p>
            <a:endParaRPr lang="en-US"/>
          </a:p>
        </p:txBody>
      </p:sp>
      <p:sp>
        <p:nvSpPr>
          <p:cNvPr id="23" name="Text 21"/>
          <p:cNvSpPr txBox="1"/>
          <p:nvPr/>
        </p:nvSpPr>
        <p:spPr>
          <a:xfrm>
            <a:off x="777240" y="402336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417320" y="4023360"/>
            <a:ext cx="2514600" cy="50292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Inventaire reproductible</a:t>
            </a:r>
            <a:endParaRPr lang="en-US" sz="1600" dirty="0"/>
          </a:p>
        </p:txBody>
      </p:sp>
      <p:sp>
        <p:nvSpPr>
          <p:cNvPr id="25" name="Text 23"/>
          <p:cNvSpPr txBox="1"/>
          <p:nvPr/>
        </p:nvSpPr>
        <p:spPr>
          <a:xfrm>
            <a:off x="777240" y="4663440"/>
            <a:ext cx="3108960" cy="10515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00_inventaire.ipynb : contrôles, dictionnaire de données et figure générés automatiquement</a:t>
            </a:r>
            <a:endParaRPr lang="en-US" sz="1300" dirty="0"/>
          </a:p>
        </p:txBody>
      </p:sp>
      <p:sp>
        <p:nvSpPr>
          <p:cNvPr id="26" name="Shape 24"/>
          <p:cNvSpPr/>
          <p:nvPr/>
        </p:nvSpPr>
        <p:spPr>
          <a:xfrm>
            <a:off x="4297680" y="3794760"/>
            <a:ext cx="3520440" cy="2011680"/>
          </a:xfrm>
          <a:prstGeom prst="roundRect">
            <a:avLst>
              <a:gd name="adj" fmla="val 3636"/>
            </a:avLst>
          </a:prstGeom>
          <a:solidFill>
            <a:srgbClr val="17332E"/>
          </a:solidFill>
          <a:ln w="9525">
            <a:solidFill>
              <a:srgbClr val="C9D8D3"/>
            </a:solidFill>
            <a:prstDash val="solid"/>
          </a:ln>
        </p:spPr>
        <p:txBody>
          <a:bodyPr/>
          <a:lstStyle/>
          <a:p>
            <a:endParaRPr lang="en-US"/>
          </a:p>
        </p:txBody>
      </p:sp>
      <p:sp>
        <p:nvSpPr>
          <p:cNvPr id="27" name="Shape 25"/>
          <p:cNvSpPr/>
          <p:nvPr/>
        </p:nvSpPr>
        <p:spPr>
          <a:xfrm>
            <a:off x="4526280" y="4023360"/>
            <a:ext cx="502920" cy="502920"/>
          </a:xfrm>
          <a:prstGeom prst="ellipse">
            <a:avLst/>
          </a:prstGeom>
          <a:solidFill>
            <a:srgbClr val="E9A23B"/>
          </a:solidFill>
          <a:ln w="12700">
            <a:solidFill>
              <a:srgbClr val="E9A23B"/>
            </a:solidFill>
            <a:prstDash val="solid"/>
          </a:ln>
        </p:spPr>
        <p:txBody>
          <a:bodyPr/>
          <a:lstStyle/>
          <a:p>
            <a:endParaRPr lang="en-US"/>
          </a:p>
        </p:txBody>
      </p:sp>
      <p:sp>
        <p:nvSpPr>
          <p:cNvPr id="28" name="Text 26"/>
          <p:cNvSpPr txBox="1"/>
          <p:nvPr/>
        </p:nvSpPr>
        <p:spPr>
          <a:xfrm>
            <a:off x="4526280" y="402336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5166360" y="4023360"/>
            <a:ext cx="2514600" cy="502920"/>
          </a:xfrm>
          <a:prstGeom prst="rect">
            <a:avLst/>
          </a:prstGeom>
          <a:noFill/>
          <a:ln/>
        </p:spPr>
        <p:txBody>
          <a:bodyPr wrap="square" lIns="0" tIns="0" rIns="0" bIns="0" rtlCol="0" anchor="ctr"/>
          <a:lstStyle/>
          <a:p>
            <a:pPr marL="0" indent="0">
              <a:buNone/>
            </a:pPr>
            <a:r>
              <a:rPr lang="en-US" sz="1600" b="1" dirty="0">
                <a:solidFill>
                  <a:srgbClr val="E9A23B"/>
                </a:solidFill>
                <a:latin typeface="Cambria" pitchFamily="34" charset="0"/>
                <a:ea typeface="Cambria" pitchFamily="34" charset="-122"/>
                <a:cs typeface="Cambria" pitchFamily="34" charset="-120"/>
              </a:rPr>
              <a:t>Charte graphique</a:t>
            </a:r>
            <a:endParaRPr lang="en-US" sz="1600" dirty="0"/>
          </a:p>
        </p:txBody>
      </p:sp>
      <p:sp>
        <p:nvSpPr>
          <p:cNvPr id="30" name="Text 28"/>
          <p:cNvSpPr txBox="1"/>
          <p:nvPr/>
        </p:nvSpPr>
        <p:spPr>
          <a:xfrm>
            <a:off x="4526280" y="4663440"/>
            <a:ext cx="3108960" cy="10515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src/viz.py : mêmes couleurs, police et format des montants pour tous les graphiques</a:t>
            </a:r>
            <a:endParaRPr lang="en-US" sz="1300" dirty="0"/>
          </a:p>
        </p:txBody>
      </p:sp>
      <p:sp>
        <p:nvSpPr>
          <p:cNvPr id="31" name="Shape 29"/>
          <p:cNvSpPr/>
          <p:nvPr/>
        </p:nvSpPr>
        <p:spPr>
          <a:xfrm>
            <a:off x="8046720" y="3794760"/>
            <a:ext cx="3520440" cy="2011680"/>
          </a:xfrm>
          <a:prstGeom prst="roundRect">
            <a:avLst>
              <a:gd name="adj" fmla="val 3636"/>
            </a:avLst>
          </a:prstGeom>
          <a:solidFill>
            <a:srgbClr val="F5F9F7"/>
          </a:solidFill>
          <a:ln w="9525">
            <a:solidFill>
              <a:srgbClr val="C9D8D3"/>
            </a:solidFill>
            <a:prstDash val="solid"/>
          </a:ln>
        </p:spPr>
        <p:txBody>
          <a:bodyPr/>
          <a:lstStyle/>
          <a:p>
            <a:endParaRPr lang="en-US"/>
          </a:p>
        </p:txBody>
      </p:sp>
      <p:sp>
        <p:nvSpPr>
          <p:cNvPr id="32" name="Shape 30"/>
          <p:cNvSpPr/>
          <p:nvPr/>
        </p:nvSpPr>
        <p:spPr>
          <a:xfrm>
            <a:off x="8275320" y="4023360"/>
            <a:ext cx="502920" cy="502920"/>
          </a:xfrm>
          <a:prstGeom prst="ellipse">
            <a:avLst/>
          </a:prstGeom>
          <a:solidFill>
            <a:srgbClr val="E9A23B"/>
          </a:solidFill>
          <a:ln w="12700">
            <a:solidFill>
              <a:srgbClr val="E9A23B"/>
            </a:solidFill>
            <a:prstDash val="solid"/>
          </a:ln>
        </p:spPr>
        <p:txBody>
          <a:bodyPr/>
          <a:lstStyle/>
          <a:p>
            <a:endParaRPr lang="en-US"/>
          </a:p>
        </p:txBody>
      </p:sp>
      <p:sp>
        <p:nvSpPr>
          <p:cNvPr id="33" name="Text 31"/>
          <p:cNvSpPr txBox="1"/>
          <p:nvPr/>
        </p:nvSpPr>
        <p:spPr>
          <a:xfrm>
            <a:off x="8275320" y="4023360"/>
            <a:ext cx="502920" cy="50292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8915400" y="4023360"/>
            <a:ext cx="2514600" cy="50292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Versionnement</a:t>
            </a:r>
            <a:endParaRPr lang="en-US" sz="1600" dirty="0"/>
          </a:p>
        </p:txBody>
      </p:sp>
      <p:sp>
        <p:nvSpPr>
          <p:cNvPr id="35" name="Text 33"/>
          <p:cNvSpPr txBox="1"/>
          <p:nvPr/>
        </p:nvSpPr>
        <p:spPr>
          <a:xfrm>
            <a:off x="8275320" y="4663440"/>
            <a:ext cx="3108960" cy="10515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.gitignore (données hors GitHub) et README (installation, exécution, conventions)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APPROCHE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Quatre niveaux d'analyse, du constat à la décision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3977640"/>
            <a:ext cx="2651760" cy="2011680"/>
          </a:xfrm>
          <a:prstGeom prst="roundRect">
            <a:avLst>
              <a:gd name="adj" fmla="val 3636"/>
            </a:avLst>
          </a:prstGeom>
          <a:solidFill>
            <a:srgbClr val="EAF2EF"/>
          </a:solidFill>
          <a:ln w="6350">
            <a:solidFill>
              <a:srgbClr val="C9D8D3"/>
            </a:solidFill>
            <a:prstDash val="solid"/>
          </a:ln>
        </p:spPr>
        <p:txBody>
          <a:bodyPr/>
          <a:lstStyle/>
          <a:p>
            <a:endParaRPr lang="en-US"/>
          </a:p>
        </p:txBody>
      </p:sp>
      <p:sp>
        <p:nvSpPr>
          <p:cNvPr id="7" name="Text 5"/>
          <p:cNvSpPr txBox="1"/>
          <p:nvPr/>
        </p:nvSpPr>
        <p:spPr>
          <a:xfrm>
            <a:off x="731520" y="4160520"/>
            <a:ext cx="2286000" cy="411480"/>
          </a:xfrm>
          <a:prstGeom prst="rect">
            <a:avLst/>
          </a:prstGeom>
          <a:noFill/>
          <a:ln/>
        </p:spPr>
        <p:txBody>
          <a:bodyPr wrap="square" lIns="0" tIns="0" rIns="0" bIns="0" rtlCol="0" anchor="ctr"/>
          <a:lstStyle/>
          <a:p>
            <a:pPr marL="0" indent="0">
              <a:buNone/>
            </a:pPr>
            <a:r>
              <a:rPr lang="en-US" sz="1900" b="1" dirty="0">
                <a:solidFill>
                  <a:srgbClr val="17332E"/>
                </a:solidFill>
                <a:latin typeface="Cambria" pitchFamily="34" charset="0"/>
                <a:ea typeface="Cambria" pitchFamily="34" charset="-122"/>
                <a:cs typeface="Cambria" pitchFamily="34" charset="-120"/>
              </a:rPr>
              <a:t>Descriptive</a:t>
            </a:r>
            <a:endParaRPr lang="en-US" sz="1900" dirty="0"/>
          </a:p>
        </p:txBody>
      </p:sp>
      <p:sp>
        <p:nvSpPr>
          <p:cNvPr id="8" name="Text 6"/>
          <p:cNvSpPr txBox="1"/>
          <p:nvPr/>
        </p:nvSpPr>
        <p:spPr>
          <a:xfrm>
            <a:off x="731520" y="4572000"/>
            <a:ext cx="2286000" cy="320040"/>
          </a:xfrm>
          <a:prstGeom prst="rect">
            <a:avLst/>
          </a:prstGeom>
          <a:noFill/>
          <a:ln/>
        </p:spPr>
        <p:txBody>
          <a:bodyPr wrap="square" lIns="0" tIns="0" rIns="0" bIns="0" rtlCol="0" anchor="ctr"/>
          <a:lstStyle/>
          <a:p>
            <a:pPr marL="0" indent="0">
              <a:buNone/>
            </a:pPr>
            <a:r>
              <a:rPr lang="en-US" sz="1300" i="1" dirty="0">
                <a:solidFill>
                  <a:srgbClr val="17332E"/>
                </a:solidFill>
                <a:latin typeface="Calibri" pitchFamily="34" charset="0"/>
                <a:ea typeface="Calibri" pitchFamily="34" charset="-122"/>
                <a:cs typeface="Calibri" pitchFamily="34" charset="-120"/>
              </a:rPr>
              <a:t>Que s'est-il passé ?</a:t>
            </a:r>
            <a:endParaRPr lang="en-US" sz="1300" dirty="0"/>
          </a:p>
        </p:txBody>
      </p:sp>
      <p:sp>
        <p:nvSpPr>
          <p:cNvPr id="9" name="Text 7"/>
          <p:cNvSpPr txBox="1"/>
          <p:nvPr/>
        </p:nvSpPr>
        <p:spPr>
          <a:xfrm>
            <a:off x="731520" y="4937760"/>
            <a:ext cx="2286000" cy="914400"/>
          </a:xfrm>
          <a:prstGeom prst="rect">
            <a:avLst/>
          </a:prstGeom>
          <a:noFill/>
          <a:ln/>
        </p:spPr>
        <p:txBody>
          <a:bodyPr wrap="square" lIns="0" tIns="0" rIns="0" bIns="0" rtlCol="0" anchor="t"/>
          <a:lstStyle/>
          <a:p>
            <a:pPr marL="0" indent="0">
              <a:buNone/>
            </a:pPr>
            <a:r>
              <a:rPr lang="en-US" sz="1200" dirty="0">
                <a:solidFill>
                  <a:srgbClr val="17332E"/>
                </a:solidFill>
                <a:latin typeface="Calibri" pitchFamily="34" charset="0"/>
                <a:ea typeface="Calibri" pitchFamily="34" charset="-122"/>
                <a:cs typeface="Calibri" pitchFamily="34" charset="-120"/>
              </a:rPr>
              <a:t>CA et marge par boutique, produit, période · Pareto</a:t>
            </a:r>
            <a:endParaRPr lang="en-US" sz="1200" dirty="0"/>
          </a:p>
        </p:txBody>
      </p:sp>
      <p:sp>
        <p:nvSpPr>
          <p:cNvPr id="10" name="Text 8"/>
          <p:cNvSpPr txBox="1"/>
          <p:nvPr/>
        </p:nvSpPr>
        <p:spPr>
          <a:xfrm>
            <a:off x="731520" y="5532120"/>
            <a:ext cx="228600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Q1 à Q5</a:t>
            </a:r>
            <a:endParaRPr lang="en-US" sz="1200" dirty="0"/>
          </a:p>
        </p:txBody>
      </p:sp>
      <p:sp>
        <p:nvSpPr>
          <p:cNvPr id="11" name="Shape 9"/>
          <p:cNvSpPr/>
          <p:nvPr/>
        </p:nvSpPr>
        <p:spPr>
          <a:xfrm>
            <a:off x="3383280" y="3291840"/>
            <a:ext cx="2651760" cy="2697480"/>
          </a:xfrm>
          <a:prstGeom prst="roundRect">
            <a:avLst>
              <a:gd name="adj" fmla="val 2759"/>
            </a:avLst>
          </a:prstGeom>
          <a:solidFill>
            <a:srgbClr val="CFE0DA"/>
          </a:solidFill>
          <a:ln w="6350">
            <a:solidFill>
              <a:srgbClr val="C9D8D3"/>
            </a:solidFill>
            <a:prstDash val="solid"/>
          </a:ln>
        </p:spPr>
        <p:txBody>
          <a:bodyPr/>
          <a:lstStyle/>
          <a:p>
            <a:endParaRPr lang="en-US"/>
          </a:p>
        </p:txBody>
      </p:sp>
      <p:sp>
        <p:nvSpPr>
          <p:cNvPr id="12" name="Text 10"/>
          <p:cNvSpPr txBox="1"/>
          <p:nvPr/>
        </p:nvSpPr>
        <p:spPr>
          <a:xfrm>
            <a:off x="3566160" y="3474720"/>
            <a:ext cx="2286000" cy="411480"/>
          </a:xfrm>
          <a:prstGeom prst="rect">
            <a:avLst/>
          </a:prstGeom>
          <a:noFill/>
          <a:ln/>
        </p:spPr>
        <p:txBody>
          <a:bodyPr wrap="square" lIns="0" tIns="0" rIns="0" bIns="0" rtlCol="0" anchor="ctr"/>
          <a:lstStyle/>
          <a:p>
            <a:pPr marL="0" indent="0">
              <a:buNone/>
            </a:pPr>
            <a:r>
              <a:rPr lang="en-US" sz="1900" b="1" dirty="0">
                <a:solidFill>
                  <a:srgbClr val="17332E"/>
                </a:solidFill>
                <a:latin typeface="Cambria" pitchFamily="34" charset="0"/>
                <a:ea typeface="Cambria" pitchFamily="34" charset="-122"/>
                <a:cs typeface="Cambria" pitchFamily="34" charset="-120"/>
              </a:rPr>
              <a:t>Diagnostique</a:t>
            </a:r>
            <a:endParaRPr lang="en-US" sz="1900" dirty="0"/>
          </a:p>
        </p:txBody>
      </p:sp>
      <p:sp>
        <p:nvSpPr>
          <p:cNvPr id="13" name="Text 11"/>
          <p:cNvSpPr txBox="1"/>
          <p:nvPr/>
        </p:nvSpPr>
        <p:spPr>
          <a:xfrm>
            <a:off x="3566160" y="3886200"/>
            <a:ext cx="2286000" cy="320040"/>
          </a:xfrm>
          <a:prstGeom prst="rect">
            <a:avLst/>
          </a:prstGeom>
          <a:noFill/>
          <a:ln/>
        </p:spPr>
        <p:txBody>
          <a:bodyPr wrap="square" lIns="0" tIns="0" rIns="0" bIns="0" rtlCol="0" anchor="ctr"/>
          <a:lstStyle/>
          <a:p>
            <a:pPr marL="0" indent="0">
              <a:buNone/>
            </a:pPr>
            <a:r>
              <a:rPr lang="en-US" sz="1300" i="1" dirty="0">
                <a:solidFill>
                  <a:srgbClr val="17332E"/>
                </a:solidFill>
                <a:latin typeface="Calibri" pitchFamily="34" charset="0"/>
                <a:ea typeface="Calibri" pitchFamily="34" charset="-122"/>
                <a:cs typeface="Calibri" pitchFamily="34" charset="-120"/>
              </a:rPr>
              <a:t>Pourquoi ?</a:t>
            </a:r>
            <a:endParaRPr lang="en-US" sz="1300" dirty="0"/>
          </a:p>
        </p:txBody>
      </p:sp>
      <p:sp>
        <p:nvSpPr>
          <p:cNvPr id="14" name="Text 12"/>
          <p:cNvSpPr txBox="1"/>
          <p:nvPr/>
        </p:nvSpPr>
        <p:spPr>
          <a:xfrm>
            <a:off x="3566160" y="4251960"/>
            <a:ext cx="2286000" cy="914400"/>
          </a:xfrm>
          <a:prstGeom prst="rect">
            <a:avLst/>
          </a:prstGeom>
          <a:noFill/>
          <a:ln/>
        </p:spPr>
        <p:txBody>
          <a:bodyPr wrap="square" lIns="0" tIns="0" rIns="0" bIns="0" rtlCol="0" anchor="t"/>
          <a:lstStyle/>
          <a:p>
            <a:pPr marL="0" indent="0">
              <a:buNone/>
            </a:pPr>
            <a:r>
              <a:rPr lang="en-US" sz="1200" dirty="0">
                <a:solidFill>
                  <a:srgbClr val="17332E"/>
                </a:solidFill>
                <a:latin typeface="Calibri" pitchFamily="34" charset="0"/>
                <a:ea typeface="Calibri" pitchFamily="34" charset="-122"/>
                <a:cs typeface="Calibri" pitchFamily="34" charset="-120"/>
              </a:rPr>
              <a:t>Promo vs hors promo · corrélation remise et retours · ANOVA</a:t>
            </a:r>
            <a:endParaRPr lang="en-US" sz="1200" dirty="0"/>
          </a:p>
        </p:txBody>
      </p:sp>
      <p:sp>
        <p:nvSpPr>
          <p:cNvPr id="15" name="Text 13"/>
          <p:cNvSpPr txBox="1"/>
          <p:nvPr/>
        </p:nvSpPr>
        <p:spPr>
          <a:xfrm>
            <a:off x="3566160" y="5532120"/>
            <a:ext cx="228600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Q1 à Q4</a:t>
            </a:r>
            <a:endParaRPr lang="en-US" sz="1200" dirty="0"/>
          </a:p>
        </p:txBody>
      </p:sp>
      <p:sp>
        <p:nvSpPr>
          <p:cNvPr id="16" name="Shape 14"/>
          <p:cNvSpPr/>
          <p:nvPr/>
        </p:nvSpPr>
        <p:spPr>
          <a:xfrm>
            <a:off x="6217920" y="2606040"/>
            <a:ext cx="2651760" cy="3383280"/>
          </a:xfrm>
          <a:prstGeom prst="roundRect">
            <a:avLst>
              <a:gd name="adj" fmla="val 2759"/>
            </a:avLst>
          </a:prstGeom>
          <a:solidFill>
            <a:srgbClr val="2E5E55"/>
          </a:solidFill>
          <a:ln w="6350">
            <a:solidFill>
              <a:srgbClr val="C9D8D3"/>
            </a:solidFill>
            <a:prstDash val="solid"/>
          </a:ln>
        </p:spPr>
        <p:txBody>
          <a:bodyPr/>
          <a:lstStyle/>
          <a:p>
            <a:endParaRPr lang="en-US"/>
          </a:p>
        </p:txBody>
      </p:sp>
      <p:sp>
        <p:nvSpPr>
          <p:cNvPr id="17" name="Text 15"/>
          <p:cNvSpPr txBox="1"/>
          <p:nvPr/>
        </p:nvSpPr>
        <p:spPr>
          <a:xfrm>
            <a:off x="6400800" y="2788920"/>
            <a:ext cx="2286000" cy="411480"/>
          </a:xfrm>
          <a:prstGeom prst="rect">
            <a:avLst/>
          </a:prstGeom>
          <a:noFill/>
          <a:ln/>
        </p:spPr>
        <p:txBody>
          <a:bodyPr wrap="square" lIns="0" tIns="0" rIns="0" bIns="0" rtlCol="0" anchor="ctr"/>
          <a:lstStyle/>
          <a:p>
            <a:pPr marL="0" indent="0">
              <a:buNone/>
            </a:pPr>
            <a:r>
              <a:rPr lang="en-US" sz="1900" b="1" dirty="0">
                <a:solidFill>
                  <a:srgbClr val="E9A23B"/>
                </a:solidFill>
                <a:latin typeface="Cambria" pitchFamily="34" charset="0"/>
                <a:ea typeface="Cambria" pitchFamily="34" charset="-122"/>
                <a:cs typeface="Cambria" pitchFamily="34" charset="-120"/>
              </a:rPr>
              <a:t>Prédictive</a:t>
            </a:r>
            <a:endParaRPr lang="en-US" sz="1900" dirty="0"/>
          </a:p>
        </p:txBody>
      </p:sp>
      <p:sp>
        <p:nvSpPr>
          <p:cNvPr id="18" name="Text 16"/>
          <p:cNvSpPr txBox="1"/>
          <p:nvPr/>
        </p:nvSpPr>
        <p:spPr>
          <a:xfrm>
            <a:off x="6400800" y="3200400"/>
            <a:ext cx="2286000" cy="32004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Que va-t-il se passer ?</a:t>
            </a:r>
            <a:endParaRPr lang="en-US" sz="1300" dirty="0"/>
          </a:p>
        </p:txBody>
      </p:sp>
      <p:sp>
        <p:nvSpPr>
          <p:cNvPr id="19" name="Text 17"/>
          <p:cNvSpPr txBox="1"/>
          <p:nvPr/>
        </p:nvSpPr>
        <p:spPr>
          <a:xfrm>
            <a:off x="6400800" y="3566160"/>
            <a:ext cx="22860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Prévision des ventes · risque de retour · réponse aux promotions</a:t>
            </a:r>
            <a:endParaRPr lang="en-US" sz="1200" dirty="0"/>
          </a:p>
        </p:txBody>
      </p:sp>
      <p:sp>
        <p:nvSpPr>
          <p:cNvPr id="20" name="Text 18"/>
          <p:cNvSpPr txBox="1"/>
          <p:nvPr/>
        </p:nvSpPr>
        <p:spPr>
          <a:xfrm>
            <a:off x="6400800" y="5532120"/>
            <a:ext cx="2286000" cy="320040"/>
          </a:xfrm>
          <a:prstGeom prst="rect">
            <a:avLst/>
          </a:prstGeom>
          <a:noFill/>
          <a:ln/>
        </p:spPr>
        <p:txBody>
          <a:bodyPr wrap="square" lIns="0" tIns="0" rIns="0" bIns="0" rtlCol="0" anchor="ctr"/>
          <a:lstStyle/>
          <a:p>
            <a:pPr marL="0" indent="0">
              <a:buNone/>
            </a:pPr>
            <a:r>
              <a:rPr lang="en-US" sz="1200" b="1" dirty="0">
                <a:solidFill>
                  <a:srgbClr val="E9A23B"/>
                </a:solidFill>
                <a:latin typeface="Calibri" pitchFamily="34" charset="0"/>
                <a:ea typeface="Calibri" pitchFamily="34" charset="-122"/>
                <a:cs typeface="Calibri" pitchFamily="34" charset="-120"/>
              </a:rPr>
              <a:t>Q2 à Q5</a:t>
            </a:r>
            <a:endParaRPr lang="en-US" sz="1200" dirty="0"/>
          </a:p>
        </p:txBody>
      </p:sp>
      <p:sp>
        <p:nvSpPr>
          <p:cNvPr id="21" name="Shape 19"/>
          <p:cNvSpPr/>
          <p:nvPr/>
        </p:nvSpPr>
        <p:spPr>
          <a:xfrm>
            <a:off x="9052560" y="1920240"/>
            <a:ext cx="2651760" cy="4069080"/>
          </a:xfrm>
          <a:prstGeom prst="roundRect">
            <a:avLst>
              <a:gd name="adj" fmla="val 2759"/>
            </a:avLst>
          </a:prstGeom>
          <a:solidFill>
            <a:srgbClr val="17332E"/>
          </a:solidFill>
          <a:ln w="6350">
            <a:solidFill>
              <a:srgbClr val="C9D8D3"/>
            </a:solidFill>
            <a:prstDash val="solid"/>
          </a:ln>
        </p:spPr>
        <p:txBody>
          <a:bodyPr/>
          <a:lstStyle/>
          <a:p>
            <a:endParaRPr lang="en-US"/>
          </a:p>
        </p:txBody>
      </p:sp>
      <p:sp>
        <p:nvSpPr>
          <p:cNvPr id="22" name="Text 20"/>
          <p:cNvSpPr txBox="1"/>
          <p:nvPr/>
        </p:nvSpPr>
        <p:spPr>
          <a:xfrm>
            <a:off x="9235440" y="2103120"/>
            <a:ext cx="2286000" cy="411480"/>
          </a:xfrm>
          <a:prstGeom prst="rect">
            <a:avLst/>
          </a:prstGeom>
          <a:noFill/>
          <a:ln/>
        </p:spPr>
        <p:txBody>
          <a:bodyPr wrap="square" lIns="0" tIns="0" rIns="0" bIns="0" rtlCol="0" anchor="ctr"/>
          <a:lstStyle/>
          <a:p>
            <a:pPr marL="0" indent="0">
              <a:buNone/>
            </a:pPr>
            <a:r>
              <a:rPr lang="en-US" sz="1900" b="1" dirty="0">
                <a:solidFill>
                  <a:srgbClr val="E9A23B"/>
                </a:solidFill>
                <a:latin typeface="Cambria" pitchFamily="34" charset="0"/>
                <a:ea typeface="Cambria" pitchFamily="34" charset="-122"/>
                <a:cs typeface="Cambria" pitchFamily="34" charset="-120"/>
              </a:rPr>
              <a:t>Prescriptive</a:t>
            </a:r>
            <a:endParaRPr lang="en-US" sz="1900" dirty="0"/>
          </a:p>
        </p:txBody>
      </p:sp>
      <p:sp>
        <p:nvSpPr>
          <p:cNvPr id="23" name="Text 21"/>
          <p:cNvSpPr txBox="1"/>
          <p:nvPr/>
        </p:nvSpPr>
        <p:spPr>
          <a:xfrm>
            <a:off x="9235440" y="2514600"/>
            <a:ext cx="2286000" cy="32004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Que faut-il faire ?</a:t>
            </a:r>
            <a:endParaRPr lang="en-US" sz="1300" dirty="0"/>
          </a:p>
        </p:txBody>
      </p:sp>
      <p:sp>
        <p:nvSpPr>
          <p:cNvPr id="24" name="Text 22"/>
          <p:cNvSpPr txBox="1"/>
          <p:nvPr/>
        </p:nvSpPr>
        <p:spPr>
          <a:xfrm>
            <a:off x="9235440" y="2880360"/>
            <a:ext cx="228600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Simulation de scénarios · remise optimale par catégorie · plan promotionnel</a:t>
            </a:r>
            <a:endParaRPr lang="en-US" sz="1200" dirty="0"/>
          </a:p>
        </p:txBody>
      </p:sp>
      <p:sp>
        <p:nvSpPr>
          <p:cNvPr id="25" name="Text 23"/>
          <p:cNvSpPr txBox="1"/>
          <p:nvPr/>
        </p:nvSpPr>
        <p:spPr>
          <a:xfrm>
            <a:off x="9235440" y="5532120"/>
            <a:ext cx="2286000" cy="320040"/>
          </a:xfrm>
          <a:prstGeom prst="rect">
            <a:avLst/>
          </a:prstGeom>
          <a:noFill/>
          <a:ln/>
        </p:spPr>
        <p:txBody>
          <a:bodyPr wrap="square" lIns="0" tIns="0" rIns="0" bIns="0" rtlCol="0" anchor="ctr"/>
          <a:lstStyle/>
          <a:p>
            <a:pPr marL="0" indent="0">
              <a:buNone/>
            </a:pPr>
            <a:r>
              <a:rPr lang="en-US" sz="1200" b="1" dirty="0">
                <a:solidFill>
                  <a:srgbClr val="E9A23B"/>
                </a:solidFill>
                <a:latin typeface="Calibri" pitchFamily="34" charset="0"/>
                <a:ea typeface="Calibri" pitchFamily="34" charset="-122"/>
                <a:cs typeface="Calibri" pitchFamily="34" charset="-120"/>
              </a:rPr>
              <a:t>Q2, Q5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LIVRABLE 1</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Phases du projet et jalons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822960" y="2926080"/>
            <a:ext cx="10607040" cy="0"/>
          </a:xfrm>
          <a:prstGeom prst="line">
            <a:avLst/>
          </a:prstGeom>
          <a:noFill/>
          <a:ln w="38100">
            <a:solidFill>
              <a:srgbClr val="2E5E55"/>
            </a:solidFill>
            <a:prstDash val="solid"/>
          </a:ln>
        </p:spPr>
        <p:txBody>
          <a:bodyPr/>
          <a:lstStyle/>
          <a:p>
            <a:endParaRPr lang="en-US"/>
          </a:p>
        </p:txBody>
      </p:sp>
      <p:sp>
        <p:nvSpPr>
          <p:cNvPr id="7" name="Shape 5"/>
          <p:cNvSpPr/>
          <p:nvPr/>
        </p:nvSpPr>
        <p:spPr>
          <a:xfrm>
            <a:off x="1554480" y="2606040"/>
            <a:ext cx="640080" cy="640080"/>
          </a:xfrm>
          <a:prstGeom prst="ellipse">
            <a:avLst/>
          </a:prstGeom>
          <a:solidFill>
            <a:srgbClr val="E9A23B"/>
          </a:solidFill>
          <a:ln w="12700">
            <a:solidFill>
              <a:srgbClr val="E9A23B"/>
            </a:solidFill>
            <a:prstDash val="solid"/>
          </a:ln>
        </p:spPr>
        <p:txBody>
          <a:bodyPr/>
          <a:lstStyle/>
          <a:p>
            <a:endParaRPr lang="en-US"/>
          </a:p>
        </p:txBody>
      </p:sp>
      <p:sp>
        <p:nvSpPr>
          <p:cNvPr id="8" name="Text 6"/>
          <p:cNvSpPr txBox="1"/>
          <p:nvPr/>
        </p:nvSpPr>
        <p:spPr>
          <a:xfrm>
            <a:off x="1554480" y="2606040"/>
            <a:ext cx="640080" cy="640080"/>
          </a:xfrm>
          <a:prstGeom prst="rect">
            <a:avLst/>
          </a:prstGeom>
          <a:noFill/>
          <a:ln/>
        </p:spPr>
        <p:txBody>
          <a:bodyPr wrap="square" lIns="0" tIns="0" rIns="0" bIns="0" rtlCol="0" anchor="ctr"/>
          <a:lstStyle/>
          <a:p>
            <a:pPr marL="0" indent="0" algn="ctr">
              <a:buNone/>
            </a:pPr>
            <a:r>
              <a:rPr lang="en-US" sz="1300" b="1" dirty="0">
                <a:solidFill>
                  <a:srgbClr val="17332E"/>
                </a:solidFill>
                <a:latin typeface="Calibri" pitchFamily="34" charset="0"/>
                <a:ea typeface="Calibri" pitchFamily="34" charset="-122"/>
                <a:cs typeface="Calibri" pitchFamily="34" charset="-120"/>
              </a:rPr>
              <a:t>20 %</a:t>
            </a:r>
            <a:endParaRPr lang="en-US" sz="1300" dirty="0"/>
          </a:p>
        </p:txBody>
      </p:sp>
      <p:sp>
        <p:nvSpPr>
          <p:cNvPr id="9" name="Text 7"/>
          <p:cNvSpPr txBox="1"/>
          <p:nvPr/>
        </p:nvSpPr>
        <p:spPr>
          <a:xfrm>
            <a:off x="548640" y="1600200"/>
            <a:ext cx="2651760" cy="45720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5 oct.</a:t>
            </a:r>
            <a:endParaRPr lang="en-US" sz="2200" dirty="0"/>
          </a:p>
        </p:txBody>
      </p:sp>
      <p:sp>
        <p:nvSpPr>
          <p:cNvPr id="10" name="Shape 8"/>
          <p:cNvSpPr/>
          <p:nvPr/>
        </p:nvSpPr>
        <p:spPr>
          <a:xfrm>
            <a:off x="548640" y="3566160"/>
            <a:ext cx="2651760" cy="2331720"/>
          </a:xfrm>
          <a:prstGeom prst="roundRect">
            <a:avLst>
              <a:gd name="adj" fmla="val 3137"/>
            </a:avLst>
          </a:prstGeom>
          <a:solidFill>
            <a:srgbClr val="F5F9F7"/>
          </a:solidFill>
          <a:ln w="9525">
            <a:solidFill>
              <a:srgbClr val="C9D8D3"/>
            </a:solidFill>
            <a:prstDash val="solid"/>
          </a:ln>
        </p:spPr>
        <p:txBody>
          <a:bodyPr/>
          <a:lstStyle/>
          <a:p>
            <a:endParaRPr lang="en-US"/>
          </a:p>
        </p:txBody>
      </p:sp>
      <p:sp>
        <p:nvSpPr>
          <p:cNvPr id="11" name="Text 9"/>
          <p:cNvSpPr txBox="1"/>
          <p:nvPr/>
        </p:nvSpPr>
        <p:spPr>
          <a:xfrm>
            <a:off x="731520" y="3703320"/>
            <a:ext cx="2286000" cy="685800"/>
          </a:xfrm>
          <a:prstGeom prst="rect">
            <a:avLst/>
          </a:prstGeom>
          <a:noFill/>
          <a:ln/>
        </p:spPr>
        <p:txBody>
          <a:bodyPr wrap="square" lIns="0" tIns="0" rIns="0" bIns="0" rtlCol="0" anchor="t"/>
          <a:lstStyle/>
          <a:p>
            <a:pPr marL="0" indent="0">
              <a:buNone/>
            </a:pPr>
            <a:r>
              <a:rPr lang="en-US" sz="1700" b="1" dirty="0">
                <a:solidFill>
                  <a:srgbClr val="17332E"/>
                </a:solidFill>
                <a:latin typeface="Cambria" pitchFamily="34" charset="0"/>
                <a:ea typeface="Cambria" pitchFamily="34" charset="-122"/>
                <a:cs typeface="Cambria" pitchFamily="34" charset="-120"/>
              </a:rPr>
              <a:t>Cadrage et collecte</a:t>
            </a:r>
            <a:endParaRPr lang="en-US" sz="1700" dirty="0"/>
          </a:p>
        </p:txBody>
      </p:sp>
      <p:sp>
        <p:nvSpPr>
          <p:cNvPr id="12" name="Text 10"/>
          <p:cNvSpPr txBox="1"/>
          <p:nvPr/>
        </p:nvSpPr>
        <p:spPr>
          <a:xfrm>
            <a:off x="731520" y="4434840"/>
            <a:ext cx="2286000" cy="13258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Phases, backlog, présentation UA1</a:t>
            </a:r>
            <a:endParaRPr lang="en-US" sz="1300" dirty="0"/>
          </a:p>
        </p:txBody>
      </p:sp>
      <p:sp>
        <p:nvSpPr>
          <p:cNvPr id="13" name="Shape 11"/>
          <p:cNvSpPr/>
          <p:nvPr/>
        </p:nvSpPr>
        <p:spPr>
          <a:xfrm>
            <a:off x="4389120" y="2606040"/>
            <a:ext cx="640080" cy="640080"/>
          </a:xfrm>
          <a:prstGeom prst="ellipse">
            <a:avLst/>
          </a:prstGeom>
          <a:solidFill>
            <a:srgbClr val="E9A23B"/>
          </a:solidFill>
          <a:ln w="12700">
            <a:solidFill>
              <a:srgbClr val="E9A23B"/>
            </a:solidFill>
            <a:prstDash val="solid"/>
          </a:ln>
        </p:spPr>
        <p:txBody>
          <a:bodyPr/>
          <a:lstStyle/>
          <a:p>
            <a:endParaRPr lang="en-US"/>
          </a:p>
        </p:txBody>
      </p:sp>
      <p:sp>
        <p:nvSpPr>
          <p:cNvPr id="14" name="Text 12"/>
          <p:cNvSpPr txBox="1"/>
          <p:nvPr/>
        </p:nvSpPr>
        <p:spPr>
          <a:xfrm>
            <a:off x="4389120" y="2606040"/>
            <a:ext cx="640080" cy="640080"/>
          </a:xfrm>
          <a:prstGeom prst="rect">
            <a:avLst/>
          </a:prstGeom>
          <a:noFill/>
          <a:ln/>
        </p:spPr>
        <p:txBody>
          <a:bodyPr wrap="square" lIns="0" tIns="0" rIns="0" bIns="0" rtlCol="0" anchor="ctr"/>
          <a:lstStyle/>
          <a:p>
            <a:pPr marL="0" indent="0" algn="ctr">
              <a:buNone/>
            </a:pPr>
            <a:r>
              <a:rPr lang="en-US" sz="1300" b="1" dirty="0">
                <a:solidFill>
                  <a:srgbClr val="17332E"/>
                </a:solidFill>
                <a:latin typeface="Calibri" pitchFamily="34" charset="0"/>
                <a:ea typeface="Calibri" pitchFamily="34" charset="-122"/>
                <a:cs typeface="Calibri" pitchFamily="34" charset="-120"/>
              </a:rPr>
              <a:t>25 %</a:t>
            </a:r>
            <a:endParaRPr lang="en-US" sz="1300" dirty="0"/>
          </a:p>
        </p:txBody>
      </p:sp>
      <p:sp>
        <p:nvSpPr>
          <p:cNvPr id="15" name="Text 13"/>
          <p:cNvSpPr txBox="1"/>
          <p:nvPr/>
        </p:nvSpPr>
        <p:spPr>
          <a:xfrm>
            <a:off x="3383280" y="1600200"/>
            <a:ext cx="2651760" cy="45720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9 nov.</a:t>
            </a:r>
            <a:endParaRPr lang="en-US" sz="2200" dirty="0"/>
          </a:p>
        </p:txBody>
      </p:sp>
      <p:sp>
        <p:nvSpPr>
          <p:cNvPr id="16" name="Shape 14"/>
          <p:cNvSpPr/>
          <p:nvPr/>
        </p:nvSpPr>
        <p:spPr>
          <a:xfrm>
            <a:off x="3383280" y="3566160"/>
            <a:ext cx="2651760" cy="2331720"/>
          </a:xfrm>
          <a:prstGeom prst="roundRect">
            <a:avLst>
              <a:gd name="adj" fmla="val 3137"/>
            </a:avLst>
          </a:prstGeom>
          <a:solidFill>
            <a:srgbClr val="F5F9F7"/>
          </a:solidFill>
          <a:ln w="9525">
            <a:solidFill>
              <a:srgbClr val="C9D8D3"/>
            </a:solidFill>
            <a:prstDash val="solid"/>
          </a:ln>
        </p:spPr>
        <p:txBody>
          <a:bodyPr/>
          <a:lstStyle/>
          <a:p>
            <a:endParaRPr lang="en-US"/>
          </a:p>
        </p:txBody>
      </p:sp>
      <p:sp>
        <p:nvSpPr>
          <p:cNvPr id="17" name="Text 15"/>
          <p:cNvSpPr txBox="1"/>
          <p:nvPr/>
        </p:nvSpPr>
        <p:spPr>
          <a:xfrm>
            <a:off x="3566160" y="3703320"/>
            <a:ext cx="2286000" cy="685800"/>
          </a:xfrm>
          <a:prstGeom prst="rect">
            <a:avLst/>
          </a:prstGeom>
          <a:noFill/>
          <a:ln/>
        </p:spPr>
        <p:txBody>
          <a:bodyPr wrap="square" lIns="0" tIns="0" rIns="0" bIns="0" rtlCol="0" anchor="t"/>
          <a:lstStyle/>
          <a:p>
            <a:pPr marL="0" indent="0">
              <a:buNone/>
            </a:pPr>
            <a:r>
              <a:rPr lang="en-US" sz="1700" b="1" dirty="0">
                <a:solidFill>
                  <a:srgbClr val="17332E"/>
                </a:solidFill>
                <a:latin typeface="Cambria" pitchFamily="34" charset="0"/>
                <a:ea typeface="Cambria" pitchFamily="34" charset="-122"/>
                <a:cs typeface="Cambria" pitchFamily="34" charset="-120"/>
              </a:rPr>
              <a:t>Préparation des données</a:t>
            </a:r>
            <a:endParaRPr lang="en-US" sz="1700" dirty="0"/>
          </a:p>
        </p:txBody>
      </p:sp>
      <p:sp>
        <p:nvSpPr>
          <p:cNvPr id="18" name="Text 16"/>
          <p:cNvSpPr txBox="1"/>
          <p:nvPr/>
        </p:nvSpPr>
        <p:spPr>
          <a:xfrm>
            <a:off x="3566160" y="4434840"/>
            <a:ext cx="2286000" cy="13258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Diagnostic, nettoyage, transformation</a:t>
            </a:r>
            <a:endParaRPr lang="en-US" sz="1300" dirty="0"/>
          </a:p>
        </p:txBody>
      </p:sp>
      <p:sp>
        <p:nvSpPr>
          <p:cNvPr id="19" name="Shape 17"/>
          <p:cNvSpPr/>
          <p:nvPr/>
        </p:nvSpPr>
        <p:spPr>
          <a:xfrm>
            <a:off x="7223760" y="2606040"/>
            <a:ext cx="640080" cy="640080"/>
          </a:xfrm>
          <a:prstGeom prst="ellipse">
            <a:avLst/>
          </a:prstGeom>
          <a:solidFill>
            <a:srgbClr val="E9A23B"/>
          </a:solidFill>
          <a:ln w="12700">
            <a:solidFill>
              <a:srgbClr val="E9A23B"/>
            </a:solidFill>
            <a:prstDash val="solid"/>
          </a:ln>
        </p:spPr>
        <p:txBody>
          <a:bodyPr/>
          <a:lstStyle/>
          <a:p>
            <a:endParaRPr lang="en-US"/>
          </a:p>
        </p:txBody>
      </p:sp>
      <p:sp>
        <p:nvSpPr>
          <p:cNvPr id="20" name="Text 18"/>
          <p:cNvSpPr txBox="1"/>
          <p:nvPr/>
        </p:nvSpPr>
        <p:spPr>
          <a:xfrm>
            <a:off x="7223760" y="2606040"/>
            <a:ext cx="640080" cy="640080"/>
          </a:xfrm>
          <a:prstGeom prst="rect">
            <a:avLst/>
          </a:prstGeom>
          <a:noFill/>
          <a:ln/>
        </p:spPr>
        <p:txBody>
          <a:bodyPr wrap="square" lIns="0" tIns="0" rIns="0" bIns="0" rtlCol="0" anchor="ctr"/>
          <a:lstStyle/>
          <a:p>
            <a:pPr marL="0" indent="0" algn="ctr">
              <a:buNone/>
            </a:pPr>
            <a:r>
              <a:rPr lang="en-US" sz="1300" b="1" dirty="0">
                <a:solidFill>
                  <a:srgbClr val="17332E"/>
                </a:solidFill>
                <a:latin typeface="Calibri" pitchFamily="34" charset="0"/>
                <a:ea typeface="Calibri" pitchFamily="34" charset="-122"/>
                <a:cs typeface="Calibri" pitchFamily="34" charset="-120"/>
              </a:rPr>
              <a:t>35 %</a:t>
            </a:r>
            <a:endParaRPr lang="en-US" sz="1300" dirty="0"/>
          </a:p>
        </p:txBody>
      </p:sp>
      <p:sp>
        <p:nvSpPr>
          <p:cNvPr id="21" name="Text 19"/>
          <p:cNvSpPr txBox="1"/>
          <p:nvPr/>
        </p:nvSpPr>
        <p:spPr>
          <a:xfrm>
            <a:off x="6217920" y="1600200"/>
            <a:ext cx="2651760" cy="45720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7 déc.</a:t>
            </a:r>
            <a:endParaRPr lang="en-US" sz="2200" dirty="0"/>
          </a:p>
        </p:txBody>
      </p:sp>
      <p:sp>
        <p:nvSpPr>
          <p:cNvPr id="22" name="Shape 20"/>
          <p:cNvSpPr/>
          <p:nvPr/>
        </p:nvSpPr>
        <p:spPr>
          <a:xfrm>
            <a:off x="6217920" y="3566160"/>
            <a:ext cx="2651760" cy="2331720"/>
          </a:xfrm>
          <a:prstGeom prst="roundRect">
            <a:avLst>
              <a:gd name="adj" fmla="val 3137"/>
            </a:avLst>
          </a:prstGeom>
          <a:solidFill>
            <a:srgbClr val="17332E"/>
          </a:solidFill>
          <a:ln w="9525">
            <a:solidFill>
              <a:srgbClr val="C9D8D3"/>
            </a:solidFill>
            <a:prstDash val="solid"/>
          </a:ln>
        </p:spPr>
        <p:txBody>
          <a:bodyPr/>
          <a:lstStyle/>
          <a:p>
            <a:endParaRPr lang="en-US"/>
          </a:p>
        </p:txBody>
      </p:sp>
      <p:sp>
        <p:nvSpPr>
          <p:cNvPr id="23" name="Text 21"/>
          <p:cNvSpPr txBox="1"/>
          <p:nvPr/>
        </p:nvSpPr>
        <p:spPr>
          <a:xfrm>
            <a:off x="6400800" y="3703320"/>
            <a:ext cx="2286000" cy="685800"/>
          </a:xfrm>
          <a:prstGeom prst="rect">
            <a:avLst/>
          </a:prstGeom>
          <a:noFill/>
          <a:ln/>
        </p:spPr>
        <p:txBody>
          <a:bodyPr wrap="square" lIns="0" tIns="0" rIns="0" bIns="0" rtlCol="0" anchor="t"/>
          <a:lstStyle/>
          <a:p>
            <a:pPr marL="0" indent="0">
              <a:buNone/>
            </a:pPr>
            <a:r>
              <a:rPr lang="en-US" sz="1700" b="1" dirty="0">
                <a:solidFill>
                  <a:srgbClr val="E9A23B"/>
                </a:solidFill>
                <a:latin typeface="Cambria" pitchFamily="34" charset="0"/>
                <a:ea typeface="Cambria" pitchFamily="34" charset="-122"/>
                <a:cs typeface="Cambria" pitchFamily="34" charset="-120"/>
              </a:rPr>
              <a:t>Analyse et modélisation</a:t>
            </a:r>
            <a:endParaRPr lang="en-US" sz="1700" dirty="0"/>
          </a:p>
        </p:txBody>
      </p:sp>
      <p:sp>
        <p:nvSpPr>
          <p:cNvPr id="24" name="Text 22"/>
          <p:cNvSpPr txBox="1"/>
          <p:nvPr/>
        </p:nvSpPr>
        <p:spPr>
          <a:xfrm>
            <a:off x="6400800" y="4434840"/>
            <a:ext cx="2286000" cy="13258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Exploration, prédiction, simulation, rapport et présentation</a:t>
            </a:r>
            <a:endParaRPr lang="en-US" sz="1300" dirty="0"/>
          </a:p>
        </p:txBody>
      </p:sp>
      <p:sp>
        <p:nvSpPr>
          <p:cNvPr id="25" name="Shape 23"/>
          <p:cNvSpPr/>
          <p:nvPr/>
        </p:nvSpPr>
        <p:spPr>
          <a:xfrm>
            <a:off x="10058400" y="2606040"/>
            <a:ext cx="640080" cy="640080"/>
          </a:xfrm>
          <a:prstGeom prst="ellipse">
            <a:avLst/>
          </a:prstGeom>
          <a:solidFill>
            <a:srgbClr val="E9A23B"/>
          </a:solidFill>
          <a:ln w="12700">
            <a:solidFill>
              <a:srgbClr val="E9A23B"/>
            </a:solidFill>
            <a:prstDash val="solid"/>
          </a:ln>
        </p:spPr>
        <p:txBody>
          <a:bodyPr/>
          <a:lstStyle/>
          <a:p>
            <a:endParaRPr lang="en-US"/>
          </a:p>
        </p:txBody>
      </p:sp>
      <p:sp>
        <p:nvSpPr>
          <p:cNvPr id="26" name="Text 24"/>
          <p:cNvSpPr txBox="1"/>
          <p:nvPr/>
        </p:nvSpPr>
        <p:spPr>
          <a:xfrm>
            <a:off x="10058400" y="2606040"/>
            <a:ext cx="640080" cy="640080"/>
          </a:xfrm>
          <a:prstGeom prst="rect">
            <a:avLst/>
          </a:prstGeom>
          <a:noFill/>
          <a:ln/>
        </p:spPr>
        <p:txBody>
          <a:bodyPr wrap="square" lIns="0" tIns="0" rIns="0" bIns="0" rtlCol="0" anchor="ctr"/>
          <a:lstStyle/>
          <a:p>
            <a:pPr marL="0" indent="0" algn="ctr">
              <a:buNone/>
            </a:pPr>
            <a:r>
              <a:rPr lang="en-US" sz="1300" b="1" dirty="0">
                <a:solidFill>
                  <a:srgbClr val="17332E"/>
                </a:solidFill>
                <a:latin typeface="Calibri" pitchFamily="34" charset="0"/>
                <a:ea typeface="Calibri" pitchFamily="34" charset="-122"/>
                <a:cs typeface="Calibri" pitchFamily="34" charset="-120"/>
              </a:rPr>
              <a:t>20 %</a:t>
            </a:r>
            <a:endParaRPr lang="en-US" sz="1300" dirty="0"/>
          </a:p>
        </p:txBody>
      </p:sp>
      <p:sp>
        <p:nvSpPr>
          <p:cNvPr id="27" name="Text 25"/>
          <p:cNvSpPr txBox="1"/>
          <p:nvPr/>
        </p:nvSpPr>
        <p:spPr>
          <a:xfrm>
            <a:off x="9052560" y="1600200"/>
            <a:ext cx="2651760" cy="45720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14 déc.</a:t>
            </a:r>
            <a:endParaRPr lang="en-US" sz="2200" dirty="0"/>
          </a:p>
        </p:txBody>
      </p:sp>
      <p:sp>
        <p:nvSpPr>
          <p:cNvPr id="28" name="Shape 26"/>
          <p:cNvSpPr/>
          <p:nvPr/>
        </p:nvSpPr>
        <p:spPr>
          <a:xfrm>
            <a:off x="9052560" y="3566160"/>
            <a:ext cx="2651760" cy="2331720"/>
          </a:xfrm>
          <a:prstGeom prst="roundRect">
            <a:avLst>
              <a:gd name="adj" fmla="val 3137"/>
            </a:avLst>
          </a:prstGeom>
          <a:solidFill>
            <a:srgbClr val="F5F9F7"/>
          </a:solidFill>
          <a:ln w="9525">
            <a:solidFill>
              <a:srgbClr val="C9D8D3"/>
            </a:solidFill>
            <a:prstDash val="solid"/>
          </a:ln>
        </p:spPr>
        <p:txBody>
          <a:bodyPr/>
          <a:lstStyle/>
          <a:p>
            <a:endParaRPr lang="en-US"/>
          </a:p>
        </p:txBody>
      </p:sp>
      <p:sp>
        <p:nvSpPr>
          <p:cNvPr id="29" name="Text 27"/>
          <p:cNvSpPr txBox="1"/>
          <p:nvPr/>
        </p:nvSpPr>
        <p:spPr>
          <a:xfrm>
            <a:off x="9235440" y="3703320"/>
            <a:ext cx="2286000" cy="685800"/>
          </a:xfrm>
          <a:prstGeom prst="rect">
            <a:avLst/>
          </a:prstGeom>
          <a:noFill/>
          <a:ln/>
        </p:spPr>
        <p:txBody>
          <a:bodyPr wrap="square" lIns="0" tIns="0" rIns="0" bIns="0" rtlCol="0" anchor="t"/>
          <a:lstStyle/>
          <a:p>
            <a:pPr marL="0" indent="0">
              <a:buNone/>
            </a:pPr>
            <a:r>
              <a:rPr lang="en-US" sz="1700" b="1" dirty="0">
                <a:solidFill>
                  <a:srgbClr val="17332E"/>
                </a:solidFill>
                <a:latin typeface="Cambria" pitchFamily="34" charset="0"/>
                <a:ea typeface="Cambria" pitchFamily="34" charset="-122"/>
                <a:cs typeface="Cambria" pitchFamily="34" charset="-120"/>
              </a:rPr>
              <a:t>Recommandations</a:t>
            </a:r>
            <a:endParaRPr lang="en-US" sz="1700" dirty="0"/>
          </a:p>
        </p:txBody>
      </p:sp>
      <p:sp>
        <p:nvSpPr>
          <p:cNvPr id="30" name="Text 28"/>
          <p:cNvSpPr txBox="1"/>
          <p:nvPr/>
        </p:nvSpPr>
        <p:spPr>
          <a:xfrm>
            <a:off x="9235440" y="4434840"/>
            <a:ext cx="2286000" cy="13258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Plan promotionnel, rapport final</a:t>
            </a:r>
            <a:endParaRPr lang="en-US" sz="1300" dirty="0"/>
          </a:p>
        </p:txBody>
      </p:sp>
      <p:sp>
        <p:nvSpPr>
          <p:cNvPr id="31" name="Text 29"/>
          <p:cNvSpPr txBox="1"/>
          <p:nvPr/>
        </p:nvSpPr>
        <p:spPr>
          <a:xfrm>
            <a:off x="548640" y="5989320"/>
            <a:ext cx="7315200" cy="274320"/>
          </a:xfrm>
          <a:prstGeom prst="rect">
            <a:avLst/>
          </a:prstGeom>
          <a:noFill/>
          <a:ln/>
        </p:spPr>
        <p:txBody>
          <a:bodyPr wrap="square" lIns="0" tIns="0" rIns="0" bIns="0" rtlCol="0" anchor="ctr"/>
          <a:lstStyle/>
          <a:p>
            <a:pPr marL="0" indent="0">
              <a:buNone/>
            </a:pPr>
            <a:r>
              <a:rPr lang="en-US" sz="1100" i="1" dirty="0">
                <a:solidFill>
                  <a:srgbClr val="5E6B68"/>
                </a:solidFill>
                <a:latin typeface="Calibri" pitchFamily="34" charset="0"/>
                <a:ea typeface="Calibri" pitchFamily="34" charset="-122"/>
                <a:cs typeface="Calibri" pitchFamily="34" charset="-120"/>
              </a:rPr>
              <a:t>Pourcentage : poids du livrable dans la note finale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PLANIFICATION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Sept sprints calés sur le calendrier du cours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645920"/>
            <a:ext cx="1629039" cy="3566160"/>
          </a:xfrm>
          <a:prstGeom prst="roundRect">
            <a:avLst>
              <a:gd name="adj" fmla="val 3368"/>
            </a:avLst>
          </a:prstGeom>
          <a:solidFill>
            <a:srgbClr val="17332E"/>
          </a:solidFill>
          <a:ln w="6350">
            <a:solidFill>
              <a:srgbClr val="C9D8D3"/>
            </a:solidFill>
            <a:prstDash val="solid"/>
          </a:ln>
        </p:spPr>
        <p:txBody>
          <a:bodyPr/>
          <a:lstStyle/>
          <a:p>
            <a:endParaRPr lang="en-US"/>
          </a:p>
        </p:txBody>
      </p:sp>
      <p:sp>
        <p:nvSpPr>
          <p:cNvPr id="7" name="Text 5"/>
          <p:cNvSpPr txBox="1"/>
          <p:nvPr/>
        </p:nvSpPr>
        <p:spPr>
          <a:xfrm>
            <a:off x="658368" y="1783080"/>
            <a:ext cx="1409583" cy="365760"/>
          </a:xfrm>
          <a:prstGeom prst="rect">
            <a:avLst/>
          </a:prstGeom>
          <a:noFill/>
          <a:ln/>
        </p:spPr>
        <p:txBody>
          <a:bodyPr wrap="square" lIns="0" tIns="0" rIns="0" bIns="0" rtlCol="0" anchor="ctr"/>
          <a:lstStyle/>
          <a:p>
            <a:pPr marL="0" indent="0">
              <a:buNone/>
            </a:pPr>
            <a:r>
              <a:rPr lang="en-US" sz="1700" b="1" dirty="0">
                <a:solidFill>
                  <a:srgbClr val="E9A23B"/>
                </a:solidFill>
                <a:latin typeface="Cambria" pitchFamily="34" charset="0"/>
                <a:ea typeface="Cambria" pitchFamily="34" charset="-122"/>
                <a:cs typeface="Cambria" pitchFamily="34" charset="-120"/>
              </a:rPr>
              <a:t>Sprint 0</a:t>
            </a:r>
            <a:endParaRPr lang="en-US" sz="1700" dirty="0"/>
          </a:p>
        </p:txBody>
      </p:sp>
      <p:sp>
        <p:nvSpPr>
          <p:cNvPr id="8" name="Text 6"/>
          <p:cNvSpPr txBox="1"/>
          <p:nvPr/>
        </p:nvSpPr>
        <p:spPr>
          <a:xfrm>
            <a:off x="658368" y="2194560"/>
            <a:ext cx="1409583" cy="502920"/>
          </a:xfrm>
          <a:prstGeom prst="rect">
            <a:avLst/>
          </a:prstGeom>
          <a:noFill/>
          <a:ln/>
        </p:spPr>
        <p:txBody>
          <a:bodyPr wrap="square" lIns="0" tIns="0" rIns="0" bIns="0" rtlCol="0" anchor="t"/>
          <a:lstStyle/>
          <a:p>
            <a:pPr marL="0" indent="0">
              <a:buNone/>
            </a:pPr>
            <a:r>
              <a:rPr lang="en-US" sz="1100" dirty="0">
                <a:solidFill>
                  <a:srgbClr val="CFE0DA"/>
                </a:solidFill>
                <a:latin typeface="Calibri" pitchFamily="34" charset="0"/>
                <a:ea typeface="Calibri" pitchFamily="34" charset="-122"/>
                <a:cs typeface="Calibri" pitchFamily="34" charset="-120"/>
              </a:rPr>
              <a:t>21 sept.-4 oct.</a:t>
            </a:r>
            <a:endParaRPr lang="en-US" sz="1100" dirty="0"/>
          </a:p>
        </p:txBody>
      </p:sp>
      <p:sp>
        <p:nvSpPr>
          <p:cNvPr id="9" name="Text 7"/>
          <p:cNvSpPr txBox="1"/>
          <p:nvPr/>
        </p:nvSpPr>
        <p:spPr>
          <a:xfrm>
            <a:off x="658368" y="2743200"/>
            <a:ext cx="1409583" cy="17373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Cadrage, collecte, UA1</a:t>
            </a:r>
            <a:endParaRPr lang="en-US" sz="1300" dirty="0"/>
          </a:p>
        </p:txBody>
      </p:sp>
      <p:sp>
        <p:nvSpPr>
          <p:cNvPr id="10" name="Text 8"/>
          <p:cNvSpPr txBox="1"/>
          <p:nvPr/>
        </p:nvSpPr>
        <p:spPr>
          <a:xfrm>
            <a:off x="658368" y="4754880"/>
            <a:ext cx="1409583" cy="320040"/>
          </a:xfrm>
          <a:prstGeom prst="rect">
            <a:avLst/>
          </a:prstGeom>
          <a:noFill/>
          <a:ln/>
        </p:spPr>
        <p:txBody>
          <a:bodyPr wrap="square" lIns="0" tIns="0" rIns="0" bIns="0" rtlCol="0" anchor="ctr"/>
          <a:lstStyle/>
          <a:p>
            <a:pPr marL="0" indent="0">
              <a:buNone/>
            </a:pPr>
            <a:r>
              <a:rPr lang="en-US" sz="1100" b="1" dirty="0">
                <a:solidFill>
                  <a:srgbClr val="E9A23B"/>
                </a:solidFill>
                <a:latin typeface="Calibri" pitchFamily="34" charset="0"/>
                <a:ea typeface="Calibri" pitchFamily="34" charset="-122"/>
                <a:cs typeface="Calibri" pitchFamily="34" charset="-120"/>
              </a:rPr>
              <a:t>Remise L1 L2</a:t>
            </a:r>
            <a:endParaRPr lang="en-US" sz="1100" dirty="0"/>
          </a:p>
        </p:txBody>
      </p:sp>
      <p:sp>
        <p:nvSpPr>
          <p:cNvPr id="11" name="Shape 9"/>
          <p:cNvSpPr/>
          <p:nvPr/>
        </p:nvSpPr>
        <p:spPr>
          <a:xfrm>
            <a:off x="2250831" y="1645920"/>
            <a:ext cx="1629039" cy="3566160"/>
          </a:xfrm>
          <a:prstGeom prst="roundRect">
            <a:avLst>
              <a:gd name="adj" fmla="val 3368"/>
            </a:avLst>
          </a:prstGeom>
          <a:solidFill>
            <a:srgbClr val="EAF2EF"/>
          </a:solidFill>
          <a:ln w="6350">
            <a:solidFill>
              <a:srgbClr val="C9D8D3"/>
            </a:solidFill>
            <a:prstDash val="solid"/>
          </a:ln>
        </p:spPr>
        <p:txBody>
          <a:bodyPr/>
          <a:lstStyle/>
          <a:p>
            <a:endParaRPr lang="en-US"/>
          </a:p>
        </p:txBody>
      </p:sp>
      <p:sp>
        <p:nvSpPr>
          <p:cNvPr id="12" name="Text 10"/>
          <p:cNvSpPr txBox="1"/>
          <p:nvPr/>
        </p:nvSpPr>
        <p:spPr>
          <a:xfrm>
            <a:off x="2360559" y="1783080"/>
            <a:ext cx="1409583" cy="36576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Sprint 1</a:t>
            </a:r>
            <a:endParaRPr lang="en-US" sz="1700" dirty="0"/>
          </a:p>
        </p:txBody>
      </p:sp>
      <p:sp>
        <p:nvSpPr>
          <p:cNvPr id="13" name="Text 11"/>
          <p:cNvSpPr txBox="1"/>
          <p:nvPr/>
        </p:nvSpPr>
        <p:spPr>
          <a:xfrm>
            <a:off x="2360559" y="2194560"/>
            <a:ext cx="1409583" cy="502920"/>
          </a:xfrm>
          <a:prstGeom prst="rect">
            <a:avLst/>
          </a:prstGeom>
          <a:noFill/>
          <a:ln/>
        </p:spPr>
        <p:txBody>
          <a:bodyPr wrap="square" lIns="0" tIns="0" rIns="0" bIns="0" rtlCol="0" anchor="t"/>
          <a:lstStyle/>
          <a:p>
            <a:pPr marL="0" indent="0">
              <a:buNone/>
            </a:pPr>
            <a:r>
              <a:rPr lang="en-US" sz="1100" dirty="0">
                <a:solidFill>
                  <a:srgbClr val="5E6B68"/>
                </a:solidFill>
                <a:latin typeface="Calibri" pitchFamily="34" charset="0"/>
                <a:ea typeface="Calibri" pitchFamily="34" charset="-122"/>
                <a:cs typeface="Calibri" pitchFamily="34" charset="-120"/>
              </a:rPr>
              <a:t>5-18 oct.</a:t>
            </a:r>
            <a:endParaRPr lang="en-US" sz="1100" dirty="0"/>
          </a:p>
        </p:txBody>
      </p:sp>
      <p:sp>
        <p:nvSpPr>
          <p:cNvPr id="14" name="Text 12"/>
          <p:cNvSpPr txBox="1"/>
          <p:nvPr/>
        </p:nvSpPr>
        <p:spPr>
          <a:xfrm>
            <a:off x="2360559" y="2743200"/>
            <a:ext cx="1409583" cy="17373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ETL, modèle en flocon, pipeline</a:t>
            </a:r>
            <a:endParaRPr lang="en-US" sz="1300" dirty="0"/>
          </a:p>
        </p:txBody>
      </p:sp>
      <p:sp>
        <p:nvSpPr>
          <p:cNvPr id="15" name="Shape 13"/>
          <p:cNvSpPr/>
          <p:nvPr/>
        </p:nvSpPr>
        <p:spPr>
          <a:xfrm>
            <a:off x="3953022" y="1645920"/>
            <a:ext cx="1629039" cy="3566160"/>
          </a:xfrm>
          <a:prstGeom prst="roundRect">
            <a:avLst>
              <a:gd name="adj" fmla="val 3368"/>
            </a:avLst>
          </a:prstGeom>
          <a:solidFill>
            <a:srgbClr val="EAF2EF"/>
          </a:solidFill>
          <a:ln w="6350">
            <a:solidFill>
              <a:srgbClr val="C9D8D3"/>
            </a:solidFill>
            <a:prstDash val="solid"/>
          </a:ln>
        </p:spPr>
        <p:txBody>
          <a:bodyPr/>
          <a:lstStyle/>
          <a:p>
            <a:endParaRPr lang="en-US"/>
          </a:p>
        </p:txBody>
      </p:sp>
      <p:sp>
        <p:nvSpPr>
          <p:cNvPr id="16" name="Text 14"/>
          <p:cNvSpPr txBox="1"/>
          <p:nvPr/>
        </p:nvSpPr>
        <p:spPr>
          <a:xfrm>
            <a:off x="4062750" y="1783080"/>
            <a:ext cx="1409583" cy="36576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Sprint 2</a:t>
            </a:r>
            <a:endParaRPr lang="en-US" sz="1700" dirty="0"/>
          </a:p>
        </p:txBody>
      </p:sp>
      <p:sp>
        <p:nvSpPr>
          <p:cNvPr id="17" name="Text 15"/>
          <p:cNvSpPr txBox="1"/>
          <p:nvPr/>
        </p:nvSpPr>
        <p:spPr>
          <a:xfrm>
            <a:off x="4062750" y="2194560"/>
            <a:ext cx="1409583" cy="502920"/>
          </a:xfrm>
          <a:prstGeom prst="rect">
            <a:avLst/>
          </a:prstGeom>
          <a:noFill/>
          <a:ln/>
        </p:spPr>
        <p:txBody>
          <a:bodyPr wrap="square" lIns="0" tIns="0" rIns="0" bIns="0" rtlCol="0" anchor="t"/>
          <a:lstStyle/>
          <a:p>
            <a:pPr marL="0" indent="0">
              <a:buNone/>
            </a:pPr>
            <a:r>
              <a:rPr lang="en-US" sz="1100" dirty="0">
                <a:solidFill>
                  <a:srgbClr val="5E6B68"/>
                </a:solidFill>
                <a:latin typeface="Calibri" pitchFamily="34" charset="0"/>
                <a:ea typeface="Calibri" pitchFamily="34" charset="-122"/>
                <a:cs typeface="Calibri" pitchFamily="34" charset="-120"/>
              </a:rPr>
              <a:t>19 oct.-1 nov.</a:t>
            </a:r>
            <a:endParaRPr lang="en-US" sz="1100" dirty="0"/>
          </a:p>
        </p:txBody>
      </p:sp>
      <p:sp>
        <p:nvSpPr>
          <p:cNvPr id="18" name="Text 16"/>
          <p:cNvSpPr txBox="1"/>
          <p:nvPr/>
        </p:nvSpPr>
        <p:spPr>
          <a:xfrm>
            <a:off x="4062750" y="2743200"/>
            <a:ext cx="1409583" cy="17373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Qualité et nettoyage</a:t>
            </a:r>
            <a:endParaRPr lang="en-US" sz="1300" dirty="0"/>
          </a:p>
        </p:txBody>
      </p:sp>
      <p:sp>
        <p:nvSpPr>
          <p:cNvPr id="19" name="Shape 17"/>
          <p:cNvSpPr/>
          <p:nvPr/>
        </p:nvSpPr>
        <p:spPr>
          <a:xfrm>
            <a:off x="5655212" y="1645920"/>
            <a:ext cx="1203491" cy="3566160"/>
          </a:xfrm>
          <a:prstGeom prst="roundRect">
            <a:avLst>
              <a:gd name="adj" fmla="val 4559"/>
            </a:avLst>
          </a:prstGeom>
          <a:solidFill>
            <a:srgbClr val="17332E"/>
          </a:solidFill>
          <a:ln w="6350">
            <a:solidFill>
              <a:srgbClr val="C9D8D3"/>
            </a:solidFill>
            <a:prstDash val="solid"/>
          </a:ln>
        </p:spPr>
        <p:txBody>
          <a:bodyPr/>
          <a:lstStyle/>
          <a:p>
            <a:endParaRPr lang="en-US"/>
          </a:p>
        </p:txBody>
      </p:sp>
      <p:sp>
        <p:nvSpPr>
          <p:cNvPr id="20" name="Text 18"/>
          <p:cNvSpPr txBox="1"/>
          <p:nvPr/>
        </p:nvSpPr>
        <p:spPr>
          <a:xfrm>
            <a:off x="5764940" y="1783080"/>
            <a:ext cx="984035" cy="365760"/>
          </a:xfrm>
          <a:prstGeom prst="rect">
            <a:avLst/>
          </a:prstGeom>
          <a:noFill/>
          <a:ln/>
        </p:spPr>
        <p:txBody>
          <a:bodyPr wrap="square" lIns="0" tIns="0" rIns="0" bIns="0" rtlCol="0" anchor="ctr"/>
          <a:lstStyle/>
          <a:p>
            <a:pPr marL="0" indent="0">
              <a:buNone/>
            </a:pPr>
            <a:r>
              <a:rPr lang="en-US" sz="1500" b="1" dirty="0">
                <a:solidFill>
                  <a:srgbClr val="E9A23B"/>
                </a:solidFill>
                <a:latin typeface="Cambria" pitchFamily="34" charset="0"/>
                <a:ea typeface="Cambria" pitchFamily="34" charset="-122"/>
                <a:cs typeface="Cambria" pitchFamily="34" charset="-120"/>
              </a:rPr>
              <a:t>Sprint 3</a:t>
            </a:r>
            <a:endParaRPr lang="en-US" sz="1500" dirty="0"/>
          </a:p>
        </p:txBody>
      </p:sp>
      <p:sp>
        <p:nvSpPr>
          <p:cNvPr id="21" name="Text 19"/>
          <p:cNvSpPr txBox="1"/>
          <p:nvPr/>
        </p:nvSpPr>
        <p:spPr>
          <a:xfrm>
            <a:off x="5764940" y="2194560"/>
            <a:ext cx="984035" cy="502920"/>
          </a:xfrm>
          <a:prstGeom prst="rect">
            <a:avLst/>
          </a:prstGeom>
          <a:noFill/>
          <a:ln/>
        </p:spPr>
        <p:txBody>
          <a:bodyPr wrap="square" lIns="0" tIns="0" rIns="0" bIns="0" rtlCol="0" anchor="t"/>
          <a:lstStyle/>
          <a:p>
            <a:pPr marL="0" indent="0">
              <a:buNone/>
            </a:pPr>
            <a:r>
              <a:rPr lang="en-US" sz="1100" dirty="0">
                <a:solidFill>
                  <a:srgbClr val="CFE0DA"/>
                </a:solidFill>
                <a:latin typeface="Calibri" pitchFamily="34" charset="0"/>
                <a:ea typeface="Calibri" pitchFamily="34" charset="-122"/>
                <a:cs typeface="Calibri" pitchFamily="34" charset="-120"/>
              </a:rPr>
              <a:t>2-8 nov.</a:t>
            </a:r>
            <a:endParaRPr lang="en-US" sz="1100" dirty="0"/>
          </a:p>
        </p:txBody>
      </p:sp>
      <p:sp>
        <p:nvSpPr>
          <p:cNvPr id="22" name="Text 20"/>
          <p:cNvSpPr txBox="1"/>
          <p:nvPr/>
        </p:nvSpPr>
        <p:spPr>
          <a:xfrm>
            <a:off x="5764940" y="2743200"/>
            <a:ext cx="984035" cy="1737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Variables dérivées, rapport</a:t>
            </a:r>
            <a:endParaRPr lang="en-US" sz="1200" dirty="0"/>
          </a:p>
        </p:txBody>
      </p:sp>
      <p:sp>
        <p:nvSpPr>
          <p:cNvPr id="23" name="Text 21"/>
          <p:cNvSpPr txBox="1"/>
          <p:nvPr/>
        </p:nvSpPr>
        <p:spPr>
          <a:xfrm>
            <a:off x="5764940" y="4754880"/>
            <a:ext cx="984035" cy="320040"/>
          </a:xfrm>
          <a:prstGeom prst="rect">
            <a:avLst/>
          </a:prstGeom>
          <a:noFill/>
          <a:ln/>
        </p:spPr>
        <p:txBody>
          <a:bodyPr wrap="square" lIns="0" tIns="0" rIns="0" bIns="0" rtlCol="0" anchor="ctr"/>
          <a:lstStyle/>
          <a:p>
            <a:pPr marL="0" indent="0">
              <a:buNone/>
            </a:pPr>
            <a:r>
              <a:rPr lang="en-US" sz="1100" b="1" dirty="0">
                <a:solidFill>
                  <a:srgbClr val="E9A23B"/>
                </a:solidFill>
                <a:latin typeface="Calibri" pitchFamily="34" charset="0"/>
                <a:ea typeface="Calibri" pitchFamily="34" charset="-122"/>
                <a:cs typeface="Calibri" pitchFamily="34" charset="-120"/>
              </a:rPr>
              <a:t>Remise L3</a:t>
            </a:r>
            <a:endParaRPr lang="en-US" sz="1100" dirty="0"/>
          </a:p>
        </p:txBody>
      </p:sp>
      <p:sp>
        <p:nvSpPr>
          <p:cNvPr id="24" name="Shape 22"/>
          <p:cNvSpPr/>
          <p:nvPr/>
        </p:nvSpPr>
        <p:spPr>
          <a:xfrm>
            <a:off x="6931855" y="1645920"/>
            <a:ext cx="1629039" cy="3566160"/>
          </a:xfrm>
          <a:prstGeom prst="roundRect">
            <a:avLst>
              <a:gd name="adj" fmla="val 3368"/>
            </a:avLst>
          </a:prstGeom>
          <a:solidFill>
            <a:srgbClr val="EAF2EF"/>
          </a:solidFill>
          <a:ln w="6350">
            <a:solidFill>
              <a:srgbClr val="C9D8D3"/>
            </a:solidFill>
            <a:prstDash val="solid"/>
          </a:ln>
        </p:spPr>
        <p:txBody>
          <a:bodyPr/>
          <a:lstStyle/>
          <a:p>
            <a:endParaRPr lang="en-US"/>
          </a:p>
        </p:txBody>
      </p:sp>
      <p:sp>
        <p:nvSpPr>
          <p:cNvPr id="25" name="Text 23"/>
          <p:cNvSpPr txBox="1"/>
          <p:nvPr/>
        </p:nvSpPr>
        <p:spPr>
          <a:xfrm>
            <a:off x="7041583" y="1783080"/>
            <a:ext cx="1409583" cy="36576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Sprint 4</a:t>
            </a:r>
            <a:endParaRPr lang="en-US" sz="1700" dirty="0"/>
          </a:p>
        </p:txBody>
      </p:sp>
      <p:sp>
        <p:nvSpPr>
          <p:cNvPr id="26" name="Text 24"/>
          <p:cNvSpPr txBox="1"/>
          <p:nvPr/>
        </p:nvSpPr>
        <p:spPr>
          <a:xfrm>
            <a:off x="7041583" y="2194560"/>
            <a:ext cx="1409583" cy="502920"/>
          </a:xfrm>
          <a:prstGeom prst="rect">
            <a:avLst/>
          </a:prstGeom>
          <a:noFill/>
          <a:ln/>
        </p:spPr>
        <p:txBody>
          <a:bodyPr wrap="square" lIns="0" tIns="0" rIns="0" bIns="0" rtlCol="0" anchor="t"/>
          <a:lstStyle/>
          <a:p>
            <a:pPr marL="0" indent="0">
              <a:buNone/>
            </a:pPr>
            <a:r>
              <a:rPr lang="en-US" sz="1100" dirty="0">
                <a:solidFill>
                  <a:srgbClr val="5E6B68"/>
                </a:solidFill>
                <a:latin typeface="Calibri" pitchFamily="34" charset="0"/>
                <a:ea typeface="Calibri" pitchFamily="34" charset="-122"/>
                <a:cs typeface="Calibri" pitchFamily="34" charset="-120"/>
              </a:rPr>
              <a:t>9-22 nov.</a:t>
            </a:r>
            <a:endParaRPr lang="en-US" sz="1100" dirty="0"/>
          </a:p>
        </p:txBody>
      </p:sp>
      <p:sp>
        <p:nvSpPr>
          <p:cNvPr id="27" name="Text 25"/>
          <p:cNvSpPr txBox="1"/>
          <p:nvPr/>
        </p:nvSpPr>
        <p:spPr>
          <a:xfrm>
            <a:off x="7041583" y="2743200"/>
            <a:ext cx="1409583" cy="173736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Q1 à Q4, risque de retour, Excel</a:t>
            </a:r>
            <a:endParaRPr lang="en-US" sz="1300" dirty="0"/>
          </a:p>
        </p:txBody>
      </p:sp>
      <p:sp>
        <p:nvSpPr>
          <p:cNvPr id="28" name="Shape 26"/>
          <p:cNvSpPr/>
          <p:nvPr/>
        </p:nvSpPr>
        <p:spPr>
          <a:xfrm>
            <a:off x="8634046" y="1645920"/>
            <a:ext cx="1629039" cy="3566160"/>
          </a:xfrm>
          <a:prstGeom prst="roundRect">
            <a:avLst>
              <a:gd name="adj" fmla="val 3368"/>
            </a:avLst>
          </a:prstGeom>
          <a:solidFill>
            <a:srgbClr val="17332E"/>
          </a:solidFill>
          <a:ln w="6350">
            <a:solidFill>
              <a:srgbClr val="C9D8D3"/>
            </a:solidFill>
            <a:prstDash val="solid"/>
          </a:ln>
        </p:spPr>
        <p:txBody>
          <a:bodyPr/>
          <a:lstStyle/>
          <a:p>
            <a:endParaRPr lang="en-US"/>
          </a:p>
        </p:txBody>
      </p:sp>
      <p:sp>
        <p:nvSpPr>
          <p:cNvPr id="29" name="Text 27"/>
          <p:cNvSpPr txBox="1"/>
          <p:nvPr/>
        </p:nvSpPr>
        <p:spPr>
          <a:xfrm>
            <a:off x="8743774" y="1783080"/>
            <a:ext cx="1409583" cy="365760"/>
          </a:xfrm>
          <a:prstGeom prst="rect">
            <a:avLst/>
          </a:prstGeom>
          <a:noFill/>
          <a:ln/>
        </p:spPr>
        <p:txBody>
          <a:bodyPr wrap="square" lIns="0" tIns="0" rIns="0" bIns="0" rtlCol="0" anchor="ctr"/>
          <a:lstStyle/>
          <a:p>
            <a:pPr marL="0" indent="0">
              <a:buNone/>
            </a:pPr>
            <a:r>
              <a:rPr lang="en-US" sz="1700" b="1" dirty="0">
                <a:solidFill>
                  <a:srgbClr val="E9A23B"/>
                </a:solidFill>
                <a:latin typeface="Cambria" pitchFamily="34" charset="0"/>
                <a:ea typeface="Cambria" pitchFamily="34" charset="-122"/>
                <a:cs typeface="Cambria" pitchFamily="34" charset="-120"/>
              </a:rPr>
              <a:t>Sprint 5</a:t>
            </a:r>
            <a:endParaRPr lang="en-US" sz="1700" dirty="0"/>
          </a:p>
        </p:txBody>
      </p:sp>
      <p:sp>
        <p:nvSpPr>
          <p:cNvPr id="30" name="Text 28"/>
          <p:cNvSpPr txBox="1"/>
          <p:nvPr/>
        </p:nvSpPr>
        <p:spPr>
          <a:xfrm>
            <a:off x="8743774" y="2194560"/>
            <a:ext cx="1409583" cy="502920"/>
          </a:xfrm>
          <a:prstGeom prst="rect">
            <a:avLst/>
          </a:prstGeom>
          <a:noFill/>
          <a:ln/>
        </p:spPr>
        <p:txBody>
          <a:bodyPr wrap="square" lIns="0" tIns="0" rIns="0" bIns="0" rtlCol="0" anchor="t"/>
          <a:lstStyle/>
          <a:p>
            <a:pPr marL="0" indent="0">
              <a:buNone/>
            </a:pPr>
            <a:r>
              <a:rPr lang="en-US" sz="1100" dirty="0">
                <a:solidFill>
                  <a:srgbClr val="CFE0DA"/>
                </a:solidFill>
                <a:latin typeface="Calibri" pitchFamily="34" charset="0"/>
                <a:ea typeface="Calibri" pitchFamily="34" charset="-122"/>
                <a:cs typeface="Calibri" pitchFamily="34" charset="-120"/>
              </a:rPr>
              <a:t>23 nov.-6 déc.</a:t>
            </a:r>
            <a:endParaRPr lang="en-US" sz="1100" dirty="0"/>
          </a:p>
        </p:txBody>
      </p:sp>
      <p:sp>
        <p:nvSpPr>
          <p:cNvPr id="31" name="Text 29"/>
          <p:cNvSpPr txBox="1"/>
          <p:nvPr/>
        </p:nvSpPr>
        <p:spPr>
          <a:xfrm>
            <a:off x="8743774" y="2743200"/>
            <a:ext cx="1409583" cy="17373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Q5, prévision, simulation, optimisation, Power BI</a:t>
            </a:r>
            <a:endParaRPr lang="en-US" sz="1300" dirty="0"/>
          </a:p>
        </p:txBody>
      </p:sp>
      <p:sp>
        <p:nvSpPr>
          <p:cNvPr id="32" name="Text 30"/>
          <p:cNvSpPr txBox="1"/>
          <p:nvPr/>
        </p:nvSpPr>
        <p:spPr>
          <a:xfrm>
            <a:off x="8743774" y="4754880"/>
            <a:ext cx="1409583" cy="320040"/>
          </a:xfrm>
          <a:prstGeom prst="rect">
            <a:avLst/>
          </a:prstGeom>
          <a:noFill/>
          <a:ln/>
        </p:spPr>
        <p:txBody>
          <a:bodyPr wrap="square" lIns="0" tIns="0" rIns="0" bIns="0" rtlCol="0" anchor="ctr"/>
          <a:lstStyle/>
          <a:p>
            <a:pPr marL="0" indent="0">
              <a:buNone/>
            </a:pPr>
            <a:r>
              <a:rPr lang="en-US" sz="1100" b="1" dirty="0">
                <a:solidFill>
                  <a:srgbClr val="E9A23B"/>
                </a:solidFill>
                <a:latin typeface="Calibri" pitchFamily="34" charset="0"/>
                <a:ea typeface="Calibri" pitchFamily="34" charset="-122"/>
                <a:cs typeface="Calibri" pitchFamily="34" charset="-120"/>
              </a:rPr>
              <a:t>Remise L4</a:t>
            </a:r>
            <a:endParaRPr lang="en-US" sz="1100" dirty="0"/>
          </a:p>
        </p:txBody>
      </p:sp>
      <p:sp>
        <p:nvSpPr>
          <p:cNvPr id="33" name="Shape 31"/>
          <p:cNvSpPr/>
          <p:nvPr/>
        </p:nvSpPr>
        <p:spPr>
          <a:xfrm>
            <a:off x="10336237" y="1645920"/>
            <a:ext cx="1203491" cy="3566160"/>
          </a:xfrm>
          <a:prstGeom prst="roundRect">
            <a:avLst>
              <a:gd name="adj" fmla="val 4559"/>
            </a:avLst>
          </a:prstGeom>
          <a:solidFill>
            <a:srgbClr val="17332E"/>
          </a:solidFill>
          <a:ln w="6350">
            <a:solidFill>
              <a:srgbClr val="C9D8D3"/>
            </a:solidFill>
            <a:prstDash val="solid"/>
          </a:ln>
        </p:spPr>
        <p:txBody>
          <a:bodyPr/>
          <a:lstStyle/>
          <a:p>
            <a:endParaRPr lang="en-US"/>
          </a:p>
        </p:txBody>
      </p:sp>
      <p:sp>
        <p:nvSpPr>
          <p:cNvPr id="34" name="Text 32"/>
          <p:cNvSpPr txBox="1"/>
          <p:nvPr/>
        </p:nvSpPr>
        <p:spPr>
          <a:xfrm>
            <a:off x="10445965" y="1783080"/>
            <a:ext cx="984035" cy="365760"/>
          </a:xfrm>
          <a:prstGeom prst="rect">
            <a:avLst/>
          </a:prstGeom>
          <a:noFill/>
          <a:ln/>
        </p:spPr>
        <p:txBody>
          <a:bodyPr wrap="square" lIns="0" tIns="0" rIns="0" bIns="0" rtlCol="0" anchor="ctr"/>
          <a:lstStyle/>
          <a:p>
            <a:pPr marL="0" indent="0">
              <a:buNone/>
            </a:pPr>
            <a:r>
              <a:rPr lang="en-US" sz="1500" b="1" dirty="0">
                <a:solidFill>
                  <a:srgbClr val="E9A23B"/>
                </a:solidFill>
                <a:latin typeface="Cambria" pitchFamily="34" charset="0"/>
                <a:ea typeface="Cambria" pitchFamily="34" charset="-122"/>
                <a:cs typeface="Cambria" pitchFamily="34" charset="-120"/>
              </a:rPr>
              <a:t>Sprint 6</a:t>
            </a:r>
            <a:endParaRPr lang="en-US" sz="1500" dirty="0"/>
          </a:p>
        </p:txBody>
      </p:sp>
      <p:sp>
        <p:nvSpPr>
          <p:cNvPr id="35" name="Text 33"/>
          <p:cNvSpPr txBox="1"/>
          <p:nvPr/>
        </p:nvSpPr>
        <p:spPr>
          <a:xfrm>
            <a:off x="10445965" y="2194560"/>
            <a:ext cx="984035" cy="502920"/>
          </a:xfrm>
          <a:prstGeom prst="rect">
            <a:avLst/>
          </a:prstGeom>
          <a:noFill/>
          <a:ln/>
        </p:spPr>
        <p:txBody>
          <a:bodyPr wrap="square" lIns="0" tIns="0" rIns="0" bIns="0" rtlCol="0" anchor="t"/>
          <a:lstStyle/>
          <a:p>
            <a:pPr marL="0" indent="0">
              <a:buNone/>
            </a:pPr>
            <a:r>
              <a:rPr lang="en-US" sz="1100" dirty="0">
                <a:solidFill>
                  <a:srgbClr val="CFE0DA"/>
                </a:solidFill>
                <a:latin typeface="Calibri" pitchFamily="34" charset="0"/>
                <a:ea typeface="Calibri" pitchFamily="34" charset="-122"/>
                <a:cs typeface="Calibri" pitchFamily="34" charset="-120"/>
              </a:rPr>
              <a:t>7-13 déc.</a:t>
            </a:r>
            <a:endParaRPr lang="en-US" sz="1100" dirty="0"/>
          </a:p>
        </p:txBody>
      </p:sp>
      <p:sp>
        <p:nvSpPr>
          <p:cNvPr id="36" name="Text 34"/>
          <p:cNvSpPr txBox="1"/>
          <p:nvPr/>
        </p:nvSpPr>
        <p:spPr>
          <a:xfrm>
            <a:off x="10445965" y="2743200"/>
            <a:ext cx="984035" cy="1737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Sensibilité, plan promo, rapport final</a:t>
            </a:r>
            <a:endParaRPr lang="en-US" sz="1200" dirty="0"/>
          </a:p>
        </p:txBody>
      </p:sp>
      <p:sp>
        <p:nvSpPr>
          <p:cNvPr id="37" name="Text 35"/>
          <p:cNvSpPr txBox="1"/>
          <p:nvPr/>
        </p:nvSpPr>
        <p:spPr>
          <a:xfrm>
            <a:off x="10445965" y="4754880"/>
            <a:ext cx="984035" cy="320040"/>
          </a:xfrm>
          <a:prstGeom prst="rect">
            <a:avLst/>
          </a:prstGeom>
          <a:noFill/>
          <a:ln/>
        </p:spPr>
        <p:txBody>
          <a:bodyPr wrap="square" lIns="0" tIns="0" rIns="0" bIns="0" rtlCol="0" anchor="ctr"/>
          <a:lstStyle/>
          <a:p>
            <a:pPr marL="0" indent="0">
              <a:buNone/>
            </a:pPr>
            <a:r>
              <a:rPr lang="en-US" sz="1100" b="1" dirty="0">
                <a:solidFill>
                  <a:srgbClr val="E9A23B"/>
                </a:solidFill>
                <a:latin typeface="Calibri" pitchFamily="34" charset="0"/>
                <a:ea typeface="Calibri" pitchFamily="34" charset="-122"/>
                <a:cs typeface="Calibri" pitchFamily="34" charset="-120"/>
              </a:rPr>
              <a:t>Remise L5</a:t>
            </a:r>
            <a:endParaRPr lang="en-US" sz="1100" dirty="0"/>
          </a:p>
        </p:txBody>
      </p:sp>
      <p:sp>
        <p:nvSpPr>
          <p:cNvPr id="38" name="Text 36"/>
          <p:cNvSpPr txBox="1"/>
          <p:nvPr/>
        </p:nvSpPr>
        <p:spPr>
          <a:xfrm>
            <a:off x="548640" y="5486400"/>
            <a:ext cx="11064240" cy="457200"/>
          </a:xfrm>
          <a:prstGeom prst="rect">
            <a:avLst/>
          </a:prstGeom>
          <a:noFill/>
          <a:ln/>
        </p:spPr>
        <p:txBody>
          <a:bodyPr wrap="square" lIns="0" tIns="0" rIns="0" bIns="0" rtlCol="0" anchor="ctr"/>
          <a:lstStyle/>
          <a:p>
            <a:pPr marL="0" indent="0">
              <a:buNone/>
            </a:pPr>
            <a:r>
              <a:rPr lang="en-US" sz="1400" i="1" dirty="0">
                <a:solidFill>
                  <a:srgbClr val="2E5E55"/>
                </a:solidFill>
                <a:latin typeface="Calibri" pitchFamily="34" charset="0"/>
                <a:ea typeface="Calibri" pitchFamily="34" charset="-122"/>
                <a:cs typeface="Calibri" pitchFamily="34" charset="-120"/>
              </a:rPr>
              <a:t>Chaque remise tombe un lundi : le sprint se termine le dimanche précédent, avec une Sprint Review le </a:t>
            </a:r>
            <a:r>
              <a:rPr lang="en-US" sz="1400" i="1" dirty="0" err="1">
                <a:solidFill>
                  <a:srgbClr val="2E5E55"/>
                </a:solidFill>
                <a:latin typeface="Calibri" pitchFamily="34" charset="0"/>
                <a:ea typeface="Calibri" pitchFamily="34" charset="-122"/>
                <a:cs typeface="Calibri" pitchFamily="34" charset="-120"/>
              </a:rPr>
              <a:t>vendredi</a:t>
            </a:r>
            <a:r>
              <a:rPr lang="en-US" sz="1400" i="1" dirty="0">
                <a:solidFill>
                  <a:srgbClr val="2E5E55"/>
                </a:solidFill>
                <a:latin typeface="Calibri" pitchFamily="34" charset="0"/>
                <a:ea typeface="Calibri" pitchFamily="34" charset="-122"/>
                <a:cs typeface="Calibri" pitchFamily="34" charset="-120"/>
              </a:rPr>
              <a:t>.</a:t>
            </a:r>
          </a:p>
          <a:p>
            <a:pPr marL="0" indent="0">
              <a:buNone/>
            </a:pPr>
            <a:r>
              <a:rPr lang="en-US" sz="1400" i="1" dirty="0">
                <a:solidFill>
                  <a:srgbClr val="2E5E55"/>
                </a:solidFill>
                <a:latin typeface="Calibri" pitchFamily="34" charset="0"/>
                <a:ea typeface="Calibri" pitchFamily="34" charset="-122"/>
                <a:cs typeface="Calibri" pitchFamily="34" charset="-120"/>
                <a:hlinkClick r:id="rId3" action="ppaction://hlinkfile"/>
              </a:rPr>
              <a:t>Voir le rapport </a:t>
            </a:r>
            <a:r>
              <a:rPr lang="en-US" sz="1400" i="1" dirty="0">
                <a:solidFill>
                  <a:srgbClr val="2E5E55"/>
                </a:solidFill>
                <a:latin typeface="Calibri" pitchFamily="34" charset="0"/>
                <a:ea typeface="Calibri" pitchFamily="34" charset="-122"/>
                <a:cs typeface="Calibri" pitchFamily="34" charset="-120"/>
              </a:rPr>
              <a:t>/ </a:t>
            </a:r>
            <a:r>
              <a:rPr lang="en-US" sz="1400" i="1" dirty="0">
                <a:solidFill>
                  <a:srgbClr val="2E5E55"/>
                </a:solidFill>
                <a:latin typeface="Calibri" pitchFamily="34" charset="0"/>
                <a:ea typeface="Calibri" pitchFamily="34" charset="-122"/>
                <a:cs typeface="Calibri" pitchFamily="34" charset="-120"/>
                <a:hlinkClick r:id="rId4" action="ppaction://hlinkfile"/>
              </a:rPr>
              <a:t>voir le backlog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LIVRABLE 2</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Le backlog en chiffres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Text 4"/>
          <p:cNvSpPr txBox="1"/>
          <p:nvPr/>
        </p:nvSpPr>
        <p:spPr>
          <a:xfrm>
            <a:off x="548640" y="1554480"/>
            <a:ext cx="2103120" cy="731520"/>
          </a:xfrm>
          <a:prstGeom prst="rect">
            <a:avLst/>
          </a:prstGeom>
          <a:noFill/>
          <a:ln/>
        </p:spPr>
        <p:txBody>
          <a:bodyPr wrap="square" lIns="0" tIns="0" rIns="0" bIns="0" rtlCol="0" anchor="ctr"/>
          <a:lstStyle/>
          <a:p>
            <a:pPr marL="0" indent="0">
              <a:buNone/>
            </a:pPr>
            <a:r>
              <a:rPr lang="en-US" sz="3400" b="1" dirty="0">
                <a:solidFill>
                  <a:srgbClr val="17332E"/>
                </a:solidFill>
                <a:latin typeface="Cambria" pitchFamily="34" charset="0"/>
                <a:ea typeface="Cambria" pitchFamily="34" charset="-122"/>
                <a:cs typeface="Cambria" pitchFamily="34" charset="-120"/>
              </a:rPr>
              <a:t>10</a:t>
            </a:r>
            <a:endParaRPr lang="en-US" sz="3400" dirty="0"/>
          </a:p>
        </p:txBody>
      </p:sp>
      <p:sp>
        <p:nvSpPr>
          <p:cNvPr id="7" name="Text 5"/>
          <p:cNvSpPr txBox="1"/>
          <p:nvPr/>
        </p:nvSpPr>
        <p:spPr>
          <a:xfrm>
            <a:off x="2697480" y="1554480"/>
            <a:ext cx="2194560" cy="731520"/>
          </a:xfrm>
          <a:prstGeom prst="rect">
            <a:avLst/>
          </a:prstGeom>
          <a:noFill/>
          <a:ln/>
        </p:spPr>
        <p:txBody>
          <a:bodyPr wrap="square" lIns="0" tIns="0" rIns="0" bIns="0" rtlCol="0" anchor="ctr"/>
          <a:lstStyle/>
          <a:p>
            <a:pPr marL="0" indent="0">
              <a:buNone/>
            </a:pPr>
            <a:r>
              <a:rPr lang="en-US" sz="1600" dirty="0">
                <a:solidFill>
                  <a:srgbClr val="1F2A28"/>
                </a:solidFill>
                <a:latin typeface="Calibri" pitchFamily="34" charset="0"/>
                <a:ea typeface="Calibri" pitchFamily="34" charset="-122"/>
                <a:cs typeface="Calibri" pitchFamily="34" charset="-120"/>
              </a:rPr>
              <a:t>épopées</a:t>
            </a:r>
            <a:endParaRPr lang="en-US" sz="1600" dirty="0"/>
          </a:p>
        </p:txBody>
      </p:sp>
      <p:sp>
        <p:nvSpPr>
          <p:cNvPr id="8" name="Text 6"/>
          <p:cNvSpPr txBox="1"/>
          <p:nvPr/>
        </p:nvSpPr>
        <p:spPr>
          <a:xfrm>
            <a:off x="548640" y="2450592"/>
            <a:ext cx="2103120" cy="731520"/>
          </a:xfrm>
          <a:prstGeom prst="rect">
            <a:avLst/>
          </a:prstGeom>
          <a:noFill/>
          <a:ln/>
        </p:spPr>
        <p:txBody>
          <a:bodyPr wrap="square" lIns="0" tIns="0" rIns="0" bIns="0" rtlCol="0" anchor="ctr"/>
          <a:lstStyle/>
          <a:p>
            <a:pPr marL="0" indent="0">
              <a:buNone/>
            </a:pPr>
            <a:r>
              <a:rPr lang="en-US" sz="3400" b="1" dirty="0">
                <a:solidFill>
                  <a:srgbClr val="17332E"/>
                </a:solidFill>
                <a:latin typeface="Cambria" pitchFamily="34" charset="0"/>
                <a:ea typeface="Cambria" pitchFamily="34" charset="-122"/>
                <a:cs typeface="Cambria" pitchFamily="34" charset="-120"/>
              </a:rPr>
              <a:t>33</a:t>
            </a:r>
            <a:endParaRPr lang="en-US" sz="3400" dirty="0"/>
          </a:p>
        </p:txBody>
      </p:sp>
      <p:sp>
        <p:nvSpPr>
          <p:cNvPr id="9" name="Text 7"/>
          <p:cNvSpPr txBox="1"/>
          <p:nvPr/>
        </p:nvSpPr>
        <p:spPr>
          <a:xfrm>
            <a:off x="2697480" y="2450592"/>
            <a:ext cx="2194560" cy="731520"/>
          </a:xfrm>
          <a:prstGeom prst="rect">
            <a:avLst/>
          </a:prstGeom>
          <a:noFill/>
          <a:ln/>
        </p:spPr>
        <p:txBody>
          <a:bodyPr wrap="square" lIns="0" tIns="0" rIns="0" bIns="0" rtlCol="0" anchor="ctr"/>
          <a:lstStyle/>
          <a:p>
            <a:pPr marL="0" indent="0">
              <a:buNone/>
            </a:pPr>
            <a:r>
              <a:rPr lang="en-US" sz="1600" dirty="0">
                <a:solidFill>
                  <a:srgbClr val="1F2A28"/>
                </a:solidFill>
                <a:latin typeface="Calibri" pitchFamily="34" charset="0"/>
                <a:ea typeface="Calibri" pitchFamily="34" charset="-122"/>
                <a:cs typeface="Calibri" pitchFamily="34" charset="-120"/>
              </a:rPr>
              <a:t>user stories</a:t>
            </a:r>
            <a:endParaRPr lang="en-US" sz="1600" dirty="0"/>
          </a:p>
        </p:txBody>
      </p:sp>
      <p:sp>
        <p:nvSpPr>
          <p:cNvPr id="10" name="Text 8"/>
          <p:cNvSpPr txBox="1"/>
          <p:nvPr/>
        </p:nvSpPr>
        <p:spPr>
          <a:xfrm>
            <a:off x="548640" y="3346704"/>
            <a:ext cx="2103120" cy="731520"/>
          </a:xfrm>
          <a:prstGeom prst="rect">
            <a:avLst/>
          </a:prstGeom>
          <a:noFill/>
          <a:ln/>
        </p:spPr>
        <p:txBody>
          <a:bodyPr wrap="square" lIns="0" tIns="0" rIns="0" bIns="0" rtlCol="0" anchor="ctr"/>
          <a:lstStyle/>
          <a:p>
            <a:pPr marL="0" indent="0">
              <a:buNone/>
            </a:pPr>
            <a:r>
              <a:rPr lang="en-US" sz="3400" b="1" dirty="0">
                <a:solidFill>
                  <a:srgbClr val="17332E"/>
                </a:solidFill>
                <a:latin typeface="Cambria" pitchFamily="34" charset="0"/>
                <a:ea typeface="Cambria" pitchFamily="34" charset="-122"/>
                <a:cs typeface="Cambria" pitchFamily="34" charset="-120"/>
              </a:rPr>
              <a:t>175</a:t>
            </a:r>
            <a:endParaRPr lang="en-US" sz="3400" dirty="0"/>
          </a:p>
        </p:txBody>
      </p:sp>
      <p:sp>
        <p:nvSpPr>
          <p:cNvPr id="11" name="Text 9"/>
          <p:cNvSpPr txBox="1"/>
          <p:nvPr/>
        </p:nvSpPr>
        <p:spPr>
          <a:xfrm>
            <a:off x="2697480" y="3346704"/>
            <a:ext cx="2194560" cy="731520"/>
          </a:xfrm>
          <a:prstGeom prst="rect">
            <a:avLst/>
          </a:prstGeom>
          <a:noFill/>
          <a:ln/>
        </p:spPr>
        <p:txBody>
          <a:bodyPr wrap="square" lIns="0" tIns="0" rIns="0" bIns="0" rtlCol="0" anchor="ctr"/>
          <a:lstStyle/>
          <a:p>
            <a:pPr marL="0" indent="0">
              <a:buNone/>
            </a:pPr>
            <a:r>
              <a:rPr lang="en-US" sz="1600" dirty="0">
                <a:solidFill>
                  <a:srgbClr val="1F2A28"/>
                </a:solidFill>
                <a:latin typeface="Calibri" pitchFamily="34" charset="0"/>
                <a:ea typeface="Calibri" pitchFamily="34" charset="-122"/>
                <a:cs typeface="Calibri" pitchFamily="34" charset="-120"/>
              </a:rPr>
              <a:t>points</a:t>
            </a:r>
            <a:endParaRPr lang="en-US" sz="1600" dirty="0"/>
          </a:p>
        </p:txBody>
      </p:sp>
      <p:sp>
        <p:nvSpPr>
          <p:cNvPr id="12" name="Text 10"/>
          <p:cNvSpPr txBox="1"/>
          <p:nvPr/>
        </p:nvSpPr>
        <p:spPr>
          <a:xfrm>
            <a:off x="548640" y="4242816"/>
            <a:ext cx="2103120" cy="731520"/>
          </a:xfrm>
          <a:prstGeom prst="rect">
            <a:avLst/>
          </a:prstGeom>
          <a:noFill/>
          <a:ln/>
        </p:spPr>
        <p:txBody>
          <a:bodyPr wrap="square" lIns="0" tIns="0" rIns="0" bIns="0" rtlCol="0" anchor="ctr"/>
          <a:lstStyle/>
          <a:p>
            <a:pPr marL="0" indent="0">
              <a:buNone/>
            </a:pPr>
            <a:r>
              <a:rPr lang="en-US" sz="3400" b="1" dirty="0">
                <a:solidFill>
                  <a:srgbClr val="E9A23B"/>
                </a:solidFill>
                <a:latin typeface="Cambria" pitchFamily="34" charset="0"/>
                <a:ea typeface="Cambria" pitchFamily="34" charset="-122"/>
                <a:cs typeface="Cambria" pitchFamily="34" charset="-120"/>
              </a:rPr>
              <a:t>166</a:t>
            </a:r>
            <a:endParaRPr lang="en-US" sz="3400" dirty="0"/>
          </a:p>
        </p:txBody>
      </p:sp>
      <p:sp>
        <p:nvSpPr>
          <p:cNvPr id="13" name="Text 11"/>
          <p:cNvSpPr txBox="1"/>
          <p:nvPr/>
        </p:nvSpPr>
        <p:spPr>
          <a:xfrm>
            <a:off x="2697480" y="4242816"/>
            <a:ext cx="2194560" cy="731520"/>
          </a:xfrm>
          <a:prstGeom prst="rect">
            <a:avLst/>
          </a:prstGeom>
          <a:noFill/>
          <a:ln/>
        </p:spPr>
        <p:txBody>
          <a:bodyPr wrap="square" lIns="0" tIns="0" rIns="0" bIns="0" rtlCol="0" anchor="ctr"/>
          <a:lstStyle/>
          <a:p>
            <a:pPr marL="0" indent="0">
              <a:buNone/>
            </a:pPr>
            <a:r>
              <a:rPr lang="en-US" sz="1600" dirty="0">
                <a:solidFill>
                  <a:srgbClr val="1F2A28"/>
                </a:solidFill>
                <a:latin typeface="Calibri" pitchFamily="34" charset="0"/>
                <a:ea typeface="Calibri" pitchFamily="34" charset="-122"/>
                <a:cs typeface="Calibri" pitchFamily="34" charset="-120"/>
              </a:rPr>
              <a:t>tâches</a:t>
            </a:r>
            <a:endParaRPr lang="en-US" sz="1600" dirty="0"/>
          </a:p>
        </p:txBody>
      </p:sp>
      <p:sp>
        <p:nvSpPr>
          <p:cNvPr id="14" name="Text 12"/>
          <p:cNvSpPr txBox="1"/>
          <p:nvPr/>
        </p:nvSpPr>
        <p:spPr>
          <a:xfrm>
            <a:off x="548640" y="5138928"/>
            <a:ext cx="2103120" cy="731520"/>
          </a:xfrm>
          <a:prstGeom prst="rect">
            <a:avLst/>
          </a:prstGeom>
          <a:noFill/>
          <a:ln/>
        </p:spPr>
        <p:txBody>
          <a:bodyPr wrap="square" lIns="0" tIns="0" rIns="0" bIns="0" rtlCol="0" anchor="ctr"/>
          <a:lstStyle/>
          <a:p>
            <a:pPr marL="0" indent="0">
              <a:buNone/>
            </a:pPr>
            <a:r>
              <a:rPr lang="en-US" sz="3400" b="1" dirty="0">
                <a:solidFill>
                  <a:srgbClr val="17332E"/>
                </a:solidFill>
                <a:latin typeface="Cambria" pitchFamily="34" charset="0"/>
                <a:ea typeface="Cambria" pitchFamily="34" charset="-122"/>
                <a:cs typeface="Cambria" pitchFamily="34" charset="-120"/>
              </a:rPr>
              <a:t>≈ 280 h</a:t>
            </a:r>
            <a:endParaRPr lang="en-US" sz="3400" dirty="0"/>
          </a:p>
        </p:txBody>
      </p:sp>
      <p:sp>
        <p:nvSpPr>
          <p:cNvPr id="15" name="Text 13"/>
          <p:cNvSpPr txBox="1"/>
          <p:nvPr/>
        </p:nvSpPr>
        <p:spPr>
          <a:xfrm>
            <a:off x="2697480" y="5138928"/>
            <a:ext cx="2194560" cy="731520"/>
          </a:xfrm>
          <a:prstGeom prst="rect">
            <a:avLst/>
          </a:prstGeom>
          <a:noFill/>
          <a:ln/>
        </p:spPr>
        <p:txBody>
          <a:bodyPr wrap="square" lIns="0" tIns="0" rIns="0" bIns="0" rtlCol="0" anchor="ctr"/>
          <a:lstStyle/>
          <a:p>
            <a:pPr marL="0" indent="0">
              <a:buNone/>
            </a:pPr>
            <a:r>
              <a:rPr lang="en-US" sz="1600" dirty="0">
                <a:solidFill>
                  <a:srgbClr val="1F2A28"/>
                </a:solidFill>
                <a:latin typeface="Calibri" pitchFamily="34" charset="0"/>
                <a:ea typeface="Calibri" pitchFamily="34" charset="-122"/>
                <a:cs typeface="Calibri" pitchFamily="34" charset="-120"/>
              </a:rPr>
              <a:t>d'effort estimé</a:t>
            </a:r>
            <a:endParaRPr lang="en-US" sz="1600" dirty="0"/>
          </a:p>
        </p:txBody>
      </p:sp>
      <p:graphicFrame>
        <p:nvGraphicFramePr>
          <p:cNvPr id="16" name="Chart 0"/>
          <p:cNvGraphicFramePr/>
          <p:nvPr/>
        </p:nvGraphicFramePr>
        <p:xfrm>
          <a:off x="5120640" y="1463040"/>
          <a:ext cx="6492240" cy="4572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GRANULARITÉ</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De l'épopée à la tâche : un exemple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554480"/>
            <a:ext cx="5120640" cy="822960"/>
          </a:xfrm>
          <a:prstGeom prst="roundRect">
            <a:avLst>
              <a:gd name="adj" fmla="val 8889"/>
            </a:avLst>
          </a:prstGeom>
          <a:solidFill>
            <a:srgbClr val="EAF2EF"/>
          </a:solidFill>
          <a:ln w="9525">
            <a:solidFill>
              <a:srgbClr val="C9D8D3"/>
            </a:solidFill>
            <a:prstDash val="solid"/>
          </a:ln>
        </p:spPr>
        <p:txBody>
          <a:bodyPr/>
          <a:lstStyle/>
          <a:p>
            <a:endParaRPr lang="en-US"/>
          </a:p>
        </p:txBody>
      </p:sp>
      <p:sp>
        <p:nvSpPr>
          <p:cNvPr id="7" name="Text 5"/>
          <p:cNvSpPr txBox="1"/>
          <p:nvPr/>
        </p:nvSpPr>
        <p:spPr>
          <a:xfrm>
            <a:off x="731520" y="1627632"/>
            <a:ext cx="4754880" cy="228600"/>
          </a:xfrm>
          <a:prstGeom prst="rect">
            <a:avLst/>
          </a:prstGeom>
          <a:noFill/>
          <a:ln/>
        </p:spPr>
        <p:txBody>
          <a:bodyPr wrap="square" lIns="0" tIns="0" rIns="0" bIns="0" rtlCol="0" anchor="ctr"/>
          <a:lstStyle/>
          <a:p>
            <a:pPr marL="0" indent="0">
              <a:buNone/>
            </a:pPr>
            <a:r>
              <a:rPr lang="en-US" sz="1000" b="1" kern="0" spc="100" dirty="0">
                <a:solidFill>
                  <a:srgbClr val="E9A23B"/>
                </a:solidFill>
                <a:latin typeface="Calibri" pitchFamily="34" charset="0"/>
                <a:ea typeface="Calibri" pitchFamily="34" charset="-122"/>
                <a:cs typeface="Calibri" pitchFamily="34" charset="-120"/>
              </a:rPr>
              <a:t>ÉPOPÉE</a:t>
            </a:r>
            <a:endParaRPr lang="en-US" sz="1000" dirty="0"/>
          </a:p>
        </p:txBody>
      </p:sp>
      <p:sp>
        <p:nvSpPr>
          <p:cNvPr id="8" name="Text 6"/>
          <p:cNvSpPr txBox="1"/>
          <p:nvPr/>
        </p:nvSpPr>
        <p:spPr>
          <a:xfrm>
            <a:off x="731520" y="1856232"/>
            <a:ext cx="4754880" cy="502920"/>
          </a:xfrm>
          <a:prstGeom prst="rect">
            <a:avLst/>
          </a:prstGeom>
          <a:noFill/>
          <a:ln/>
        </p:spPr>
        <p:txBody>
          <a:bodyPr wrap="square" lIns="0" tIns="0" rIns="0" bIns="0" rtlCol="0" anchor="t"/>
          <a:lstStyle/>
          <a:p>
            <a:pPr marL="0" indent="0">
              <a:buNone/>
            </a:pPr>
            <a:r>
              <a:rPr lang="en-US" sz="1250" dirty="0">
                <a:solidFill>
                  <a:srgbClr val="1F2A28"/>
                </a:solidFill>
                <a:latin typeface="Calibri" pitchFamily="34" charset="0"/>
                <a:ea typeface="Calibri" pitchFamily="34" charset="-122"/>
                <a:cs typeface="Calibri" pitchFamily="34" charset="-120"/>
              </a:rPr>
              <a:t>E1 · Collecte et recherche de données</a:t>
            </a:r>
            <a:endParaRPr lang="en-US" sz="1250" dirty="0"/>
          </a:p>
        </p:txBody>
      </p:sp>
      <p:sp>
        <p:nvSpPr>
          <p:cNvPr id="9" name="Shape 7"/>
          <p:cNvSpPr/>
          <p:nvPr/>
        </p:nvSpPr>
        <p:spPr>
          <a:xfrm>
            <a:off x="548640" y="2514600"/>
            <a:ext cx="5120640" cy="822960"/>
          </a:xfrm>
          <a:prstGeom prst="roundRect">
            <a:avLst>
              <a:gd name="adj" fmla="val 8889"/>
            </a:avLst>
          </a:prstGeom>
          <a:solidFill>
            <a:srgbClr val="17332E"/>
          </a:solidFill>
          <a:ln w="9525">
            <a:solidFill>
              <a:srgbClr val="C9D8D3"/>
            </a:solidFill>
            <a:prstDash val="solid"/>
          </a:ln>
        </p:spPr>
        <p:txBody>
          <a:bodyPr/>
          <a:lstStyle/>
          <a:p>
            <a:endParaRPr lang="en-US"/>
          </a:p>
        </p:txBody>
      </p:sp>
      <p:sp>
        <p:nvSpPr>
          <p:cNvPr id="10" name="Text 8"/>
          <p:cNvSpPr txBox="1"/>
          <p:nvPr/>
        </p:nvSpPr>
        <p:spPr>
          <a:xfrm>
            <a:off x="731520" y="2587752"/>
            <a:ext cx="4754880" cy="228600"/>
          </a:xfrm>
          <a:prstGeom prst="rect">
            <a:avLst/>
          </a:prstGeom>
          <a:noFill/>
          <a:ln/>
        </p:spPr>
        <p:txBody>
          <a:bodyPr wrap="square" lIns="0" tIns="0" rIns="0" bIns="0" rtlCol="0" anchor="ctr"/>
          <a:lstStyle/>
          <a:p>
            <a:pPr marL="0" indent="0">
              <a:buNone/>
            </a:pPr>
            <a:r>
              <a:rPr lang="en-US" sz="1000" b="1" kern="0" spc="100" dirty="0">
                <a:solidFill>
                  <a:srgbClr val="E9A23B"/>
                </a:solidFill>
                <a:latin typeface="Calibri" pitchFamily="34" charset="0"/>
                <a:ea typeface="Calibri" pitchFamily="34" charset="-122"/>
                <a:cs typeface="Calibri" pitchFamily="34" charset="-120"/>
              </a:rPr>
              <a:t>USER STORY</a:t>
            </a:r>
            <a:endParaRPr lang="en-US" sz="1000" dirty="0"/>
          </a:p>
        </p:txBody>
      </p:sp>
      <p:sp>
        <p:nvSpPr>
          <p:cNvPr id="11" name="Text 9"/>
          <p:cNvSpPr txBox="1"/>
          <p:nvPr/>
        </p:nvSpPr>
        <p:spPr>
          <a:xfrm>
            <a:off x="731520" y="2816352"/>
            <a:ext cx="4754880" cy="50292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US04 · Collecter et vérifier les tables de dimension afin d'enrichir l'analyse</a:t>
            </a:r>
            <a:endParaRPr lang="en-US" sz="1250" dirty="0"/>
          </a:p>
        </p:txBody>
      </p:sp>
      <p:sp>
        <p:nvSpPr>
          <p:cNvPr id="12" name="Shape 10"/>
          <p:cNvSpPr/>
          <p:nvPr/>
        </p:nvSpPr>
        <p:spPr>
          <a:xfrm>
            <a:off x="548640" y="3474720"/>
            <a:ext cx="5120640" cy="822960"/>
          </a:xfrm>
          <a:prstGeom prst="roundRect">
            <a:avLst>
              <a:gd name="adj" fmla="val 8889"/>
            </a:avLst>
          </a:prstGeom>
          <a:solidFill>
            <a:srgbClr val="EAF2EF"/>
          </a:solidFill>
          <a:ln w="9525">
            <a:solidFill>
              <a:srgbClr val="C9D8D3"/>
            </a:solidFill>
            <a:prstDash val="solid"/>
          </a:ln>
        </p:spPr>
        <p:txBody>
          <a:bodyPr/>
          <a:lstStyle/>
          <a:p>
            <a:endParaRPr lang="en-US"/>
          </a:p>
        </p:txBody>
      </p:sp>
      <p:sp>
        <p:nvSpPr>
          <p:cNvPr id="13" name="Text 11"/>
          <p:cNvSpPr txBox="1"/>
          <p:nvPr/>
        </p:nvSpPr>
        <p:spPr>
          <a:xfrm>
            <a:off x="731520" y="3547872"/>
            <a:ext cx="4754880" cy="228600"/>
          </a:xfrm>
          <a:prstGeom prst="rect">
            <a:avLst/>
          </a:prstGeom>
          <a:noFill/>
          <a:ln/>
        </p:spPr>
        <p:txBody>
          <a:bodyPr wrap="square" lIns="0" tIns="0" rIns="0" bIns="0" rtlCol="0" anchor="ctr"/>
          <a:lstStyle/>
          <a:p>
            <a:pPr marL="0" indent="0">
              <a:buNone/>
            </a:pPr>
            <a:r>
              <a:rPr lang="en-US" sz="1000" b="1" kern="0" spc="100" dirty="0">
                <a:solidFill>
                  <a:srgbClr val="E9A23B"/>
                </a:solidFill>
                <a:latin typeface="Calibri" pitchFamily="34" charset="0"/>
                <a:ea typeface="Calibri" pitchFamily="34" charset="-122"/>
                <a:cs typeface="Calibri" pitchFamily="34" charset="-120"/>
              </a:rPr>
              <a:t>CRITÈRE D'ACCEPTATION</a:t>
            </a:r>
            <a:endParaRPr lang="en-US" sz="1000" dirty="0"/>
          </a:p>
        </p:txBody>
      </p:sp>
      <p:sp>
        <p:nvSpPr>
          <p:cNvPr id="14" name="Text 12"/>
          <p:cNvSpPr txBox="1"/>
          <p:nvPr/>
        </p:nvSpPr>
        <p:spPr>
          <a:xfrm>
            <a:off x="731520" y="3776472"/>
            <a:ext cx="4754880" cy="502920"/>
          </a:xfrm>
          <a:prstGeom prst="rect">
            <a:avLst/>
          </a:prstGeom>
          <a:noFill/>
          <a:ln/>
        </p:spPr>
        <p:txBody>
          <a:bodyPr wrap="square" lIns="0" tIns="0" rIns="0" bIns="0" rtlCol="0" anchor="t"/>
          <a:lstStyle/>
          <a:p>
            <a:pPr marL="0" indent="0">
              <a:buNone/>
            </a:pPr>
            <a:r>
              <a:rPr lang="en-US" sz="1250" dirty="0">
                <a:solidFill>
                  <a:srgbClr val="1F2A28"/>
                </a:solidFill>
                <a:latin typeface="Calibri" pitchFamily="34" charset="0"/>
                <a:ea typeface="Calibri" pitchFamily="34" charset="-122"/>
                <a:cs typeface="Calibri" pitchFamily="34" charset="-120"/>
              </a:rPr>
              <a:t>Source vérifiée, arborescence des clés établie, 8 tables retenues et justifiées</a:t>
            </a:r>
            <a:endParaRPr lang="en-US" sz="1250" dirty="0"/>
          </a:p>
        </p:txBody>
      </p:sp>
      <p:sp>
        <p:nvSpPr>
          <p:cNvPr id="15" name="Text 13"/>
          <p:cNvSpPr txBox="1"/>
          <p:nvPr/>
        </p:nvSpPr>
        <p:spPr>
          <a:xfrm>
            <a:off x="548640" y="4526280"/>
            <a:ext cx="5120640" cy="365760"/>
          </a:xfrm>
          <a:prstGeom prst="rect">
            <a:avLst/>
          </a:prstGeom>
          <a:noFill/>
          <a:ln/>
        </p:spPr>
        <p:txBody>
          <a:bodyPr wrap="square" lIns="0" tIns="0" rIns="0" bIns="0" rtlCol="0" anchor="ctr"/>
          <a:lstStyle/>
          <a:p>
            <a:pPr marL="0" indent="0">
              <a:buNone/>
            </a:pPr>
            <a:r>
              <a:rPr lang="en-US" sz="1400" b="1" dirty="0">
                <a:solidFill>
                  <a:srgbClr val="2E5E55"/>
                </a:solidFill>
                <a:latin typeface="Calibri" pitchFamily="34" charset="0"/>
                <a:ea typeface="Calibri" pitchFamily="34" charset="-122"/>
                <a:cs typeface="Calibri" pitchFamily="34" charset="-120"/>
              </a:rPr>
              <a:t>Must · 8 points · Sprint 0</a:t>
            </a:r>
            <a:endParaRPr lang="en-US" sz="1400" dirty="0"/>
          </a:p>
        </p:txBody>
      </p:sp>
      <p:sp>
        <p:nvSpPr>
          <p:cNvPr id="16" name="Text 14"/>
          <p:cNvSpPr txBox="1"/>
          <p:nvPr/>
        </p:nvSpPr>
        <p:spPr>
          <a:xfrm>
            <a:off x="6217920" y="1508760"/>
            <a:ext cx="4572000" cy="36576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Tâches (✓ = terminée · … = en cours)</a:t>
            </a:r>
            <a:endParaRPr lang="en-US" sz="1800" dirty="0"/>
          </a:p>
        </p:txBody>
      </p:sp>
      <p:sp>
        <p:nvSpPr>
          <p:cNvPr id="17" name="Shape 15"/>
          <p:cNvSpPr/>
          <p:nvPr/>
        </p:nvSpPr>
        <p:spPr>
          <a:xfrm>
            <a:off x="6217920" y="2057400"/>
            <a:ext cx="384048" cy="384048"/>
          </a:xfrm>
          <a:prstGeom prst="ellipse">
            <a:avLst/>
          </a:prstGeom>
          <a:solidFill>
            <a:srgbClr val="17332E"/>
          </a:solidFill>
          <a:ln w="12700">
            <a:solidFill>
              <a:srgbClr val="17332E"/>
            </a:solidFill>
            <a:prstDash val="solid"/>
          </a:ln>
        </p:spPr>
        <p:txBody>
          <a:bodyPr/>
          <a:lstStyle/>
          <a:p>
            <a:endParaRPr lang="en-US"/>
          </a:p>
        </p:txBody>
      </p:sp>
      <p:sp>
        <p:nvSpPr>
          <p:cNvPr id="18" name="Text 16"/>
          <p:cNvSpPr txBox="1"/>
          <p:nvPr/>
        </p:nvSpPr>
        <p:spPr>
          <a:xfrm>
            <a:off x="621792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6766560" y="1965960"/>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Télécharger et restaurer ContosoRetailDW</a:t>
            </a:r>
            <a:endParaRPr lang="en-US" sz="1400" dirty="0"/>
          </a:p>
        </p:txBody>
      </p:sp>
      <p:sp>
        <p:nvSpPr>
          <p:cNvPr id="20" name="Text 18"/>
          <p:cNvSpPr txBox="1"/>
          <p:nvPr/>
        </p:nvSpPr>
        <p:spPr>
          <a:xfrm>
            <a:off x="10698480" y="1965960"/>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2,5 h</a:t>
            </a:r>
            <a:endParaRPr lang="en-US" sz="1400" dirty="0"/>
          </a:p>
        </p:txBody>
      </p:sp>
      <p:sp>
        <p:nvSpPr>
          <p:cNvPr id="21" name="Shape 19"/>
          <p:cNvSpPr/>
          <p:nvPr/>
        </p:nvSpPr>
        <p:spPr>
          <a:xfrm>
            <a:off x="6217920" y="2715768"/>
            <a:ext cx="384048" cy="384048"/>
          </a:xfrm>
          <a:prstGeom prst="ellipse">
            <a:avLst/>
          </a:prstGeom>
          <a:solidFill>
            <a:srgbClr val="17332E"/>
          </a:solidFill>
          <a:ln w="12700">
            <a:solidFill>
              <a:srgbClr val="17332E"/>
            </a:solidFill>
            <a:prstDash val="solid"/>
          </a:ln>
        </p:spPr>
        <p:txBody>
          <a:bodyPr/>
          <a:lstStyle/>
          <a:p>
            <a:endParaRPr lang="en-US"/>
          </a:p>
        </p:txBody>
      </p:sp>
      <p:sp>
        <p:nvSpPr>
          <p:cNvPr id="22" name="Text 20"/>
          <p:cNvSpPr txBox="1"/>
          <p:nvPr/>
        </p:nvSpPr>
        <p:spPr>
          <a:xfrm>
            <a:off x="6217920" y="27157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txBox="1"/>
          <p:nvPr/>
        </p:nvSpPr>
        <p:spPr>
          <a:xfrm>
            <a:off x="6766560" y="2624328"/>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Extraire les tables en CSV avec Python</a:t>
            </a:r>
            <a:endParaRPr lang="en-US" sz="1400" dirty="0"/>
          </a:p>
        </p:txBody>
      </p:sp>
      <p:sp>
        <p:nvSpPr>
          <p:cNvPr id="24" name="Text 22"/>
          <p:cNvSpPr txBox="1"/>
          <p:nvPr/>
        </p:nvSpPr>
        <p:spPr>
          <a:xfrm>
            <a:off x="10698480" y="2624328"/>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2 h</a:t>
            </a:r>
            <a:endParaRPr lang="en-US" sz="1400" dirty="0"/>
          </a:p>
        </p:txBody>
      </p:sp>
      <p:sp>
        <p:nvSpPr>
          <p:cNvPr id="25" name="Shape 23"/>
          <p:cNvSpPr/>
          <p:nvPr/>
        </p:nvSpPr>
        <p:spPr>
          <a:xfrm>
            <a:off x="6217920" y="3374136"/>
            <a:ext cx="384048" cy="384048"/>
          </a:xfrm>
          <a:prstGeom prst="ellipse">
            <a:avLst/>
          </a:prstGeom>
          <a:solidFill>
            <a:srgbClr val="17332E"/>
          </a:solidFill>
          <a:ln w="12700">
            <a:solidFill>
              <a:srgbClr val="17332E"/>
            </a:solidFill>
            <a:prstDash val="solid"/>
          </a:ln>
        </p:spPr>
        <p:txBody>
          <a:bodyPr/>
          <a:lstStyle/>
          <a:p>
            <a:endParaRPr lang="en-US"/>
          </a:p>
        </p:txBody>
      </p:sp>
      <p:sp>
        <p:nvSpPr>
          <p:cNvPr id="26" name="Text 24"/>
          <p:cNvSpPr txBox="1"/>
          <p:nvPr/>
        </p:nvSpPr>
        <p:spPr>
          <a:xfrm>
            <a:off x="6217920" y="33741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6766560" y="3282696"/>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Vérifier l'origine (IdVente = SalesKey, +12 ans)</a:t>
            </a:r>
            <a:endParaRPr lang="en-US" sz="1400" dirty="0"/>
          </a:p>
        </p:txBody>
      </p:sp>
      <p:sp>
        <p:nvSpPr>
          <p:cNvPr id="28" name="Text 26"/>
          <p:cNvSpPr txBox="1"/>
          <p:nvPr/>
        </p:nvSpPr>
        <p:spPr>
          <a:xfrm>
            <a:off x="10698480" y="3282696"/>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1 h</a:t>
            </a:r>
            <a:endParaRPr lang="en-US" sz="1400" dirty="0"/>
          </a:p>
        </p:txBody>
      </p:sp>
      <p:sp>
        <p:nvSpPr>
          <p:cNvPr id="29" name="Shape 27"/>
          <p:cNvSpPr/>
          <p:nvPr/>
        </p:nvSpPr>
        <p:spPr>
          <a:xfrm>
            <a:off x="6217920" y="4032504"/>
            <a:ext cx="384048" cy="384048"/>
          </a:xfrm>
          <a:prstGeom prst="ellipse">
            <a:avLst/>
          </a:prstGeom>
          <a:solidFill>
            <a:srgbClr val="17332E"/>
          </a:solidFill>
          <a:ln w="12700">
            <a:solidFill>
              <a:srgbClr val="17332E"/>
            </a:solidFill>
            <a:prstDash val="solid"/>
          </a:ln>
        </p:spPr>
        <p:txBody>
          <a:bodyPr/>
          <a:lstStyle/>
          <a:p>
            <a:endParaRPr lang="en-US"/>
          </a:p>
        </p:txBody>
      </p:sp>
      <p:sp>
        <p:nvSpPr>
          <p:cNvPr id="30" name="Text 28"/>
          <p:cNvSpPr txBox="1"/>
          <p:nvPr/>
        </p:nvSpPr>
        <p:spPr>
          <a:xfrm>
            <a:off x="6217920" y="40325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txBox="1"/>
          <p:nvPr/>
        </p:nvSpPr>
        <p:spPr>
          <a:xfrm>
            <a:off x="6766560" y="3941064"/>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Analyser les clés étrangères, sélectionner les tables</a:t>
            </a:r>
            <a:endParaRPr lang="en-US" sz="1400" dirty="0"/>
          </a:p>
        </p:txBody>
      </p:sp>
      <p:sp>
        <p:nvSpPr>
          <p:cNvPr id="32" name="Text 30"/>
          <p:cNvSpPr txBox="1"/>
          <p:nvPr/>
        </p:nvSpPr>
        <p:spPr>
          <a:xfrm>
            <a:off x="10698480" y="3941064"/>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2 h</a:t>
            </a:r>
            <a:endParaRPr lang="en-US" sz="1400" dirty="0"/>
          </a:p>
        </p:txBody>
      </p:sp>
      <p:sp>
        <p:nvSpPr>
          <p:cNvPr id="33" name="Shape 31"/>
          <p:cNvSpPr/>
          <p:nvPr/>
        </p:nvSpPr>
        <p:spPr>
          <a:xfrm>
            <a:off x="6217920" y="4690872"/>
            <a:ext cx="384048" cy="384048"/>
          </a:xfrm>
          <a:prstGeom prst="ellipse">
            <a:avLst/>
          </a:prstGeom>
          <a:solidFill>
            <a:srgbClr val="17332E"/>
          </a:solidFill>
          <a:ln w="12700">
            <a:solidFill>
              <a:srgbClr val="17332E"/>
            </a:solidFill>
            <a:prstDash val="solid"/>
          </a:ln>
        </p:spPr>
        <p:txBody>
          <a:bodyPr/>
          <a:lstStyle/>
          <a:p>
            <a:endParaRPr lang="en-US"/>
          </a:p>
        </p:txBody>
      </p:sp>
      <p:sp>
        <p:nvSpPr>
          <p:cNvPr id="34" name="Text 32"/>
          <p:cNvSpPr txBox="1"/>
          <p:nvPr/>
        </p:nvSpPr>
        <p:spPr>
          <a:xfrm>
            <a:off x="6217920" y="46908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Text 33"/>
          <p:cNvSpPr txBox="1"/>
          <p:nvPr/>
        </p:nvSpPr>
        <p:spPr>
          <a:xfrm>
            <a:off x="6766560" y="4599432"/>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Correspondance des clés sur toutes les lignes (100 %)</a:t>
            </a:r>
            <a:endParaRPr lang="en-US" sz="1400" dirty="0"/>
          </a:p>
        </p:txBody>
      </p:sp>
      <p:sp>
        <p:nvSpPr>
          <p:cNvPr id="36" name="Text 34"/>
          <p:cNvSpPr txBox="1"/>
          <p:nvPr/>
        </p:nvSpPr>
        <p:spPr>
          <a:xfrm>
            <a:off x="10698480" y="4599432"/>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2 h</a:t>
            </a:r>
            <a:endParaRPr lang="en-US" sz="1400" dirty="0"/>
          </a:p>
        </p:txBody>
      </p:sp>
      <p:sp>
        <p:nvSpPr>
          <p:cNvPr id="37" name="Shape 35"/>
          <p:cNvSpPr/>
          <p:nvPr/>
        </p:nvSpPr>
        <p:spPr>
          <a:xfrm>
            <a:off x="6217920" y="5349240"/>
            <a:ext cx="384048" cy="384048"/>
          </a:xfrm>
          <a:prstGeom prst="ellipse">
            <a:avLst/>
          </a:prstGeom>
          <a:solidFill>
            <a:srgbClr val="E9A23B"/>
          </a:solidFill>
          <a:ln w="12700">
            <a:solidFill>
              <a:srgbClr val="E9A23B"/>
            </a:solidFill>
            <a:prstDash val="solid"/>
          </a:ln>
        </p:spPr>
        <p:txBody>
          <a:bodyPr/>
          <a:lstStyle/>
          <a:p>
            <a:endParaRPr lang="en-US"/>
          </a:p>
        </p:txBody>
      </p:sp>
      <p:sp>
        <p:nvSpPr>
          <p:cNvPr id="38" name="Text 36"/>
          <p:cNvSpPr txBox="1"/>
          <p:nvPr/>
        </p:nvSpPr>
        <p:spPr>
          <a:xfrm>
            <a:off x="6217920" y="5349240"/>
            <a:ext cx="384048" cy="384048"/>
          </a:xfrm>
          <a:prstGeom prst="rect">
            <a:avLst/>
          </a:prstGeom>
          <a:noFill/>
          <a:ln/>
        </p:spPr>
        <p:txBody>
          <a:bodyPr wrap="square" lIns="0" tIns="0" rIns="0" bIns="0" rtlCol="0" anchor="ctr"/>
          <a:lstStyle/>
          <a:p>
            <a:pPr marL="0" indent="0" algn="ctr">
              <a:buNone/>
            </a:pPr>
            <a:r>
              <a:rPr lang="en-US" sz="1200" b="1" dirty="0">
                <a:solidFill>
                  <a:srgbClr val="17332E"/>
                </a:solidFill>
                <a:latin typeface="Calibri" pitchFamily="34" charset="0"/>
                <a:ea typeface="Calibri" pitchFamily="34" charset="-122"/>
                <a:cs typeface="Calibri" pitchFamily="34" charset="-120"/>
              </a:rPr>
              <a:t>…</a:t>
            </a:r>
            <a:endParaRPr lang="en-US" sz="1200" dirty="0"/>
          </a:p>
        </p:txBody>
      </p:sp>
      <p:sp>
        <p:nvSpPr>
          <p:cNvPr id="39" name="Text 37"/>
          <p:cNvSpPr txBox="1"/>
          <p:nvPr/>
        </p:nvSpPr>
        <p:spPr>
          <a:xfrm>
            <a:off x="6766560" y="5257800"/>
            <a:ext cx="3931920" cy="56692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Documenter la démarche de collecte</a:t>
            </a:r>
            <a:endParaRPr lang="en-US" sz="1400" dirty="0"/>
          </a:p>
        </p:txBody>
      </p:sp>
      <p:sp>
        <p:nvSpPr>
          <p:cNvPr id="40" name="Text 38"/>
          <p:cNvSpPr txBox="1"/>
          <p:nvPr/>
        </p:nvSpPr>
        <p:spPr>
          <a:xfrm>
            <a:off x="10698480" y="5257800"/>
            <a:ext cx="914400" cy="566928"/>
          </a:xfrm>
          <a:prstGeom prst="rect">
            <a:avLst/>
          </a:prstGeom>
          <a:noFill/>
          <a:ln/>
        </p:spPr>
        <p:txBody>
          <a:bodyPr wrap="square" lIns="0" tIns="0" rIns="0" bIns="0" rtlCol="0" anchor="ctr"/>
          <a:lstStyle/>
          <a:p>
            <a:pPr marL="0" indent="0" algn="r">
              <a:buNone/>
            </a:pPr>
            <a:r>
              <a:rPr lang="en-US" sz="1400" b="1" dirty="0">
                <a:solidFill>
                  <a:srgbClr val="2E5E55"/>
                </a:solidFill>
                <a:latin typeface="Calibri" pitchFamily="34" charset="0"/>
                <a:ea typeface="Calibri" pitchFamily="34" charset="-122"/>
                <a:cs typeface="Calibri" pitchFamily="34" charset="-120"/>
              </a:rPr>
              <a:t>1 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FONCTIONNEMENT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Organisation Scrum et outils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Text 4"/>
          <p:cNvSpPr txBox="1"/>
          <p:nvPr/>
        </p:nvSpPr>
        <p:spPr>
          <a:xfrm>
            <a:off x="548640" y="1508760"/>
            <a:ext cx="3657600" cy="36576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Cérémonies</a:t>
            </a:r>
            <a:endParaRPr lang="en-US" sz="1800" dirty="0"/>
          </a:p>
        </p:txBody>
      </p:sp>
      <p:sp>
        <p:nvSpPr>
          <p:cNvPr id="7" name="Shape 5"/>
          <p:cNvSpPr/>
          <p:nvPr/>
        </p:nvSpPr>
        <p:spPr>
          <a:xfrm>
            <a:off x="548640" y="1965960"/>
            <a:ext cx="4937760" cy="658368"/>
          </a:xfrm>
          <a:prstGeom prst="roundRect">
            <a:avLst>
              <a:gd name="adj" fmla="val 11111"/>
            </a:avLst>
          </a:prstGeom>
          <a:solidFill>
            <a:srgbClr val="F5F9F7"/>
          </a:solidFill>
          <a:ln w="9525">
            <a:solidFill>
              <a:srgbClr val="C9D8D3"/>
            </a:solidFill>
            <a:prstDash val="solid"/>
          </a:ln>
        </p:spPr>
        <p:txBody>
          <a:bodyPr/>
          <a:lstStyle/>
          <a:p>
            <a:endParaRPr lang="en-US"/>
          </a:p>
        </p:txBody>
      </p:sp>
      <p:sp>
        <p:nvSpPr>
          <p:cNvPr id="8" name="Text 6"/>
          <p:cNvSpPr txBox="1"/>
          <p:nvPr/>
        </p:nvSpPr>
        <p:spPr>
          <a:xfrm>
            <a:off x="731520" y="1965960"/>
            <a:ext cx="1371600" cy="658368"/>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Lundi</a:t>
            </a:r>
            <a:endParaRPr lang="en-US" sz="1300" dirty="0"/>
          </a:p>
        </p:txBody>
      </p:sp>
      <p:sp>
        <p:nvSpPr>
          <p:cNvPr id="9" name="Text 7"/>
          <p:cNvSpPr txBox="1"/>
          <p:nvPr/>
        </p:nvSpPr>
        <p:spPr>
          <a:xfrm>
            <a:off x="2103120" y="1965960"/>
            <a:ext cx="2377440" cy="65836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Sprint Planning</a:t>
            </a:r>
            <a:endParaRPr lang="en-US" sz="1400" dirty="0"/>
          </a:p>
        </p:txBody>
      </p:sp>
      <p:sp>
        <p:nvSpPr>
          <p:cNvPr id="10" name="Text 8"/>
          <p:cNvSpPr txBox="1"/>
          <p:nvPr/>
        </p:nvSpPr>
        <p:spPr>
          <a:xfrm>
            <a:off x="4389120" y="1965960"/>
            <a:ext cx="914400" cy="658368"/>
          </a:xfrm>
          <a:prstGeom prst="rect">
            <a:avLst/>
          </a:prstGeom>
          <a:noFill/>
          <a:ln/>
        </p:spPr>
        <p:txBody>
          <a:bodyPr wrap="square" lIns="0" tIns="0" rIns="0" bIns="0" rtlCol="0" anchor="ctr"/>
          <a:lstStyle/>
          <a:p>
            <a:pPr marL="0" indent="0" algn="r">
              <a:buNone/>
            </a:pPr>
            <a:r>
              <a:rPr lang="en-US" sz="1200" dirty="0">
                <a:solidFill>
                  <a:srgbClr val="5E6B68"/>
                </a:solidFill>
                <a:latin typeface="Calibri" pitchFamily="34" charset="0"/>
                <a:ea typeface="Calibri" pitchFamily="34" charset="-122"/>
                <a:cs typeface="Calibri" pitchFamily="34" charset="-120"/>
              </a:rPr>
              <a:t>45-60 min</a:t>
            </a:r>
            <a:endParaRPr lang="en-US" sz="1200" dirty="0"/>
          </a:p>
        </p:txBody>
      </p:sp>
      <p:sp>
        <p:nvSpPr>
          <p:cNvPr id="11" name="Shape 9"/>
          <p:cNvSpPr/>
          <p:nvPr/>
        </p:nvSpPr>
        <p:spPr>
          <a:xfrm>
            <a:off x="548640" y="2743200"/>
            <a:ext cx="4937760" cy="658368"/>
          </a:xfrm>
          <a:prstGeom prst="roundRect">
            <a:avLst>
              <a:gd name="adj" fmla="val 11111"/>
            </a:avLst>
          </a:prstGeom>
          <a:solidFill>
            <a:srgbClr val="F5F9F7"/>
          </a:solidFill>
          <a:ln w="9525">
            <a:solidFill>
              <a:srgbClr val="C9D8D3"/>
            </a:solidFill>
            <a:prstDash val="solid"/>
          </a:ln>
        </p:spPr>
        <p:txBody>
          <a:bodyPr/>
          <a:lstStyle/>
          <a:p>
            <a:endParaRPr lang="en-US"/>
          </a:p>
        </p:txBody>
      </p:sp>
      <p:sp>
        <p:nvSpPr>
          <p:cNvPr id="12" name="Text 10"/>
          <p:cNvSpPr txBox="1"/>
          <p:nvPr/>
        </p:nvSpPr>
        <p:spPr>
          <a:xfrm>
            <a:off x="731520" y="2743200"/>
            <a:ext cx="1371600" cy="658368"/>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Mar. à jeu.</a:t>
            </a:r>
            <a:endParaRPr lang="en-US" sz="1300" dirty="0"/>
          </a:p>
        </p:txBody>
      </p:sp>
      <p:sp>
        <p:nvSpPr>
          <p:cNvPr id="13" name="Text 11"/>
          <p:cNvSpPr txBox="1"/>
          <p:nvPr/>
        </p:nvSpPr>
        <p:spPr>
          <a:xfrm>
            <a:off x="2103120" y="2743200"/>
            <a:ext cx="2377440" cy="65836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Daily standup</a:t>
            </a:r>
            <a:endParaRPr lang="en-US" sz="1400" dirty="0"/>
          </a:p>
        </p:txBody>
      </p:sp>
      <p:sp>
        <p:nvSpPr>
          <p:cNvPr id="14" name="Text 12"/>
          <p:cNvSpPr txBox="1"/>
          <p:nvPr/>
        </p:nvSpPr>
        <p:spPr>
          <a:xfrm>
            <a:off x="4389120" y="2743200"/>
            <a:ext cx="914400" cy="658368"/>
          </a:xfrm>
          <a:prstGeom prst="rect">
            <a:avLst/>
          </a:prstGeom>
          <a:noFill/>
          <a:ln/>
        </p:spPr>
        <p:txBody>
          <a:bodyPr wrap="square" lIns="0" tIns="0" rIns="0" bIns="0" rtlCol="0" anchor="ctr"/>
          <a:lstStyle/>
          <a:p>
            <a:pPr marL="0" indent="0" algn="r">
              <a:buNone/>
            </a:pPr>
            <a:r>
              <a:rPr lang="en-US" sz="1200" dirty="0">
                <a:solidFill>
                  <a:srgbClr val="5E6B68"/>
                </a:solidFill>
                <a:latin typeface="Calibri" pitchFamily="34" charset="0"/>
                <a:ea typeface="Calibri" pitchFamily="34" charset="-122"/>
                <a:cs typeface="Calibri" pitchFamily="34" charset="-120"/>
              </a:rPr>
              <a:t>15 min</a:t>
            </a:r>
            <a:endParaRPr lang="en-US" sz="1200" dirty="0"/>
          </a:p>
        </p:txBody>
      </p:sp>
      <p:sp>
        <p:nvSpPr>
          <p:cNvPr id="15" name="Shape 13"/>
          <p:cNvSpPr/>
          <p:nvPr/>
        </p:nvSpPr>
        <p:spPr>
          <a:xfrm>
            <a:off x="548640" y="3520440"/>
            <a:ext cx="4937760" cy="658368"/>
          </a:xfrm>
          <a:prstGeom prst="roundRect">
            <a:avLst>
              <a:gd name="adj" fmla="val 11111"/>
            </a:avLst>
          </a:prstGeom>
          <a:solidFill>
            <a:srgbClr val="F5F9F7"/>
          </a:solidFill>
          <a:ln w="9525">
            <a:solidFill>
              <a:srgbClr val="C9D8D3"/>
            </a:solidFill>
            <a:prstDash val="solid"/>
          </a:ln>
        </p:spPr>
        <p:txBody>
          <a:bodyPr/>
          <a:lstStyle/>
          <a:p>
            <a:endParaRPr lang="en-US"/>
          </a:p>
        </p:txBody>
      </p:sp>
      <p:sp>
        <p:nvSpPr>
          <p:cNvPr id="16" name="Text 14"/>
          <p:cNvSpPr txBox="1"/>
          <p:nvPr/>
        </p:nvSpPr>
        <p:spPr>
          <a:xfrm>
            <a:off x="731520" y="3520440"/>
            <a:ext cx="1371600" cy="658368"/>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Mi-sprint</a:t>
            </a:r>
            <a:endParaRPr lang="en-US" sz="1300" dirty="0"/>
          </a:p>
        </p:txBody>
      </p:sp>
      <p:sp>
        <p:nvSpPr>
          <p:cNvPr id="17" name="Text 15"/>
          <p:cNvSpPr txBox="1"/>
          <p:nvPr/>
        </p:nvSpPr>
        <p:spPr>
          <a:xfrm>
            <a:off x="2103120" y="3520440"/>
            <a:ext cx="2377440" cy="65836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Point de réajustement</a:t>
            </a:r>
            <a:endParaRPr lang="en-US" sz="1400" dirty="0"/>
          </a:p>
        </p:txBody>
      </p:sp>
      <p:sp>
        <p:nvSpPr>
          <p:cNvPr id="18" name="Text 16"/>
          <p:cNvSpPr txBox="1"/>
          <p:nvPr/>
        </p:nvSpPr>
        <p:spPr>
          <a:xfrm>
            <a:off x="4389120" y="3520440"/>
            <a:ext cx="914400" cy="658368"/>
          </a:xfrm>
          <a:prstGeom prst="rect">
            <a:avLst/>
          </a:prstGeom>
          <a:noFill/>
          <a:ln/>
        </p:spPr>
        <p:txBody>
          <a:bodyPr wrap="square" lIns="0" tIns="0" rIns="0" bIns="0" rtlCol="0" anchor="ctr"/>
          <a:lstStyle/>
          <a:p>
            <a:pPr marL="0" indent="0" algn="r">
              <a:buNone/>
            </a:pPr>
            <a:r>
              <a:rPr lang="en-US" sz="1200" dirty="0">
                <a:solidFill>
                  <a:srgbClr val="5E6B68"/>
                </a:solidFill>
                <a:latin typeface="Calibri" pitchFamily="34" charset="0"/>
                <a:ea typeface="Calibri" pitchFamily="34" charset="-122"/>
                <a:cs typeface="Calibri" pitchFamily="34" charset="-120"/>
              </a:rPr>
              <a:t>20 min</a:t>
            </a:r>
            <a:endParaRPr lang="en-US" sz="1200" dirty="0"/>
          </a:p>
        </p:txBody>
      </p:sp>
      <p:sp>
        <p:nvSpPr>
          <p:cNvPr id="19" name="Shape 17"/>
          <p:cNvSpPr/>
          <p:nvPr/>
        </p:nvSpPr>
        <p:spPr>
          <a:xfrm>
            <a:off x="548640" y="4297680"/>
            <a:ext cx="4937760" cy="658368"/>
          </a:xfrm>
          <a:prstGeom prst="roundRect">
            <a:avLst>
              <a:gd name="adj" fmla="val 11111"/>
            </a:avLst>
          </a:prstGeom>
          <a:solidFill>
            <a:srgbClr val="F5F9F7"/>
          </a:solidFill>
          <a:ln w="9525">
            <a:solidFill>
              <a:srgbClr val="C9D8D3"/>
            </a:solidFill>
            <a:prstDash val="solid"/>
          </a:ln>
        </p:spPr>
        <p:txBody>
          <a:bodyPr/>
          <a:lstStyle/>
          <a:p>
            <a:endParaRPr lang="en-US"/>
          </a:p>
        </p:txBody>
      </p:sp>
      <p:sp>
        <p:nvSpPr>
          <p:cNvPr id="20" name="Text 18"/>
          <p:cNvSpPr txBox="1"/>
          <p:nvPr/>
        </p:nvSpPr>
        <p:spPr>
          <a:xfrm>
            <a:off x="731520" y="4297680"/>
            <a:ext cx="1371600" cy="658368"/>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Vendredi</a:t>
            </a:r>
            <a:endParaRPr lang="en-US" sz="1300" dirty="0"/>
          </a:p>
        </p:txBody>
      </p:sp>
      <p:sp>
        <p:nvSpPr>
          <p:cNvPr id="21" name="Text 19"/>
          <p:cNvSpPr txBox="1"/>
          <p:nvPr/>
        </p:nvSpPr>
        <p:spPr>
          <a:xfrm>
            <a:off x="2103120" y="4297680"/>
            <a:ext cx="2377440" cy="658368"/>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Sprint Review + Rétro</a:t>
            </a:r>
            <a:endParaRPr lang="en-US" sz="1400" dirty="0"/>
          </a:p>
        </p:txBody>
      </p:sp>
      <p:sp>
        <p:nvSpPr>
          <p:cNvPr id="22" name="Text 20"/>
          <p:cNvSpPr txBox="1"/>
          <p:nvPr/>
        </p:nvSpPr>
        <p:spPr>
          <a:xfrm>
            <a:off x="4389120" y="4297680"/>
            <a:ext cx="914400" cy="658368"/>
          </a:xfrm>
          <a:prstGeom prst="rect">
            <a:avLst/>
          </a:prstGeom>
          <a:noFill/>
          <a:ln/>
        </p:spPr>
        <p:txBody>
          <a:bodyPr wrap="square" lIns="0" tIns="0" rIns="0" bIns="0" rtlCol="0" anchor="ctr"/>
          <a:lstStyle/>
          <a:p>
            <a:pPr marL="0" indent="0" algn="r">
              <a:buNone/>
            </a:pPr>
            <a:r>
              <a:rPr lang="en-US" sz="1200" dirty="0">
                <a:solidFill>
                  <a:srgbClr val="5E6B68"/>
                </a:solidFill>
                <a:latin typeface="Calibri" pitchFamily="34" charset="0"/>
                <a:ea typeface="Calibri" pitchFamily="34" charset="-122"/>
                <a:cs typeface="Calibri" pitchFamily="34" charset="-120"/>
              </a:rPr>
              <a:t>1 h 15</a:t>
            </a:r>
            <a:endParaRPr lang="en-US" sz="1200" dirty="0"/>
          </a:p>
        </p:txBody>
      </p:sp>
      <p:sp>
        <p:nvSpPr>
          <p:cNvPr id="23" name="Shape 21"/>
          <p:cNvSpPr/>
          <p:nvPr/>
        </p:nvSpPr>
        <p:spPr>
          <a:xfrm>
            <a:off x="5943600" y="1508760"/>
            <a:ext cx="5669280" cy="2103120"/>
          </a:xfrm>
          <a:prstGeom prst="roundRect">
            <a:avLst>
              <a:gd name="adj" fmla="val 3478"/>
            </a:avLst>
          </a:prstGeom>
          <a:solidFill>
            <a:srgbClr val="17332E"/>
          </a:solidFill>
          <a:ln w="9525">
            <a:solidFill>
              <a:srgbClr val="C9D8D3"/>
            </a:solidFill>
            <a:prstDash val="solid"/>
          </a:ln>
        </p:spPr>
        <p:txBody>
          <a:bodyPr/>
          <a:lstStyle/>
          <a:p>
            <a:endParaRPr lang="en-US"/>
          </a:p>
        </p:txBody>
      </p:sp>
      <p:sp>
        <p:nvSpPr>
          <p:cNvPr id="24" name="Text 22"/>
          <p:cNvSpPr txBox="1"/>
          <p:nvPr/>
        </p:nvSpPr>
        <p:spPr>
          <a:xfrm>
            <a:off x="6217920" y="1645920"/>
            <a:ext cx="5120640" cy="365760"/>
          </a:xfrm>
          <a:prstGeom prst="rect">
            <a:avLst/>
          </a:prstGeom>
          <a:noFill/>
          <a:ln/>
        </p:spPr>
        <p:txBody>
          <a:bodyPr wrap="square" lIns="0" tIns="0" rIns="0" bIns="0" rtlCol="0" anchor="ctr"/>
          <a:lstStyle/>
          <a:p>
            <a:pPr marL="0" indent="0">
              <a:buNone/>
            </a:pPr>
            <a:r>
              <a:rPr lang="en-US" sz="1700" b="1" dirty="0">
                <a:solidFill>
                  <a:srgbClr val="E9A23B"/>
                </a:solidFill>
                <a:latin typeface="Cambria" pitchFamily="34" charset="0"/>
                <a:ea typeface="Cambria" pitchFamily="34" charset="-122"/>
                <a:cs typeface="Cambria" pitchFamily="34" charset="-120"/>
              </a:rPr>
              <a:t>Definition of Done</a:t>
            </a:r>
            <a:endParaRPr lang="en-US" sz="1700" dirty="0"/>
          </a:p>
        </p:txBody>
      </p:sp>
      <p:sp>
        <p:nvSpPr>
          <p:cNvPr id="25" name="Text 23"/>
          <p:cNvSpPr txBox="1"/>
          <p:nvPr/>
        </p:nvSpPr>
        <p:spPr>
          <a:xfrm>
            <a:off x="6217920" y="2057400"/>
            <a:ext cx="5212080" cy="14630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Code versionné, documenté et revu</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Résultats reproductibles de bout en bout</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Hypothèses et limites documentées</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Validé par le PO en Sprint Review</a:t>
            </a:r>
            <a:endParaRPr lang="en-US" sz="1300" dirty="0"/>
          </a:p>
        </p:txBody>
      </p:sp>
      <p:sp>
        <p:nvSpPr>
          <p:cNvPr id="26" name="Shape 24"/>
          <p:cNvSpPr/>
          <p:nvPr/>
        </p:nvSpPr>
        <p:spPr>
          <a:xfrm>
            <a:off x="5943600" y="3840480"/>
            <a:ext cx="2788920" cy="960120"/>
          </a:xfrm>
          <a:prstGeom prst="roundRect">
            <a:avLst>
              <a:gd name="adj" fmla="val 7619"/>
            </a:avLst>
          </a:prstGeom>
          <a:solidFill>
            <a:srgbClr val="EAF2EF"/>
          </a:solidFill>
          <a:ln w="9525">
            <a:solidFill>
              <a:srgbClr val="C9D8D3"/>
            </a:solidFill>
            <a:prstDash val="solid"/>
          </a:ln>
        </p:spPr>
        <p:txBody>
          <a:bodyPr/>
          <a:lstStyle/>
          <a:p>
            <a:endParaRPr lang="en-US"/>
          </a:p>
        </p:txBody>
      </p:sp>
      <p:sp>
        <p:nvSpPr>
          <p:cNvPr id="27" name="Text 25"/>
          <p:cNvSpPr txBox="1"/>
          <p:nvPr/>
        </p:nvSpPr>
        <p:spPr>
          <a:xfrm>
            <a:off x="6126480" y="3950208"/>
            <a:ext cx="246888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Backlog</a:t>
            </a:r>
            <a:endParaRPr lang="en-US" sz="1200" dirty="0"/>
          </a:p>
        </p:txBody>
      </p:sp>
      <p:sp>
        <p:nvSpPr>
          <p:cNvPr id="28" name="Text 26"/>
          <p:cNvSpPr txBox="1"/>
          <p:nvPr/>
        </p:nvSpPr>
        <p:spPr>
          <a:xfrm>
            <a:off x="6126480" y="4270248"/>
            <a:ext cx="2468880" cy="411480"/>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Jira / GitHub Projects</a:t>
            </a:r>
            <a:endParaRPr lang="en-US" sz="1400" dirty="0"/>
          </a:p>
        </p:txBody>
      </p:sp>
      <p:sp>
        <p:nvSpPr>
          <p:cNvPr id="29" name="Shape 27"/>
          <p:cNvSpPr/>
          <p:nvPr/>
        </p:nvSpPr>
        <p:spPr>
          <a:xfrm>
            <a:off x="8823960" y="3840480"/>
            <a:ext cx="2788920" cy="960120"/>
          </a:xfrm>
          <a:prstGeom prst="roundRect">
            <a:avLst>
              <a:gd name="adj" fmla="val 7619"/>
            </a:avLst>
          </a:prstGeom>
          <a:solidFill>
            <a:srgbClr val="EAF2EF"/>
          </a:solidFill>
          <a:ln w="9525">
            <a:solidFill>
              <a:srgbClr val="C9D8D3"/>
            </a:solidFill>
            <a:prstDash val="solid"/>
          </a:ln>
        </p:spPr>
        <p:txBody>
          <a:bodyPr/>
          <a:lstStyle/>
          <a:p>
            <a:endParaRPr lang="en-US"/>
          </a:p>
        </p:txBody>
      </p:sp>
      <p:sp>
        <p:nvSpPr>
          <p:cNvPr id="30" name="Text 28"/>
          <p:cNvSpPr txBox="1"/>
          <p:nvPr/>
        </p:nvSpPr>
        <p:spPr>
          <a:xfrm>
            <a:off x="9006840" y="3950208"/>
            <a:ext cx="246888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Code</a:t>
            </a:r>
            <a:endParaRPr lang="en-US" sz="1200" dirty="0"/>
          </a:p>
        </p:txBody>
      </p:sp>
      <p:sp>
        <p:nvSpPr>
          <p:cNvPr id="31" name="Text 29"/>
          <p:cNvSpPr txBox="1"/>
          <p:nvPr/>
        </p:nvSpPr>
        <p:spPr>
          <a:xfrm>
            <a:off x="9006840" y="4270248"/>
            <a:ext cx="2468880" cy="411480"/>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Python, Jupyter, Git</a:t>
            </a:r>
            <a:endParaRPr lang="en-US" sz="1400" dirty="0"/>
          </a:p>
        </p:txBody>
      </p:sp>
      <p:sp>
        <p:nvSpPr>
          <p:cNvPr id="32" name="Shape 30"/>
          <p:cNvSpPr/>
          <p:nvPr/>
        </p:nvSpPr>
        <p:spPr>
          <a:xfrm>
            <a:off x="5943600" y="4937760"/>
            <a:ext cx="2788920" cy="960120"/>
          </a:xfrm>
          <a:prstGeom prst="roundRect">
            <a:avLst>
              <a:gd name="adj" fmla="val 7619"/>
            </a:avLst>
          </a:prstGeom>
          <a:solidFill>
            <a:srgbClr val="EAF2EF"/>
          </a:solidFill>
          <a:ln w="9525">
            <a:solidFill>
              <a:srgbClr val="C9D8D3"/>
            </a:solidFill>
            <a:prstDash val="solid"/>
          </a:ln>
        </p:spPr>
        <p:txBody>
          <a:bodyPr/>
          <a:lstStyle/>
          <a:p>
            <a:endParaRPr lang="en-US"/>
          </a:p>
        </p:txBody>
      </p:sp>
      <p:sp>
        <p:nvSpPr>
          <p:cNvPr id="33" name="Text 31"/>
          <p:cNvSpPr txBox="1"/>
          <p:nvPr/>
        </p:nvSpPr>
        <p:spPr>
          <a:xfrm>
            <a:off x="6126480" y="5047488"/>
            <a:ext cx="246888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Visualisation</a:t>
            </a:r>
            <a:endParaRPr lang="en-US" sz="1200" dirty="0"/>
          </a:p>
        </p:txBody>
      </p:sp>
      <p:sp>
        <p:nvSpPr>
          <p:cNvPr id="34" name="Text 32"/>
          <p:cNvSpPr txBox="1"/>
          <p:nvPr/>
        </p:nvSpPr>
        <p:spPr>
          <a:xfrm>
            <a:off x="6126480" y="5367528"/>
            <a:ext cx="2468880" cy="411480"/>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Excel, Power BI</a:t>
            </a:r>
            <a:endParaRPr lang="en-US" sz="1400" dirty="0"/>
          </a:p>
        </p:txBody>
      </p:sp>
      <p:sp>
        <p:nvSpPr>
          <p:cNvPr id="35" name="Shape 33"/>
          <p:cNvSpPr/>
          <p:nvPr/>
        </p:nvSpPr>
        <p:spPr>
          <a:xfrm>
            <a:off x="8823960" y="4937760"/>
            <a:ext cx="2788920" cy="960120"/>
          </a:xfrm>
          <a:prstGeom prst="roundRect">
            <a:avLst>
              <a:gd name="adj" fmla="val 7619"/>
            </a:avLst>
          </a:prstGeom>
          <a:solidFill>
            <a:srgbClr val="EAF2EF"/>
          </a:solidFill>
          <a:ln w="9525">
            <a:solidFill>
              <a:srgbClr val="C9D8D3"/>
            </a:solidFill>
            <a:prstDash val="solid"/>
          </a:ln>
        </p:spPr>
        <p:txBody>
          <a:bodyPr/>
          <a:lstStyle/>
          <a:p>
            <a:endParaRPr lang="en-US"/>
          </a:p>
        </p:txBody>
      </p:sp>
      <p:sp>
        <p:nvSpPr>
          <p:cNvPr id="36" name="Text 34"/>
          <p:cNvSpPr txBox="1"/>
          <p:nvPr/>
        </p:nvSpPr>
        <p:spPr>
          <a:xfrm>
            <a:off x="9006840" y="5047488"/>
            <a:ext cx="2468880" cy="320040"/>
          </a:xfrm>
          <a:prstGeom prst="rect">
            <a:avLst/>
          </a:prstGeom>
          <a:noFill/>
          <a:ln/>
        </p:spPr>
        <p:txBody>
          <a:bodyPr wrap="square" lIns="0" tIns="0" rIns="0" bIns="0" rtlCol="0" anchor="ctr"/>
          <a:lstStyle/>
          <a:p>
            <a:pPr marL="0" indent="0">
              <a:buNone/>
            </a:pPr>
            <a:r>
              <a:rPr lang="en-US" sz="1200" b="1" dirty="0">
                <a:solidFill>
                  <a:srgbClr val="2E5E55"/>
                </a:solidFill>
                <a:latin typeface="Calibri" pitchFamily="34" charset="0"/>
                <a:ea typeface="Calibri" pitchFamily="34" charset="-122"/>
                <a:cs typeface="Calibri" pitchFamily="34" charset="-120"/>
              </a:rPr>
              <a:t>Restitution</a:t>
            </a:r>
            <a:endParaRPr lang="en-US" sz="1200" dirty="0"/>
          </a:p>
        </p:txBody>
      </p:sp>
      <p:sp>
        <p:nvSpPr>
          <p:cNvPr id="37" name="Text 35"/>
          <p:cNvSpPr txBox="1"/>
          <p:nvPr/>
        </p:nvSpPr>
        <p:spPr>
          <a:xfrm>
            <a:off x="9006840" y="5367528"/>
            <a:ext cx="2468880" cy="411480"/>
          </a:xfrm>
          <a:prstGeom prst="rect">
            <a:avLst/>
          </a:prstGeom>
          <a:noFill/>
          <a:ln/>
        </p:spPr>
        <p:txBody>
          <a:bodyPr wrap="square" lIns="0" tIns="0" rIns="0" bIns="0" rtlCol="0" anchor="ctr"/>
          <a:lstStyle/>
          <a:p>
            <a:pPr marL="0" indent="0">
              <a:buNone/>
            </a:pPr>
            <a:r>
              <a:rPr lang="en-US" sz="1400" dirty="0">
                <a:solidFill>
                  <a:srgbClr val="1F2A28"/>
                </a:solidFill>
                <a:latin typeface="Calibri" pitchFamily="34" charset="0"/>
                <a:ea typeface="Calibri" pitchFamily="34" charset="-122"/>
                <a:cs typeface="Calibri" pitchFamily="34" charset="-120"/>
              </a:rPr>
              <a:t>PowerPoint, Word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REPRODUCTIBILITÉ</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Architecture du code : un pipeline en une commande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Shape 4"/>
          <p:cNvSpPr/>
          <p:nvPr/>
        </p:nvSpPr>
        <p:spPr>
          <a:xfrm>
            <a:off x="548640" y="1600200"/>
            <a:ext cx="2606040" cy="3108960"/>
          </a:xfrm>
          <a:prstGeom prst="roundRect">
            <a:avLst>
              <a:gd name="adj" fmla="val 2807"/>
            </a:avLst>
          </a:prstGeom>
          <a:solidFill>
            <a:srgbClr val="F5F9F7"/>
          </a:solidFill>
          <a:ln w="9525">
            <a:solidFill>
              <a:srgbClr val="C9D8D3"/>
            </a:solidFill>
            <a:prstDash val="solid"/>
          </a:ln>
        </p:spPr>
        <p:txBody>
          <a:bodyPr/>
          <a:lstStyle/>
          <a:p>
            <a:endParaRPr lang="en-US"/>
          </a:p>
        </p:txBody>
      </p:sp>
      <p:sp>
        <p:nvSpPr>
          <p:cNvPr id="7" name="Shape 5"/>
          <p:cNvSpPr/>
          <p:nvPr/>
        </p:nvSpPr>
        <p:spPr>
          <a:xfrm>
            <a:off x="777240" y="1783080"/>
            <a:ext cx="548640" cy="548640"/>
          </a:xfrm>
          <a:prstGeom prst="ellipse">
            <a:avLst/>
          </a:prstGeom>
          <a:solidFill>
            <a:srgbClr val="17332E"/>
          </a:solidFill>
          <a:ln w="12700">
            <a:solidFill>
              <a:srgbClr val="17332E"/>
            </a:solidFill>
            <a:prstDash val="solid"/>
          </a:ln>
        </p:spPr>
        <p:txBody>
          <a:bodyPr/>
          <a:lstStyle/>
          <a:p>
            <a:endParaRPr lang="en-US"/>
          </a:p>
        </p:txBody>
      </p:sp>
      <p:sp>
        <p:nvSpPr>
          <p:cNvPr id="8" name="Text 6"/>
          <p:cNvSpPr txBox="1"/>
          <p:nvPr/>
        </p:nvSpPr>
        <p:spPr>
          <a:xfrm>
            <a:off x="777240" y="17830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463040" y="1783080"/>
            <a:ext cx="1600200" cy="54864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Préparation</a:t>
            </a:r>
            <a:endParaRPr lang="en-US" sz="1700" dirty="0"/>
          </a:p>
        </p:txBody>
      </p:sp>
      <p:sp>
        <p:nvSpPr>
          <p:cNvPr id="10" name="Text 8"/>
          <p:cNvSpPr txBox="1"/>
          <p:nvPr/>
        </p:nvSpPr>
        <p:spPr>
          <a:xfrm>
            <a:off x="777240" y="2560320"/>
            <a:ext cx="2194560" cy="320040"/>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Notebooks 00 à 05</a:t>
            </a:r>
            <a:endParaRPr lang="en-US" sz="1300" dirty="0"/>
          </a:p>
        </p:txBody>
      </p:sp>
      <p:sp>
        <p:nvSpPr>
          <p:cNvPr id="11" name="Text 9"/>
          <p:cNvSpPr txBox="1"/>
          <p:nvPr/>
        </p:nvSpPr>
        <p:spPr>
          <a:xfrm>
            <a:off x="777240" y="2926080"/>
            <a:ext cx="2194560" cy="10972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Inventaire, ETL, modèle en flocon, qualité, nettoyage, variables</a:t>
            </a:r>
            <a:endParaRPr lang="en-US" sz="1300" dirty="0"/>
          </a:p>
        </p:txBody>
      </p:sp>
      <p:sp>
        <p:nvSpPr>
          <p:cNvPr id="12" name="Text 10"/>
          <p:cNvSpPr txBox="1"/>
          <p:nvPr/>
        </p:nvSpPr>
        <p:spPr>
          <a:xfrm>
            <a:off x="777240" y="4206240"/>
            <a:ext cx="2194560" cy="320040"/>
          </a:xfrm>
          <a:prstGeom prst="rect">
            <a:avLst/>
          </a:prstGeom>
          <a:noFill/>
          <a:ln/>
        </p:spPr>
        <p:txBody>
          <a:bodyPr wrap="square" lIns="0" tIns="0" rIns="0" bIns="0" rtlCol="0" anchor="ctr"/>
          <a:lstStyle/>
          <a:p>
            <a:pPr marL="0" indent="0">
              <a:buNone/>
            </a:pPr>
            <a:r>
              <a:rPr lang="en-US" sz="1200" b="1" i="1" dirty="0">
                <a:solidFill>
                  <a:srgbClr val="E9A23B"/>
                </a:solidFill>
                <a:latin typeface="Calibri" pitchFamily="34" charset="0"/>
                <a:ea typeface="Calibri" pitchFamily="34" charset="-122"/>
                <a:cs typeface="Calibri" pitchFamily="34" charset="-120"/>
              </a:rPr>
              <a:t>Séquentiel</a:t>
            </a:r>
            <a:endParaRPr lang="en-US" sz="1200" dirty="0"/>
          </a:p>
        </p:txBody>
      </p:sp>
      <p:sp>
        <p:nvSpPr>
          <p:cNvPr id="13" name="Text 11"/>
          <p:cNvSpPr txBox="1"/>
          <p:nvPr/>
        </p:nvSpPr>
        <p:spPr>
          <a:xfrm>
            <a:off x="313639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14" name="Shape 12"/>
          <p:cNvSpPr/>
          <p:nvPr/>
        </p:nvSpPr>
        <p:spPr>
          <a:xfrm>
            <a:off x="3383280" y="1600200"/>
            <a:ext cx="2606040" cy="3108960"/>
          </a:xfrm>
          <a:prstGeom prst="roundRect">
            <a:avLst>
              <a:gd name="adj" fmla="val 2807"/>
            </a:avLst>
          </a:prstGeom>
          <a:solidFill>
            <a:srgbClr val="EAF2EF"/>
          </a:solidFill>
          <a:ln w="9525">
            <a:solidFill>
              <a:srgbClr val="C9D8D3"/>
            </a:solidFill>
            <a:prstDash val="solid"/>
          </a:ln>
        </p:spPr>
        <p:txBody>
          <a:bodyPr/>
          <a:lstStyle/>
          <a:p>
            <a:endParaRPr lang="en-US"/>
          </a:p>
        </p:txBody>
      </p:sp>
      <p:sp>
        <p:nvSpPr>
          <p:cNvPr id="15" name="Shape 13"/>
          <p:cNvSpPr/>
          <p:nvPr/>
        </p:nvSpPr>
        <p:spPr>
          <a:xfrm>
            <a:off x="3611880" y="1783080"/>
            <a:ext cx="548640" cy="548640"/>
          </a:xfrm>
          <a:prstGeom prst="ellipse">
            <a:avLst/>
          </a:prstGeom>
          <a:solidFill>
            <a:srgbClr val="17332E"/>
          </a:solidFill>
          <a:ln w="12700">
            <a:solidFill>
              <a:srgbClr val="17332E"/>
            </a:solidFill>
            <a:prstDash val="solid"/>
          </a:ln>
        </p:spPr>
        <p:txBody>
          <a:bodyPr/>
          <a:lstStyle/>
          <a:p>
            <a:endParaRPr lang="en-US"/>
          </a:p>
        </p:txBody>
      </p:sp>
      <p:sp>
        <p:nvSpPr>
          <p:cNvPr id="16" name="Text 14"/>
          <p:cNvSpPr txBox="1"/>
          <p:nvPr/>
        </p:nvSpPr>
        <p:spPr>
          <a:xfrm>
            <a:off x="3611880" y="17830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4297680" y="1783080"/>
            <a:ext cx="1600200" cy="54864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Analyses</a:t>
            </a:r>
            <a:endParaRPr lang="en-US" sz="1700" dirty="0"/>
          </a:p>
        </p:txBody>
      </p:sp>
      <p:sp>
        <p:nvSpPr>
          <p:cNvPr id="18" name="Text 16"/>
          <p:cNvSpPr txBox="1"/>
          <p:nvPr/>
        </p:nvSpPr>
        <p:spPr>
          <a:xfrm>
            <a:off x="3611880" y="2560320"/>
            <a:ext cx="2194560" cy="320040"/>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Notebooks 06 à 09</a:t>
            </a:r>
            <a:endParaRPr lang="en-US" sz="1300" dirty="0"/>
          </a:p>
        </p:txBody>
      </p:sp>
      <p:sp>
        <p:nvSpPr>
          <p:cNvPr id="19" name="Text 17"/>
          <p:cNvSpPr txBox="1"/>
          <p:nvPr/>
        </p:nvSpPr>
        <p:spPr>
          <a:xfrm>
            <a:off x="3611880" y="2926080"/>
            <a:ext cx="2194560" cy="10972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Q1 à Q5</a:t>
            </a:r>
            <a:endParaRPr lang="en-US" sz="1300" dirty="0"/>
          </a:p>
        </p:txBody>
      </p:sp>
      <p:sp>
        <p:nvSpPr>
          <p:cNvPr id="20" name="Text 18"/>
          <p:cNvSpPr txBox="1"/>
          <p:nvPr/>
        </p:nvSpPr>
        <p:spPr>
          <a:xfrm>
            <a:off x="3611880" y="4206240"/>
            <a:ext cx="2194560" cy="320040"/>
          </a:xfrm>
          <a:prstGeom prst="rect">
            <a:avLst/>
          </a:prstGeom>
          <a:noFill/>
          <a:ln/>
        </p:spPr>
        <p:txBody>
          <a:bodyPr wrap="square" lIns="0" tIns="0" rIns="0" bIns="0" rtlCol="0" anchor="ctr"/>
          <a:lstStyle/>
          <a:p>
            <a:pPr marL="0" indent="0">
              <a:buNone/>
            </a:pPr>
            <a:r>
              <a:rPr lang="en-US" sz="1200" b="1" i="1" dirty="0">
                <a:solidFill>
                  <a:srgbClr val="E9A23B"/>
                </a:solidFill>
                <a:latin typeface="Calibri" pitchFamily="34" charset="0"/>
                <a:ea typeface="Calibri" pitchFamily="34" charset="-122"/>
                <a:cs typeface="Calibri" pitchFamily="34" charset="-120"/>
              </a:rPr>
              <a:t>En parallèle</a:t>
            </a:r>
            <a:endParaRPr lang="en-US" sz="1200" dirty="0"/>
          </a:p>
        </p:txBody>
      </p:sp>
      <p:sp>
        <p:nvSpPr>
          <p:cNvPr id="21" name="Text 19"/>
          <p:cNvSpPr txBox="1"/>
          <p:nvPr/>
        </p:nvSpPr>
        <p:spPr>
          <a:xfrm>
            <a:off x="597103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22" name="Shape 20"/>
          <p:cNvSpPr/>
          <p:nvPr/>
        </p:nvSpPr>
        <p:spPr>
          <a:xfrm>
            <a:off x="6217920" y="1600200"/>
            <a:ext cx="2606040" cy="3108960"/>
          </a:xfrm>
          <a:prstGeom prst="roundRect">
            <a:avLst>
              <a:gd name="adj" fmla="val 2807"/>
            </a:avLst>
          </a:prstGeom>
          <a:solidFill>
            <a:srgbClr val="F5F9F7"/>
          </a:solidFill>
          <a:ln w="9525">
            <a:solidFill>
              <a:srgbClr val="C9D8D3"/>
            </a:solidFill>
            <a:prstDash val="solid"/>
          </a:ln>
        </p:spPr>
        <p:txBody>
          <a:bodyPr/>
          <a:lstStyle/>
          <a:p>
            <a:endParaRPr lang="en-US"/>
          </a:p>
        </p:txBody>
      </p:sp>
      <p:sp>
        <p:nvSpPr>
          <p:cNvPr id="23" name="Shape 21"/>
          <p:cNvSpPr/>
          <p:nvPr/>
        </p:nvSpPr>
        <p:spPr>
          <a:xfrm>
            <a:off x="6446520" y="1783080"/>
            <a:ext cx="548640" cy="548640"/>
          </a:xfrm>
          <a:prstGeom prst="ellipse">
            <a:avLst/>
          </a:prstGeom>
          <a:solidFill>
            <a:srgbClr val="17332E"/>
          </a:solidFill>
          <a:ln w="12700">
            <a:solidFill>
              <a:srgbClr val="17332E"/>
            </a:solidFill>
            <a:prstDash val="solid"/>
          </a:ln>
        </p:spPr>
        <p:txBody>
          <a:bodyPr/>
          <a:lstStyle/>
          <a:p>
            <a:endParaRPr lang="en-US"/>
          </a:p>
        </p:txBody>
      </p:sp>
      <p:sp>
        <p:nvSpPr>
          <p:cNvPr id="24" name="Text 22"/>
          <p:cNvSpPr txBox="1"/>
          <p:nvPr/>
        </p:nvSpPr>
        <p:spPr>
          <a:xfrm>
            <a:off x="6446520" y="17830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7132320" y="1783080"/>
            <a:ext cx="1600200" cy="54864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Modèles</a:t>
            </a:r>
            <a:endParaRPr lang="en-US" sz="1700" dirty="0"/>
          </a:p>
        </p:txBody>
      </p:sp>
      <p:sp>
        <p:nvSpPr>
          <p:cNvPr id="26" name="Text 24"/>
          <p:cNvSpPr txBox="1"/>
          <p:nvPr/>
        </p:nvSpPr>
        <p:spPr>
          <a:xfrm>
            <a:off x="6446520" y="2560320"/>
            <a:ext cx="2194560" cy="320040"/>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Notebooks 10 à 12</a:t>
            </a:r>
            <a:endParaRPr lang="en-US" sz="1300" dirty="0"/>
          </a:p>
        </p:txBody>
      </p:sp>
      <p:sp>
        <p:nvSpPr>
          <p:cNvPr id="27" name="Text 25"/>
          <p:cNvSpPr txBox="1"/>
          <p:nvPr/>
        </p:nvSpPr>
        <p:spPr>
          <a:xfrm>
            <a:off x="6446520" y="2926080"/>
            <a:ext cx="2194560" cy="10972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Risque de retour, réponse aux promotions, prévision</a:t>
            </a:r>
            <a:endParaRPr lang="en-US" sz="1300" dirty="0"/>
          </a:p>
        </p:txBody>
      </p:sp>
      <p:sp>
        <p:nvSpPr>
          <p:cNvPr id="28" name="Text 26"/>
          <p:cNvSpPr txBox="1"/>
          <p:nvPr/>
        </p:nvSpPr>
        <p:spPr>
          <a:xfrm>
            <a:off x="6446520" y="4206240"/>
            <a:ext cx="2194560" cy="320040"/>
          </a:xfrm>
          <a:prstGeom prst="rect">
            <a:avLst/>
          </a:prstGeom>
          <a:noFill/>
          <a:ln/>
        </p:spPr>
        <p:txBody>
          <a:bodyPr wrap="square" lIns="0" tIns="0" rIns="0" bIns="0" rtlCol="0" anchor="ctr"/>
          <a:lstStyle/>
          <a:p>
            <a:pPr marL="0" indent="0">
              <a:buNone/>
            </a:pPr>
            <a:r>
              <a:rPr lang="en-US" sz="1200" b="1" i="1" dirty="0">
                <a:solidFill>
                  <a:srgbClr val="E9A23B"/>
                </a:solidFill>
                <a:latin typeface="Calibri" pitchFamily="34" charset="0"/>
                <a:ea typeface="Calibri" pitchFamily="34" charset="-122"/>
                <a:cs typeface="Calibri" pitchFamily="34" charset="-120"/>
              </a:rPr>
              <a:t>En parallèle</a:t>
            </a:r>
            <a:endParaRPr lang="en-US" sz="1200" dirty="0"/>
          </a:p>
        </p:txBody>
      </p:sp>
      <p:sp>
        <p:nvSpPr>
          <p:cNvPr id="29" name="Text 27"/>
          <p:cNvSpPr txBox="1"/>
          <p:nvPr/>
        </p:nvSpPr>
        <p:spPr>
          <a:xfrm>
            <a:off x="8805672" y="2743200"/>
            <a:ext cx="274320" cy="548640"/>
          </a:xfrm>
          <a:prstGeom prst="rect">
            <a:avLst/>
          </a:prstGeom>
          <a:noFill/>
          <a:ln/>
        </p:spPr>
        <p:txBody>
          <a:bodyPr wrap="square" lIns="0" tIns="0" rIns="0" bIns="0" rtlCol="0" anchor="ctr"/>
          <a:lstStyle/>
          <a:p>
            <a:pPr marL="0" indent="0" algn="ctr">
              <a:buNone/>
            </a:pPr>
            <a:r>
              <a:rPr lang="en-US" sz="2800" b="1" dirty="0">
                <a:solidFill>
                  <a:srgbClr val="2E5E55"/>
                </a:solidFill>
                <a:latin typeface="Calibri" pitchFamily="34" charset="0"/>
                <a:ea typeface="Calibri" pitchFamily="34" charset="-122"/>
                <a:cs typeface="Calibri" pitchFamily="34" charset="-120"/>
              </a:rPr>
              <a:t>›</a:t>
            </a:r>
            <a:endParaRPr lang="en-US" sz="2800" dirty="0"/>
          </a:p>
        </p:txBody>
      </p:sp>
      <p:sp>
        <p:nvSpPr>
          <p:cNvPr id="30" name="Shape 28"/>
          <p:cNvSpPr/>
          <p:nvPr/>
        </p:nvSpPr>
        <p:spPr>
          <a:xfrm>
            <a:off x="9052560" y="1600200"/>
            <a:ext cx="2606040" cy="3108960"/>
          </a:xfrm>
          <a:prstGeom prst="roundRect">
            <a:avLst>
              <a:gd name="adj" fmla="val 2807"/>
            </a:avLst>
          </a:prstGeom>
          <a:solidFill>
            <a:srgbClr val="EAF2EF"/>
          </a:solidFill>
          <a:ln w="9525">
            <a:solidFill>
              <a:srgbClr val="C9D8D3"/>
            </a:solidFill>
            <a:prstDash val="solid"/>
          </a:ln>
        </p:spPr>
        <p:txBody>
          <a:bodyPr/>
          <a:lstStyle/>
          <a:p>
            <a:endParaRPr lang="en-US"/>
          </a:p>
        </p:txBody>
      </p:sp>
      <p:sp>
        <p:nvSpPr>
          <p:cNvPr id="31" name="Shape 29"/>
          <p:cNvSpPr/>
          <p:nvPr/>
        </p:nvSpPr>
        <p:spPr>
          <a:xfrm>
            <a:off x="9281160" y="1783080"/>
            <a:ext cx="548640" cy="548640"/>
          </a:xfrm>
          <a:prstGeom prst="ellipse">
            <a:avLst/>
          </a:prstGeom>
          <a:solidFill>
            <a:srgbClr val="17332E"/>
          </a:solidFill>
          <a:ln w="12700">
            <a:solidFill>
              <a:srgbClr val="17332E"/>
            </a:solidFill>
            <a:prstDash val="solid"/>
          </a:ln>
        </p:spPr>
        <p:txBody>
          <a:bodyPr/>
          <a:lstStyle/>
          <a:p>
            <a:endParaRPr lang="en-US"/>
          </a:p>
        </p:txBody>
      </p:sp>
      <p:sp>
        <p:nvSpPr>
          <p:cNvPr id="32" name="Text 30"/>
          <p:cNvSpPr txBox="1"/>
          <p:nvPr/>
        </p:nvSpPr>
        <p:spPr>
          <a:xfrm>
            <a:off x="9281160" y="17830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3" name="Text 31"/>
          <p:cNvSpPr txBox="1"/>
          <p:nvPr/>
        </p:nvSpPr>
        <p:spPr>
          <a:xfrm>
            <a:off x="9966960" y="1783080"/>
            <a:ext cx="1600200" cy="54864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Prescriptif</a:t>
            </a:r>
            <a:endParaRPr lang="en-US" sz="1700" dirty="0"/>
          </a:p>
        </p:txBody>
      </p:sp>
      <p:sp>
        <p:nvSpPr>
          <p:cNvPr id="34" name="Text 32"/>
          <p:cNvSpPr txBox="1"/>
          <p:nvPr/>
        </p:nvSpPr>
        <p:spPr>
          <a:xfrm>
            <a:off x="9281160" y="2560320"/>
            <a:ext cx="2194560" cy="320040"/>
          </a:xfrm>
          <a:prstGeom prst="rect">
            <a:avLst/>
          </a:prstGeom>
          <a:noFill/>
          <a:ln/>
        </p:spPr>
        <p:txBody>
          <a:bodyPr wrap="square" lIns="0" tIns="0" rIns="0" bIns="0" rtlCol="0" anchor="ctr"/>
          <a:lstStyle/>
          <a:p>
            <a:pPr marL="0" indent="0">
              <a:buNone/>
            </a:pPr>
            <a:r>
              <a:rPr lang="en-US" sz="1300" b="1" dirty="0">
                <a:solidFill>
                  <a:srgbClr val="2E5E55"/>
                </a:solidFill>
                <a:latin typeface="Calibri" pitchFamily="34" charset="0"/>
                <a:ea typeface="Calibri" pitchFamily="34" charset="-122"/>
                <a:cs typeface="Calibri" pitchFamily="34" charset="-120"/>
              </a:rPr>
              <a:t>Notebooks 13 à 15</a:t>
            </a:r>
            <a:endParaRPr lang="en-US" sz="1300" dirty="0"/>
          </a:p>
        </p:txBody>
      </p:sp>
      <p:sp>
        <p:nvSpPr>
          <p:cNvPr id="35" name="Text 33"/>
          <p:cNvSpPr txBox="1"/>
          <p:nvPr/>
        </p:nvSpPr>
        <p:spPr>
          <a:xfrm>
            <a:off x="9281160" y="2926080"/>
            <a:ext cx="2194560" cy="1097280"/>
          </a:xfrm>
          <a:prstGeom prst="rect">
            <a:avLst/>
          </a:prstGeom>
          <a:noFill/>
          <a:ln/>
        </p:spPr>
        <p:txBody>
          <a:bodyPr wrap="square" lIns="0" tIns="0" rIns="0" bIns="0" rtlCol="0" anchor="t"/>
          <a:lstStyle/>
          <a:p>
            <a:pPr marL="0" indent="0">
              <a:buNone/>
            </a:pPr>
            <a:r>
              <a:rPr lang="en-US" sz="1300" dirty="0">
                <a:solidFill>
                  <a:srgbClr val="1F2A28"/>
                </a:solidFill>
                <a:latin typeface="Calibri" pitchFamily="34" charset="0"/>
                <a:ea typeface="Calibri" pitchFamily="34" charset="-122"/>
                <a:cs typeface="Calibri" pitchFamily="34" charset="-120"/>
              </a:rPr>
              <a:t>Simulation, optimisation, sensibilité</a:t>
            </a:r>
            <a:endParaRPr lang="en-US" sz="1300" dirty="0"/>
          </a:p>
        </p:txBody>
      </p:sp>
      <p:sp>
        <p:nvSpPr>
          <p:cNvPr id="36" name="Text 34"/>
          <p:cNvSpPr txBox="1"/>
          <p:nvPr/>
        </p:nvSpPr>
        <p:spPr>
          <a:xfrm>
            <a:off x="9281160" y="4206240"/>
            <a:ext cx="2194560" cy="320040"/>
          </a:xfrm>
          <a:prstGeom prst="rect">
            <a:avLst/>
          </a:prstGeom>
          <a:noFill/>
          <a:ln/>
        </p:spPr>
        <p:txBody>
          <a:bodyPr wrap="square" lIns="0" tIns="0" rIns="0" bIns="0" rtlCol="0" anchor="ctr"/>
          <a:lstStyle/>
          <a:p>
            <a:pPr marL="0" indent="0">
              <a:buNone/>
            </a:pPr>
            <a:r>
              <a:rPr lang="en-US" sz="1200" b="1" i="1" dirty="0">
                <a:solidFill>
                  <a:srgbClr val="E9A23B"/>
                </a:solidFill>
                <a:latin typeface="Calibri" pitchFamily="34" charset="0"/>
                <a:ea typeface="Calibri" pitchFamily="34" charset="-122"/>
                <a:cs typeface="Calibri" pitchFamily="34" charset="-120"/>
              </a:rPr>
              <a:t>Séquentiel</a:t>
            </a:r>
            <a:endParaRPr lang="en-US" sz="1200" dirty="0"/>
          </a:p>
        </p:txBody>
      </p:sp>
      <p:sp>
        <p:nvSpPr>
          <p:cNvPr id="37" name="Shape 35"/>
          <p:cNvSpPr/>
          <p:nvPr/>
        </p:nvSpPr>
        <p:spPr>
          <a:xfrm>
            <a:off x="548640" y="4983480"/>
            <a:ext cx="11064240" cy="1097280"/>
          </a:xfrm>
          <a:prstGeom prst="roundRect">
            <a:avLst>
              <a:gd name="adj" fmla="val 6667"/>
            </a:avLst>
          </a:prstGeom>
          <a:solidFill>
            <a:srgbClr val="17332E"/>
          </a:solidFill>
          <a:ln w="9525">
            <a:solidFill>
              <a:srgbClr val="C9D8D3"/>
            </a:solidFill>
            <a:prstDash val="solid"/>
          </a:ln>
        </p:spPr>
        <p:txBody>
          <a:bodyPr/>
          <a:lstStyle/>
          <a:p>
            <a:endParaRPr lang="en-US"/>
          </a:p>
        </p:txBody>
      </p:sp>
      <p:sp>
        <p:nvSpPr>
          <p:cNvPr id="38" name="Text 36"/>
          <p:cNvSpPr txBox="1"/>
          <p:nvPr/>
        </p:nvSpPr>
        <p:spPr>
          <a:xfrm>
            <a:off x="822960" y="4983480"/>
            <a:ext cx="10607040" cy="1097280"/>
          </a:xfrm>
          <a:prstGeom prst="rect">
            <a:avLst/>
          </a:prstGeom>
          <a:noFill/>
          <a:ln/>
        </p:spPr>
        <p:txBody>
          <a:bodyPr wrap="square" lIns="0" tIns="0" rIns="0" bIns="0" rtlCol="0" anchor="ctr"/>
          <a:lstStyle/>
          <a:p>
            <a:pPr marL="0" indent="0">
              <a:buNone/>
            </a:pPr>
            <a:r>
              <a:rPr lang="en-US" sz="1600" b="1" dirty="0">
                <a:solidFill>
                  <a:srgbClr val="E9A23B"/>
                </a:solidFill>
                <a:latin typeface="Courier New" pitchFamily="34" charset="0"/>
                <a:ea typeface="Courier New" pitchFamily="34" charset="-122"/>
                <a:cs typeface="Courier New" pitchFamily="34" charset="-120"/>
              </a:rPr>
              <a:t>python run_pipeline.py</a:t>
            </a:r>
            <a:r>
              <a:rPr lang="en-US" sz="1400" dirty="0">
                <a:solidFill>
                  <a:srgbClr val="FFFFFF"/>
                </a:solidFill>
                <a:latin typeface="Calibri" pitchFamily="34" charset="0"/>
                <a:ea typeface="Calibri" pitchFamily="34" charset="-122"/>
                <a:cs typeface="Calibri" pitchFamily="34" charset="-120"/>
              </a:rPr>
              <a:t>   papermill exécute les 16 notebooks dans l'ordre des dépendances et archive une copie exécutée de chacun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200" dirty="0">
                <a:solidFill>
                  <a:srgbClr val="E9A23B"/>
                </a:solidFill>
                <a:latin typeface="Calibri" pitchFamily="34" charset="0"/>
                <a:ea typeface="Calibri" pitchFamily="34" charset="-122"/>
                <a:cs typeface="Calibri" pitchFamily="34" charset="-120"/>
              </a:rPr>
              <a:t>GESTION DES RISQUES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7332E"/>
                </a:solidFill>
                <a:latin typeface="Cambria" pitchFamily="34" charset="0"/>
                <a:ea typeface="Cambria" pitchFamily="34" charset="-122"/>
                <a:cs typeface="Cambria" pitchFamily="34" charset="-120"/>
              </a:rPr>
              <a:t>Hypothèses, risques et parades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UA1</a:t>
            </a:r>
            <a:endParaRPr lang="en-US" sz="1000" dirty="0"/>
          </a:p>
        </p:txBody>
      </p:sp>
      <p:sp>
        <p:nvSpPr>
          <p:cNvPr id="6" name="Text 4"/>
          <p:cNvSpPr txBox="1"/>
          <p:nvPr/>
        </p:nvSpPr>
        <p:spPr>
          <a:xfrm>
            <a:off x="548640" y="1463040"/>
            <a:ext cx="4572000" cy="320040"/>
          </a:xfrm>
          <a:prstGeom prst="rect">
            <a:avLst/>
          </a:prstGeom>
          <a:noFill/>
          <a:ln/>
        </p:spPr>
        <p:txBody>
          <a:bodyPr wrap="square" lIns="0" tIns="0" rIns="0" bIns="0" rtlCol="0" anchor="ctr"/>
          <a:lstStyle/>
          <a:p>
            <a:pPr marL="0" indent="0">
              <a:buNone/>
            </a:pPr>
            <a:r>
              <a:rPr lang="en-US" sz="1300" b="1" dirty="0">
                <a:solidFill>
                  <a:srgbClr val="5E6B68"/>
                </a:solidFill>
                <a:latin typeface="Calibri" pitchFamily="34" charset="0"/>
                <a:ea typeface="Calibri" pitchFamily="34" charset="-122"/>
                <a:cs typeface="Calibri" pitchFamily="34" charset="-120"/>
              </a:rPr>
              <a:t>Risque</a:t>
            </a:r>
            <a:endParaRPr lang="en-US" sz="1300" dirty="0"/>
          </a:p>
        </p:txBody>
      </p:sp>
      <p:sp>
        <p:nvSpPr>
          <p:cNvPr id="7" name="Text 5"/>
          <p:cNvSpPr txBox="1"/>
          <p:nvPr/>
        </p:nvSpPr>
        <p:spPr>
          <a:xfrm>
            <a:off x="6035040" y="1463040"/>
            <a:ext cx="4572000" cy="320040"/>
          </a:xfrm>
          <a:prstGeom prst="rect">
            <a:avLst/>
          </a:prstGeom>
          <a:noFill/>
          <a:ln/>
        </p:spPr>
        <p:txBody>
          <a:bodyPr wrap="square" lIns="0" tIns="0" rIns="0" bIns="0" rtlCol="0" anchor="ctr"/>
          <a:lstStyle/>
          <a:p>
            <a:pPr marL="0" indent="0">
              <a:buNone/>
            </a:pPr>
            <a:r>
              <a:rPr lang="en-US" sz="1300" b="1" dirty="0">
                <a:solidFill>
                  <a:srgbClr val="5E6B68"/>
                </a:solidFill>
                <a:latin typeface="Calibri" pitchFamily="34" charset="0"/>
                <a:ea typeface="Calibri" pitchFamily="34" charset="-122"/>
                <a:cs typeface="Calibri" pitchFamily="34" charset="-120"/>
              </a:rPr>
              <a:t>Parade</a:t>
            </a:r>
            <a:endParaRPr lang="en-US" sz="1300" dirty="0"/>
          </a:p>
        </p:txBody>
      </p:sp>
      <p:sp>
        <p:nvSpPr>
          <p:cNvPr id="8" name="Shape 6"/>
          <p:cNvSpPr/>
          <p:nvPr/>
        </p:nvSpPr>
        <p:spPr>
          <a:xfrm>
            <a:off x="548640" y="182880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9" name="Text 7"/>
          <p:cNvSpPr txBox="1"/>
          <p:nvPr/>
        </p:nvSpPr>
        <p:spPr>
          <a:xfrm>
            <a:off x="731520" y="182880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Utilisation de Contoso non validée par le professeur</a:t>
            </a:r>
            <a:endParaRPr lang="en-US" sz="1400" dirty="0"/>
          </a:p>
        </p:txBody>
      </p:sp>
      <p:sp>
        <p:nvSpPr>
          <p:cNvPr id="10" name="Text 8"/>
          <p:cNvSpPr txBox="1"/>
          <p:nvPr/>
        </p:nvSpPr>
        <p:spPr>
          <a:xfrm>
            <a:off x="5669280" y="182880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6035040" y="182880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12" name="Text 10"/>
          <p:cNvSpPr txBox="1"/>
          <p:nvPr/>
        </p:nvSpPr>
        <p:spPr>
          <a:xfrm>
            <a:off x="6217920" y="182880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Dimensions dérivées des transactions (profils de boutiques, gammes de prix, périodes actives des promotions)</a:t>
            </a:r>
            <a:endParaRPr lang="en-US" sz="1300" dirty="0"/>
          </a:p>
        </p:txBody>
      </p:sp>
      <p:sp>
        <p:nvSpPr>
          <p:cNvPr id="13" name="Shape 11"/>
          <p:cNvSpPr/>
          <p:nvPr/>
        </p:nvSpPr>
        <p:spPr>
          <a:xfrm>
            <a:off x="548640" y="246888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14" name="Text 12"/>
          <p:cNvSpPr txBox="1"/>
          <p:nvPr/>
        </p:nvSpPr>
        <p:spPr>
          <a:xfrm>
            <a:off x="731520" y="246888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T4 absents (octobre à décembre)</a:t>
            </a:r>
            <a:endParaRPr lang="en-US" sz="1400" dirty="0"/>
          </a:p>
        </p:txBody>
      </p:sp>
      <p:sp>
        <p:nvSpPr>
          <p:cNvPr id="15" name="Text 13"/>
          <p:cNvSpPr txBox="1"/>
          <p:nvPr/>
        </p:nvSpPr>
        <p:spPr>
          <a:xfrm>
            <a:off x="5669280" y="246888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035040" y="246888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17" name="Text 15"/>
          <p:cNvSpPr txBox="1"/>
          <p:nvPr/>
        </p:nvSpPr>
        <p:spPr>
          <a:xfrm>
            <a:off x="6217920" y="246888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Signalé au professeur ; saisonnalité et prévision limitées aux trimestres 1 à 3</a:t>
            </a:r>
            <a:endParaRPr lang="en-US" sz="1300" dirty="0"/>
          </a:p>
        </p:txBody>
      </p:sp>
      <p:sp>
        <p:nvSpPr>
          <p:cNvPr id="18" name="Shape 16"/>
          <p:cNvSpPr/>
          <p:nvPr/>
        </p:nvSpPr>
        <p:spPr>
          <a:xfrm>
            <a:off x="548640" y="310896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19" name="Text 17"/>
          <p:cNvSpPr txBox="1"/>
          <p:nvPr/>
        </p:nvSpPr>
        <p:spPr>
          <a:xfrm>
            <a:off x="731520" y="310896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Dates décalées de 12 ans (confirmé à 98,66 %)</a:t>
            </a:r>
            <a:endParaRPr lang="en-US" sz="1400" dirty="0"/>
          </a:p>
        </p:txBody>
      </p:sp>
      <p:sp>
        <p:nvSpPr>
          <p:cNvPr id="20" name="Text 18"/>
          <p:cNvSpPr txBox="1"/>
          <p:nvPr/>
        </p:nvSpPr>
        <p:spPr>
          <a:xfrm>
            <a:off x="5669280" y="310896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6035040" y="310896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22" name="Text 20"/>
          <p:cNvSpPr txBox="1"/>
          <p:nvPr/>
        </p:nvSpPr>
        <p:spPr>
          <a:xfrm>
            <a:off x="6217920" y="310896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Réalignement de toutes les dates des dimensions (+12 ans)</a:t>
            </a:r>
            <a:endParaRPr lang="en-US" sz="1300" dirty="0"/>
          </a:p>
        </p:txBody>
      </p:sp>
      <p:sp>
        <p:nvSpPr>
          <p:cNvPr id="23" name="Shape 21"/>
          <p:cNvSpPr/>
          <p:nvPr/>
        </p:nvSpPr>
        <p:spPr>
          <a:xfrm>
            <a:off x="548640" y="374904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24" name="Text 22"/>
          <p:cNvSpPr txBox="1"/>
          <p:nvPr/>
        </p:nvSpPr>
        <p:spPr>
          <a:xfrm>
            <a:off x="731520" y="374904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Charges d'exploitation absentes</a:t>
            </a:r>
            <a:endParaRPr lang="en-US" sz="1400" dirty="0"/>
          </a:p>
        </p:txBody>
      </p:sp>
      <p:sp>
        <p:nvSpPr>
          <p:cNvPr id="25" name="Text 23"/>
          <p:cNvSpPr txBox="1"/>
          <p:nvPr/>
        </p:nvSpPr>
        <p:spPr>
          <a:xfrm>
            <a:off x="5669280" y="374904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26" name="Shape 24"/>
          <p:cNvSpPr/>
          <p:nvPr/>
        </p:nvSpPr>
        <p:spPr>
          <a:xfrm>
            <a:off x="6035040" y="374904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27" name="Text 25"/>
          <p:cNvSpPr txBox="1"/>
          <p:nvPr/>
        </p:nvSpPr>
        <p:spPr>
          <a:xfrm>
            <a:off x="6217920" y="374904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Analyse limitée à la marge brute en valeur, limite explicitée</a:t>
            </a:r>
            <a:endParaRPr lang="en-US" sz="1300" dirty="0"/>
          </a:p>
        </p:txBody>
      </p:sp>
      <p:sp>
        <p:nvSpPr>
          <p:cNvPr id="28" name="Shape 26"/>
          <p:cNvSpPr/>
          <p:nvPr/>
        </p:nvSpPr>
        <p:spPr>
          <a:xfrm>
            <a:off x="548640" y="438912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29" name="Text 27"/>
          <p:cNvSpPr txBox="1"/>
          <p:nvPr/>
        </p:nvSpPr>
        <p:spPr>
          <a:xfrm>
            <a:off x="731520" y="438912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Démarque non mesurable</a:t>
            </a:r>
            <a:endParaRPr lang="en-US" sz="1400" dirty="0"/>
          </a:p>
        </p:txBody>
      </p:sp>
      <p:sp>
        <p:nvSpPr>
          <p:cNvPr id="30" name="Text 28"/>
          <p:cNvSpPr txBox="1"/>
          <p:nvPr/>
        </p:nvSpPr>
        <p:spPr>
          <a:xfrm>
            <a:off x="5669280" y="438912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31" name="Shape 29"/>
          <p:cNvSpPr/>
          <p:nvPr/>
        </p:nvSpPr>
        <p:spPr>
          <a:xfrm>
            <a:off x="6035040" y="438912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32" name="Text 30"/>
          <p:cNvSpPr txBox="1"/>
          <p:nvPr/>
        </p:nvSpPr>
        <p:spPr>
          <a:xfrm>
            <a:off x="6217920" y="438912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Part de retours invendables traitée comme paramètre, testée de 0 à 100 %</a:t>
            </a:r>
            <a:endParaRPr lang="en-US" sz="1300" dirty="0"/>
          </a:p>
        </p:txBody>
      </p:sp>
      <p:sp>
        <p:nvSpPr>
          <p:cNvPr id="33" name="Shape 31"/>
          <p:cNvSpPr/>
          <p:nvPr/>
        </p:nvSpPr>
        <p:spPr>
          <a:xfrm>
            <a:off x="548640" y="502920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34" name="Text 32"/>
          <p:cNvSpPr txBox="1"/>
          <p:nvPr/>
        </p:nvSpPr>
        <p:spPr>
          <a:xfrm>
            <a:off x="731520" y="502920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Effet COVID-19 sur 2020-2021</a:t>
            </a:r>
            <a:endParaRPr lang="en-US" sz="1400" dirty="0"/>
          </a:p>
        </p:txBody>
      </p:sp>
      <p:sp>
        <p:nvSpPr>
          <p:cNvPr id="35" name="Text 33"/>
          <p:cNvSpPr txBox="1"/>
          <p:nvPr/>
        </p:nvSpPr>
        <p:spPr>
          <a:xfrm>
            <a:off x="5669280" y="502920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36" name="Shape 34"/>
          <p:cNvSpPr/>
          <p:nvPr/>
        </p:nvSpPr>
        <p:spPr>
          <a:xfrm>
            <a:off x="6035040" y="502920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37" name="Text 35"/>
          <p:cNvSpPr txBox="1"/>
          <p:nvPr/>
        </p:nvSpPr>
        <p:spPr>
          <a:xfrm>
            <a:off x="6217920" y="502920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Périodes de confinement intégrées au calendrier</a:t>
            </a:r>
            <a:endParaRPr lang="en-US" sz="1300" dirty="0"/>
          </a:p>
        </p:txBody>
      </p:sp>
      <p:sp>
        <p:nvSpPr>
          <p:cNvPr id="38" name="Shape 36"/>
          <p:cNvSpPr/>
          <p:nvPr/>
        </p:nvSpPr>
        <p:spPr>
          <a:xfrm>
            <a:off x="548640" y="5669280"/>
            <a:ext cx="5120640" cy="548640"/>
          </a:xfrm>
          <a:prstGeom prst="roundRect">
            <a:avLst>
              <a:gd name="adj" fmla="val 13333"/>
            </a:avLst>
          </a:prstGeom>
          <a:solidFill>
            <a:srgbClr val="FBEFE3"/>
          </a:solidFill>
          <a:ln w="9525">
            <a:solidFill>
              <a:srgbClr val="C9D8D3"/>
            </a:solidFill>
            <a:prstDash val="solid"/>
          </a:ln>
        </p:spPr>
        <p:txBody>
          <a:bodyPr/>
          <a:lstStyle/>
          <a:p>
            <a:endParaRPr lang="en-US"/>
          </a:p>
        </p:txBody>
      </p:sp>
      <p:sp>
        <p:nvSpPr>
          <p:cNvPr id="39" name="Text 37"/>
          <p:cNvSpPr txBox="1"/>
          <p:nvPr/>
        </p:nvSpPr>
        <p:spPr>
          <a:xfrm>
            <a:off x="731520" y="5669280"/>
            <a:ext cx="4846320" cy="548640"/>
          </a:xfrm>
          <a:prstGeom prst="rect">
            <a:avLst/>
          </a:prstGeom>
          <a:noFill/>
          <a:ln/>
        </p:spPr>
        <p:txBody>
          <a:bodyPr wrap="square" lIns="0" tIns="0" rIns="0" bIns="0" rtlCol="0" anchor="ctr"/>
          <a:lstStyle/>
          <a:p>
            <a:pPr marL="0" indent="0">
              <a:buNone/>
            </a:pPr>
            <a:r>
              <a:rPr lang="en-US" sz="1400" b="1" dirty="0">
                <a:solidFill>
                  <a:srgbClr val="1F2A28"/>
                </a:solidFill>
                <a:latin typeface="Calibri" pitchFamily="34" charset="0"/>
                <a:ea typeface="Calibri" pitchFamily="34" charset="-122"/>
                <a:cs typeface="Calibri" pitchFamily="34" charset="-120"/>
              </a:rPr>
              <a:t>Surcharge du sprint 5</a:t>
            </a:r>
            <a:endParaRPr lang="en-US" sz="1400" dirty="0"/>
          </a:p>
        </p:txBody>
      </p:sp>
      <p:sp>
        <p:nvSpPr>
          <p:cNvPr id="40" name="Text 38"/>
          <p:cNvSpPr txBox="1"/>
          <p:nvPr/>
        </p:nvSpPr>
        <p:spPr>
          <a:xfrm>
            <a:off x="5669280" y="5669280"/>
            <a:ext cx="365760" cy="548640"/>
          </a:xfrm>
          <a:prstGeom prst="rect">
            <a:avLst/>
          </a:prstGeom>
          <a:noFill/>
          <a:ln/>
        </p:spPr>
        <p:txBody>
          <a:bodyPr wrap="square" lIns="0" tIns="0" rIns="0" bIns="0" rtlCol="0" anchor="ctr"/>
          <a:lstStyle/>
          <a:p>
            <a:pPr marL="0" indent="0" algn="ctr">
              <a:buNone/>
            </a:pPr>
            <a:r>
              <a:rPr lang="en-US" sz="2400" b="1" dirty="0">
                <a:solidFill>
                  <a:srgbClr val="E9A23B"/>
                </a:solidFill>
                <a:latin typeface="Calibri" pitchFamily="34" charset="0"/>
                <a:ea typeface="Calibri" pitchFamily="34" charset="-122"/>
                <a:cs typeface="Calibri" pitchFamily="34" charset="-120"/>
              </a:rPr>
              <a:t>›</a:t>
            </a:r>
            <a:endParaRPr lang="en-US" sz="2400" dirty="0"/>
          </a:p>
        </p:txBody>
      </p:sp>
      <p:sp>
        <p:nvSpPr>
          <p:cNvPr id="41" name="Shape 39"/>
          <p:cNvSpPr/>
          <p:nvPr/>
        </p:nvSpPr>
        <p:spPr>
          <a:xfrm>
            <a:off x="6035040" y="5669280"/>
            <a:ext cx="5577840" cy="548640"/>
          </a:xfrm>
          <a:prstGeom prst="roundRect">
            <a:avLst>
              <a:gd name="adj" fmla="val 13333"/>
            </a:avLst>
          </a:prstGeom>
          <a:solidFill>
            <a:srgbClr val="EAF2EF"/>
          </a:solidFill>
          <a:ln w="9525">
            <a:solidFill>
              <a:srgbClr val="C9D8D3"/>
            </a:solidFill>
            <a:prstDash val="solid"/>
          </a:ln>
        </p:spPr>
        <p:txBody>
          <a:bodyPr/>
          <a:lstStyle/>
          <a:p>
            <a:endParaRPr lang="en-US"/>
          </a:p>
        </p:txBody>
      </p:sp>
      <p:sp>
        <p:nvSpPr>
          <p:cNvPr id="42" name="Text 40"/>
          <p:cNvSpPr txBox="1"/>
          <p:nvPr/>
        </p:nvSpPr>
        <p:spPr>
          <a:xfrm>
            <a:off x="6217920" y="5669280"/>
            <a:ext cx="5303520" cy="548640"/>
          </a:xfrm>
          <a:prstGeom prst="rect">
            <a:avLst/>
          </a:prstGeom>
          <a:noFill/>
          <a:ln/>
        </p:spPr>
        <p:txBody>
          <a:bodyPr wrap="square" lIns="0" tIns="0" rIns="0" bIns="0" rtlCol="0" anchor="ctr"/>
          <a:lstStyle/>
          <a:p>
            <a:pPr marL="0" indent="0">
              <a:buNone/>
            </a:pPr>
            <a:r>
              <a:rPr lang="en-US" sz="1300" dirty="0">
                <a:solidFill>
                  <a:srgbClr val="1F2A28"/>
                </a:solidFill>
                <a:latin typeface="Calibri" pitchFamily="34" charset="0"/>
                <a:ea typeface="Calibri" pitchFamily="34" charset="-122"/>
                <a:cs typeface="Calibri" pitchFamily="34" charset="-120"/>
              </a:rPr>
              <a:t>Point de mi-sprint, priorités MoSCoW</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332E"/>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marL="0" indent="0">
              <a:buNone/>
            </a:pPr>
            <a:r>
              <a:rPr lang="en-US" sz="1400" b="1" kern="0" spc="300" dirty="0">
                <a:solidFill>
                  <a:srgbClr val="E9A23B"/>
                </a:solidFill>
                <a:latin typeface="Calibri" pitchFamily="34" charset="0"/>
                <a:ea typeface="Calibri" pitchFamily="34" charset="-122"/>
                <a:cs typeface="Calibri" pitchFamily="34" charset="-120"/>
              </a:rPr>
              <a:t>PROCHAINES ÉTAPES</a:t>
            </a:r>
            <a:endParaRPr lang="en-US" sz="1400" dirty="0"/>
          </a:p>
        </p:txBody>
      </p:sp>
      <p:sp>
        <p:nvSpPr>
          <p:cNvPr id="3" name="Text 1"/>
          <p:cNvSpPr txBox="1"/>
          <p:nvPr/>
        </p:nvSpPr>
        <p:spPr>
          <a:xfrm>
            <a:off x="731520" y="1143000"/>
            <a:ext cx="1051560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Lancement du sprint 1 le 5 octobre</a:t>
            </a:r>
            <a:endParaRPr lang="en-US" sz="3600" dirty="0"/>
          </a:p>
        </p:txBody>
      </p:sp>
      <p:sp>
        <p:nvSpPr>
          <p:cNvPr id="4" name="Shape 2"/>
          <p:cNvSpPr/>
          <p:nvPr/>
        </p:nvSpPr>
        <p:spPr>
          <a:xfrm>
            <a:off x="731520" y="2468880"/>
            <a:ext cx="548640" cy="548640"/>
          </a:xfrm>
          <a:prstGeom prst="ellipse">
            <a:avLst/>
          </a:prstGeom>
          <a:solidFill>
            <a:srgbClr val="E9A23B"/>
          </a:solidFill>
          <a:ln w="12700">
            <a:solidFill>
              <a:srgbClr val="E9A23B"/>
            </a:solidFill>
            <a:prstDash val="solid"/>
          </a:ln>
        </p:spPr>
        <p:txBody>
          <a:bodyPr/>
          <a:lstStyle/>
          <a:p>
            <a:endParaRPr lang="en-US"/>
          </a:p>
        </p:txBody>
      </p:sp>
      <p:sp>
        <p:nvSpPr>
          <p:cNvPr id="5" name="Text 3"/>
          <p:cNvSpPr txBox="1"/>
          <p:nvPr/>
        </p:nvSpPr>
        <p:spPr>
          <a:xfrm>
            <a:off x="731520" y="246888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508760" y="2468880"/>
            <a:ext cx="9144000" cy="54864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Faire valider Contoso par le professeur et lui signaler les T4 absents</a:t>
            </a:r>
            <a:endParaRPr lang="en-US" sz="1900" dirty="0"/>
          </a:p>
        </p:txBody>
      </p:sp>
      <p:sp>
        <p:nvSpPr>
          <p:cNvPr id="7" name="Shape 5"/>
          <p:cNvSpPr/>
          <p:nvPr/>
        </p:nvSpPr>
        <p:spPr>
          <a:xfrm>
            <a:off x="731520" y="3337560"/>
            <a:ext cx="548640" cy="548640"/>
          </a:xfrm>
          <a:prstGeom prst="ellipse">
            <a:avLst/>
          </a:prstGeom>
          <a:solidFill>
            <a:srgbClr val="E9A23B"/>
          </a:solidFill>
          <a:ln w="12700">
            <a:solidFill>
              <a:srgbClr val="E9A23B"/>
            </a:solidFill>
            <a:prstDash val="solid"/>
          </a:ln>
        </p:spPr>
        <p:txBody>
          <a:bodyPr/>
          <a:lstStyle/>
          <a:p>
            <a:endParaRPr lang="en-US"/>
          </a:p>
        </p:txBody>
      </p:sp>
      <p:sp>
        <p:nvSpPr>
          <p:cNvPr id="8" name="Text 6"/>
          <p:cNvSpPr txBox="1"/>
          <p:nvPr/>
        </p:nvSpPr>
        <p:spPr>
          <a:xfrm>
            <a:off x="731520" y="333756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508760" y="3337560"/>
            <a:ext cx="9144000" cy="54864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Réaligner les dates des dimensions (+12 ans) et construire le modèle en flocon</a:t>
            </a:r>
            <a:endParaRPr lang="en-US" sz="1900" dirty="0"/>
          </a:p>
        </p:txBody>
      </p:sp>
      <p:sp>
        <p:nvSpPr>
          <p:cNvPr id="10" name="Shape 8"/>
          <p:cNvSpPr/>
          <p:nvPr/>
        </p:nvSpPr>
        <p:spPr>
          <a:xfrm>
            <a:off x="731520" y="4206240"/>
            <a:ext cx="548640" cy="548640"/>
          </a:xfrm>
          <a:prstGeom prst="ellipse">
            <a:avLst/>
          </a:prstGeom>
          <a:solidFill>
            <a:srgbClr val="E9A23B"/>
          </a:solidFill>
          <a:ln w="12700">
            <a:solidFill>
              <a:srgbClr val="E9A23B"/>
            </a:solidFill>
            <a:prstDash val="solid"/>
          </a:ln>
        </p:spPr>
        <p:txBody>
          <a:bodyPr/>
          <a:lstStyle/>
          <a:p>
            <a:endParaRPr lang="en-US"/>
          </a:p>
        </p:txBody>
      </p:sp>
      <p:sp>
        <p:nvSpPr>
          <p:cNvPr id="11" name="Text 9"/>
          <p:cNvSpPr txBox="1"/>
          <p:nvPr/>
        </p:nvSpPr>
        <p:spPr>
          <a:xfrm>
            <a:off x="731520" y="4206240"/>
            <a:ext cx="548640" cy="548640"/>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508760" y="4206240"/>
            <a:ext cx="9144000" cy="54864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Consolider les 6 trimestres dans data/interim avec le code d'homogénéisation</a:t>
            </a:r>
            <a:endParaRPr lang="en-US" sz="1900" dirty="0"/>
          </a:p>
        </p:txBody>
      </p:sp>
      <p:sp>
        <p:nvSpPr>
          <p:cNvPr id="13" name="Text 11"/>
          <p:cNvSpPr txBox="1"/>
          <p:nvPr/>
        </p:nvSpPr>
        <p:spPr>
          <a:xfrm>
            <a:off x="731520" y="5394960"/>
            <a:ext cx="10058400" cy="640080"/>
          </a:xfrm>
          <a:prstGeom prst="rect">
            <a:avLst/>
          </a:prstGeom>
          <a:noFill/>
          <a:ln/>
        </p:spPr>
        <p:txBody>
          <a:bodyPr wrap="square" lIns="0" tIns="0" rIns="0" bIns="0" rtlCol="0" anchor="ctr"/>
          <a:lstStyle/>
          <a:p>
            <a:pPr marL="0" indent="0">
              <a:buNone/>
            </a:pPr>
            <a:r>
              <a:rPr lang="en-US" sz="2800" i="1" dirty="0">
                <a:solidFill>
                  <a:srgbClr val="E9A23B"/>
                </a:solidFill>
                <a:latin typeface="Cambria" pitchFamily="34" charset="0"/>
                <a:ea typeface="Cambria" pitchFamily="34" charset="-122"/>
                <a:cs typeface="Cambria" pitchFamily="34" charset="-120"/>
              </a:rPr>
              <a:t>Merci · Questions ?</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513b79f-ce8d-43d6-b7e5-c12d3e236916}" enabled="1" method="Standard" siteId="{ad8a84ef-f1f3-4b14-ad08-b99ca66f7e30}" contentBits="0" removed="0"/>
</clbl:labelList>
</file>

<file path=docProps/app.xml><?xml version="1.0" encoding="utf-8"?>
<Properties xmlns="http://schemas.openxmlformats.org/officeDocument/2006/extended-properties" xmlns:vt="http://schemas.openxmlformats.org/officeDocument/2006/docPropsVTypes">
  <TotalTime>114</TotalTime>
  <Words>3049</Words>
  <Application>Microsoft Office PowerPoint</Application>
  <PresentationFormat>Grand écran</PresentationFormat>
  <Paragraphs>555</Paragraphs>
  <Slides>21</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4 : Analyse des données de vente et retours (UA1)</dc:title>
  <dc:subject>PptxGenJS Presentation</dc:subject>
  <dc:creator>2748526@collegelacite.ca</dc:creator>
  <cp:lastModifiedBy>Yacine- Sid Ahmed Lezoul</cp:lastModifiedBy>
  <cp:revision>3</cp:revision>
  <dcterms:created xsi:type="dcterms:W3CDTF">2026-09-28T05:25:42Z</dcterms:created>
  <dcterms:modified xsi:type="dcterms:W3CDTF">2026-10-04T23:39:52Z</dcterms:modified>
</cp:coreProperties>
</file>